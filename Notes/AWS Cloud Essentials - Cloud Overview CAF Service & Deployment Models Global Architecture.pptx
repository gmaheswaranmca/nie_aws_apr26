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7" r:id="rId2"/>
    <p:sldId id="273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16"/>
  </p:sldIdLst>
  <p:sldSz cx="12192000" cy="6858000"/>
  <p:notesSz cx="6858000" cy="12192000"/>
  <p:embeddedFontLst>
    <p:embeddedFont>
      <p:font typeface="Liter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2" autoAdjust="0"/>
    <p:restoredTop sz="95033" autoAdjust="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8491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DE007-11F4-A120-F2CB-4E42ABB0A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9BFC85-850E-40C0-331F-6EF37EB9EF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DE60C1-DECE-33C2-7493-C69296B2C2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7ADEB1-3824-C0E0-7640-3F959FB43C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2451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1">
            <a:extLst>
              <a:ext uri="{FF2B5EF4-FFF2-40B4-BE49-F238E27FC236}">
                <a16:creationId xmlns:a16="http://schemas.microsoft.com/office/drawing/2014/main" id="{45D148E2-992D-8FB9-E657-D9CE4828E468}"/>
              </a:ext>
            </a:extLst>
          </p:cNvPr>
          <p:cNvSpPr/>
          <p:nvPr/>
        </p:nvSpPr>
        <p:spPr>
          <a:xfrm>
            <a:off x="381000" y="38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0" name="Shape 2">
            <a:extLst>
              <a:ext uri="{FF2B5EF4-FFF2-40B4-BE49-F238E27FC236}">
                <a16:creationId xmlns:a16="http://schemas.microsoft.com/office/drawing/2014/main" id="{7CCDD172-BB83-3151-5F64-6A302C0DC840}"/>
              </a:ext>
            </a:extLst>
          </p:cNvPr>
          <p:cNvSpPr/>
          <p:nvPr/>
        </p:nvSpPr>
        <p:spPr>
          <a:xfrm>
            <a:off x="502444" y="5143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0" y="125016"/>
                </a:moveTo>
                <a:cubicBezTo>
                  <a:pt x="0" y="154595"/>
                  <a:pt x="23999" y="178594"/>
                  <a:pt x="53578" y="178594"/>
                </a:cubicBezTo>
                <a:lnTo>
                  <a:pt x="166688" y="178594"/>
                </a:lnTo>
                <a:cubicBezTo>
                  <a:pt x="192993" y="178594"/>
                  <a:pt x="214313" y="157274"/>
                  <a:pt x="214313" y="130969"/>
                </a:cubicBezTo>
                <a:cubicBezTo>
                  <a:pt x="214313" y="111770"/>
                  <a:pt x="202964" y="95213"/>
                  <a:pt x="186593" y="87697"/>
                </a:cubicBezTo>
                <a:cubicBezTo>
                  <a:pt x="189086" y="82823"/>
                  <a:pt x="190500" y="77279"/>
                  <a:pt x="190500" y="71438"/>
                </a:cubicBezTo>
                <a:cubicBezTo>
                  <a:pt x="190500" y="51718"/>
                  <a:pt x="174501" y="35719"/>
                  <a:pt x="154781" y="35719"/>
                </a:cubicBezTo>
                <a:cubicBezTo>
                  <a:pt x="148196" y="35719"/>
                  <a:pt x="142056" y="37505"/>
                  <a:pt x="136773" y="40593"/>
                </a:cubicBezTo>
                <a:cubicBezTo>
                  <a:pt x="127806" y="23552"/>
                  <a:pt x="109910" y="11906"/>
                  <a:pt x="89297" y="11906"/>
                </a:cubicBezTo>
                <a:cubicBezTo>
                  <a:pt x="59717" y="11906"/>
                  <a:pt x="35719" y="35905"/>
                  <a:pt x="35719" y="65484"/>
                </a:cubicBezTo>
                <a:cubicBezTo>
                  <a:pt x="35719" y="68461"/>
                  <a:pt x="35979" y="71400"/>
                  <a:pt x="36426" y="74228"/>
                </a:cubicBezTo>
                <a:cubicBezTo>
                  <a:pt x="15255" y="81372"/>
                  <a:pt x="0" y="101426"/>
                  <a:pt x="0" y="12501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Text 3">
            <a:extLst>
              <a:ext uri="{FF2B5EF4-FFF2-40B4-BE49-F238E27FC236}">
                <a16:creationId xmlns:a16="http://schemas.microsoft.com/office/drawing/2014/main" id="{790CDB20-0558-9AFD-5BB1-D5D6D1619BFA}"/>
              </a:ext>
            </a:extLst>
          </p:cNvPr>
          <p:cNvSpPr/>
          <p:nvPr/>
        </p:nvSpPr>
        <p:spPr>
          <a:xfrm>
            <a:off x="952500" y="476250"/>
            <a:ext cx="2505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6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AMAZON WEB SERVICES</a:t>
            </a:r>
            <a:endParaRPr lang="en-US" sz="1600" dirty="0"/>
          </a:p>
        </p:txBody>
      </p:sp>
      <p:sp>
        <p:nvSpPr>
          <p:cNvPr id="32" name="Text 4">
            <a:extLst>
              <a:ext uri="{FF2B5EF4-FFF2-40B4-BE49-F238E27FC236}">
                <a16:creationId xmlns:a16="http://schemas.microsoft.com/office/drawing/2014/main" id="{CD56C3DA-B2D0-5A62-907F-0D563FD36840}"/>
              </a:ext>
            </a:extLst>
          </p:cNvPr>
          <p:cNvSpPr/>
          <p:nvPr/>
        </p:nvSpPr>
        <p:spPr>
          <a:xfrm>
            <a:off x="460452" y="4319296"/>
            <a:ext cx="117729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AWS Cloud Foundations</a:t>
            </a:r>
            <a:endParaRPr lang="en-US" sz="1600" dirty="0"/>
          </a:p>
        </p:txBody>
      </p:sp>
      <p:sp>
        <p:nvSpPr>
          <p:cNvPr id="33" name="Text 5">
            <a:extLst>
              <a:ext uri="{FF2B5EF4-FFF2-40B4-BE49-F238E27FC236}">
                <a16:creationId xmlns:a16="http://schemas.microsoft.com/office/drawing/2014/main" id="{C9052028-3A06-F8C8-D657-8997E1D8448E}"/>
              </a:ext>
            </a:extLst>
          </p:cNvPr>
          <p:cNvSpPr/>
          <p:nvPr/>
        </p:nvSpPr>
        <p:spPr>
          <a:xfrm>
            <a:off x="675250" y="5763546"/>
            <a:ext cx="10717623" cy="883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dirty="0">
                <a:solidFill>
                  <a:srgbClr val="8F8F8F"/>
                </a:solidFill>
                <a:latin typeface="Liter" pitchFamily="34" charset="0"/>
              </a:rPr>
              <a:t> </a:t>
            </a:r>
            <a:r>
              <a:rPr lang="en-US" b="1" dirty="0">
                <a:solidFill>
                  <a:srgbClr val="8F8F8F"/>
                </a:solidFill>
                <a:latin typeface="Liter" pitchFamily="34" charset="0"/>
              </a:rPr>
              <a:t>Mohanraj M  </a:t>
            </a:r>
            <a:r>
              <a:rPr lang="en-US" dirty="0">
                <a:solidFill>
                  <a:srgbClr val="8F8F8F"/>
                </a:solidFill>
                <a:latin typeface="Liter" pitchFamily="34" charset="0"/>
              </a:rPr>
              <a:t>(Cloud Architect, AWS Certified Educator, AWS Certified Solutions Architect - Associate )</a:t>
            </a:r>
            <a:endParaRPr lang="en-US" sz="1600" dirty="0"/>
          </a:p>
        </p:txBody>
      </p:sp>
      <p:sp>
        <p:nvSpPr>
          <p:cNvPr id="34" name="Shape 6">
            <a:extLst>
              <a:ext uri="{FF2B5EF4-FFF2-40B4-BE49-F238E27FC236}">
                <a16:creationId xmlns:a16="http://schemas.microsoft.com/office/drawing/2014/main" id="{900A3889-B0B4-81B6-645D-6760E1641812}"/>
              </a:ext>
            </a:extLst>
          </p:cNvPr>
          <p:cNvSpPr/>
          <p:nvPr/>
        </p:nvSpPr>
        <p:spPr>
          <a:xfrm>
            <a:off x="460452" y="615686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42059"/>
                </a:moveTo>
                <a:lnTo>
                  <a:pt x="76200" y="134124"/>
                </a:lnTo>
                <a:lnTo>
                  <a:pt x="76349" y="134064"/>
                </a:lnTo>
                <a:cubicBezTo>
                  <a:pt x="92601" y="127308"/>
                  <a:pt x="110044" y="123825"/>
                  <a:pt x="127635" y="123825"/>
                </a:cubicBezTo>
                <a:lnTo>
                  <a:pt x="133350" y="123825"/>
                </a:lnTo>
                <a:lnTo>
                  <a:pt x="133350" y="28575"/>
                </a:lnTo>
                <a:lnTo>
                  <a:pt x="127635" y="28575"/>
                </a:lnTo>
                <a:cubicBezTo>
                  <a:pt x="115074" y="28575"/>
                  <a:pt x="102602" y="31075"/>
                  <a:pt x="90994" y="35897"/>
                </a:cubicBezTo>
                <a:cubicBezTo>
                  <a:pt x="85993" y="37981"/>
                  <a:pt x="81052" y="40035"/>
                  <a:pt x="76200" y="42059"/>
                </a:cubicBezTo>
                <a:close/>
                <a:moveTo>
                  <a:pt x="68729" y="18306"/>
                </a:moveTo>
                <a:lnTo>
                  <a:pt x="76200" y="21431"/>
                </a:lnTo>
                <a:lnTo>
                  <a:pt x="83671" y="18306"/>
                </a:lnTo>
                <a:cubicBezTo>
                  <a:pt x="97601" y="12502"/>
                  <a:pt x="112544" y="9525"/>
                  <a:pt x="127635" y="9525"/>
                </a:cubicBezTo>
                <a:lnTo>
                  <a:pt x="138113" y="9525"/>
                </a:lnTo>
                <a:cubicBezTo>
                  <a:pt x="146000" y="9525"/>
                  <a:pt x="152400" y="15925"/>
                  <a:pt x="152400" y="23813"/>
                </a:cubicBezTo>
                <a:lnTo>
                  <a:pt x="152400" y="128588"/>
                </a:lnTo>
                <a:cubicBezTo>
                  <a:pt x="152400" y="136475"/>
                  <a:pt x="146000" y="142875"/>
                  <a:pt x="138113" y="142875"/>
                </a:cubicBezTo>
                <a:lnTo>
                  <a:pt x="127635" y="142875"/>
                </a:lnTo>
                <a:cubicBezTo>
                  <a:pt x="112544" y="142875"/>
                  <a:pt x="97601" y="145852"/>
                  <a:pt x="83671" y="151656"/>
                </a:cubicBezTo>
                <a:lnTo>
                  <a:pt x="79861" y="153233"/>
                </a:lnTo>
                <a:cubicBezTo>
                  <a:pt x="77510" y="154216"/>
                  <a:pt x="74890" y="154216"/>
                  <a:pt x="72539" y="153233"/>
                </a:cubicBezTo>
                <a:lnTo>
                  <a:pt x="68729" y="151656"/>
                </a:lnTo>
                <a:cubicBezTo>
                  <a:pt x="54799" y="145852"/>
                  <a:pt x="39856" y="142875"/>
                  <a:pt x="24765" y="142875"/>
                </a:cubicBezTo>
                <a:lnTo>
                  <a:pt x="14288" y="142875"/>
                </a:lnTo>
                <a:cubicBezTo>
                  <a:pt x="6400" y="142875"/>
                  <a:pt x="0" y="136475"/>
                  <a:pt x="0" y="128588"/>
                </a:cubicBezTo>
                <a:lnTo>
                  <a:pt x="0" y="23813"/>
                </a:lnTo>
                <a:cubicBezTo>
                  <a:pt x="0" y="15925"/>
                  <a:pt x="6400" y="9525"/>
                  <a:pt x="14288" y="9525"/>
                </a:cubicBezTo>
                <a:lnTo>
                  <a:pt x="24765" y="9525"/>
                </a:lnTo>
                <a:cubicBezTo>
                  <a:pt x="39856" y="9525"/>
                  <a:pt x="54799" y="12502"/>
                  <a:pt x="68729" y="1830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379F608F-5B8A-960E-AA1D-15AA5EE66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1869" y="1175657"/>
            <a:ext cx="5708261" cy="321089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D0C3E4-4087-5FE3-B2BC-F388889BA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C63C7F4-3355-4430-0441-67BC70440DFD}"/>
              </a:ext>
            </a:extLst>
          </p:cNvPr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 PATH</a:t>
            </a:r>
            <a:endParaRPr lang="en-US" sz="1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6C06BAB-CDBD-7CFC-B14A-8546B5CD061E}"/>
              </a:ext>
            </a:extLst>
          </p:cNvPr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A19DAD7-D5EF-38EF-EDC2-BF845EB82780}"/>
              </a:ext>
            </a:extLst>
          </p:cNvPr>
          <p:cNvSpPr/>
          <p:nvPr/>
        </p:nvSpPr>
        <p:spPr>
          <a:xfrm>
            <a:off x="384810" y="1337310"/>
            <a:ext cx="5627370" cy="1684020"/>
          </a:xfrm>
          <a:custGeom>
            <a:avLst/>
            <a:gdLst/>
            <a:ahLst/>
            <a:cxnLst/>
            <a:rect l="l" t="t" r="r" b="b"/>
            <a:pathLst>
              <a:path w="5627370" h="1684020">
                <a:moveTo>
                  <a:pt x="114294" y="0"/>
                </a:moveTo>
                <a:lnTo>
                  <a:pt x="5513076" y="0"/>
                </a:lnTo>
                <a:cubicBezTo>
                  <a:pt x="5576199" y="0"/>
                  <a:pt x="5627370" y="51171"/>
                  <a:pt x="5627370" y="114294"/>
                </a:cubicBezTo>
                <a:lnTo>
                  <a:pt x="5627370" y="1569726"/>
                </a:lnTo>
                <a:cubicBezTo>
                  <a:pt x="5627370" y="1632849"/>
                  <a:pt x="5576199" y="1684020"/>
                  <a:pt x="5513076" y="1684020"/>
                </a:cubicBezTo>
                <a:lnTo>
                  <a:pt x="114294" y="1684020"/>
                </a:lnTo>
                <a:cubicBezTo>
                  <a:pt x="51171" y="1684020"/>
                  <a:pt x="0" y="1632849"/>
                  <a:pt x="0" y="1569726"/>
                </a:cubicBezTo>
                <a:lnTo>
                  <a:pt x="0" y="114294"/>
                </a:lnTo>
                <a:cubicBezTo>
                  <a:pt x="0" y="51214"/>
                  <a:pt x="51214" y="0"/>
                  <a:pt x="114294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50A2C8E-F0EB-911A-E630-69F8D59FD240}"/>
              </a:ext>
            </a:extLst>
          </p:cNvPr>
          <p:cNvSpPr/>
          <p:nvPr/>
        </p:nvSpPr>
        <p:spPr>
          <a:xfrm>
            <a:off x="579120" y="153162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A7649EE-15AA-8BEE-89ED-C07F5B95C57F}"/>
              </a:ext>
            </a:extLst>
          </p:cNvPr>
          <p:cNvSpPr/>
          <p:nvPr/>
        </p:nvSpPr>
        <p:spPr>
          <a:xfrm>
            <a:off x="727115" y="1645920"/>
            <a:ext cx="352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31E44D7-DABB-6EB0-8BA1-E3CC088A3604}"/>
              </a:ext>
            </a:extLst>
          </p:cNvPr>
          <p:cNvSpPr/>
          <p:nvPr/>
        </p:nvSpPr>
        <p:spPr>
          <a:xfrm>
            <a:off x="1264920" y="1531620"/>
            <a:ext cx="4648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Cloud Computing?</a:t>
            </a:r>
            <a:endParaRPr lang="en-US" sz="1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7747195-6526-FC57-9E42-AAE8CB7F7586}"/>
              </a:ext>
            </a:extLst>
          </p:cNvPr>
          <p:cNvSpPr/>
          <p:nvPr/>
        </p:nvSpPr>
        <p:spPr>
          <a:xfrm>
            <a:off x="1264920" y="1874520"/>
            <a:ext cx="4629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the fundamentals, NIST definition, and five essential characteristics that define cloud computing technology</a:t>
            </a:r>
            <a:endParaRPr lang="en-US" sz="16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FAA4DB6-91A6-4CD0-D8D3-2A262523E2E9}"/>
              </a:ext>
            </a:extLst>
          </p:cNvPr>
          <p:cNvSpPr/>
          <p:nvPr/>
        </p:nvSpPr>
        <p:spPr>
          <a:xfrm>
            <a:off x="6176010" y="1337310"/>
            <a:ext cx="5627370" cy="1684020"/>
          </a:xfrm>
          <a:custGeom>
            <a:avLst/>
            <a:gdLst/>
            <a:ahLst/>
            <a:cxnLst/>
            <a:rect l="l" t="t" r="r" b="b"/>
            <a:pathLst>
              <a:path w="5627370" h="1684020">
                <a:moveTo>
                  <a:pt x="114294" y="0"/>
                </a:moveTo>
                <a:lnTo>
                  <a:pt x="5513076" y="0"/>
                </a:lnTo>
                <a:cubicBezTo>
                  <a:pt x="5576199" y="0"/>
                  <a:pt x="5627370" y="51171"/>
                  <a:pt x="5627370" y="114294"/>
                </a:cubicBezTo>
                <a:lnTo>
                  <a:pt x="5627370" y="1569726"/>
                </a:lnTo>
                <a:cubicBezTo>
                  <a:pt x="5627370" y="1632849"/>
                  <a:pt x="5576199" y="1684020"/>
                  <a:pt x="5513076" y="1684020"/>
                </a:cubicBezTo>
                <a:lnTo>
                  <a:pt x="114294" y="1684020"/>
                </a:lnTo>
                <a:cubicBezTo>
                  <a:pt x="51171" y="1684020"/>
                  <a:pt x="0" y="1632849"/>
                  <a:pt x="0" y="1569726"/>
                </a:cubicBezTo>
                <a:lnTo>
                  <a:pt x="0" y="114294"/>
                </a:lnTo>
                <a:cubicBezTo>
                  <a:pt x="0" y="51214"/>
                  <a:pt x="51214" y="0"/>
                  <a:pt x="114294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F6C736B-E352-C9B7-E71A-E7CB00FC4FD9}"/>
              </a:ext>
            </a:extLst>
          </p:cNvPr>
          <p:cNvSpPr/>
          <p:nvPr/>
        </p:nvSpPr>
        <p:spPr>
          <a:xfrm>
            <a:off x="6370320" y="153162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3A8846C-A131-C162-06AE-836BEC89A9E2}"/>
              </a:ext>
            </a:extLst>
          </p:cNvPr>
          <p:cNvSpPr/>
          <p:nvPr/>
        </p:nvSpPr>
        <p:spPr>
          <a:xfrm>
            <a:off x="6497598" y="1645920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D6F4D58-2D43-B153-BCDE-8DA122B68A8E}"/>
              </a:ext>
            </a:extLst>
          </p:cNvPr>
          <p:cNvSpPr/>
          <p:nvPr/>
        </p:nvSpPr>
        <p:spPr>
          <a:xfrm>
            <a:off x="7056120" y="1531620"/>
            <a:ext cx="4648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Benefits of Cloud Adoption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47F3E1E-B57B-F4CA-9207-07E7D76A8297}"/>
              </a:ext>
            </a:extLst>
          </p:cNvPr>
          <p:cNvSpPr/>
          <p:nvPr/>
        </p:nvSpPr>
        <p:spPr>
          <a:xfrm>
            <a:off x="7056120" y="1874520"/>
            <a:ext cx="4629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benefits driving cloud adoption and the economic transformation from CapEx to OpEx models</a:t>
            </a:r>
            <a:endParaRPr lang="en-US" sz="16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C6BB943B-2245-B53E-20B8-0DFC53F1C6DC}"/>
              </a:ext>
            </a:extLst>
          </p:cNvPr>
          <p:cNvSpPr/>
          <p:nvPr/>
        </p:nvSpPr>
        <p:spPr>
          <a:xfrm>
            <a:off x="384810" y="3185160"/>
            <a:ext cx="5627370" cy="1684020"/>
          </a:xfrm>
          <a:custGeom>
            <a:avLst/>
            <a:gdLst/>
            <a:ahLst/>
            <a:cxnLst/>
            <a:rect l="l" t="t" r="r" b="b"/>
            <a:pathLst>
              <a:path w="5627370" h="1684020">
                <a:moveTo>
                  <a:pt x="114294" y="0"/>
                </a:moveTo>
                <a:lnTo>
                  <a:pt x="5513076" y="0"/>
                </a:lnTo>
                <a:cubicBezTo>
                  <a:pt x="5576199" y="0"/>
                  <a:pt x="5627370" y="51171"/>
                  <a:pt x="5627370" y="114294"/>
                </a:cubicBezTo>
                <a:lnTo>
                  <a:pt x="5627370" y="1569726"/>
                </a:lnTo>
                <a:cubicBezTo>
                  <a:pt x="5627370" y="1632849"/>
                  <a:pt x="5576199" y="1684020"/>
                  <a:pt x="5513076" y="1684020"/>
                </a:cubicBezTo>
                <a:lnTo>
                  <a:pt x="114294" y="1684020"/>
                </a:lnTo>
                <a:cubicBezTo>
                  <a:pt x="51171" y="1684020"/>
                  <a:pt x="0" y="1632849"/>
                  <a:pt x="0" y="1569726"/>
                </a:cubicBezTo>
                <a:lnTo>
                  <a:pt x="0" y="114294"/>
                </a:lnTo>
                <a:cubicBezTo>
                  <a:pt x="0" y="51214"/>
                  <a:pt x="51214" y="0"/>
                  <a:pt x="114294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D5466143-22A3-205D-979C-B2A483A8D2FD}"/>
              </a:ext>
            </a:extLst>
          </p:cNvPr>
          <p:cNvSpPr/>
          <p:nvPr/>
        </p:nvSpPr>
        <p:spPr>
          <a:xfrm>
            <a:off x="579120" y="337947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A33A8AE-4482-4892-2EB1-112D5B1E7CE1}"/>
              </a:ext>
            </a:extLst>
          </p:cNvPr>
          <p:cNvSpPr/>
          <p:nvPr/>
        </p:nvSpPr>
        <p:spPr>
          <a:xfrm>
            <a:off x="705445" y="3493770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1E02A4A-1A48-88D5-1F36-74BDF8CA228A}"/>
              </a:ext>
            </a:extLst>
          </p:cNvPr>
          <p:cNvSpPr/>
          <p:nvPr/>
        </p:nvSpPr>
        <p:spPr>
          <a:xfrm>
            <a:off x="1264920" y="3379470"/>
            <a:ext cx="4648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Cloud Terminology</a:t>
            </a:r>
            <a:endParaRPr lang="en-US" sz="16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FB1BE5E-6C0F-6D27-C780-FAB2B0DDFC62}"/>
              </a:ext>
            </a:extLst>
          </p:cNvPr>
          <p:cNvSpPr/>
          <p:nvPr/>
        </p:nvSpPr>
        <p:spPr>
          <a:xfrm>
            <a:off x="1264920" y="3722370"/>
            <a:ext cx="4629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Service models (IaaS, PaaS, SaaS) and deployment models (Public, Private, Hybrid, Community)</a:t>
            </a:r>
            <a:endParaRPr lang="en-US" sz="16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41409DB6-85BE-9950-7B01-45B8D8008073}"/>
              </a:ext>
            </a:extLst>
          </p:cNvPr>
          <p:cNvSpPr/>
          <p:nvPr/>
        </p:nvSpPr>
        <p:spPr>
          <a:xfrm>
            <a:off x="6176010" y="3185160"/>
            <a:ext cx="5627370" cy="1684020"/>
          </a:xfrm>
          <a:custGeom>
            <a:avLst/>
            <a:gdLst/>
            <a:ahLst/>
            <a:cxnLst/>
            <a:rect l="l" t="t" r="r" b="b"/>
            <a:pathLst>
              <a:path w="5627370" h="1684020">
                <a:moveTo>
                  <a:pt x="114294" y="0"/>
                </a:moveTo>
                <a:lnTo>
                  <a:pt x="5513076" y="0"/>
                </a:lnTo>
                <a:cubicBezTo>
                  <a:pt x="5576199" y="0"/>
                  <a:pt x="5627370" y="51171"/>
                  <a:pt x="5627370" y="114294"/>
                </a:cubicBezTo>
                <a:lnTo>
                  <a:pt x="5627370" y="1569726"/>
                </a:lnTo>
                <a:cubicBezTo>
                  <a:pt x="5627370" y="1632849"/>
                  <a:pt x="5576199" y="1684020"/>
                  <a:pt x="5513076" y="1684020"/>
                </a:cubicBezTo>
                <a:lnTo>
                  <a:pt x="114294" y="1684020"/>
                </a:lnTo>
                <a:cubicBezTo>
                  <a:pt x="51171" y="1684020"/>
                  <a:pt x="0" y="1632849"/>
                  <a:pt x="0" y="1569726"/>
                </a:cubicBezTo>
                <a:lnTo>
                  <a:pt x="0" y="114294"/>
                </a:lnTo>
                <a:cubicBezTo>
                  <a:pt x="0" y="51214"/>
                  <a:pt x="51214" y="0"/>
                  <a:pt x="114294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FC64D2B8-6336-3B46-D4B6-B37280A419FD}"/>
              </a:ext>
            </a:extLst>
          </p:cNvPr>
          <p:cNvSpPr/>
          <p:nvPr/>
        </p:nvSpPr>
        <p:spPr>
          <a:xfrm>
            <a:off x="6370320" y="337947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46FCBABB-D74A-F4C8-04F7-8ADD06A67DE4}"/>
              </a:ext>
            </a:extLst>
          </p:cNvPr>
          <p:cNvSpPr/>
          <p:nvPr/>
        </p:nvSpPr>
        <p:spPr>
          <a:xfrm>
            <a:off x="6496764" y="3493770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0195B807-45CE-35C1-0980-8F9EDF2E6472}"/>
              </a:ext>
            </a:extLst>
          </p:cNvPr>
          <p:cNvSpPr/>
          <p:nvPr/>
        </p:nvSpPr>
        <p:spPr>
          <a:xfrm>
            <a:off x="7056120" y="3379470"/>
            <a:ext cx="4648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AWS Global Infrastructure</a:t>
            </a:r>
            <a:endParaRPr lang="en-US" sz="16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1BD733E-FD10-1C94-55A8-3362FD410978}"/>
              </a:ext>
            </a:extLst>
          </p:cNvPr>
          <p:cNvSpPr/>
          <p:nvPr/>
        </p:nvSpPr>
        <p:spPr>
          <a:xfrm>
            <a:off x="7056120" y="3722370"/>
            <a:ext cx="4629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Regions, Availability Zones, Edge Locations, and core AWS services that power cloud applications</a:t>
            </a:r>
            <a:endParaRPr lang="en-US" sz="16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E68DF10B-3491-3EFB-8B28-18BEDAFF9EDB}"/>
              </a:ext>
            </a:extLst>
          </p:cNvPr>
          <p:cNvSpPr/>
          <p:nvPr/>
        </p:nvSpPr>
        <p:spPr>
          <a:xfrm>
            <a:off x="384810" y="5033010"/>
            <a:ext cx="11418570" cy="1436370"/>
          </a:xfrm>
          <a:custGeom>
            <a:avLst/>
            <a:gdLst/>
            <a:ahLst/>
            <a:cxnLst/>
            <a:rect l="l" t="t" r="r" b="b"/>
            <a:pathLst>
              <a:path w="11418570" h="1436370">
                <a:moveTo>
                  <a:pt x="114306" y="0"/>
                </a:moveTo>
                <a:lnTo>
                  <a:pt x="11304264" y="0"/>
                </a:lnTo>
                <a:cubicBezTo>
                  <a:pt x="11367393" y="0"/>
                  <a:pt x="11418570" y="51177"/>
                  <a:pt x="11418570" y="114306"/>
                </a:cubicBezTo>
                <a:lnTo>
                  <a:pt x="11418570" y="1322064"/>
                </a:lnTo>
                <a:cubicBezTo>
                  <a:pt x="11418570" y="1385193"/>
                  <a:pt x="11367393" y="1436370"/>
                  <a:pt x="11304264" y="1436370"/>
                </a:cubicBezTo>
                <a:lnTo>
                  <a:pt x="114306" y="1436370"/>
                </a:lnTo>
                <a:cubicBezTo>
                  <a:pt x="51177" y="1436370"/>
                  <a:pt x="0" y="1385193"/>
                  <a:pt x="0" y="1322064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1C28E248-57F2-D9E0-89CA-20AC2203B2E8}"/>
              </a:ext>
            </a:extLst>
          </p:cNvPr>
          <p:cNvSpPr/>
          <p:nvPr/>
        </p:nvSpPr>
        <p:spPr>
          <a:xfrm>
            <a:off x="579120" y="522732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D200EE2A-1526-648B-4FE2-87A4FF85D78E}"/>
              </a:ext>
            </a:extLst>
          </p:cNvPr>
          <p:cNvSpPr/>
          <p:nvPr/>
        </p:nvSpPr>
        <p:spPr>
          <a:xfrm>
            <a:off x="706993" y="5341620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AB1AF02F-6839-7100-D9F1-EB9BA6F85A7E}"/>
              </a:ext>
            </a:extLst>
          </p:cNvPr>
          <p:cNvSpPr/>
          <p:nvPr/>
        </p:nvSpPr>
        <p:spPr>
          <a:xfrm>
            <a:off x="1264920" y="5227320"/>
            <a:ext cx="10439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AWS Cloud Labs</a:t>
            </a:r>
            <a:endParaRPr lang="en-US" sz="16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226931D0-FEC0-ADE2-7294-68B0F686CB68}"/>
              </a:ext>
            </a:extLst>
          </p:cNvPr>
          <p:cNvSpPr/>
          <p:nvPr/>
        </p:nvSpPr>
        <p:spPr>
          <a:xfrm>
            <a:off x="1264920" y="5570220"/>
            <a:ext cx="104203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Well-Architected Framework, and your path to becoming AWS certified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191371378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e3023510cd8d2f4430dcac986f58049aee91d748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28812" b="2881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91919"/>
              </a:gs>
              <a:gs pos="50000">
                <a:srgbClr val="191919">
                  <a:alpha val="95000"/>
                </a:srgbClr>
              </a:gs>
              <a:gs pos="100000">
                <a:srgbClr val="191919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59067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" name="Text 2"/>
          <p:cNvSpPr/>
          <p:nvPr/>
        </p:nvSpPr>
        <p:spPr>
          <a:xfrm>
            <a:off x="584002" y="1781175"/>
            <a:ext cx="523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295400" y="195262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7" name="Text 4"/>
          <p:cNvSpPr/>
          <p:nvPr/>
        </p:nvSpPr>
        <p:spPr>
          <a:xfrm>
            <a:off x="381000" y="2581275"/>
            <a:ext cx="76581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Cloud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Computing?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524375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the fundamentals of cloud computing technology and its defining characteristics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01 • CLOUD FUNDAMENTALS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Computing Defined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181100"/>
            <a:ext cx="11410950" cy="1676400"/>
          </a:xfrm>
          <a:custGeom>
            <a:avLst/>
            <a:gdLst/>
            <a:ahLst/>
            <a:cxnLst/>
            <a:rect l="l" t="t" r="r" b="b"/>
            <a:pathLst>
              <a:path w="11410950" h="1676400">
                <a:moveTo>
                  <a:pt x="38100" y="0"/>
                </a:moveTo>
                <a:lnTo>
                  <a:pt x="11296653" y="0"/>
                </a:lnTo>
                <a:cubicBezTo>
                  <a:pt x="11359778" y="0"/>
                  <a:pt x="11410950" y="51172"/>
                  <a:pt x="11410950" y="114297"/>
                </a:cubicBezTo>
                <a:lnTo>
                  <a:pt x="11410950" y="1562103"/>
                </a:lnTo>
                <a:cubicBezTo>
                  <a:pt x="11410950" y="1625228"/>
                  <a:pt x="11359778" y="1676400"/>
                  <a:pt x="11296653" y="1676400"/>
                </a:cubicBezTo>
                <a:lnTo>
                  <a:pt x="38100" y="1676400"/>
                </a:lnTo>
                <a:cubicBezTo>
                  <a:pt x="17058" y="1676400"/>
                  <a:pt x="0" y="1659342"/>
                  <a:pt x="0" y="1638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181100"/>
            <a:ext cx="38100" cy="1676400"/>
          </a:xfrm>
          <a:custGeom>
            <a:avLst/>
            <a:gdLst/>
            <a:ahLst/>
            <a:cxnLst/>
            <a:rect l="l" t="t" r="r" b="b"/>
            <a:pathLst>
              <a:path w="38100" h="1676400">
                <a:moveTo>
                  <a:pt x="38100" y="0"/>
                </a:moveTo>
                <a:lnTo>
                  <a:pt x="38100" y="0"/>
                </a:lnTo>
                <a:lnTo>
                  <a:pt x="38100" y="1676400"/>
                </a:lnTo>
                <a:lnTo>
                  <a:pt x="38100" y="1676400"/>
                </a:lnTo>
                <a:cubicBezTo>
                  <a:pt x="17072" y="1676400"/>
                  <a:pt x="0" y="1659328"/>
                  <a:pt x="0" y="1638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" name="Shape 4"/>
          <p:cNvSpPr/>
          <p:nvPr/>
        </p:nvSpPr>
        <p:spPr>
          <a:xfrm>
            <a:off x="703659" y="1447800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0" y="120551"/>
                </a:moveTo>
                <a:cubicBezTo>
                  <a:pt x="0" y="83548"/>
                  <a:pt x="29970" y="53578"/>
                  <a:pt x="66973" y="53578"/>
                </a:cubicBezTo>
                <a:lnTo>
                  <a:pt x="71438" y="53578"/>
                </a:lnTo>
                <a:cubicBezTo>
                  <a:pt x="81316" y="53578"/>
                  <a:pt x="89297" y="61559"/>
                  <a:pt x="89297" y="71438"/>
                </a:cubicBezTo>
                <a:cubicBezTo>
                  <a:pt x="89297" y="81316"/>
                  <a:pt x="81316" y="89297"/>
                  <a:pt x="71438" y="89297"/>
                </a:cubicBezTo>
                <a:lnTo>
                  <a:pt x="66973" y="89297"/>
                </a:lnTo>
                <a:cubicBezTo>
                  <a:pt x="49727" y="89297"/>
                  <a:pt x="35719" y="103305"/>
                  <a:pt x="35719" y="120551"/>
                </a:cubicBezTo>
                <a:lnTo>
                  <a:pt x="35719" y="125016"/>
                </a:lnTo>
                <a:lnTo>
                  <a:pt x="71438" y="125016"/>
                </a:lnTo>
                <a:cubicBezTo>
                  <a:pt x="91139" y="125016"/>
                  <a:pt x="107156" y="141033"/>
                  <a:pt x="107156" y="160734"/>
                </a:cubicBezTo>
                <a:lnTo>
                  <a:pt x="107156" y="196453"/>
                </a:lnTo>
                <a:cubicBezTo>
                  <a:pt x="107156" y="216154"/>
                  <a:pt x="91139" y="232172"/>
                  <a:pt x="71438" y="232172"/>
                </a:cubicBezTo>
                <a:lnTo>
                  <a:pt x="35719" y="232172"/>
                </a:lnTo>
                <a:cubicBezTo>
                  <a:pt x="16018" y="232172"/>
                  <a:pt x="0" y="216154"/>
                  <a:pt x="0" y="196453"/>
                </a:cubicBezTo>
                <a:lnTo>
                  <a:pt x="0" y="120551"/>
                </a:lnTo>
                <a:close/>
                <a:moveTo>
                  <a:pt x="142875" y="120551"/>
                </a:moveTo>
                <a:cubicBezTo>
                  <a:pt x="142875" y="83548"/>
                  <a:pt x="172845" y="53578"/>
                  <a:pt x="209848" y="53578"/>
                </a:cubicBezTo>
                <a:lnTo>
                  <a:pt x="214313" y="53578"/>
                </a:lnTo>
                <a:cubicBezTo>
                  <a:pt x="224191" y="53578"/>
                  <a:pt x="232172" y="61559"/>
                  <a:pt x="232172" y="71438"/>
                </a:cubicBezTo>
                <a:cubicBezTo>
                  <a:pt x="232172" y="81316"/>
                  <a:pt x="224191" y="89297"/>
                  <a:pt x="214313" y="89297"/>
                </a:cubicBezTo>
                <a:lnTo>
                  <a:pt x="209848" y="89297"/>
                </a:lnTo>
                <a:cubicBezTo>
                  <a:pt x="192602" y="89297"/>
                  <a:pt x="178594" y="103305"/>
                  <a:pt x="178594" y="120551"/>
                </a:cubicBezTo>
                <a:lnTo>
                  <a:pt x="178594" y="125016"/>
                </a:lnTo>
                <a:lnTo>
                  <a:pt x="214313" y="125016"/>
                </a:lnTo>
                <a:cubicBezTo>
                  <a:pt x="234014" y="125016"/>
                  <a:pt x="250031" y="141033"/>
                  <a:pt x="250031" y="160734"/>
                </a:cubicBezTo>
                <a:lnTo>
                  <a:pt x="250031" y="196453"/>
                </a:lnTo>
                <a:cubicBezTo>
                  <a:pt x="250031" y="216154"/>
                  <a:pt x="234014" y="232172"/>
                  <a:pt x="214313" y="232172"/>
                </a:cubicBezTo>
                <a:lnTo>
                  <a:pt x="178594" y="232172"/>
                </a:lnTo>
                <a:cubicBezTo>
                  <a:pt x="158893" y="232172"/>
                  <a:pt x="142875" y="216154"/>
                  <a:pt x="142875" y="196453"/>
                </a:cubicBezTo>
                <a:lnTo>
                  <a:pt x="142875" y="120551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1157288" y="1409700"/>
            <a:ext cx="10525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NIST Official Definition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57288" y="1790700"/>
            <a:ext cx="105156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computing is a </a:t>
            </a: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for enabling on-demand network access</a:t>
            </a:r>
            <a:r>
              <a:rPr lang="en-US" sz="13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a shared pool of configurable computing resources (e.g., networks, servers, storage, applications, and services) that can be </a:t>
            </a: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rapidly provisioned and released</a:t>
            </a:r>
            <a:r>
              <a:rPr lang="en-US" sz="13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 minimal management effort or service provider interaction.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4810" y="3011329"/>
            <a:ext cx="3703320" cy="2531745"/>
          </a:xfrm>
          <a:custGeom>
            <a:avLst/>
            <a:gdLst/>
            <a:ahLst/>
            <a:cxnLst/>
            <a:rect l="l" t="t" r="r" b="b"/>
            <a:pathLst>
              <a:path w="3703320" h="2531745">
                <a:moveTo>
                  <a:pt x="114308" y="0"/>
                </a:moveTo>
                <a:lnTo>
                  <a:pt x="3589012" y="0"/>
                </a:lnTo>
                <a:cubicBezTo>
                  <a:pt x="3652142" y="0"/>
                  <a:pt x="3703320" y="51178"/>
                  <a:pt x="3703320" y="114308"/>
                </a:cubicBezTo>
                <a:lnTo>
                  <a:pt x="3703320" y="2417437"/>
                </a:lnTo>
                <a:cubicBezTo>
                  <a:pt x="3703320" y="2480567"/>
                  <a:pt x="3652142" y="2531745"/>
                  <a:pt x="3589012" y="2531745"/>
                </a:cubicBezTo>
                <a:lnTo>
                  <a:pt x="114308" y="2531745"/>
                </a:lnTo>
                <a:cubicBezTo>
                  <a:pt x="51178" y="2531745"/>
                  <a:pt x="0" y="2480567"/>
                  <a:pt x="0" y="241743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9120" y="320563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24376" y="3338989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579120" y="3777139"/>
            <a:ext cx="3400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Physical Infrastructure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9120" y="4120039"/>
            <a:ext cx="33909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Organizations no longer need to purchase, own, and maintain physical servers, data centers, or networking equipment. The cloud provider manages all underlying hardware.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45531" y="3011329"/>
            <a:ext cx="3703320" cy="2531745"/>
          </a:xfrm>
          <a:custGeom>
            <a:avLst/>
            <a:gdLst/>
            <a:ahLst/>
            <a:cxnLst/>
            <a:rect l="l" t="t" r="r" b="b"/>
            <a:pathLst>
              <a:path w="3703320" h="2531745">
                <a:moveTo>
                  <a:pt x="114308" y="0"/>
                </a:moveTo>
                <a:lnTo>
                  <a:pt x="3589012" y="0"/>
                </a:lnTo>
                <a:cubicBezTo>
                  <a:pt x="3652142" y="0"/>
                  <a:pt x="3703320" y="51178"/>
                  <a:pt x="3703320" y="114308"/>
                </a:cubicBezTo>
                <a:lnTo>
                  <a:pt x="3703320" y="2417437"/>
                </a:lnTo>
                <a:cubicBezTo>
                  <a:pt x="3703320" y="2480567"/>
                  <a:pt x="3652142" y="2531745"/>
                  <a:pt x="3589012" y="2531745"/>
                </a:cubicBezTo>
                <a:lnTo>
                  <a:pt x="114308" y="2531745"/>
                </a:lnTo>
                <a:cubicBezTo>
                  <a:pt x="51178" y="2531745"/>
                  <a:pt x="0" y="2480567"/>
                  <a:pt x="0" y="241743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39841" y="320563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585097" y="3338989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7" name="Text 15"/>
          <p:cNvSpPr/>
          <p:nvPr/>
        </p:nvSpPr>
        <p:spPr>
          <a:xfrm>
            <a:off x="4439841" y="3777139"/>
            <a:ext cx="3400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Dynamic Provisioning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39841" y="4120039"/>
            <a:ext cx="33909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Resources can be provisioned and released automatically through APIs or web interfaces, enabling true on-demand scalability without human intervention from the provider.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106371" y="3011329"/>
            <a:ext cx="3703320" cy="2531745"/>
          </a:xfrm>
          <a:custGeom>
            <a:avLst/>
            <a:gdLst/>
            <a:ahLst/>
            <a:cxnLst/>
            <a:rect l="l" t="t" r="r" b="b"/>
            <a:pathLst>
              <a:path w="3703320" h="2531745">
                <a:moveTo>
                  <a:pt x="114308" y="0"/>
                </a:moveTo>
                <a:lnTo>
                  <a:pt x="3589012" y="0"/>
                </a:lnTo>
                <a:cubicBezTo>
                  <a:pt x="3652142" y="0"/>
                  <a:pt x="3703320" y="51178"/>
                  <a:pt x="3703320" y="114308"/>
                </a:cubicBezTo>
                <a:lnTo>
                  <a:pt x="3703320" y="2417437"/>
                </a:lnTo>
                <a:cubicBezTo>
                  <a:pt x="3703320" y="2480567"/>
                  <a:pt x="3652142" y="2531745"/>
                  <a:pt x="3589012" y="2531745"/>
                </a:cubicBezTo>
                <a:lnTo>
                  <a:pt x="114308" y="2531745"/>
                </a:lnTo>
                <a:cubicBezTo>
                  <a:pt x="51178" y="2531745"/>
                  <a:pt x="0" y="2480567"/>
                  <a:pt x="0" y="241743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00681" y="320563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434031" y="333898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0932" y="104180"/>
                </a:moveTo>
                <a:lnTo>
                  <a:pt x="59903" y="104180"/>
                </a:lnTo>
                <a:cubicBezTo>
                  <a:pt x="60982" y="128178"/>
                  <a:pt x="66303" y="150279"/>
                  <a:pt x="73856" y="166464"/>
                </a:cubicBezTo>
                <a:cubicBezTo>
                  <a:pt x="78098" y="175580"/>
                  <a:pt x="82674" y="182017"/>
                  <a:pt x="86916" y="185961"/>
                </a:cubicBezTo>
                <a:cubicBezTo>
                  <a:pt x="91083" y="189867"/>
                  <a:pt x="93948" y="190500"/>
                  <a:pt x="95436" y="190500"/>
                </a:cubicBezTo>
                <a:cubicBezTo>
                  <a:pt x="96924" y="190500"/>
                  <a:pt x="99789" y="189867"/>
                  <a:pt x="103956" y="185961"/>
                </a:cubicBezTo>
                <a:cubicBezTo>
                  <a:pt x="108198" y="182017"/>
                  <a:pt x="112775" y="175543"/>
                  <a:pt x="117016" y="166464"/>
                </a:cubicBezTo>
                <a:cubicBezTo>
                  <a:pt x="124569" y="150279"/>
                  <a:pt x="129890" y="128178"/>
                  <a:pt x="130969" y="104180"/>
                </a:cubicBezTo>
                <a:close/>
                <a:moveTo>
                  <a:pt x="59866" y="86320"/>
                </a:moveTo>
                <a:lnTo>
                  <a:pt x="130894" y="86320"/>
                </a:lnTo>
                <a:cubicBezTo>
                  <a:pt x="129853" y="62322"/>
                  <a:pt x="124532" y="40221"/>
                  <a:pt x="116979" y="24036"/>
                </a:cubicBezTo>
                <a:cubicBezTo>
                  <a:pt x="112737" y="14957"/>
                  <a:pt x="108161" y="8483"/>
                  <a:pt x="103919" y="4539"/>
                </a:cubicBezTo>
                <a:cubicBezTo>
                  <a:pt x="99752" y="633"/>
                  <a:pt x="96887" y="0"/>
                  <a:pt x="95399" y="0"/>
                </a:cubicBezTo>
                <a:cubicBezTo>
                  <a:pt x="93911" y="0"/>
                  <a:pt x="91046" y="633"/>
                  <a:pt x="86878" y="4539"/>
                </a:cubicBezTo>
                <a:cubicBezTo>
                  <a:pt x="82637" y="8483"/>
                  <a:pt x="78060" y="14957"/>
                  <a:pt x="73819" y="24036"/>
                </a:cubicBezTo>
                <a:cubicBezTo>
                  <a:pt x="66266" y="40221"/>
                  <a:pt x="60945" y="62322"/>
                  <a:pt x="59866" y="86320"/>
                </a:cubicBezTo>
                <a:close/>
                <a:moveTo>
                  <a:pt x="42007" y="86320"/>
                </a:moveTo>
                <a:cubicBezTo>
                  <a:pt x="43309" y="54471"/>
                  <a:pt x="51532" y="24892"/>
                  <a:pt x="63550" y="5469"/>
                </a:cubicBezTo>
                <a:cubicBezTo>
                  <a:pt x="29282" y="17599"/>
                  <a:pt x="4056" y="48816"/>
                  <a:pt x="558" y="86320"/>
                </a:cubicBezTo>
                <a:lnTo>
                  <a:pt x="42007" y="86320"/>
                </a:lnTo>
                <a:close/>
                <a:moveTo>
                  <a:pt x="558" y="104180"/>
                </a:moveTo>
                <a:cubicBezTo>
                  <a:pt x="4056" y="141684"/>
                  <a:pt x="29282" y="172901"/>
                  <a:pt x="63550" y="185031"/>
                </a:cubicBezTo>
                <a:cubicBezTo>
                  <a:pt x="51532" y="165608"/>
                  <a:pt x="43309" y="136029"/>
                  <a:pt x="42007" y="104180"/>
                </a:cubicBezTo>
                <a:lnTo>
                  <a:pt x="558" y="104180"/>
                </a:lnTo>
                <a:close/>
                <a:moveTo>
                  <a:pt x="148791" y="104180"/>
                </a:moveTo>
                <a:cubicBezTo>
                  <a:pt x="147489" y="136029"/>
                  <a:pt x="139266" y="165608"/>
                  <a:pt x="127248" y="185031"/>
                </a:cubicBezTo>
                <a:cubicBezTo>
                  <a:pt x="161516" y="172864"/>
                  <a:pt x="186742" y="141684"/>
                  <a:pt x="190240" y="104180"/>
                </a:cubicBezTo>
                <a:lnTo>
                  <a:pt x="148791" y="104180"/>
                </a:lnTo>
                <a:close/>
                <a:moveTo>
                  <a:pt x="190240" y="86320"/>
                </a:moveTo>
                <a:cubicBezTo>
                  <a:pt x="186742" y="48816"/>
                  <a:pt x="161516" y="17599"/>
                  <a:pt x="127248" y="5469"/>
                </a:cubicBezTo>
                <a:cubicBezTo>
                  <a:pt x="139266" y="24892"/>
                  <a:pt x="147489" y="54471"/>
                  <a:pt x="148791" y="86320"/>
                </a:cubicBezTo>
                <a:lnTo>
                  <a:pt x="190240" y="8632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2" name="Text 20"/>
          <p:cNvSpPr/>
          <p:nvPr/>
        </p:nvSpPr>
        <p:spPr>
          <a:xfrm>
            <a:off x="8300681" y="3777139"/>
            <a:ext cx="3400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 Accessibility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00681" y="4120039"/>
            <a:ext cx="33909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services are accessed over the internet using standard protocols, enabling users to work from anywhere with any internet-connected device—laptops, tablets, or smartphones.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4810" y="5703571"/>
            <a:ext cx="11418570" cy="769620"/>
          </a:xfrm>
          <a:custGeom>
            <a:avLst/>
            <a:gdLst/>
            <a:ahLst/>
            <a:cxnLst/>
            <a:rect l="l" t="t" r="r" b="b"/>
            <a:pathLst>
              <a:path w="11418570" h="769620">
                <a:moveTo>
                  <a:pt x="114296" y="0"/>
                </a:moveTo>
                <a:lnTo>
                  <a:pt x="11304274" y="0"/>
                </a:lnTo>
                <a:cubicBezTo>
                  <a:pt x="11367398" y="0"/>
                  <a:pt x="11418570" y="51172"/>
                  <a:pt x="11418570" y="114296"/>
                </a:cubicBezTo>
                <a:lnTo>
                  <a:pt x="11418570" y="655324"/>
                </a:lnTo>
                <a:cubicBezTo>
                  <a:pt x="11418570" y="718448"/>
                  <a:pt x="11367398" y="769620"/>
                  <a:pt x="11304274" y="769620"/>
                </a:cubicBezTo>
                <a:lnTo>
                  <a:pt x="114296" y="769620"/>
                </a:lnTo>
                <a:cubicBezTo>
                  <a:pt x="51172" y="769620"/>
                  <a:pt x="0" y="718448"/>
                  <a:pt x="0" y="65532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1020" y="589788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55320" y="601218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9205" y="1548"/>
                </a:moveTo>
                <a:cubicBezTo>
                  <a:pt x="73640" y="-506"/>
                  <a:pt x="78760" y="-506"/>
                  <a:pt x="83195" y="1548"/>
                </a:cubicBezTo>
                <a:lnTo>
                  <a:pt x="148263" y="31611"/>
                </a:lnTo>
                <a:cubicBezTo>
                  <a:pt x="150793" y="32772"/>
                  <a:pt x="152400" y="35302"/>
                  <a:pt x="152400" y="38100"/>
                </a:cubicBezTo>
                <a:cubicBezTo>
                  <a:pt x="152400" y="40898"/>
                  <a:pt x="150793" y="43428"/>
                  <a:pt x="148263" y="44589"/>
                </a:cubicBezTo>
                <a:lnTo>
                  <a:pt x="83195" y="74652"/>
                </a:lnTo>
                <a:cubicBezTo>
                  <a:pt x="78760" y="76706"/>
                  <a:pt x="73640" y="76706"/>
                  <a:pt x="69205" y="74652"/>
                </a:cubicBezTo>
                <a:lnTo>
                  <a:pt x="4137" y="44589"/>
                </a:lnTo>
                <a:cubicBezTo>
                  <a:pt x="1607" y="43398"/>
                  <a:pt x="0" y="40868"/>
                  <a:pt x="0" y="38100"/>
                </a:cubicBezTo>
                <a:cubicBezTo>
                  <a:pt x="0" y="35332"/>
                  <a:pt x="1607" y="32772"/>
                  <a:pt x="4137" y="31611"/>
                </a:cubicBezTo>
                <a:lnTo>
                  <a:pt x="69205" y="1548"/>
                </a:lnTo>
                <a:close/>
                <a:moveTo>
                  <a:pt x="14317" y="65008"/>
                </a:moveTo>
                <a:lnTo>
                  <a:pt x="63222" y="87600"/>
                </a:lnTo>
                <a:cubicBezTo>
                  <a:pt x="71467" y="91410"/>
                  <a:pt x="80962" y="91410"/>
                  <a:pt x="89208" y="87600"/>
                </a:cubicBezTo>
                <a:lnTo>
                  <a:pt x="138113" y="65008"/>
                </a:lnTo>
                <a:lnTo>
                  <a:pt x="148263" y="69711"/>
                </a:lnTo>
                <a:cubicBezTo>
                  <a:pt x="150793" y="70872"/>
                  <a:pt x="152400" y="73402"/>
                  <a:pt x="152400" y="76200"/>
                </a:cubicBezTo>
                <a:cubicBezTo>
                  <a:pt x="152400" y="78998"/>
                  <a:pt x="150793" y="81528"/>
                  <a:pt x="148263" y="82689"/>
                </a:cubicBezTo>
                <a:lnTo>
                  <a:pt x="83195" y="112752"/>
                </a:lnTo>
                <a:cubicBezTo>
                  <a:pt x="78760" y="114806"/>
                  <a:pt x="73640" y="114806"/>
                  <a:pt x="69205" y="112752"/>
                </a:cubicBezTo>
                <a:lnTo>
                  <a:pt x="4137" y="82689"/>
                </a:lnTo>
                <a:cubicBezTo>
                  <a:pt x="1607" y="81498"/>
                  <a:pt x="0" y="78968"/>
                  <a:pt x="0" y="76200"/>
                </a:cubicBezTo>
                <a:cubicBezTo>
                  <a:pt x="0" y="73432"/>
                  <a:pt x="1607" y="70872"/>
                  <a:pt x="4137" y="69711"/>
                </a:cubicBezTo>
                <a:lnTo>
                  <a:pt x="14288" y="65008"/>
                </a:lnTo>
                <a:close/>
                <a:moveTo>
                  <a:pt x="4137" y="107811"/>
                </a:moveTo>
                <a:lnTo>
                  <a:pt x="14288" y="103108"/>
                </a:lnTo>
                <a:lnTo>
                  <a:pt x="63192" y="125700"/>
                </a:lnTo>
                <a:cubicBezTo>
                  <a:pt x="71438" y="129510"/>
                  <a:pt x="80933" y="129510"/>
                  <a:pt x="89178" y="125700"/>
                </a:cubicBezTo>
                <a:lnTo>
                  <a:pt x="138083" y="103108"/>
                </a:lnTo>
                <a:lnTo>
                  <a:pt x="148233" y="107811"/>
                </a:lnTo>
                <a:cubicBezTo>
                  <a:pt x="150763" y="108972"/>
                  <a:pt x="152370" y="111502"/>
                  <a:pt x="152370" y="114300"/>
                </a:cubicBezTo>
                <a:cubicBezTo>
                  <a:pt x="152370" y="117098"/>
                  <a:pt x="150763" y="119628"/>
                  <a:pt x="148233" y="120789"/>
                </a:cubicBezTo>
                <a:lnTo>
                  <a:pt x="83165" y="150852"/>
                </a:lnTo>
                <a:cubicBezTo>
                  <a:pt x="78730" y="152906"/>
                  <a:pt x="73610" y="152906"/>
                  <a:pt x="69175" y="150852"/>
                </a:cubicBezTo>
                <a:lnTo>
                  <a:pt x="4137" y="120789"/>
                </a:lnTo>
                <a:cubicBezTo>
                  <a:pt x="1607" y="119598"/>
                  <a:pt x="0" y="117068"/>
                  <a:pt x="0" y="114300"/>
                </a:cubicBezTo>
                <a:cubicBezTo>
                  <a:pt x="0" y="111532"/>
                  <a:pt x="1607" y="108972"/>
                  <a:pt x="4137" y="10781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7" name="Text 25"/>
          <p:cNvSpPr/>
          <p:nvPr/>
        </p:nvSpPr>
        <p:spPr>
          <a:xfrm>
            <a:off x="1036320" y="5859780"/>
            <a:ext cx="1314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Service Models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36320" y="6050280"/>
            <a:ext cx="1333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IaaS, PaaS, SaaS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2509361" y="589788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9525" y="0"/>
                </a:lnTo>
                <a:lnTo>
                  <a:pt x="95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30" name="Shape 28"/>
          <p:cNvSpPr/>
          <p:nvPr/>
        </p:nvSpPr>
        <p:spPr>
          <a:xfrm>
            <a:off x="2747486" y="589788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880836" y="601218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9050" y="0"/>
                </a:moveTo>
                <a:cubicBezTo>
                  <a:pt x="8543" y="0"/>
                  <a:pt x="0" y="8543"/>
                  <a:pt x="0" y="19050"/>
                </a:cubicBezTo>
                <a:lnTo>
                  <a:pt x="0" y="133350"/>
                </a:lnTo>
                <a:cubicBezTo>
                  <a:pt x="0" y="143857"/>
                  <a:pt x="8543" y="152400"/>
                  <a:pt x="19050" y="152400"/>
                </a:cubicBezTo>
                <a:lnTo>
                  <a:pt x="95250" y="152400"/>
                </a:lnTo>
                <a:cubicBezTo>
                  <a:pt x="105757" y="152400"/>
                  <a:pt x="114300" y="143857"/>
                  <a:pt x="114300" y="133350"/>
                </a:cubicBezTo>
                <a:lnTo>
                  <a:pt x="114300" y="19050"/>
                </a:lnTo>
                <a:cubicBezTo>
                  <a:pt x="114300" y="8543"/>
                  <a:pt x="105757" y="0"/>
                  <a:pt x="95250" y="0"/>
                </a:cubicBezTo>
                <a:lnTo>
                  <a:pt x="19050" y="0"/>
                </a:lnTo>
                <a:close/>
                <a:moveTo>
                  <a:pt x="52388" y="104775"/>
                </a:moveTo>
                <a:lnTo>
                  <a:pt x="61912" y="104775"/>
                </a:lnTo>
                <a:cubicBezTo>
                  <a:pt x="67181" y="104775"/>
                  <a:pt x="71438" y="109031"/>
                  <a:pt x="71438" y="114300"/>
                </a:cubicBezTo>
                <a:lnTo>
                  <a:pt x="71438" y="138113"/>
                </a:lnTo>
                <a:lnTo>
                  <a:pt x="42863" y="138113"/>
                </a:lnTo>
                <a:lnTo>
                  <a:pt x="42863" y="114300"/>
                </a:lnTo>
                <a:cubicBezTo>
                  <a:pt x="42863" y="109031"/>
                  <a:pt x="47119" y="104775"/>
                  <a:pt x="52388" y="104775"/>
                </a:cubicBezTo>
                <a:close/>
                <a:moveTo>
                  <a:pt x="28575" y="33338"/>
                </a:moveTo>
                <a:cubicBezTo>
                  <a:pt x="28575" y="30718"/>
                  <a:pt x="30718" y="28575"/>
                  <a:pt x="33338" y="28575"/>
                </a:cubicBezTo>
                <a:lnTo>
                  <a:pt x="42863" y="28575"/>
                </a:lnTo>
                <a:cubicBezTo>
                  <a:pt x="45482" y="28575"/>
                  <a:pt x="47625" y="30718"/>
                  <a:pt x="47625" y="33338"/>
                </a:cubicBezTo>
                <a:lnTo>
                  <a:pt x="47625" y="42863"/>
                </a:lnTo>
                <a:cubicBezTo>
                  <a:pt x="47625" y="45482"/>
                  <a:pt x="45482" y="47625"/>
                  <a:pt x="42863" y="47625"/>
                </a:cubicBezTo>
                <a:lnTo>
                  <a:pt x="33338" y="47625"/>
                </a:lnTo>
                <a:cubicBezTo>
                  <a:pt x="30718" y="47625"/>
                  <a:pt x="28575" y="45482"/>
                  <a:pt x="28575" y="42863"/>
                </a:cubicBezTo>
                <a:lnTo>
                  <a:pt x="28575" y="33338"/>
                </a:lnTo>
                <a:close/>
                <a:moveTo>
                  <a:pt x="71438" y="28575"/>
                </a:moveTo>
                <a:lnTo>
                  <a:pt x="80962" y="28575"/>
                </a:lnTo>
                <a:cubicBezTo>
                  <a:pt x="83582" y="28575"/>
                  <a:pt x="85725" y="30718"/>
                  <a:pt x="85725" y="33338"/>
                </a:cubicBezTo>
                <a:lnTo>
                  <a:pt x="85725" y="42863"/>
                </a:lnTo>
                <a:cubicBezTo>
                  <a:pt x="85725" y="45482"/>
                  <a:pt x="83582" y="47625"/>
                  <a:pt x="80962" y="47625"/>
                </a:cubicBezTo>
                <a:lnTo>
                  <a:pt x="71438" y="47625"/>
                </a:lnTo>
                <a:cubicBezTo>
                  <a:pt x="68818" y="47625"/>
                  <a:pt x="66675" y="45482"/>
                  <a:pt x="66675" y="42863"/>
                </a:cubicBezTo>
                <a:lnTo>
                  <a:pt x="66675" y="33338"/>
                </a:lnTo>
                <a:cubicBezTo>
                  <a:pt x="66675" y="30718"/>
                  <a:pt x="68818" y="28575"/>
                  <a:pt x="71438" y="28575"/>
                </a:cubicBezTo>
                <a:close/>
                <a:moveTo>
                  <a:pt x="28575" y="71438"/>
                </a:moveTo>
                <a:cubicBezTo>
                  <a:pt x="28575" y="68818"/>
                  <a:pt x="30718" y="66675"/>
                  <a:pt x="33338" y="66675"/>
                </a:cubicBezTo>
                <a:lnTo>
                  <a:pt x="42863" y="66675"/>
                </a:lnTo>
                <a:cubicBezTo>
                  <a:pt x="45482" y="66675"/>
                  <a:pt x="47625" y="68818"/>
                  <a:pt x="47625" y="71438"/>
                </a:cubicBezTo>
                <a:lnTo>
                  <a:pt x="47625" y="80962"/>
                </a:lnTo>
                <a:cubicBezTo>
                  <a:pt x="47625" y="83582"/>
                  <a:pt x="45482" y="85725"/>
                  <a:pt x="42863" y="85725"/>
                </a:cubicBezTo>
                <a:lnTo>
                  <a:pt x="33338" y="85725"/>
                </a:lnTo>
                <a:cubicBezTo>
                  <a:pt x="30718" y="85725"/>
                  <a:pt x="28575" y="83582"/>
                  <a:pt x="28575" y="80962"/>
                </a:cubicBezTo>
                <a:lnTo>
                  <a:pt x="28575" y="71438"/>
                </a:lnTo>
                <a:close/>
                <a:moveTo>
                  <a:pt x="71438" y="66675"/>
                </a:moveTo>
                <a:lnTo>
                  <a:pt x="80962" y="66675"/>
                </a:lnTo>
                <a:cubicBezTo>
                  <a:pt x="83582" y="66675"/>
                  <a:pt x="85725" y="68818"/>
                  <a:pt x="85725" y="71438"/>
                </a:cubicBezTo>
                <a:lnTo>
                  <a:pt x="85725" y="80962"/>
                </a:lnTo>
                <a:cubicBezTo>
                  <a:pt x="85725" y="83582"/>
                  <a:pt x="83582" y="85725"/>
                  <a:pt x="80962" y="85725"/>
                </a:cubicBezTo>
                <a:lnTo>
                  <a:pt x="71438" y="85725"/>
                </a:lnTo>
                <a:cubicBezTo>
                  <a:pt x="68818" y="85725"/>
                  <a:pt x="66675" y="83582"/>
                  <a:pt x="66675" y="80962"/>
                </a:cubicBezTo>
                <a:lnTo>
                  <a:pt x="66675" y="71438"/>
                </a:lnTo>
                <a:cubicBezTo>
                  <a:pt x="66675" y="68818"/>
                  <a:pt x="68818" y="66675"/>
                  <a:pt x="71438" y="6667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2" name="Text 30"/>
          <p:cNvSpPr/>
          <p:nvPr/>
        </p:nvSpPr>
        <p:spPr>
          <a:xfrm>
            <a:off x="3242786" y="5859780"/>
            <a:ext cx="2676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Deployment Models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242786" y="6050280"/>
            <a:ext cx="2695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Public, Private, Hybrid, Community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367242" y="5859780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Components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338667" y="6050280"/>
            <a:ext cx="2314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 Essential Characteristics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0183" y="330183"/>
            <a:ext cx="11589416" cy="165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0" b="1" kern="0" spc="45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01 • CLOUD FUNDAMENTALS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0183" y="561311"/>
            <a:ext cx="11680217" cy="33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4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Five Essential Characteristics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0183" y="957530"/>
            <a:ext cx="11605926" cy="231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NIST-defined characteristics that distinguish true cloud computing from traditional IT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6692" y="1254695"/>
            <a:ext cx="5703908" cy="1906806"/>
          </a:xfrm>
          <a:custGeom>
            <a:avLst/>
            <a:gdLst/>
            <a:ahLst/>
            <a:cxnLst/>
            <a:rect l="l" t="t" r="r" b="b"/>
            <a:pathLst>
              <a:path w="5703908" h="1906806">
                <a:moveTo>
                  <a:pt x="33018" y="0"/>
                </a:moveTo>
                <a:lnTo>
                  <a:pt x="5604849" y="0"/>
                </a:lnTo>
                <a:cubicBezTo>
                  <a:pt x="5659558" y="0"/>
                  <a:pt x="5703908" y="44350"/>
                  <a:pt x="5703908" y="99059"/>
                </a:cubicBezTo>
                <a:lnTo>
                  <a:pt x="5703908" y="1807747"/>
                </a:lnTo>
                <a:cubicBezTo>
                  <a:pt x="5703908" y="1862456"/>
                  <a:pt x="5659558" y="1906806"/>
                  <a:pt x="5604849" y="1906806"/>
                </a:cubicBezTo>
                <a:lnTo>
                  <a:pt x="33018" y="1906806"/>
                </a:lnTo>
                <a:cubicBezTo>
                  <a:pt x="14783" y="1906806"/>
                  <a:pt x="0" y="1892023"/>
                  <a:pt x="0" y="1873787"/>
                </a:cubicBezTo>
                <a:lnTo>
                  <a:pt x="0" y="33018"/>
                </a:lnTo>
                <a:cubicBezTo>
                  <a:pt x="0" y="14783"/>
                  <a:pt x="14783" y="0"/>
                  <a:pt x="33018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6" name="Shape 4"/>
          <p:cNvSpPr/>
          <p:nvPr/>
        </p:nvSpPr>
        <p:spPr>
          <a:xfrm>
            <a:off x="346692" y="1254695"/>
            <a:ext cx="33018" cy="1906806"/>
          </a:xfrm>
          <a:custGeom>
            <a:avLst/>
            <a:gdLst/>
            <a:ahLst/>
            <a:cxnLst/>
            <a:rect l="l" t="t" r="r" b="b"/>
            <a:pathLst>
              <a:path w="33018" h="1906806">
                <a:moveTo>
                  <a:pt x="33018" y="0"/>
                </a:moveTo>
                <a:lnTo>
                  <a:pt x="33018" y="0"/>
                </a:lnTo>
                <a:lnTo>
                  <a:pt x="33018" y="1906806"/>
                </a:lnTo>
                <a:lnTo>
                  <a:pt x="33018" y="1906806"/>
                </a:lnTo>
                <a:cubicBezTo>
                  <a:pt x="14783" y="1906806"/>
                  <a:pt x="0" y="1892023"/>
                  <a:pt x="0" y="1873787"/>
                </a:cubicBezTo>
                <a:lnTo>
                  <a:pt x="0" y="33018"/>
                </a:lnTo>
                <a:cubicBezTo>
                  <a:pt x="0" y="14795"/>
                  <a:pt x="14795" y="0"/>
                  <a:pt x="33018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7" name="Shape 5"/>
          <p:cNvSpPr/>
          <p:nvPr/>
        </p:nvSpPr>
        <p:spPr>
          <a:xfrm>
            <a:off x="495274" y="1386768"/>
            <a:ext cx="396219" cy="396219"/>
          </a:xfrm>
          <a:custGeom>
            <a:avLst/>
            <a:gdLst/>
            <a:ahLst/>
            <a:cxnLst/>
            <a:rect l="l" t="t" r="r" b="b"/>
            <a:pathLst>
              <a:path w="396219" h="396219">
                <a:moveTo>
                  <a:pt x="99055" y="0"/>
                </a:moveTo>
                <a:lnTo>
                  <a:pt x="297165" y="0"/>
                </a:lnTo>
                <a:cubicBezTo>
                  <a:pt x="351871" y="0"/>
                  <a:pt x="396219" y="44348"/>
                  <a:pt x="396219" y="99055"/>
                </a:cubicBezTo>
                <a:lnTo>
                  <a:pt x="396219" y="297165"/>
                </a:lnTo>
                <a:cubicBezTo>
                  <a:pt x="396219" y="351871"/>
                  <a:pt x="351871" y="396219"/>
                  <a:pt x="297165" y="396219"/>
                </a:cubicBezTo>
                <a:lnTo>
                  <a:pt x="99055" y="396219"/>
                </a:lnTo>
                <a:cubicBezTo>
                  <a:pt x="44348" y="396219"/>
                  <a:pt x="0" y="351871"/>
                  <a:pt x="0" y="297165"/>
                </a:cubicBezTo>
                <a:lnTo>
                  <a:pt x="0" y="99055"/>
                </a:lnTo>
                <a:cubicBezTo>
                  <a:pt x="0" y="44348"/>
                  <a:pt x="44348" y="0"/>
                  <a:pt x="99055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8" name="Shape 6"/>
          <p:cNvSpPr/>
          <p:nvPr/>
        </p:nvSpPr>
        <p:spPr>
          <a:xfrm>
            <a:off x="590202" y="1502332"/>
            <a:ext cx="206364" cy="165091"/>
          </a:xfrm>
          <a:custGeom>
            <a:avLst/>
            <a:gdLst/>
            <a:ahLst/>
            <a:cxnLst/>
            <a:rect l="l" t="t" r="r" b="b"/>
            <a:pathLst>
              <a:path w="206364" h="165091">
                <a:moveTo>
                  <a:pt x="82707" y="2580"/>
                </a:moveTo>
                <a:cubicBezTo>
                  <a:pt x="104062" y="2580"/>
                  <a:pt x="121400" y="19917"/>
                  <a:pt x="121400" y="41273"/>
                </a:cubicBezTo>
                <a:cubicBezTo>
                  <a:pt x="121400" y="62628"/>
                  <a:pt x="104062" y="79966"/>
                  <a:pt x="82707" y="79966"/>
                </a:cubicBezTo>
                <a:cubicBezTo>
                  <a:pt x="61352" y="79966"/>
                  <a:pt x="44014" y="62628"/>
                  <a:pt x="44014" y="41273"/>
                </a:cubicBezTo>
                <a:cubicBezTo>
                  <a:pt x="44014" y="19917"/>
                  <a:pt x="61352" y="2580"/>
                  <a:pt x="82707" y="2580"/>
                </a:cubicBezTo>
                <a:close/>
                <a:moveTo>
                  <a:pt x="73098" y="98023"/>
                </a:moveTo>
                <a:lnTo>
                  <a:pt x="92251" y="98023"/>
                </a:lnTo>
                <a:lnTo>
                  <a:pt x="92735" y="98023"/>
                </a:lnTo>
                <a:cubicBezTo>
                  <a:pt x="88575" y="106665"/>
                  <a:pt x="90220" y="116789"/>
                  <a:pt x="96443" y="123657"/>
                </a:cubicBezTo>
                <a:cubicBezTo>
                  <a:pt x="89930" y="130848"/>
                  <a:pt x="88446" y="141650"/>
                  <a:pt x="93412" y="150549"/>
                </a:cubicBezTo>
                <a:lnTo>
                  <a:pt x="100667" y="163576"/>
                </a:lnTo>
                <a:cubicBezTo>
                  <a:pt x="100957" y="164092"/>
                  <a:pt x="101280" y="164608"/>
                  <a:pt x="101602" y="165091"/>
                </a:cubicBezTo>
                <a:lnTo>
                  <a:pt x="25183" y="165091"/>
                </a:lnTo>
                <a:cubicBezTo>
                  <a:pt x="19895" y="165091"/>
                  <a:pt x="15606" y="160803"/>
                  <a:pt x="15606" y="155515"/>
                </a:cubicBezTo>
                <a:cubicBezTo>
                  <a:pt x="15606" y="123754"/>
                  <a:pt x="41337" y="98023"/>
                  <a:pt x="73098" y="98023"/>
                </a:cubicBezTo>
                <a:close/>
                <a:moveTo>
                  <a:pt x="139489" y="79837"/>
                </a:moveTo>
                <a:cubicBezTo>
                  <a:pt x="139489" y="75549"/>
                  <a:pt x="142939" y="72099"/>
                  <a:pt x="147228" y="72099"/>
                </a:cubicBezTo>
                <a:lnTo>
                  <a:pt x="162705" y="72099"/>
                </a:lnTo>
                <a:cubicBezTo>
                  <a:pt x="166994" y="72099"/>
                  <a:pt x="170444" y="75549"/>
                  <a:pt x="170444" y="79837"/>
                </a:cubicBezTo>
                <a:lnTo>
                  <a:pt x="170444" y="81804"/>
                </a:lnTo>
                <a:cubicBezTo>
                  <a:pt x="170444" y="87898"/>
                  <a:pt x="178215" y="92380"/>
                  <a:pt x="183503" y="89349"/>
                </a:cubicBezTo>
                <a:lnTo>
                  <a:pt x="185115" y="88414"/>
                </a:lnTo>
                <a:cubicBezTo>
                  <a:pt x="188856" y="86254"/>
                  <a:pt x="193660" y="87576"/>
                  <a:pt x="195756" y="91348"/>
                </a:cubicBezTo>
                <a:lnTo>
                  <a:pt x="202979" y="104311"/>
                </a:lnTo>
                <a:cubicBezTo>
                  <a:pt x="204978" y="107922"/>
                  <a:pt x="203817" y="112436"/>
                  <a:pt x="200335" y="114629"/>
                </a:cubicBezTo>
                <a:lnTo>
                  <a:pt x="198819" y="115564"/>
                </a:lnTo>
                <a:cubicBezTo>
                  <a:pt x="193595" y="118821"/>
                  <a:pt x="193595" y="128430"/>
                  <a:pt x="198819" y="131718"/>
                </a:cubicBezTo>
                <a:lnTo>
                  <a:pt x="200302" y="132654"/>
                </a:lnTo>
                <a:cubicBezTo>
                  <a:pt x="203785" y="134846"/>
                  <a:pt x="204978" y="139360"/>
                  <a:pt x="202979" y="142972"/>
                </a:cubicBezTo>
                <a:lnTo>
                  <a:pt x="195724" y="155998"/>
                </a:lnTo>
                <a:cubicBezTo>
                  <a:pt x="193628" y="159771"/>
                  <a:pt x="188823" y="161125"/>
                  <a:pt x="185083" y="158933"/>
                </a:cubicBezTo>
                <a:lnTo>
                  <a:pt x="183503" y="157998"/>
                </a:lnTo>
                <a:cubicBezTo>
                  <a:pt x="178215" y="154934"/>
                  <a:pt x="170444" y="159449"/>
                  <a:pt x="170444" y="165543"/>
                </a:cubicBezTo>
                <a:lnTo>
                  <a:pt x="170444" y="167510"/>
                </a:lnTo>
                <a:cubicBezTo>
                  <a:pt x="170444" y="171798"/>
                  <a:pt x="166994" y="175248"/>
                  <a:pt x="162705" y="175248"/>
                </a:cubicBezTo>
                <a:lnTo>
                  <a:pt x="147228" y="175248"/>
                </a:lnTo>
                <a:cubicBezTo>
                  <a:pt x="142939" y="175248"/>
                  <a:pt x="139489" y="171798"/>
                  <a:pt x="139489" y="167510"/>
                </a:cubicBezTo>
                <a:lnTo>
                  <a:pt x="139489" y="165607"/>
                </a:lnTo>
                <a:cubicBezTo>
                  <a:pt x="139489" y="159481"/>
                  <a:pt x="131686" y="154967"/>
                  <a:pt x="126366" y="158030"/>
                </a:cubicBezTo>
                <a:lnTo>
                  <a:pt x="124818" y="158933"/>
                </a:lnTo>
                <a:cubicBezTo>
                  <a:pt x="121078" y="161093"/>
                  <a:pt x="116306" y="159771"/>
                  <a:pt x="114177" y="155998"/>
                </a:cubicBezTo>
                <a:lnTo>
                  <a:pt x="106890" y="142972"/>
                </a:lnTo>
                <a:cubicBezTo>
                  <a:pt x="104891" y="139360"/>
                  <a:pt x="106052" y="134814"/>
                  <a:pt x="109567" y="132621"/>
                </a:cubicBezTo>
                <a:lnTo>
                  <a:pt x="110985" y="131751"/>
                </a:lnTo>
                <a:cubicBezTo>
                  <a:pt x="116241" y="128494"/>
                  <a:pt x="116241" y="118821"/>
                  <a:pt x="110985" y="115564"/>
                </a:cubicBezTo>
                <a:lnTo>
                  <a:pt x="109534" y="114661"/>
                </a:lnTo>
                <a:cubicBezTo>
                  <a:pt x="106020" y="112469"/>
                  <a:pt x="104859" y="107922"/>
                  <a:pt x="106858" y="104311"/>
                </a:cubicBezTo>
                <a:lnTo>
                  <a:pt x="114113" y="91316"/>
                </a:lnTo>
                <a:cubicBezTo>
                  <a:pt x="116209" y="87544"/>
                  <a:pt x="121013" y="86222"/>
                  <a:pt x="124721" y="88382"/>
                </a:cubicBezTo>
                <a:lnTo>
                  <a:pt x="126269" y="89285"/>
                </a:lnTo>
                <a:cubicBezTo>
                  <a:pt x="131589" y="92348"/>
                  <a:pt x="139393" y="87834"/>
                  <a:pt x="139393" y="81707"/>
                </a:cubicBezTo>
                <a:lnTo>
                  <a:pt x="139393" y="79805"/>
                </a:lnTo>
                <a:close/>
                <a:moveTo>
                  <a:pt x="171702" y="123754"/>
                </a:moveTo>
                <a:cubicBezTo>
                  <a:pt x="171702" y="114500"/>
                  <a:pt x="164188" y="106987"/>
                  <a:pt x="154934" y="106987"/>
                </a:cubicBezTo>
                <a:cubicBezTo>
                  <a:pt x="145680" y="106987"/>
                  <a:pt x="138167" y="114500"/>
                  <a:pt x="138167" y="123754"/>
                </a:cubicBezTo>
                <a:cubicBezTo>
                  <a:pt x="138167" y="133008"/>
                  <a:pt x="145680" y="140521"/>
                  <a:pt x="154934" y="140521"/>
                </a:cubicBezTo>
                <a:cubicBezTo>
                  <a:pt x="164188" y="140521"/>
                  <a:pt x="171702" y="133008"/>
                  <a:pt x="171702" y="12375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990548" y="1386768"/>
            <a:ext cx="1906806" cy="231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On-Demand Self-Service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90548" y="1617896"/>
            <a:ext cx="1882042" cy="165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Automatic Provisioning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5274" y="1882042"/>
            <a:ext cx="5489289" cy="66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consumer can </a:t>
            </a:r>
            <a:r>
              <a:rPr lang="en-US" sz="104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unilaterally provision computing capabilities</a:t>
            </a:r>
            <a:r>
              <a:rPr lang="en-US" sz="104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such as server time and network storage as needed automatically </a:t>
            </a:r>
            <a:r>
              <a:rPr lang="en-US" sz="104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without requiring human interaction</a:t>
            </a:r>
            <a:r>
              <a:rPr lang="en-US" sz="104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 each service provider.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98576" y="2652195"/>
            <a:ext cx="5413347" cy="369805"/>
          </a:xfrm>
          <a:custGeom>
            <a:avLst/>
            <a:gdLst/>
            <a:ahLst/>
            <a:cxnLst/>
            <a:rect l="l" t="t" r="r" b="b"/>
            <a:pathLst>
              <a:path w="5413347" h="369805">
                <a:moveTo>
                  <a:pt x="66036" y="0"/>
                </a:moveTo>
                <a:lnTo>
                  <a:pt x="5347311" y="0"/>
                </a:lnTo>
                <a:cubicBezTo>
                  <a:pt x="5383782" y="0"/>
                  <a:pt x="5413347" y="29565"/>
                  <a:pt x="5413347" y="66036"/>
                </a:cubicBezTo>
                <a:lnTo>
                  <a:pt x="5413347" y="303769"/>
                </a:lnTo>
                <a:cubicBezTo>
                  <a:pt x="5413347" y="340239"/>
                  <a:pt x="5383782" y="369805"/>
                  <a:pt x="5347311" y="369805"/>
                </a:cubicBezTo>
                <a:lnTo>
                  <a:pt x="66036" y="369805"/>
                </a:lnTo>
                <a:cubicBezTo>
                  <a:pt x="29565" y="369805"/>
                  <a:pt x="0" y="340239"/>
                  <a:pt x="0" y="303769"/>
                </a:cubicBezTo>
                <a:lnTo>
                  <a:pt x="0" y="66036"/>
                </a:lnTo>
                <a:cubicBezTo>
                  <a:pt x="0" y="29565"/>
                  <a:pt x="29565" y="0"/>
                  <a:pt x="66036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1887" y="2780966"/>
            <a:ext cx="86673" cy="115564"/>
          </a:xfrm>
          <a:custGeom>
            <a:avLst/>
            <a:gdLst/>
            <a:ahLst/>
            <a:cxnLst/>
            <a:rect l="l" t="t" r="r" b="b"/>
            <a:pathLst>
              <a:path w="86673" h="115564">
                <a:moveTo>
                  <a:pt x="66111" y="86673"/>
                </a:moveTo>
                <a:cubicBezTo>
                  <a:pt x="67758" y="81640"/>
                  <a:pt x="71054" y="77080"/>
                  <a:pt x="74778" y="73153"/>
                </a:cubicBezTo>
                <a:cubicBezTo>
                  <a:pt x="82159" y="65388"/>
                  <a:pt x="86673" y="54893"/>
                  <a:pt x="86673" y="43336"/>
                </a:cubicBezTo>
                <a:cubicBezTo>
                  <a:pt x="86673" y="19411"/>
                  <a:pt x="67262" y="0"/>
                  <a:pt x="43336" y="0"/>
                </a:cubicBezTo>
                <a:cubicBezTo>
                  <a:pt x="19411" y="0"/>
                  <a:pt x="0" y="19411"/>
                  <a:pt x="0" y="43336"/>
                </a:cubicBezTo>
                <a:cubicBezTo>
                  <a:pt x="0" y="54893"/>
                  <a:pt x="4514" y="65388"/>
                  <a:pt x="11895" y="73153"/>
                </a:cubicBezTo>
                <a:cubicBezTo>
                  <a:pt x="15619" y="77080"/>
                  <a:pt x="18937" y="81640"/>
                  <a:pt x="20562" y="86673"/>
                </a:cubicBezTo>
                <a:lnTo>
                  <a:pt x="66088" y="86673"/>
                </a:lnTo>
                <a:close/>
                <a:moveTo>
                  <a:pt x="65005" y="97507"/>
                </a:moveTo>
                <a:lnTo>
                  <a:pt x="21668" y="97507"/>
                </a:lnTo>
                <a:lnTo>
                  <a:pt x="21668" y="101118"/>
                </a:lnTo>
                <a:cubicBezTo>
                  <a:pt x="21668" y="111095"/>
                  <a:pt x="29749" y="119175"/>
                  <a:pt x="39725" y="119175"/>
                </a:cubicBezTo>
                <a:lnTo>
                  <a:pt x="46948" y="119175"/>
                </a:lnTo>
                <a:cubicBezTo>
                  <a:pt x="56924" y="119175"/>
                  <a:pt x="65005" y="111095"/>
                  <a:pt x="65005" y="101118"/>
                </a:cubicBezTo>
                <a:lnTo>
                  <a:pt x="65005" y="97507"/>
                </a:lnTo>
                <a:close/>
                <a:moveTo>
                  <a:pt x="41531" y="25280"/>
                </a:moveTo>
                <a:cubicBezTo>
                  <a:pt x="32548" y="25280"/>
                  <a:pt x="25280" y="32548"/>
                  <a:pt x="25280" y="41531"/>
                </a:cubicBezTo>
                <a:cubicBezTo>
                  <a:pt x="25280" y="44533"/>
                  <a:pt x="22865" y="46948"/>
                  <a:pt x="19863" y="46948"/>
                </a:cubicBezTo>
                <a:cubicBezTo>
                  <a:pt x="16861" y="46948"/>
                  <a:pt x="14445" y="44533"/>
                  <a:pt x="14445" y="41531"/>
                </a:cubicBezTo>
                <a:cubicBezTo>
                  <a:pt x="14445" y="26566"/>
                  <a:pt x="26566" y="14445"/>
                  <a:pt x="41531" y="14445"/>
                </a:cubicBezTo>
                <a:cubicBezTo>
                  <a:pt x="44533" y="14445"/>
                  <a:pt x="46948" y="16861"/>
                  <a:pt x="46948" y="19863"/>
                </a:cubicBezTo>
                <a:cubicBezTo>
                  <a:pt x="46948" y="22865"/>
                  <a:pt x="44533" y="25280"/>
                  <a:pt x="41531" y="2528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792437" y="2754550"/>
            <a:ext cx="5074912" cy="165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0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</a:t>
            </a:r>
            <a:r>
              <a:rPr lang="en-US" sz="91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Launching an EC2 instance through the AWS Console without contacting AWS support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63378" y="1254695"/>
            <a:ext cx="5703908" cy="1906806"/>
          </a:xfrm>
          <a:custGeom>
            <a:avLst/>
            <a:gdLst/>
            <a:ahLst/>
            <a:cxnLst/>
            <a:rect l="l" t="t" r="r" b="b"/>
            <a:pathLst>
              <a:path w="5703908" h="1906806">
                <a:moveTo>
                  <a:pt x="33018" y="0"/>
                </a:moveTo>
                <a:lnTo>
                  <a:pt x="5604849" y="0"/>
                </a:lnTo>
                <a:cubicBezTo>
                  <a:pt x="5659558" y="0"/>
                  <a:pt x="5703908" y="44350"/>
                  <a:pt x="5703908" y="99059"/>
                </a:cubicBezTo>
                <a:lnTo>
                  <a:pt x="5703908" y="1807747"/>
                </a:lnTo>
                <a:cubicBezTo>
                  <a:pt x="5703908" y="1862456"/>
                  <a:pt x="5659558" y="1906806"/>
                  <a:pt x="5604849" y="1906806"/>
                </a:cubicBezTo>
                <a:lnTo>
                  <a:pt x="33018" y="1906806"/>
                </a:lnTo>
                <a:cubicBezTo>
                  <a:pt x="14783" y="1906806"/>
                  <a:pt x="0" y="1892023"/>
                  <a:pt x="0" y="1873787"/>
                </a:cubicBezTo>
                <a:lnTo>
                  <a:pt x="0" y="33018"/>
                </a:lnTo>
                <a:cubicBezTo>
                  <a:pt x="0" y="14783"/>
                  <a:pt x="14783" y="0"/>
                  <a:pt x="33018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6" name="Shape 14"/>
          <p:cNvSpPr/>
          <p:nvPr/>
        </p:nvSpPr>
        <p:spPr>
          <a:xfrm>
            <a:off x="6163378" y="1254695"/>
            <a:ext cx="33018" cy="1906806"/>
          </a:xfrm>
          <a:custGeom>
            <a:avLst/>
            <a:gdLst/>
            <a:ahLst/>
            <a:cxnLst/>
            <a:rect l="l" t="t" r="r" b="b"/>
            <a:pathLst>
              <a:path w="33018" h="1906806">
                <a:moveTo>
                  <a:pt x="33018" y="0"/>
                </a:moveTo>
                <a:lnTo>
                  <a:pt x="33018" y="0"/>
                </a:lnTo>
                <a:lnTo>
                  <a:pt x="33018" y="1906806"/>
                </a:lnTo>
                <a:lnTo>
                  <a:pt x="33018" y="1906806"/>
                </a:lnTo>
                <a:cubicBezTo>
                  <a:pt x="14783" y="1906806"/>
                  <a:pt x="0" y="1892023"/>
                  <a:pt x="0" y="1873787"/>
                </a:cubicBezTo>
                <a:lnTo>
                  <a:pt x="0" y="33018"/>
                </a:lnTo>
                <a:cubicBezTo>
                  <a:pt x="0" y="14795"/>
                  <a:pt x="14795" y="0"/>
                  <a:pt x="33018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7" name="Shape 15"/>
          <p:cNvSpPr/>
          <p:nvPr/>
        </p:nvSpPr>
        <p:spPr>
          <a:xfrm>
            <a:off x="6311960" y="1386768"/>
            <a:ext cx="396219" cy="396219"/>
          </a:xfrm>
          <a:custGeom>
            <a:avLst/>
            <a:gdLst/>
            <a:ahLst/>
            <a:cxnLst/>
            <a:rect l="l" t="t" r="r" b="b"/>
            <a:pathLst>
              <a:path w="396219" h="396219">
                <a:moveTo>
                  <a:pt x="99055" y="0"/>
                </a:moveTo>
                <a:lnTo>
                  <a:pt x="297165" y="0"/>
                </a:lnTo>
                <a:cubicBezTo>
                  <a:pt x="351871" y="0"/>
                  <a:pt x="396219" y="44348"/>
                  <a:pt x="396219" y="99055"/>
                </a:cubicBezTo>
                <a:lnTo>
                  <a:pt x="396219" y="297165"/>
                </a:lnTo>
                <a:cubicBezTo>
                  <a:pt x="396219" y="351871"/>
                  <a:pt x="351871" y="396219"/>
                  <a:pt x="297165" y="396219"/>
                </a:cubicBezTo>
                <a:lnTo>
                  <a:pt x="99055" y="396219"/>
                </a:lnTo>
                <a:cubicBezTo>
                  <a:pt x="44348" y="396219"/>
                  <a:pt x="0" y="351871"/>
                  <a:pt x="0" y="297165"/>
                </a:cubicBezTo>
                <a:lnTo>
                  <a:pt x="0" y="99055"/>
                </a:lnTo>
                <a:cubicBezTo>
                  <a:pt x="0" y="44348"/>
                  <a:pt x="44348" y="0"/>
                  <a:pt x="99055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8" name="Shape 16"/>
          <p:cNvSpPr/>
          <p:nvPr/>
        </p:nvSpPr>
        <p:spPr>
          <a:xfrm>
            <a:off x="6417206" y="1502332"/>
            <a:ext cx="185728" cy="165091"/>
          </a:xfrm>
          <a:custGeom>
            <a:avLst/>
            <a:gdLst/>
            <a:ahLst/>
            <a:cxnLst/>
            <a:rect l="l" t="t" r="r" b="b"/>
            <a:pathLst>
              <a:path w="185728" h="165091">
                <a:moveTo>
                  <a:pt x="79966" y="28375"/>
                </a:moveTo>
                <a:lnTo>
                  <a:pt x="105762" y="28375"/>
                </a:lnTo>
                <a:lnTo>
                  <a:pt x="105762" y="43852"/>
                </a:lnTo>
                <a:lnTo>
                  <a:pt x="79966" y="43852"/>
                </a:lnTo>
                <a:lnTo>
                  <a:pt x="79966" y="28375"/>
                </a:lnTo>
                <a:close/>
                <a:moveTo>
                  <a:pt x="77387" y="10318"/>
                </a:moveTo>
                <a:cubicBezTo>
                  <a:pt x="68842" y="10318"/>
                  <a:pt x="61909" y="17251"/>
                  <a:pt x="61909" y="25796"/>
                </a:cubicBezTo>
                <a:lnTo>
                  <a:pt x="61909" y="46432"/>
                </a:lnTo>
                <a:cubicBezTo>
                  <a:pt x="61909" y="54977"/>
                  <a:pt x="68842" y="61909"/>
                  <a:pt x="77387" y="61909"/>
                </a:cubicBezTo>
                <a:lnTo>
                  <a:pt x="82546" y="61909"/>
                </a:lnTo>
                <a:lnTo>
                  <a:pt x="82546" y="72227"/>
                </a:lnTo>
                <a:lnTo>
                  <a:pt x="10318" y="72227"/>
                </a:lnTo>
                <a:cubicBezTo>
                  <a:pt x="4611" y="72227"/>
                  <a:pt x="0" y="76838"/>
                  <a:pt x="0" y="82546"/>
                </a:cubicBezTo>
                <a:cubicBezTo>
                  <a:pt x="0" y="88253"/>
                  <a:pt x="4611" y="92864"/>
                  <a:pt x="10318" y="92864"/>
                </a:cubicBezTo>
                <a:lnTo>
                  <a:pt x="41273" y="92864"/>
                </a:lnTo>
                <a:lnTo>
                  <a:pt x="41273" y="103182"/>
                </a:lnTo>
                <a:lnTo>
                  <a:pt x="36114" y="103182"/>
                </a:lnTo>
                <a:cubicBezTo>
                  <a:pt x="27569" y="103182"/>
                  <a:pt x="20636" y="110115"/>
                  <a:pt x="20636" y="118659"/>
                </a:cubicBezTo>
                <a:lnTo>
                  <a:pt x="20636" y="139296"/>
                </a:lnTo>
                <a:cubicBezTo>
                  <a:pt x="20636" y="147841"/>
                  <a:pt x="27569" y="154773"/>
                  <a:pt x="36114" y="154773"/>
                </a:cubicBezTo>
                <a:lnTo>
                  <a:pt x="67068" y="154773"/>
                </a:lnTo>
                <a:cubicBezTo>
                  <a:pt x="75613" y="154773"/>
                  <a:pt x="82546" y="147841"/>
                  <a:pt x="82546" y="139296"/>
                </a:cubicBezTo>
                <a:lnTo>
                  <a:pt x="82546" y="118659"/>
                </a:lnTo>
                <a:cubicBezTo>
                  <a:pt x="82546" y="110115"/>
                  <a:pt x="75613" y="103182"/>
                  <a:pt x="67068" y="103182"/>
                </a:cubicBezTo>
                <a:lnTo>
                  <a:pt x="61909" y="103182"/>
                </a:lnTo>
                <a:lnTo>
                  <a:pt x="61909" y="92864"/>
                </a:lnTo>
                <a:lnTo>
                  <a:pt x="123819" y="92864"/>
                </a:lnTo>
                <a:lnTo>
                  <a:pt x="123819" y="103182"/>
                </a:lnTo>
                <a:lnTo>
                  <a:pt x="118659" y="103182"/>
                </a:lnTo>
                <a:cubicBezTo>
                  <a:pt x="110115" y="103182"/>
                  <a:pt x="103182" y="110115"/>
                  <a:pt x="103182" y="118659"/>
                </a:cubicBezTo>
                <a:lnTo>
                  <a:pt x="103182" y="139296"/>
                </a:lnTo>
                <a:cubicBezTo>
                  <a:pt x="103182" y="147841"/>
                  <a:pt x="110115" y="154773"/>
                  <a:pt x="118659" y="154773"/>
                </a:cubicBezTo>
                <a:lnTo>
                  <a:pt x="149614" y="154773"/>
                </a:lnTo>
                <a:cubicBezTo>
                  <a:pt x="158159" y="154773"/>
                  <a:pt x="165091" y="147841"/>
                  <a:pt x="165091" y="139296"/>
                </a:cubicBezTo>
                <a:lnTo>
                  <a:pt x="165091" y="118659"/>
                </a:lnTo>
                <a:cubicBezTo>
                  <a:pt x="165091" y="110115"/>
                  <a:pt x="158159" y="103182"/>
                  <a:pt x="149614" y="103182"/>
                </a:cubicBezTo>
                <a:lnTo>
                  <a:pt x="144455" y="103182"/>
                </a:lnTo>
                <a:lnTo>
                  <a:pt x="144455" y="92864"/>
                </a:lnTo>
                <a:lnTo>
                  <a:pt x="175410" y="92864"/>
                </a:lnTo>
                <a:cubicBezTo>
                  <a:pt x="181117" y="92864"/>
                  <a:pt x="185728" y="88253"/>
                  <a:pt x="185728" y="82546"/>
                </a:cubicBezTo>
                <a:cubicBezTo>
                  <a:pt x="185728" y="76838"/>
                  <a:pt x="181117" y="72227"/>
                  <a:pt x="175410" y="72227"/>
                </a:cubicBezTo>
                <a:lnTo>
                  <a:pt x="103182" y="72227"/>
                </a:lnTo>
                <a:lnTo>
                  <a:pt x="103182" y="61909"/>
                </a:lnTo>
                <a:lnTo>
                  <a:pt x="108341" y="61909"/>
                </a:lnTo>
                <a:cubicBezTo>
                  <a:pt x="116886" y="61909"/>
                  <a:pt x="123819" y="54977"/>
                  <a:pt x="123819" y="46432"/>
                </a:cubicBezTo>
                <a:lnTo>
                  <a:pt x="123819" y="25796"/>
                </a:lnTo>
                <a:cubicBezTo>
                  <a:pt x="123819" y="17251"/>
                  <a:pt x="116886" y="10318"/>
                  <a:pt x="108341" y="10318"/>
                </a:cubicBezTo>
                <a:lnTo>
                  <a:pt x="77387" y="10318"/>
                </a:lnTo>
                <a:close/>
                <a:moveTo>
                  <a:pt x="144455" y="121239"/>
                </a:moveTo>
                <a:lnTo>
                  <a:pt x="147035" y="121239"/>
                </a:lnTo>
                <a:lnTo>
                  <a:pt x="147035" y="136716"/>
                </a:lnTo>
                <a:lnTo>
                  <a:pt x="121239" y="136716"/>
                </a:lnTo>
                <a:lnTo>
                  <a:pt x="121239" y="121239"/>
                </a:lnTo>
                <a:lnTo>
                  <a:pt x="144455" y="121239"/>
                </a:lnTo>
                <a:close/>
                <a:moveTo>
                  <a:pt x="61909" y="121239"/>
                </a:moveTo>
                <a:lnTo>
                  <a:pt x="64489" y="121239"/>
                </a:lnTo>
                <a:lnTo>
                  <a:pt x="64489" y="136716"/>
                </a:lnTo>
                <a:lnTo>
                  <a:pt x="38693" y="136716"/>
                </a:lnTo>
                <a:lnTo>
                  <a:pt x="38693" y="121239"/>
                </a:lnTo>
                <a:lnTo>
                  <a:pt x="61909" y="12123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807235" y="1386768"/>
            <a:ext cx="1733460" cy="231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Broad Network Access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07235" y="1617896"/>
            <a:ext cx="1708696" cy="165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Universal Accessibility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11960" y="1882042"/>
            <a:ext cx="5489289" cy="66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Capabilities are </a:t>
            </a:r>
            <a:r>
              <a:rPr lang="en-US" sz="104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available over the network</a:t>
            </a:r>
            <a:r>
              <a:rPr lang="en-US" sz="104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accessed through standard mechanisms that promote use by </a:t>
            </a:r>
            <a:r>
              <a:rPr lang="en-US" sz="104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heterogeneous thin or thick client platforms</a:t>
            </a:r>
            <a:r>
              <a:rPr lang="en-US" sz="104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(e.g., mobile phones, tablets, laptops, and workstations).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15262" y="2652195"/>
            <a:ext cx="5413347" cy="369805"/>
          </a:xfrm>
          <a:custGeom>
            <a:avLst/>
            <a:gdLst/>
            <a:ahLst/>
            <a:cxnLst/>
            <a:rect l="l" t="t" r="r" b="b"/>
            <a:pathLst>
              <a:path w="5413347" h="369805">
                <a:moveTo>
                  <a:pt x="66036" y="0"/>
                </a:moveTo>
                <a:lnTo>
                  <a:pt x="5347311" y="0"/>
                </a:lnTo>
                <a:cubicBezTo>
                  <a:pt x="5383782" y="0"/>
                  <a:pt x="5413347" y="29565"/>
                  <a:pt x="5413347" y="66036"/>
                </a:cubicBezTo>
                <a:lnTo>
                  <a:pt x="5413347" y="303769"/>
                </a:lnTo>
                <a:cubicBezTo>
                  <a:pt x="5413347" y="340239"/>
                  <a:pt x="5383782" y="369805"/>
                  <a:pt x="5347311" y="369805"/>
                </a:cubicBezTo>
                <a:lnTo>
                  <a:pt x="66036" y="369805"/>
                </a:lnTo>
                <a:cubicBezTo>
                  <a:pt x="29565" y="369805"/>
                  <a:pt x="0" y="340239"/>
                  <a:pt x="0" y="303769"/>
                </a:cubicBezTo>
                <a:lnTo>
                  <a:pt x="0" y="66036"/>
                </a:lnTo>
                <a:cubicBezTo>
                  <a:pt x="0" y="29565"/>
                  <a:pt x="29565" y="0"/>
                  <a:pt x="66036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48574" y="2780966"/>
            <a:ext cx="86673" cy="115564"/>
          </a:xfrm>
          <a:custGeom>
            <a:avLst/>
            <a:gdLst/>
            <a:ahLst/>
            <a:cxnLst/>
            <a:rect l="l" t="t" r="r" b="b"/>
            <a:pathLst>
              <a:path w="86673" h="115564">
                <a:moveTo>
                  <a:pt x="66111" y="86673"/>
                </a:moveTo>
                <a:cubicBezTo>
                  <a:pt x="67758" y="81640"/>
                  <a:pt x="71054" y="77080"/>
                  <a:pt x="74778" y="73153"/>
                </a:cubicBezTo>
                <a:cubicBezTo>
                  <a:pt x="82159" y="65388"/>
                  <a:pt x="86673" y="54893"/>
                  <a:pt x="86673" y="43336"/>
                </a:cubicBezTo>
                <a:cubicBezTo>
                  <a:pt x="86673" y="19411"/>
                  <a:pt x="67262" y="0"/>
                  <a:pt x="43336" y="0"/>
                </a:cubicBezTo>
                <a:cubicBezTo>
                  <a:pt x="19411" y="0"/>
                  <a:pt x="0" y="19411"/>
                  <a:pt x="0" y="43336"/>
                </a:cubicBezTo>
                <a:cubicBezTo>
                  <a:pt x="0" y="54893"/>
                  <a:pt x="4514" y="65388"/>
                  <a:pt x="11895" y="73153"/>
                </a:cubicBezTo>
                <a:cubicBezTo>
                  <a:pt x="15619" y="77080"/>
                  <a:pt x="18937" y="81640"/>
                  <a:pt x="20562" y="86673"/>
                </a:cubicBezTo>
                <a:lnTo>
                  <a:pt x="66088" y="86673"/>
                </a:lnTo>
                <a:close/>
                <a:moveTo>
                  <a:pt x="65005" y="97507"/>
                </a:moveTo>
                <a:lnTo>
                  <a:pt x="21668" y="97507"/>
                </a:lnTo>
                <a:lnTo>
                  <a:pt x="21668" y="101118"/>
                </a:lnTo>
                <a:cubicBezTo>
                  <a:pt x="21668" y="111095"/>
                  <a:pt x="29749" y="119175"/>
                  <a:pt x="39725" y="119175"/>
                </a:cubicBezTo>
                <a:lnTo>
                  <a:pt x="46948" y="119175"/>
                </a:lnTo>
                <a:cubicBezTo>
                  <a:pt x="56924" y="119175"/>
                  <a:pt x="65005" y="111095"/>
                  <a:pt x="65005" y="101118"/>
                </a:cubicBezTo>
                <a:lnTo>
                  <a:pt x="65005" y="97507"/>
                </a:lnTo>
                <a:close/>
                <a:moveTo>
                  <a:pt x="41531" y="25280"/>
                </a:moveTo>
                <a:cubicBezTo>
                  <a:pt x="32548" y="25280"/>
                  <a:pt x="25280" y="32548"/>
                  <a:pt x="25280" y="41531"/>
                </a:cubicBezTo>
                <a:cubicBezTo>
                  <a:pt x="25280" y="44533"/>
                  <a:pt x="22865" y="46948"/>
                  <a:pt x="19863" y="46948"/>
                </a:cubicBezTo>
                <a:cubicBezTo>
                  <a:pt x="16861" y="46948"/>
                  <a:pt x="14445" y="44533"/>
                  <a:pt x="14445" y="41531"/>
                </a:cubicBezTo>
                <a:cubicBezTo>
                  <a:pt x="14445" y="26566"/>
                  <a:pt x="26566" y="14445"/>
                  <a:pt x="41531" y="14445"/>
                </a:cubicBezTo>
                <a:cubicBezTo>
                  <a:pt x="44533" y="14445"/>
                  <a:pt x="46948" y="16861"/>
                  <a:pt x="46948" y="19863"/>
                </a:cubicBezTo>
                <a:cubicBezTo>
                  <a:pt x="46948" y="22865"/>
                  <a:pt x="44533" y="25280"/>
                  <a:pt x="41531" y="2528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6609123" y="2754550"/>
            <a:ext cx="5074912" cy="165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0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</a:t>
            </a:r>
            <a:r>
              <a:rPr lang="en-US" sz="91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Accessing S3 buckets from any device with internet connectivity via web browser or API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46692" y="3256428"/>
            <a:ext cx="5703908" cy="2071897"/>
          </a:xfrm>
          <a:custGeom>
            <a:avLst/>
            <a:gdLst/>
            <a:ahLst/>
            <a:cxnLst/>
            <a:rect l="l" t="t" r="r" b="b"/>
            <a:pathLst>
              <a:path w="5703908" h="2071897">
                <a:moveTo>
                  <a:pt x="33018" y="0"/>
                </a:moveTo>
                <a:lnTo>
                  <a:pt x="5604851" y="0"/>
                </a:lnTo>
                <a:cubicBezTo>
                  <a:pt x="5659558" y="0"/>
                  <a:pt x="5703908" y="44350"/>
                  <a:pt x="5703908" y="99057"/>
                </a:cubicBezTo>
                <a:lnTo>
                  <a:pt x="5703908" y="1972840"/>
                </a:lnTo>
                <a:cubicBezTo>
                  <a:pt x="5703908" y="2027548"/>
                  <a:pt x="5659558" y="2071897"/>
                  <a:pt x="5604851" y="2071897"/>
                </a:cubicBezTo>
                <a:lnTo>
                  <a:pt x="33018" y="2071897"/>
                </a:lnTo>
                <a:cubicBezTo>
                  <a:pt x="14783" y="2071897"/>
                  <a:pt x="0" y="2057114"/>
                  <a:pt x="0" y="2038879"/>
                </a:cubicBezTo>
                <a:lnTo>
                  <a:pt x="0" y="33018"/>
                </a:lnTo>
                <a:cubicBezTo>
                  <a:pt x="0" y="14795"/>
                  <a:pt x="14795" y="0"/>
                  <a:pt x="33018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26" name="Shape 24"/>
          <p:cNvSpPr/>
          <p:nvPr/>
        </p:nvSpPr>
        <p:spPr>
          <a:xfrm>
            <a:off x="346692" y="3256428"/>
            <a:ext cx="33018" cy="2071897"/>
          </a:xfrm>
          <a:custGeom>
            <a:avLst/>
            <a:gdLst/>
            <a:ahLst/>
            <a:cxnLst/>
            <a:rect l="l" t="t" r="r" b="b"/>
            <a:pathLst>
              <a:path w="33018" h="2071897">
                <a:moveTo>
                  <a:pt x="33018" y="0"/>
                </a:moveTo>
                <a:lnTo>
                  <a:pt x="33018" y="0"/>
                </a:lnTo>
                <a:lnTo>
                  <a:pt x="33018" y="2071897"/>
                </a:lnTo>
                <a:lnTo>
                  <a:pt x="33018" y="2071897"/>
                </a:lnTo>
                <a:cubicBezTo>
                  <a:pt x="14783" y="2071897"/>
                  <a:pt x="0" y="2057114"/>
                  <a:pt x="0" y="2038879"/>
                </a:cubicBezTo>
                <a:lnTo>
                  <a:pt x="0" y="33018"/>
                </a:lnTo>
                <a:cubicBezTo>
                  <a:pt x="0" y="14795"/>
                  <a:pt x="14795" y="0"/>
                  <a:pt x="33018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7" name="Shape 25"/>
          <p:cNvSpPr/>
          <p:nvPr/>
        </p:nvSpPr>
        <p:spPr>
          <a:xfrm>
            <a:off x="495274" y="3388501"/>
            <a:ext cx="396219" cy="396219"/>
          </a:xfrm>
          <a:custGeom>
            <a:avLst/>
            <a:gdLst/>
            <a:ahLst/>
            <a:cxnLst/>
            <a:rect l="l" t="t" r="r" b="b"/>
            <a:pathLst>
              <a:path w="396219" h="396219">
                <a:moveTo>
                  <a:pt x="99055" y="0"/>
                </a:moveTo>
                <a:lnTo>
                  <a:pt x="297165" y="0"/>
                </a:lnTo>
                <a:cubicBezTo>
                  <a:pt x="351871" y="0"/>
                  <a:pt x="396219" y="44348"/>
                  <a:pt x="396219" y="99055"/>
                </a:cubicBezTo>
                <a:lnTo>
                  <a:pt x="396219" y="297165"/>
                </a:lnTo>
                <a:cubicBezTo>
                  <a:pt x="396219" y="351871"/>
                  <a:pt x="351871" y="396219"/>
                  <a:pt x="297165" y="396219"/>
                </a:cubicBezTo>
                <a:lnTo>
                  <a:pt x="99055" y="396219"/>
                </a:lnTo>
                <a:cubicBezTo>
                  <a:pt x="44348" y="396219"/>
                  <a:pt x="0" y="351871"/>
                  <a:pt x="0" y="297165"/>
                </a:cubicBezTo>
                <a:lnTo>
                  <a:pt x="0" y="99055"/>
                </a:lnTo>
                <a:cubicBezTo>
                  <a:pt x="0" y="44348"/>
                  <a:pt x="44348" y="0"/>
                  <a:pt x="99055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8" name="Shape 26"/>
          <p:cNvSpPr/>
          <p:nvPr/>
        </p:nvSpPr>
        <p:spPr>
          <a:xfrm>
            <a:off x="590202" y="3504065"/>
            <a:ext cx="206364" cy="165091"/>
          </a:xfrm>
          <a:custGeom>
            <a:avLst/>
            <a:gdLst/>
            <a:ahLst/>
            <a:cxnLst/>
            <a:rect l="l" t="t" r="r" b="b"/>
            <a:pathLst>
              <a:path w="206364" h="165091">
                <a:moveTo>
                  <a:pt x="103182" y="5159"/>
                </a:moveTo>
                <a:cubicBezTo>
                  <a:pt x="121690" y="5159"/>
                  <a:pt x="136716" y="20185"/>
                  <a:pt x="136716" y="38693"/>
                </a:cubicBezTo>
                <a:cubicBezTo>
                  <a:pt x="136716" y="57201"/>
                  <a:pt x="121690" y="72227"/>
                  <a:pt x="103182" y="72227"/>
                </a:cubicBezTo>
                <a:cubicBezTo>
                  <a:pt x="84674" y="72227"/>
                  <a:pt x="69648" y="57201"/>
                  <a:pt x="69648" y="38693"/>
                </a:cubicBezTo>
                <a:cubicBezTo>
                  <a:pt x="69648" y="20185"/>
                  <a:pt x="84674" y="5159"/>
                  <a:pt x="103182" y="5159"/>
                </a:cubicBezTo>
                <a:close/>
                <a:moveTo>
                  <a:pt x="30955" y="28375"/>
                </a:moveTo>
                <a:cubicBezTo>
                  <a:pt x="43768" y="28375"/>
                  <a:pt x="54171" y="38778"/>
                  <a:pt x="54171" y="51591"/>
                </a:cubicBezTo>
                <a:cubicBezTo>
                  <a:pt x="54171" y="64404"/>
                  <a:pt x="43768" y="74807"/>
                  <a:pt x="30955" y="74807"/>
                </a:cubicBezTo>
                <a:cubicBezTo>
                  <a:pt x="18141" y="74807"/>
                  <a:pt x="7739" y="64404"/>
                  <a:pt x="7739" y="51591"/>
                </a:cubicBezTo>
                <a:cubicBezTo>
                  <a:pt x="7739" y="38778"/>
                  <a:pt x="18141" y="28375"/>
                  <a:pt x="30955" y="28375"/>
                </a:cubicBezTo>
                <a:close/>
                <a:moveTo>
                  <a:pt x="0" y="134137"/>
                </a:moveTo>
                <a:cubicBezTo>
                  <a:pt x="0" y="111340"/>
                  <a:pt x="18476" y="92864"/>
                  <a:pt x="41273" y="92864"/>
                </a:cubicBezTo>
                <a:cubicBezTo>
                  <a:pt x="45400" y="92864"/>
                  <a:pt x="49398" y="93477"/>
                  <a:pt x="53171" y="94605"/>
                </a:cubicBezTo>
                <a:cubicBezTo>
                  <a:pt x="42563" y="106471"/>
                  <a:pt x="36114" y="122142"/>
                  <a:pt x="36114" y="139296"/>
                </a:cubicBezTo>
                <a:lnTo>
                  <a:pt x="36114" y="144455"/>
                </a:lnTo>
                <a:cubicBezTo>
                  <a:pt x="36114" y="148131"/>
                  <a:pt x="36888" y="151613"/>
                  <a:pt x="38274" y="154773"/>
                </a:cubicBezTo>
                <a:lnTo>
                  <a:pt x="10318" y="154773"/>
                </a:lnTo>
                <a:cubicBezTo>
                  <a:pt x="4611" y="154773"/>
                  <a:pt x="0" y="150162"/>
                  <a:pt x="0" y="144455"/>
                </a:cubicBezTo>
                <a:lnTo>
                  <a:pt x="0" y="134137"/>
                </a:lnTo>
                <a:close/>
                <a:moveTo>
                  <a:pt x="168090" y="154773"/>
                </a:moveTo>
                <a:cubicBezTo>
                  <a:pt x="169477" y="151613"/>
                  <a:pt x="170251" y="148131"/>
                  <a:pt x="170251" y="144455"/>
                </a:cubicBezTo>
                <a:lnTo>
                  <a:pt x="170251" y="139296"/>
                </a:lnTo>
                <a:cubicBezTo>
                  <a:pt x="170251" y="122142"/>
                  <a:pt x="163802" y="106471"/>
                  <a:pt x="153193" y="94605"/>
                </a:cubicBezTo>
                <a:cubicBezTo>
                  <a:pt x="156966" y="93477"/>
                  <a:pt x="160964" y="92864"/>
                  <a:pt x="165091" y="92864"/>
                </a:cubicBezTo>
                <a:cubicBezTo>
                  <a:pt x="187888" y="92864"/>
                  <a:pt x="206364" y="111340"/>
                  <a:pt x="206364" y="134137"/>
                </a:cubicBezTo>
                <a:lnTo>
                  <a:pt x="206364" y="144455"/>
                </a:lnTo>
                <a:cubicBezTo>
                  <a:pt x="206364" y="150162"/>
                  <a:pt x="201753" y="154773"/>
                  <a:pt x="196046" y="154773"/>
                </a:cubicBezTo>
                <a:lnTo>
                  <a:pt x="168090" y="154773"/>
                </a:lnTo>
                <a:close/>
                <a:moveTo>
                  <a:pt x="152194" y="51591"/>
                </a:moveTo>
                <a:cubicBezTo>
                  <a:pt x="152194" y="38778"/>
                  <a:pt x="162596" y="28375"/>
                  <a:pt x="175410" y="28375"/>
                </a:cubicBezTo>
                <a:cubicBezTo>
                  <a:pt x="188223" y="28375"/>
                  <a:pt x="198626" y="38778"/>
                  <a:pt x="198626" y="51591"/>
                </a:cubicBezTo>
                <a:cubicBezTo>
                  <a:pt x="198626" y="64404"/>
                  <a:pt x="188223" y="74807"/>
                  <a:pt x="175410" y="74807"/>
                </a:cubicBezTo>
                <a:cubicBezTo>
                  <a:pt x="162596" y="74807"/>
                  <a:pt x="152194" y="64404"/>
                  <a:pt x="152194" y="51591"/>
                </a:cubicBezTo>
                <a:close/>
                <a:moveTo>
                  <a:pt x="51591" y="139296"/>
                </a:moveTo>
                <a:cubicBezTo>
                  <a:pt x="51591" y="110792"/>
                  <a:pt x="74678" y="87705"/>
                  <a:pt x="103182" y="87705"/>
                </a:cubicBezTo>
                <a:cubicBezTo>
                  <a:pt x="131686" y="87705"/>
                  <a:pt x="154773" y="110792"/>
                  <a:pt x="154773" y="139296"/>
                </a:cubicBezTo>
                <a:lnTo>
                  <a:pt x="154773" y="144455"/>
                </a:lnTo>
                <a:cubicBezTo>
                  <a:pt x="154773" y="150162"/>
                  <a:pt x="150162" y="154773"/>
                  <a:pt x="144455" y="154773"/>
                </a:cubicBezTo>
                <a:lnTo>
                  <a:pt x="61909" y="154773"/>
                </a:lnTo>
                <a:cubicBezTo>
                  <a:pt x="56202" y="154773"/>
                  <a:pt x="51591" y="150162"/>
                  <a:pt x="51591" y="144455"/>
                </a:cubicBezTo>
                <a:lnTo>
                  <a:pt x="51591" y="13929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990548" y="3388501"/>
            <a:ext cx="1353749" cy="231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Resource Pooling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90548" y="3619629"/>
            <a:ext cx="1328986" cy="165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Multi-Tenancy Model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95274" y="3883775"/>
            <a:ext cx="5489289" cy="66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provider's computing resources are </a:t>
            </a:r>
            <a:r>
              <a:rPr lang="en-US" sz="104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pooled to serve multiple consumers</a:t>
            </a:r>
            <a:r>
              <a:rPr lang="en-US" sz="104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using a multi-tenant model, with different physical and virtual resources </a:t>
            </a:r>
            <a:r>
              <a:rPr lang="en-US" sz="104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dynamically assigned and reassigned</a:t>
            </a:r>
            <a:r>
              <a:rPr lang="en-US" sz="104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according to consumer demand.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98576" y="4653928"/>
            <a:ext cx="5413347" cy="534896"/>
          </a:xfrm>
          <a:custGeom>
            <a:avLst/>
            <a:gdLst/>
            <a:ahLst/>
            <a:cxnLst/>
            <a:rect l="l" t="t" r="r" b="b"/>
            <a:pathLst>
              <a:path w="5413347" h="534896">
                <a:moveTo>
                  <a:pt x="66038" y="0"/>
                </a:moveTo>
                <a:lnTo>
                  <a:pt x="5347309" y="0"/>
                </a:lnTo>
                <a:cubicBezTo>
                  <a:pt x="5383781" y="0"/>
                  <a:pt x="5413347" y="29566"/>
                  <a:pt x="5413347" y="66038"/>
                </a:cubicBezTo>
                <a:lnTo>
                  <a:pt x="5413347" y="468858"/>
                </a:lnTo>
                <a:cubicBezTo>
                  <a:pt x="5413347" y="505330"/>
                  <a:pt x="5383781" y="534896"/>
                  <a:pt x="5347309" y="534896"/>
                </a:cubicBezTo>
                <a:lnTo>
                  <a:pt x="66038" y="534896"/>
                </a:lnTo>
                <a:cubicBezTo>
                  <a:pt x="29591" y="534896"/>
                  <a:pt x="0" y="505305"/>
                  <a:pt x="0" y="468858"/>
                </a:cubicBezTo>
                <a:lnTo>
                  <a:pt x="0" y="66038"/>
                </a:lnTo>
                <a:cubicBezTo>
                  <a:pt x="0" y="29566"/>
                  <a:pt x="29566" y="0"/>
                  <a:pt x="66038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1887" y="4782699"/>
            <a:ext cx="86673" cy="115564"/>
          </a:xfrm>
          <a:custGeom>
            <a:avLst/>
            <a:gdLst/>
            <a:ahLst/>
            <a:cxnLst/>
            <a:rect l="l" t="t" r="r" b="b"/>
            <a:pathLst>
              <a:path w="86673" h="115564">
                <a:moveTo>
                  <a:pt x="66111" y="86673"/>
                </a:moveTo>
                <a:cubicBezTo>
                  <a:pt x="67758" y="81640"/>
                  <a:pt x="71054" y="77080"/>
                  <a:pt x="74778" y="73153"/>
                </a:cubicBezTo>
                <a:cubicBezTo>
                  <a:pt x="82159" y="65388"/>
                  <a:pt x="86673" y="54893"/>
                  <a:pt x="86673" y="43336"/>
                </a:cubicBezTo>
                <a:cubicBezTo>
                  <a:pt x="86673" y="19411"/>
                  <a:pt x="67262" y="0"/>
                  <a:pt x="43336" y="0"/>
                </a:cubicBezTo>
                <a:cubicBezTo>
                  <a:pt x="19411" y="0"/>
                  <a:pt x="0" y="19411"/>
                  <a:pt x="0" y="43336"/>
                </a:cubicBezTo>
                <a:cubicBezTo>
                  <a:pt x="0" y="54893"/>
                  <a:pt x="4514" y="65388"/>
                  <a:pt x="11895" y="73153"/>
                </a:cubicBezTo>
                <a:cubicBezTo>
                  <a:pt x="15619" y="77080"/>
                  <a:pt x="18937" y="81640"/>
                  <a:pt x="20562" y="86673"/>
                </a:cubicBezTo>
                <a:lnTo>
                  <a:pt x="66088" y="86673"/>
                </a:lnTo>
                <a:close/>
                <a:moveTo>
                  <a:pt x="65005" y="97507"/>
                </a:moveTo>
                <a:lnTo>
                  <a:pt x="21668" y="97507"/>
                </a:lnTo>
                <a:lnTo>
                  <a:pt x="21668" y="101118"/>
                </a:lnTo>
                <a:cubicBezTo>
                  <a:pt x="21668" y="111095"/>
                  <a:pt x="29749" y="119175"/>
                  <a:pt x="39725" y="119175"/>
                </a:cubicBezTo>
                <a:lnTo>
                  <a:pt x="46948" y="119175"/>
                </a:lnTo>
                <a:cubicBezTo>
                  <a:pt x="56924" y="119175"/>
                  <a:pt x="65005" y="111095"/>
                  <a:pt x="65005" y="101118"/>
                </a:cubicBezTo>
                <a:lnTo>
                  <a:pt x="65005" y="97507"/>
                </a:lnTo>
                <a:close/>
                <a:moveTo>
                  <a:pt x="41531" y="25280"/>
                </a:moveTo>
                <a:cubicBezTo>
                  <a:pt x="32548" y="25280"/>
                  <a:pt x="25280" y="32548"/>
                  <a:pt x="25280" y="41531"/>
                </a:cubicBezTo>
                <a:cubicBezTo>
                  <a:pt x="25280" y="44533"/>
                  <a:pt x="22865" y="46948"/>
                  <a:pt x="19863" y="46948"/>
                </a:cubicBezTo>
                <a:cubicBezTo>
                  <a:pt x="16861" y="46948"/>
                  <a:pt x="14445" y="44533"/>
                  <a:pt x="14445" y="41531"/>
                </a:cubicBezTo>
                <a:cubicBezTo>
                  <a:pt x="14445" y="26566"/>
                  <a:pt x="26566" y="14445"/>
                  <a:pt x="41531" y="14445"/>
                </a:cubicBezTo>
                <a:cubicBezTo>
                  <a:pt x="44533" y="14445"/>
                  <a:pt x="46948" y="16861"/>
                  <a:pt x="46948" y="19863"/>
                </a:cubicBezTo>
                <a:cubicBezTo>
                  <a:pt x="46948" y="22865"/>
                  <a:pt x="44533" y="25280"/>
                  <a:pt x="41531" y="2528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4" name="Text 32"/>
          <p:cNvSpPr/>
          <p:nvPr/>
        </p:nvSpPr>
        <p:spPr>
          <a:xfrm>
            <a:off x="792437" y="4756283"/>
            <a:ext cx="5074912" cy="33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0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</a:t>
            </a:r>
            <a:r>
              <a:rPr lang="en-US" sz="91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Multiple customers share the same physical server hardware while maintaining complete isolation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63378" y="3256428"/>
            <a:ext cx="5703908" cy="2071897"/>
          </a:xfrm>
          <a:custGeom>
            <a:avLst/>
            <a:gdLst/>
            <a:ahLst/>
            <a:cxnLst/>
            <a:rect l="l" t="t" r="r" b="b"/>
            <a:pathLst>
              <a:path w="5703908" h="2071897">
                <a:moveTo>
                  <a:pt x="33018" y="0"/>
                </a:moveTo>
                <a:lnTo>
                  <a:pt x="5604851" y="0"/>
                </a:lnTo>
                <a:cubicBezTo>
                  <a:pt x="5659558" y="0"/>
                  <a:pt x="5703908" y="44350"/>
                  <a:pt x="5703908" y="99057"/>
                </a:cubicBezTo>
                <a:lnTo>
                  <a:pt x="5703908" y="1972840"/>
                </a:lnTo>
                <a:cubicBezTo>
                  <a:pt x="5703908" y="2027548"/>
                  <a:pt x="5659558" y="2071897"/>
                  <a:pt x="5604851" y="2071897"/>
                </a:cubicBezTo>
                <a:lnTo>
                  <a:pt x="33018" y="2071897"/>
                </a:lnTo>
                <a:cubicBezTo>
                  <a:pt x="14783" y="2071897"/>
                  <a:pt x="0" y="2057114"/>
                  <a:pt x="0" y="2038879"/>
                </a:cubicBezTo>
                <a:lnTo>
                  <a:pt x="0" y="33018"/>
                </a:lnTo>
                <a:cubicBezTo>
                  <a:pt x="0" y="14795"/>
                  <a:pt x="14795" y="0"/>
                  <a:pt x="33018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36" name="Shape 34"/>
          <p:cNvSpPr/>
          <p:nvPr/>
        </p:nvSpPr>
        <p:spPr>
          <a:xfrm>
            <a:off x="6163378" y="3256428"/>
            <a:ext cx="33018" cy="2071897"/>
          </a:xfrm>
          <a:custGeom>
            <a:avLst/>
            <a:gdLst/>
            <a:ahLst/>
            <a:cxnLst/>
            <a:rect l="l" t="t" r="r" b="b"/>
            <a:pathLst>
              <a:path w="33018" h="2071897">
                <a:moveTo>
                  <a:pt x="33018" y="0"/>
                </a:moveTo>
                <a:lnTo>
                  <a:pt x="33018" y="0"/>
                </a:lnTo>
                <a:lnTo>
                  <a:pt x="33018" y="2071897"/>
                </a:lnTo>
                <a:lnTo>
                  <a:pt x="33018" y="2071897"/>
                </a:lnTo>
                <a:cubicBezTo>
                  <a:pt x="14783" y="2071897"/>
                  <a:pt x="0" y="2057114"/>
                  <a:pt x="0" y="2038879"/>
                </a:cubicBezTo>
                <a:lnTo>
                  <a:pt x="0" y="33018"/>
                </a:lnTo>
                <a:cubicBezTo>
                  <a:pt x="0" y="14795"/>
                  <a:pt x="14795" y="0"/>
                  <a:pt x="33018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7" name="Shape 35"/>
          <p:cNvSpPr/>
          <p:nvPr/>
        </p:nvSpPr>
        <p:spPr>
          <a:xfrm>
            <a:off x="6311960" y="3388501"/>
            <a:ext cx="396219" cy="396219"/>
          </a:xfrm>
          <a:custGeom>
            <a:avLst/>
            <a:gdLst/>
            <a:ahLst/>
            <a:cxnLst/>
            <a:rect l="l" t="t" r="r" b="b"/>
            <a:pathLst>
              <a:path w="396219" h="396219">
                <a:moveTo>
                  <a:pt x="99055" y="0"/>
                </a:moveTo>
                <a:lnTo>
                  <a:pt x="297165" y="0"/>
                </a:lnTo>
                <a:cubicBezTo>
                  <a:pt x="351871" y="0"/>
                  <a:pt x="396219" y="44348"/>
                  <a:pt x="396219" y="99055"/>
                </a:cubicBezTo>
                <a:lnTo>
                  <a:pt x="396219" y="297165"/>
                </a:lnTo>
                <a:cubicBezTo>
                  <a:pt x="396219" y="351871"/>
                  <a:pt x="351871" y="396219"/>
                  <a:pt x="297165" y="396219"/>
                </a:cubicBezTo>
                <a:lnTo>
                  <a:pt x="99055" y="396219"/>
                </a:lnTo>
                <a:cubicBezTo>
                  <a:pt x="44348" y="396219"/>
                  <a:pt x="0" y="351871"/>
                  <a:pt x="0" y="297165"/>
                </a:cubicBezTo>
                <a:lnTo>
                  <a:pt x="0" y="99055"/>
                </a:lnTo>
                <a:cubicBezTo>
                  <a:pt x="0" y="44348"/>
                  <a:pt x="44348" y="0"/>
                  <a:pt x="99055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8" name="Shape 36"/>
          <p:cNvSpPr/>
          <p:nvPr/>
        </p:nvSpPr>
        <p:spPr>
          <a:xfrm>
            <a:off x="6437843" y="3504065"/>
            <a:ext cx="144455" cy="165091"/>
          </a:xfrm>
          <a:custGeom>
            <a:avLst/>
            <a:gdLst/>
            <a:ahLst/>
            <a:cxnLst/>
            <a:rect l="l" t="t" r="r" b="b"/>
            <a:pathLst>
              <a:path w="144455" h="165091">
                <a:moveTo>
                  <a:pt x="54171" y="10318"/>
                </a:moveTo>
                <a:lnTo>
                  <a:pt x="7739" y="10318"/>
                </a:lnTo>
                <a:cubicBezTo>
                  <a:pt x="3450" y="10318"/>
                  <a:pt x="0" y="13768"/>
                  <a:pt x="0" y="18057"/>
                </a:cubicBezTo>
                <a:lnTo>
                  <a:pt x="0" y="64489"/>
                </a:lnTo>
                <a:cubicBezTo>
                  <a:pt x="0" y="67617"/>
                  <a:pt x="1870" y="70454"/>
                  <a:pt x="4772" y="71647"/>
                </a:cubicBezTo>
                <a:cubicBezTo>
                  <a:pt x="7674" y="72840"/>
                  <a:pt x="10995" y="72163"/>
                  <a:pt x="13220" y="69970"/>
                </a:cubicBezTo>
                <a:lnTo>
                  <a:pt x="26118" y="57073"/>
                </a:lnTo>
                <a:lnTo>
                  <a:pt x="51591" y="82546"/>
                </a:lnTo>
                <a:lnTo>
                  <a:pt x="26118" y="108019"/>
                </a:lnTo>
                <a:lnTo>
                  <a:pt x="13220" y="95121"/>
                </a:lnTo>
                <a:cubicBezTo>
                  <a:pt x="10995" y="92896"/>
                  <a:pt x="7674" y="92251"/>
                  <a:pt x="4772" y="93444"/>
                </a:cubicBezTo>
                <a:cubicBezTo>
                  <a:pt x="1870" y="94637"/>
                  <a:pt x="0" y="97475"/>
                  <a:pt x="0" y="100603"/>
                </a:cubicBezTo>
                <a:lnTo>
                  <a:pt x="0" y="147035"/>
                </a:lnTo>
                <a:cubicBezTo>
                  <a:pt x="0" y="151323"/>
                  <a:pt x="3450" y="154773"/>
                  <a:pt x="7739" y="154773"/>
                </a:cubicBezTo>
                <a:lnTo>
                  <a:pt x="54171" y="154773"/>
                </a:lnTo>
                <a:cubicBezTo>
                  <a:pt x="57298" y="154773"/>
                  <a:pt x="60136" y="152903"/>
                  <a:pt x="61329" y="150001"/>
                </a:cubicBezTo>
                <a:cubicBezTo>
                  <a:pt x="62522" y="147099"/>
                  <a:pt x="61877" y="143778"/>
                  <a:pt x="59652" y="141553"/>
                </a:cubicBezTo>
                <a:lnTo>
                  <a:pt x="46754" y="128655"/>
                </a:lnTo>
                <a:lnTo>
                  <a:pt x="72227" y="103182"/>
                </a:lnTo>
                <a:lnTo>
                  <a:pt x="97701" y="128655"/>
                </a:lnTo>
                <a:lnTo>
                  <a:pt x="84803" y="141553"/>
                </a:lnTo>
                <a:cubicBezTo>
                  <a:pt x="82578" y="143778"/>
                  <a:pt x="81933" y="147099"/>
                  <a:pt x="83126" y="150001"/>
                </a:cubicBezTo>
                <a:cubicBezTo>
                  <a:pt x="84319" y="152903"/>
                  <a:pt x="87157" y="154773"/>
                  <a:pt x="90284" y="154773"/>
                </a:cubicBezTo>
                <a:lnTo>
                  <a:pt x="136716" y="154773"/>
                </a:lnTo>
                <a:cubicBezTo>
                  <a:pt x="141005" y="154773"/>
                  <a:pt x="144455" y="151323"/>
                  <a:pt x="144455" y="147035"/>
                </a:cubicBezTo>
                <a:lnTo>
                  <a:pt x="144455" y="100603"/>
                </a:lnTo>
                <a:cubicBezTo>
                  <a:pt x="144455" y="97475"/>
                  <a:pt x="142585" y="94637"/>
                  <a:pt x="139683" y="93444"/>
                </a:cubicBezTo>
                <a:cubicBezTo>
                  <a:pt x="136781" y="92251"/>
                  <a:pt x="133460" y="92896"/>
                  <a:pt x="131235" y="95121"/>
                </a:cubicBezTo>
                <a:lnTo>
                  <a:pt x="118337" y="108019"/>
                </a:lnTo>
                <a:lnTo>
                  <a:pt x="92864" y="82546"/>
                </a:lnTo>
                <a:lnTo>
                  <a:pt x="118337" y="57073"/>
                </a:lnTo>
                <a:lnTo>
                  <a:pt x="131235" y="69970"/>
                </a:lnTo>
                <a:cubicBezTo>
                  <a:pt x="133460" y="72195"/>
                  <a:pt x="136781" y="72840"/>
                  <a:pt x="139683" y="71647"/>
                </a:cubicBezTo>
                <a:cubicBezTo>
                  <a:pt x="142585" y="70454"/>
                  <a:pt x="144455" y="67617"/>
                  <a:pt x="144455" y="64489"/>
                </a:cubicBezTo>
                <a:lnTo>
                  <a:pt x="144455" y="18057"/>
                </a:lnTo>
                <a:cubicBezTo>
                  <a:pt x="144455" y="13768"/>
                  <a:pt x="141005" y="10318"/>
                  <a:pt x="136716" y="10318"/>
                </a:cubicBezTo>
                <a:lnTo>
                  <a:pt x="90284" y="10318"/>
                </a:lnTo>
                <a:cubicBezTo>
                  <a:pt x="87157" y="10318"/>
                  <a:pt x="84319" y="12188"/>
                  <a:pt x="83126" y="15090"/>
                </a:cubicBezTo>
                <a:cubicBezTo>
                  <a:pt x="81933" y="17992"/>
                  <a:pt x="82610" y="21314"/>
                  <a:pt x="84803" y="23538"/>
                </a:cubicBezTo>
                <a:lnTo>
                  <a:pt x="97701" y="36436"/>
                </a:lnTo>
                <a:lnTo>
                  <a:pt x="72227" y="61909"/>
                </a:lnTo>
                <a:lnTo>
                  <a:pt x="46754" y="36436"/>
                </a:lnTo>
                <a:lnTo>
                  <a:pt x="59652" y="23538"/>
                </a:lnTo>
                <a:cubicBezTo>
                  <a:pt x="61877" y="21314"/>
                  <a:pt x="62522" y="17992"/>
                  <a:pt x="61329" y="15090"/>
                </a:cubicBezTo>
                <a:cubicBezTo>
                  <a:pt x="60136" y="12188"/>
                  <a:pt x="57298" y="10318"/>
                  <a:pt x="54171" y="1031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6807235" y="3388501"/>
            <a:ext cx="1196913" cy="231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Rapid Elasticity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807235" y="3619629"/>
            <a:ext cx="1172149" cy="165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Instant Scaling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311960" y="3883775"/>
            <a:ext cx="5489289" cy="833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Capabilities can be </a:t>
            </a:r>
            <a:r>
              <a:rPr lang="en-US" sz="104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elastically provisioned and released</a:t>
            </a:r>
            <a:r>
              <a:rPr lang="en-US" sz="104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in some cases automatically, to scale rapidly outward and inward commensurate with demand. To the consumer, the capabilities available often appear to be </a:t>
            </a:r>
            <a:r>
              <a:rPr lang="en-US" sz="104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unlimited</a:t>
            </a:r>
            <a:r>
              <a:rPr lang="en-US" sz="104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15262" y="4819019"/>
            <a:ext cx="5413347" cy="369805"/>
          </a:xfrm>
          <a:custGeom>
            <a:avLst/>
            <a:gdLst/>
            <a:ahLst/>
            <a:cxnLst/>
            <a:rect l="l" t="t" r="r" b="b"/>
            <a:pathLst>
              <a:path w="5413347" h="369805">
                <a:moveTo>
                  <a:pt x="66036" y="0"/>
                </a:moveTo>
                <a:lnTo>
                  <a:pt x="5347311" y="0"/>
                </a:lnTo>
                <a:cubicBezTo>
                  <a:pt x="5383782" y="0"/>
                  <a:pt x="5413347" y="29565"/>
                  <a:pt x="5413347" y="66036"/>
                </a:cubicBezTo>
                <a:lnTo>
                  <a:pt x="5413347" y="303769"/>
                </a:lnTo>
                <a:cubicBezTo>
                  <a:pt x="5413347" y="340239"/>
                  <a:pt x="5383782" y="369805"/>
                  <a:pt x="5347311" y="369805"/>
                </a:cubicBezTo>
                <a:lnTo>
                  <a:pt x="66036" y="369805"/>
                </a:lnTo>
                <a:cubicBezTo>
                  <a:pt x="29565" y="369805"/>
                  <a:pt x="0" y="340239"/>
                  <a:pt x="0" y="303769"/>
                </a:cubicBezTo>
                <a:lnTo>
                  <a:pt x="0" y="66036"/>
                </a:lnTo>
                <a:cubicBezTo>
                  <a:pt x="0" y="29565"/>
                  <a:pt x="29565" y="0"/>
                  <a:pt x="66036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48574" y="4947791"/>
            <a:ext cx="86673" cy="115564"/>
          </a:xfrm>
          <a:custGeom>
            <a:avLst/>
            <a:gdLst/>
            <a:ahLst/>
            <a:cxnLst/>
            <a:rect l="l" t="t" r="r" b="b"/>
            <a:pathLst>
              <a:path w="86673" h="115564">
                <a:moveTo>
                  <a:pt x="66111" y="86673"/>
                </a:moveTo>
                <a:cubicBezTo>
                  <a:pt x="67758" y="81640"/>
                  <a:pt x="71054" y="77080"/>
                  <a:pt x="74778" y="73153"/>
                </a:cubicBezTo>
                <a:cubicBezTo>
                  <a:pt x="82159" y="65388"/>
                  <a:pt x="86673" y="54893"/>
                  <a:pt x="86673" y="43336"/>
                </a:cubicBezTo>
                <a:cubicBezTo>
                  <a:pt x="86673" y="19411"/>
                  <a:pt x="67262" y="0"/>
                  <a:pt x="43336" y="0"/>
                </a:cubicBezTo>
                <a:cubicBezTo>
                  <a:pt x="19411" y="0"/>
                  <a:pt x="0" y="19411"/>
                  <a:pt x="0" y="43336"/>
                </a:cubicBezTo>
                <a:cubicBezTo>
                  <a:pt x="0" y="54893"/>
                  <a:pt x="4514" y="65388"/>
                  <a:pt x="11895" y="73153"/>
                </a:cubicBezTo>
                <a:cubicBezTo>
                  <a:pt x="15619" y="77080"/>
                  <a:pt x="18937" y="81640"/>
                  <a:pt x="20562" y="86673"/>
                </a:cubicBezTo>
                <a:lnTo>
                  <a:pt x="66088" y="86673"/>
                </a:lnTo>
                <a:close/>
                <a:moveTo>
                  <a:pt x="65005" y="97507"/>
                </a:moveTo>
                <a:lnTo>
                  <a:pt x="21668" y="97507"/>
                </a:lnTo>
                <a:lnTo>
                  <a:pt x="21668" y="101118"/>
                </a:lnTo>
                <a:cubicBezTo>
                  <a:pt x="21668" y="111095"/>
                  <a:pt x="29749" y="119175"/>
                  <a:pt x="39725" y="119175"/>
                </a:cubicBezTo>
                <a:lnTo>
                  <a:pt x="46948" y="119175"/>
                </a:lnTo>
                <a:cubicBezTo>
                  <a:pt x="56924" y="119175"/>
                  <a:pt x="65005" y="111095"/>
                  <a:pt x="65005" y="101118"/>
                </a:cubicBezTo>
                <a:lnTo>
                  <a:pt x="65005" y="97507"/>
                </a:lnTo>
                <a:close/>
                <a:moveTo>
                  <a:pt x="41531" y="25280"/>
                </a:moveTo>
                <a:cubicBezTo>
                  <a:pt x="32548" y="25280"/>
                  <a:pt x="25280" y="32548"/>
                  <a:pt x="25280" y="41531"/>
                </a:cubicBezTo>
                <a:cubicBezTo>
                  <a:pt x="25280" y="44533"/>
                  <a:pt x="22865" y="46948"/>
                  <a:pt x="19863" y="46948"/>
                </a:cubicBezTo>
                <a:cubicBezTo>
                  <a:pt x="16861" y="46948"/>
                  <a:pt x="14445" y="44533"/>
                  <a:pt x="14445" y="41531"/>
                </a:cubicBezTo>
                <a:cubicBezTo>
                  <a:pt x="14445" y="26566"/>
                  <a:pt x="26566" y="14445"/>
                  <a:pt x="41531" y="14445"/>
                </a:cubicBezTo>
                <a:cubicBezTo>
                  <a:pt x="44533" y="14445"/>
                  <a:pt x="46948" y="16861"/>
                  <a:pt x="46948" y="19863"/>
                </a:cubicBezTo>
                <a:cubicBezTo>
                  <a:pt x="46948" y="22865"/>
                  <a:pt x="44533" y="25280"/>
                  <a:pt x="41531" y="2528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4" name="Text 42"/>
          <p:cNvSpPr/>
          <p:nvPr/>
        </p:nvSpPr>
        <p:spPr>
          <a:xfrm>
            <a:off x="6609123" y="4921374"/>
            <a:ext cx="5074912" cy="165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0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</a:t>
            </a:r>
            <a:r>
              <a:rPr lang="en-US" sz="91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Auto Scaling groups automatically adding EC2 instances during traffic spikes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46692" y="5390234"/>
            <a:ext cx="11515125" cy="1139131"/>
          </a:xfrm>
          <a:custGeom>
            <a:avLst/>
            <a:gdLst/>
            <a:ahLst/>
            <a:cxnLst/>
            <a:rect l="l" t="t" r="r" b="b"/>
            <a:pathLst>
              <a:path w="11515125" h="1139131">
                <a:moveTo>
                  <a:pt x="33018" y="0"/>
                </a:moveTo>
                <a:lnTo>
                  <a:pt x="11416066" y="0"/>
                </a:lnTo>
                <a:cubicBezTo>
                  <a:pt x="11470775" y="0"/>
                  <a:pt x="11515125" y="44350"/>
                  <a:pt x="11515125" y="99059"/>
                </a:cubicBezTo>
                <a:lnTo>
                  <a:pt x="11515125" y="1040072"/>
                </a:lnTo>
                <a:cubicBezTo>
                  <a:pt x="11515125" y="1094781"/>
                  <a:pt x="11470775" y="1139131"/>
                  <a:pt x="11416066" y="1139131"/>
                </a:cubicBezTo>
                <a:lnTo>
                  <a:pt x="33018" y="1139131"/>
                </a:lnTo>
                <a:cubicBezTo>
                  <a:pt x="14783" y="1139131"/>
                  <a:pt x="0" y="1124348"/>
                  <a:pt x="0" y="1106112"/>
                </a:cubicBezTo>
                <a:lnTo>
                  <a:pt x="0" y="33018"/>
                </a:lnTo>
                <a:cubicBezTo>
                  <a:pt x="0" y="14795"/>
                  <a:pt x="14795" y="0"/>
                  <a:pt x="33018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46" name="Shape 44"/>
          <p:cNvSpPr/>
          <p:nvPr/>
        </p:nvSpPr>
        <p:spPr>
          <a:xfrm>
            <a:off x="346692" y="5390234"/>
            <a:ext cx="33018" cy="1139131"/>
          </a:xfrm>
          <a:custGeom>
            <a:avLst/>
            <a:gdLst/>
            <a:ahLst/>
            <a:cxnLst/>
            <a:rect l="l" t="t" r="r" b="b"/>
            <a:pathLst>
              <a:path w="33018" h="1139131">
                <a:moveTo>
                  <a:pt x="33018" y="0"/>
                </a:moveTo>
                <a:lnTo>
                  <a:pt x="33018" y="0"/>
                </a:lnTo>
                <a:lnTo>
                  <a:pt x="33018" y="1139131"/>
                </a:lnTo>
                <a:lnTo>
                  <a:pt x="33018" y="1139131"/>
                </a:lnTo>
                <a:cubicBezTo>
                  <a:pt x="14783" y="1139131"/>
                  <a:pt x="0" y="1124348"/>
                  <a:pt x="0" y="1106112"/>
                </a:cubicBezTo>
                <a:lnTo>
                  <a:pt x="0" y="33018"/>
                </a:lnTo>
                <a:cubicBezTo>
                  <a:pt x="0" y="14795"/>
                  <a:pt x="14795" y="0"/>
                  <a:pt x="33018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7" name="Shape 45"/>
          <p:cNvSpPr/>
          <p:nvPr/>
        </p:nvSpPr>
        <p:spPr>
          <a:xfrm>
            <a:off x="495274" y="5761690"/>
            <a:ext cx="396219" cy="396219"/>
          </a:xfrm>
          <a:custGeom>
            <a:avLst/>
            <a:gdLst/>
            <a:ahLst/>
            <a:cxnLst/>
            <a:rect l="l" t="t" r="r" b="b"/>
            <a:pathLst>
              <a:path w="396219" h="396219">
                <a:moveTo>
                  <a:pt x="99055" y="0"/>
                </a:moveTo>
                <a:lnTo>
                  <a:pt x="297165" y="0"/>
                </a:lnTo>
                <a:cubicBezTo>
                  <a:pt x="351871" y="0"/>
                  <a:pt x="396219" y="44348"/>
                  <a:pt x="396219" y="99055"/>
                </a:cubicBezTo>
                <a:lnTo>
                  <a:pt x="396219" y="297165"/>
                </a:lnTo>
                <a:cubicBezTo>
                  <a:pt x="396219" y="351871"/>
                  <a:pt x="351871" y="396219"/>
                  <a:pt x="297165" y="396219"/>
                </a:cubicBezTo>
                <a:lnTo>
                  <a:pt x="99055" y="396219"/>
                </a:lnTo>
                <a:cubicBezTo>
                  <a:pt x="44348" y="396219"/>
                  <a:pt x="0" y="351871"/>
                  <a:pt x="0" y="297165"/>
                </a:cubicBezTo>
                <a:lnTo>
                  <a:pt x="0" y="99055"/>
                </a:lnTo>
                <a:cubicBezTo>
                  <a:pt x="0" y="44348"/>
                  <a:pt x="44348" y="0"/>
                  <a:pt x="99055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8" name="Shape 46"/>
          <p:cNvSpPr/>
          <p:nvPr/>
        </p:nvSpPr>
        <p:spPr>
          <a:xfrm>
            <a:off x="610838" y="5877254"/>
            <a:ext cx="165091" cy="165091"/>
          </a:xfrm>
          <a:custGeom>
            <a:avLst/>
            <a:gdLst/>
            <a:ahLst/>
            <a:cxnLst/>
            <a:rect l="l" t="t" r="r" b="b"/>
            <a:pathLst>
              <a:path w="165091" h="165091">
                <a:moveTo>
                  <a:pt x="20636" y="20636"/>
                </a:moveTo>
                <a:cubicBezTo>
                  <a:pt x="20636" y="14929"/>
                  <a:pt x="16025" y="10318"/>
                  <a:pt x="10318" y="10318"/>
                </a:cubicBezTo>
                <a:cubicBezTo>
                  <a:pt x="4611" y="10318"/>
                  <a:pt x="0" y="14929"/>
                  <a:pt x="0" y="20636"/>
                </a:cubicBezTo>
                <a:lnTo>
                  <a:pt x="0" y="128978"/>
                </a:lnTo>
                <a:cubicBezTo>
                  <a:pt x="0" y="143230"/>
                  <a:pt x="11544" y="154773"/>
                  <a:pt x="25796" y="154773"/>
                </a:cubicBezTo>
                <a:lnTo>
                  <a:pt x="154773" y="154773"/>
                </a:lnTo>
                <a:cubicBezTo>
                  <a:pt x="160480" y="154773"/>
                  <a:pt x="165091" y="150162"/>
                  <a:pt x="165091" y="144455"/>
                </a:cubicBezTo>
                <a:cubicBezTo>
                  <a:pt x="165091" y="138748"/>
                  <a:pt x="160480" y="134137"/>
                  <a:pt x="154773" y="134137"/>
                </a:cubicBezTo>
                <a:lnTo>
                  <a:pt x="25796" y="134137"/>
                </a:lnTo>
                <a:cubicBezTo>
                  <a:pt x="22958" y="134137"/>
                  <a:pt x="20636" y="131815"/>
                  <a:pt x="20636" y="128978"/>
                </a:cubicBezTo>
                <a:lnTo>
                  <a:pt x="20636" y="20636"/>
                </a:lnTo>
                <a:close/>
                <a:moveTo>
                  <a:pt x="151742" y="48560"/>
                </a:moveTo>
                <a:cubicBezTo>
                  <a:pt x="155773" y="44530"/>
                  <a:pt x="155773" y="37984"/>
                  <a:pt x="151742" y="33953"/>
                </a:cubicBezTo>
                <a:cubicBezTo>
                  <a:pt x="147712" y="29923"/>
                  <a:pt x="141166" y="29923"/>
                  <a:pt x="137135" y="33953"/>
                </a:cubicBezTo>
                <a:lnTo>
                  <a:pt x="103182" y="67939"/>
                </a:lnTo>
                <a:lnTo>
                  <a:pt x="84674" y="49463"/>
                </a:lnTo>
                <a:cubicBezTo>
                  <a:pt x="80643" y="45432"/>
                  <a:pt x="74098" y="45432"/>
                  <a:pt x="70067" y="49463"/>
                </a:cubicBezTo>
                <a:lnTo>
                  <a:pt x="39112" y="80418"/>
                </a:lnTo>
                <a:cubicBezTo>
                  <a:pt x="35082" y="84448"/>
                  <a:pt x="35082" y="90994"/>
                  <a:pt x="39112" y="95024"/>
                </a:cubicBezTo>
                <a:cubicBezTo>
                  <a:pt x="43143" y="99055"/>
                  <a:pt x="49689" y="99055"/>
                  <a:pt x="53719" y="95024"/>
                </a:cubicBezTo>
                <a:lnTo>
                  <a:pt x="77387" y="71357"/>
                </a:lnTo>
                <a:lnTo>
                  <a:pt x="95895" y="89865"/>
                </a:lnTo>
                <a:cubicBezTo>
                  <a:pt x="99925" y="93896"/>
                  <a:pt x="106471" y="93896"/>
                  <a:pt x="110502" y="89865"/>
                </a:cubicBezTo>
                <a:lnTo>
                  <a:pt x="151774" y="4859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990548" y="5522307"/>
            <a:ext cx="6124891" cy="231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Measured Service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90548" y="5753435"/>
            <a:ext cx="6108382" cy="64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systems automatically control and optimize resource use by leveraging a </a:t>
            </a:r>
            <a:r>
              <a:rPr lang="en-US" sz="104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metering capability</a:t>
            </a:r>
            <a:r>
              <a:rPr lang="en-US" sz="104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at some level of abstraction appropriate to the type of service. Resource usage can be </a:t>
            </a:r>
            <a:r>
              <a:rPr lang="en-US" sz="104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monitored, controlled, and reported</a:t>
            </a:r>
            <a:r>
              <a:rPr lang="en-US" sz="104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providing transparency for both the provider and consumer.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267220" y="5774897"/>
            <a:ext cx="4464071" cy="369805"/>
          </a:xfrm>
          <a:custGeom>
            <a:avLst/>
            <a:gdLst/>
            <a:ahLst/>
            <a:cxnLst/>
            <a:rect l="l" t="t" r="r" b="b"/>
            <a:pathLst>
              <a:path w="4464071" h="369805">
                <a:moveTo>
                  <a:pt x="66036" y="0"/>
                </a:moveTo>
                <a:lnTo>
                  <a:pt x="4398035" y="0"/>
                </a:lnTo>
                <a:cubicBezTo>
                  <a:pt x="4434506" y="0"/>
                  <a:pt x="4464071" y="29565"/>
                  <a:pt x="4464071" y="66036"/>
                </a:cubicBezTo>
                <a:lnTo>
                  <a:pt x="4464071" y="303769"/>
                </a:lnTo>
                <a:cubicBezTo>
                  <a:pt x="4464071" y="340239"/>
                  <a:pt x="4434506" y="369805"/>
                  <a:pt x="4398035" y="369805"/>
                </a:cubicBezTo>
                <a:lnTo>
                  <a:pt x="66036" y="369805"/>
                </a:lnTo>
                <a:cubicBezTo>
                  <a:pt x="29565" y="369805"/>
                  <a:pt x="0" y="340239"/>
                  <a:pt x="0" y="303769"/>
                </a:cubicBezTo>
                <a:lnTo>
                  <a:pt x="0" y="66036"/>
                </a:lnTo>
                <a:cubicBezTo>
                  <a:pt x="0" y="29565"/>
                  <a:pt x="29565" y="0"/>
                  <a:pt x="66036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400532" y="5903668"/>
            <a:ext cx="86673" cy="115564"/>
          </a:xfrm>
          <a:custGeom>
            <a:avLst/>
            <a:gdLst/>
            <a:ahLst/>
            <a:cxnLst/>
            <a:rect l="l" t="t" r="r" b="b"/>
            <a:pathLst>
              <a:path w="86673" h="115564">
                <a:moveTo>
                  <a:pt x="66111" y="86673"/>
                </a:moveTo>
                <a:cubicBezTo>
                  <a:pt x="67758" y="81640"/>
                  <a:pt x="71054" y="77080"/>
                  <a:pt x="74778" y="73153"/>
                </a:cubicBezTo>
                <a:cubicBezTo>
                  <a:pt x="82159" y="65388"/>
                  <a:pt x="86673" y="54893"/>
                  <a:pt x="86673" y="43336"/>
                </a:cubicBezTo>
                <a:cubicBezTo>
                  <a:pt x="86673" y="19411"/>
                  <a:pt x="67262" y="0"/>
                  <a:pt x="43336" y="0"/>
                </a:cubicBezTo>
                <a:cubicBezTo>
                  <a:pt x="19411" y="0"/>
                  <a:pt x="0" y="19411"/>
                  <a:pt x="0" y="43336"/>
                </a:cubicBezTo>
                <a:cubicBezTo>
                  <a:pt x="0" y="54893"/>
                  <a:pt x="4514" y="65388"/>
                  <a:pt x="11895" y="73153"/>
                </a:cubicBezTo>
                <a:cubicBezTo>
                  <a:pt x="15619" y="77080"/>
                  <a:pt x="18937" y="81640"/>
                  <a:pt x="20562" y="86673"/>
                </a:cubicBezTo>
                <a:lnTo>
                  <a:pt x="66088" y="86673"/>
                </a:lnTo>
                <a:close/>
                <a:moveTo>
                  <a:pt x="65005" y="97507"/>
                </a:moveTo>
                <a:lnTo>
                  <a:pt x="21668" y="97507"/>
                </a:lnTo>
                <a:lnTo>
                  <a:pt x="21668" y="101118"/>
                </a:lnTo>
                <a:cubicBezTo>
                  <a:pt x="21668" y="111095"/>
                  <a:pt x="29749" y="119175"/>
                  <a:pt x="39725" y="119175"/>
                </a:cubicBezTo>
                <a:lnTo>
                  <a:pt x="46948" y="119175"/>
                </a:lnTo>
                <a:cubicBezTo>
                  <a:pt x="56924" y="119175"/>
                  <a:pt x="65005" y="111095"/>
                  <a:pt x="65005" y="101118"/>
                </a:cubicBezTo>
                <a:lnTo>
                  <a:pt x="65005" y="97507"/>
                </a:lnTo>
                <a:close/>
                <a:moveTo>
                  <a:pt x="41531" y="25280"/>
                </a:moveTo>
                <a:cubicBezTo>
                  <a:pt x="32548" y="25280"/>
                  <a:pt x="25280" y="32548"/>
                  <a:pt x="25280" y="41531"/>
                </a:cubicBezTo>
                <a:cubicBezTo>
                  <a:pt x="25280" y="44533"/>
                  <a:pt x="22865" y="46948"/>
                  <a:pt x="19863" y="46948"/>
                </a:cubicBezTo>
                <a:cubicBezTo>
                  <a:pt x="16861" y="46948"/>
                  <a:pt x="14445" y="44533"/>
                  <a:pt x="14445" y="41531"/>
                </a:cubicBezTo>
                <a:cubicBezTo>
                  <a:pt x="14445" y="26566"/>
                  <a:pt x="26566" y="14445"/>
                  <a:pt x="41531" y="14445"/>
                </a:cubicBezTo>
                <a:cubicBezTo>
                  <a:pt x="44533" y="14445"/>
                  <a:pt x="46948" y="16861"/>
                  <a:pt x="46948" y="19863"/>
                </a:cubicBezTo>
                <a:cubicBezTo>
                  <a:pt x="46948" y="22865"/>
                  <a:pt x="44533" y="25280"/>
                  <a:pt x="41531" y="2528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3" name="Text 51"/>
          <p:cNvSpPr/>
          <p:nvPr/>
        </p:nvSpPr>
        <p:spPr>
          <a:xfrm>
            <a:off x="7561081" y="5877254"/>
            <a:ext cx="4125636" cy="165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0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</a:t>
            </a:r>
            <a:r>
              <a:rPr lang="en-US" sz="91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AWS Cost Explorer showing detailed usage and billing for each service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thefastmode.com/c1a71238a8ce85a88a695fa1559e17fed221804e.jpg"/>
          <p:cNvPicPr>
            <a:picLocks noChangeAspect="1"/>
          </p:cNvPicPr>
          <p:nvPr/>
        </p:nvPicPr>
        <p:blipFill>
          <a:blip r:embed="rId3">
            <a:alphaModFix amt="30000"/>
          </a:blip>
          <a:srcRect l="6582" r="6582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91919"/>
              </a:gs>
              <a:gs pos="50000">
                <a:srgbClr val="191919">
                  <a:alpha val="95000"/>
                </a:srgbClr>
              </a:gs>
              <a:gs pos="100000">
                <a:srgbClr val="191919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9677400" y="195262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" name="Shape 2"/>
          <p:cNvSpPr/>
          <p:nvPr/>
        </p:nvSpPr>
        <p:spPr>
          <a:xfrm>
            <a:off x="11049000" y="159067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" name="Text 3"/>
          <p:cNvSpPr/>
          <p:nvPr/>
        </p:nvSpPr>
        <p:spPr>
          <a:xfrm>
            <a:off x="11049477" y="1781175"/>
            <a:ext cx="590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152900" y="2581275"/>
            <a:ext cx="76581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54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Benefits of</a:t>
            </a:r>
            <a:endParaRPr lang="en-US" sz="1600" dirty="0"/>
          </a:p>
          <a:p>
            <a:pPr algn="r">
              <a:lnSpc>
                <a:spcPct val="100000"/>
              </a:lnSpc>
            </a:pPr>
            <a:r>
              <a:rPr lang="en-US" sz="54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Adoption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381500" y="4524375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8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organizations worldwide are accelerating their cloud transformation journey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1265" y="321265"/>
            <a:ext cx="11605692" cy="16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b="1" kern="0" spc="44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02 • CLOUD ADVANTAGES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1265" y="546150"/>
            <a:ext cx="11694040" cy="321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7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Benefits of Cloud Computing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1265" y="931668"/>
            <a:ext cx="11621755" cy="224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Six transformative advantages driving enterprise cloud adoption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4477" y="1224019"/>
            <a:ext cx="3781287" cy="2600639"/>
          </a:xfrm>
          <a:custGeom>
            <a:avLst/>
            <a:gdLst/>
            <a:ahLst/>
            <a:cxnLst/>
            <a:rect l="l" t="t" r="r" b="b"/>
            <a:pathLst>
              <a:path w="3781287" h="2600639">
                <a:moveTo>
                  <a:pt x="96380" y="0"/>
                </a:moveTo>
                <a:lnTo>
                  <a:pt x="3684907" y="0"/>
                </a:lnTo>
                <a:cubicBezTo>
                  <a:pt x="3738136" y="0"/>
                  <a:pt x="3781287" y="43151"/>
                  <a:pt x="3781287" y="96380"/>
                </a:cubicBezTo>
                <a:lnTo>
                  <a:pt x="3781287" y="2504259"/>
                </a:lnTo>
                <a:cubicBezTo>
                  <a:pt x="3781287" y="2557488"/>
                  <a:pt x="3738136" y="2600639"/>
                  <a:pt x="3684907" y="2600639"/>
                </a:cubicBezTo>
                <a:lnTo>
                  <a:pt x="96380" y="2600639"/>
                </a:lnTo>
                <a:cubicBezTo>
                  <a:pt x="43151" y="2600639"/>
                  <a:pt x="0" y="2557488"/>
                  <a:pt x="0" y="2504259"/>
                </a:cubicBezTo>
                <a:lnTo>
                  <a:pt x="0" y="96380"/>
                </a:lnTo>
                <a:cubicBezTo>
                  <a:pt x="0" y="43151"/>
                  <a:pt x="43151" y="0"/>
                  <a:pt x="96380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6196" y="1355740"/>
            <a:ext cx="449771" cy="449771"/>
          </a:xfrm>
          <a:custGeom>
            <a:avLst/>
            <a:gdLst/>
            <a:ahLst/>
            <a:cxnLst/>
            <a:rect l="l" t="t" r="r" b="b"/>
            <a:pathLst>
              <a:path w="449771" h="449771">
                <a:moveTo>
                  <a:pt x="96381" y="0"/>
                </a:moveTo>
                <a:lnTo>
                  <a:pt x="353389" y="0"/>
                </a:lnTo>
                <a:cubicBezTo>
                  <a:pt x="406619" y="0"/>
                  <a:pt x="449771" y="43151"/>
                  <a:pt x="449771" y="96381"/>
                </a:cubicBezTo>
                <a:lnTo>
                  <a:pt x="449771" y="353389"/>
                </a:lnTo>
                <a:cubicBezTo>
                  <a:pt x="449771" y="406619"/>
                  <a:pt x="406619" y="449771"/>
                  <a:pt x="353389" y="449771"/>
                </a:cubicBezTo>
                <a:lnTo>
                  <a:pt x="96381" y="449771"/>
                </a:lnTo>
                <a:cubicBezTo>
                  <a:pt x="43151" y="449771"/>
                  <a:pt x="0" y="406619"/>
                  <a:pt x="0" y="353389"/>
                </a:cubicBezTo>
                <a:lnTo>
                  <a:pt x="0" y="96381"/>
                </a:lnTo>
                <a:cubicBezTo>
                  <a:pt x="0" y="43151"/>
                  <a:pt x="43151" y="0"/>
                  <a:pt x="9638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84702" y="1484246"/>
            <a:ext cx="192759" cy="192759"/>
          </a:xfrm>
          <a:custGeom>
            <a:avLst/>
            <a:gdLst/>
            <a:ahLst/>
            <a:cxnLst/>
            <a:rect l="l" t="t" r="r" b="b"/>
            <a:pathLst>
              <a:path w="192759" h="192759">
                <a:moveTo>
                  <a:pt x="24095" y="24095"/>
                </a:moveTo>
                <a:cubicBezTo>
                  <a:pt x="24095" y="17431"/>
                  <a:pt x="18711" y="12047"/>
                  <a:pt x="12047" y="12047"/>
                </a:cubicBezTo>
                <a:cubicBezTo>
                  <a:pt x="5384" y="12047"/>
                  <a:pt x="0" y="17431"/>
                  <a:pt x="0" y="24095"/>
                </a:cubicBezTo>
                <a:lnTo>
                  <a:pt x="0" y="150593"/>
                </a:lnTo>
                <a:cubicBezTo>
                  <a:pt x="0" y="167233"/>
                  <a:pt x="13478" y="180711"/>
                  <a:pt x="30119" y="180711"/>
                </a:cubicBezTo>
                <a:lnTo>
                  <a:pt x="180711" y="180711"/>
                </a:lnTo>
                <a:cubicBezTo>
                  <a:pt x="187375" y="180711"/>
                  <a:pt x="192759" y="175328"/>
                  <a:pt x="192759" y="168664"/>
                </a:cubicBezTo>
                <a:cubicBezTo>
                  <a:pt x="192759" y="162000"/>
                  <a:pt x="187375" y="156617"/>
                  <a:pt x="180711" y="156617"/>
                </a:cubicBezTo>
                <a:lnTo>
                  <a:pt x="30119" y="156617"/>
                </a:lnTo>
                <a:cubicBezTo>
                  <a:pt x="26806" y="156617"/>
                  <a:pt x="24095" y="153906"/>
                  <a:pt x="24095" y="150593"/>
                </a:cubicBezTo>
                <a:lnTo>
                  <a:pt x="24095" y="24095"/>
                </a:lnTo>
                <a:close/>
                <a:moveTo>
                  <a:pt x="177173" y="56698"/>
                </a:moveTo>
                <a:cubicBezTo>
                  <a:pt x="181879" y="51992"/>
                  <a:pt x="181879" y="44350"/>
                  <a:pt x="177173" y="39644"/>
                </a:cubicBezTo>
                <a:cubicBezTo>
                  <a:pt x="172467" y="34938"/>
                  <a:pt x="164824" y="34938"/>
                  <a:pt x="160118" y="39644"/>
                </a:cubicBezTo>
                <a:lnTo>
                  <a:pt x="120474" y="79325"/>
                </a:lnTo>
                <a:lnTo>
                  <a:pt x="98864" y="57752"/>
                </a:lnTo>
                <a:cubicBezTo>
                  <a:pt x="94158" y="53046"/>
                  <a:pt x="86516" y="53046"/>
                  <a:pt x="81810" y="57752"/>
                </a:cubicBezTo>
                <a:lnTo>
                  <a:pt x="45667" y="93895"/>
                </a:lnTo>
                <a:cubicBezTo>
                  <a:pt x="40961" y="98601"/>
                  <a:pt x="40961" y="106243"/>
                  <a:pt x="45667" y="110949"/>
                </a:cubicBezTo>
                <a:cubicBezTo>
                  <a:pt x="50373" y="115655"/>
                  <a:pt x="58016" y="115655"/>
                  <a:pt x="62722" y="110949"/>
                </a:cubicBezTo>
                <a:lnTo>
                  <a:pt x="90356" y="83316"/>
                </a:lnTo>
                <a:lnTo>
                  <a:pt x="111966" y="104926"/>
                </a:lnTo>
                <a:cubicBezTo>
                  <a:pt x="116672" y="109632"/>
                  <a:pt x="124314" y="109632"/>
                  <a:pt x="129020" y="104926"/>
                </a:cubicBezTo>
                <a:lnTo>
                  <a:pt x="177210" y="56736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456196" y="1901890"/>
            <a:ext cx="3598166" cy="224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6196" y="2191028"/>
            <a:ext cx="3582103" cy="883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2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Easily </a:t>
            </a:r>
            <a:r>
              <a:rPr lang="en-US" sz="1012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scale resources up or down</a:t>
            </a:r>
            <a:r>
              <a:rPr lang="en-US" sz="1012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based on demand. Handle traffic spikes without over-provisioning during quiet periods. Scale vertically (more power per instance) or horizontally (more instances).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9409" y="3172491"/>
            <a:ext cx="3508212" cy="520449"/>
          </a:xfrm>
          <a:custGeom>
            <a:avLst/>
            <a:gdLst/>
            <a:ahLst/>
            <a:cxnLst/>
            <a:rect l="l" t="t" r="r" b="b"/>
            <a:pathLst>
              <a:path w="3508212" h="520449">
                <a:moveTo>
                  <a:pt x="64255" y="0"/>
                </a:moveTo>
                <a:lnTo>
                  <a:pt x="3443957" y="0"/>
                </a:lnTo>
                <a:cubicBezTo>
                  <a:pt x="3479444" y="0"/>
                  <a:pt x="3508212" y="28768"/>
                  <a:pt x="3508212" y="64255"/>
                </a:cubicBezTo>
                <a:lnTo>
                  <a:pt x="3508212" y="456194"/>
                </a:lnTo>
                <a:cubicBezTo>
                  <a:pt x="3508212" y="491681"/>
                  <a:pt x="3479444" y="520449"/>
                  <a:pt x="3443957" y="520449"/>
                </a:cubicBezTo>
                <a:lnTo>
                  <a:pt x="64255" y="520449"/>
                </a:lnTo>
                <a:cubicBezTo>
                  <a:pt x="28792" y="520449"/>
                  <a:pt x="0" y="491657"/>
                  <a:pt x="0" y="456194"/>
                </a:cubicBezTo>
                <a:lnTo>
                  <a:pt x="0" y="64255"/>
                </a:lnTo>
                <a:cubicBezTo>
                  <a:pt x="0" y="28792"/>
                  <a:pt x="28792" y="0"/>
                  <a:pt x="64255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9001" y="3272081"/>
            <a:ext cx="3365249" cy="321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Impact:</a:t>
            </a:r>
            <a:r>
              <a:rPr lang="en-US" sz="88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Netflix scales to handle millions of concurrent viewers during peak hours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06963" y="1224019"/>
            <a:ext cx="3781287" cy="2600639"/>
          </a:xfrm>
          <a:custGeom>
            <a:avLst/>
            <a:gdLst/>
            <a:ahLst/>
            <a:cxnLst/>
            <a:rect l="l" t="t" r="r" b="b"/>
            <a:pathLst>
              <a:path w="3781287" h="2600639">
                <a:moveTo>
                  <a:pt x="96380" y="0"/>
                </a:moveTo>
                <a:lnTo>
                  <a:pt x="3684907" y="0"/>
                </a:lnTo>
                <a:cubicBezTo>
                  <a:pt x="3738136" y="0"/>
                  <a:pt x="3781287" y="43151"/>
                  <a:pt x="3781287" y="96380"/>
                </a:cubicBezTo>
                <a:lnTo>
                  <a:pt x="3781287" y="2504259"/>
                </a:lnTo>
                <a:cubicBezTo>
                  <a:pt x="3781287" y="2557488"/>
                  <a:pt x="3738136" y="2600639"/>
                  <a:pt x="3684907" y="2600639"/>
                </a:cubicBezTo>
                <a:lnTo>
                  <a:pt x="96380" y="2600639"/>
                </a:lnTo>
                <a:cubicBezTo>
                  <a:pt x="43151" y="2600639"/>
                  <a:pt x="0" y="2557488"/>
                  <a:pt x="0" y="2504259"/>
                </a:cubicBezTo>
                <a:lnTo>
                  <a:pt x="0" y="96380"/>
                </a:lnTo>
                <a:cubicBezTo>
                  <a:pt x="0" y="43151"/>
                  <a:pt x="43151" y="0"/>
                  <a:pt x="96380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38682" y="1355740"/>
            <a:ext cx="449771" cy="449771"/>
          </a:xfrm>
          <a:custGeom>
            <a:avLst/>
            <a:gdLst/>
            <a:ahLst/>
            <a:cxnLst/>
            <a:rect l="l" t="t" r="r" b="b"/>
            <a:pathLst>
              <a:path w="449771" h="449771">
                <a:moveTo>
                  <a:pt x="96381" y="0"/>
                </a:moveTo>
                <a:lnTo>
                  <a:pt x="353389" y="0"/>
                </a:lnTo>
                <a:cubicBezTo>
                  <a:pt x="406619" y="0"/>
                  <a:pt x="449771" y="43151"/>
                  <a:pt x="449771" y="96381"/>
                </a:cubicBezTo>
                <a:lnTo>
                  <a:pt x="449771" y="353389"/>
                </a:lnTo>
                <a:cubicBezTo>
                  <a:pt x="449771" y="406619"/>
                  <a:pt x="406619" y="449771"/>
                  <a:pt x="353389" y="449771"/>
                </a:cubicBezTo>
                <a:lnTo>
                  <a:pt x="96381" y="449771"/>
                </a:lnTo>
                <a:cubicBezTo>
                  <a:pt x="43151" y="449771"/>
                  <a:pt x="0" y="406619"/>
                  <a:pt x="0" y="353389"/>
                </a:cubicBezTo>
                <a:lnTo>
                  <a:pt x="0" y="96381"/>
                </a:lnTo>
                <a:cubicBezTo>
                  <a:pt x="0" y="43151"/>
                  <a:pt x="43151" y="0"/>
                  <a:pt x="9638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503330" y="1484246"/>
            <a:ext cx="120474" cy="192759"/>
          </a:xfrm>
          <a:custGeom>
            <a:avLst/>
            <a:gdLst/>
            <a:ahLst/>
            <a:cxnLst/>
            <a:rect l="l" t="t" r="r" b="b"/>
            <a:pathLst>
              <a:path w="120474" h="192759">
                <a:moveTo>
                  <a:pt x="51202" y="9036"/>
                </a:moveTo>
                <a:cubicBezTo>
                  <a:pt x="51202" y="4028"/>
                  <a:pt x="55230" y="0"/>
                  <a:pt x="60237" y="0"/>
                </a:cubicBezTo>
                <a:cubicBezTo>
                  <a:pt x="65244" y="0"/>
                  <a:pt x="69273" y="4028"/>
                  <a:pt x="69273" y="9036"/>
                </a:cubicBezTo>
                <a:lnTo>
                  <a:pt x="69273" y="24095"/>
                </a:lnTo>
                <a:lnTo>
                  <a:pt x="90356" y="24095"/>
                </a:lnTo>
                <a:cubicBezTo>
                  <a:pt x="97019" y="24095"/>
                  <a:pt x="102403" y="29479"/>
                  <a:pt x="102403" y="36142"/>
                </a:cubicBezTo>
                <a:cubicBezTo>
                  <a:pt x="102403" y="42806"/>
                  <a:pt x="97019" y="48190"/>
                  <a:pt x="90356" y="48190"/>
                </a:cubicBezTo>
                <a:lnTo>
                  <a:pt x="47098" y="48190"/>
                </a:lnTo>
                <a:cubicBezTo>
                  <a:pt x="37724" y="48190"/>
                  <a:pt x="30119" y="55795"/>
                  <a:pt x="30119" y="65169"/>
                </a:cubicBezTo>
                <a:cubicBezTo>
                  <a:pt x="30119" y="73640"/>
                  <a:pt x="36331" y="80793"/>
                  <a:pt x="44688" y="81998"/>
                </a:cubicBezTo>
                <a:lnTo>
                  <a:pt x="79174" y="86930"/>
                </a:lnTo>
                <a:cubicBezTo>
                  <a:pt x="99429" y="89829"/>
                  <a:pt x="114451" y="107147"/>
                  <a:pt x="114451" y="127590"/>
                </a:cubicBezTo>
                <a:cubicBezTo>
                  <a:pt x="114451" y="150292"/>
                  <a:pt x="96041" y="168664"/>
                  <a:pt x="73376" y="168664"/>
                </a:cubicBezTo>
                <a:lnTo>
                  <a:pt x="69273" y="168664"/>
                </a:lnTo>
                <a:lnTo>
                  <a:pt x="69273" y="183723"/>
                </a:lnTo>
                <a:cubicBezTo>
                  <a:pt x="69273" y="188731"/>
                  <a:pt x="65244" y="192759"/>
                  <a:pt x="60237" y="192759"/>
                </a:cubicBezTo>
                <a:cubicBezTo>
                  <a:pt x="55230" y="192759"/>
                  <a:pt x="51202" y="188731"/>
                  <a:pt x="51202" y="183723"/>
                </a:cubicBezTo>
                <a:lnTo>
                  <a:pt x="51202" y="168664"/>
                </a:lnTo>
                <a:lnTo>
                  <a:pt x="24095" y="168664"/>
                </a:lnTo>
                <a:cubicBezTo>
                  <a:pt x="17431" y="168664"/>
                  <a:pt x="12047" y="163280"/>
                  <a:pt x="12047" y="156617"/>
                </a:cubicBezTo>
                <a:cubicBezTo>
                  <a:pt x="12047" y="149953"/>
                  <a:pt x="17431" y="144569"/>
                  <a:pt x="24095" y="144569"/>
                </a:cubicBezTo>
                <a:lnTo>
                  <a:pt x="73376" y="144569"/>
                </a:lnTo>
                <a:cubicBezTo>
                  <a:pt x="82751" y="144569"/>
                  <a:pt x="90356" y="136964"/>
                  <a:pt x="90356" y="127590"/>
                </a:cubicBezTo>
                <a:cubicBezTo>
                  <a:pt x="90356" y="119119"/>
                  <a:pt x="84144" y="111966"/>
                  <a:pt x="75786" y="110761"/>
                </a:cubicBezTo>
                <a:lnTo>
                  <a:pt x="41300" y="105829"/>
                </a:lnTo>
                <a:cubicBezTo>
                  <a:pt x="21045" y="102968"/>
                  <a:pt x="6024" y="85612"/>
                  <a:pt x="6024" y="65169"/>
                </a:cubicBezTo>
                <a:cubicBezTo>
                  <a:pt x="6024" y="42505"/>
                  <a:pt x="24434" y="24095"/>
                  <a:pt x="47098" y="24095"/>
                </a:cubicBezTo>
                <a:lnTo>
                  <a:pt x="51202" y="24095"/>
                </a:lnTo>
                <a:lnTo>
                  <a:pt x="51202" y="9036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4338682" y="1901890"/>
            <a:ext cx="3598166" cy="224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Cost Efficiency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38682" y="2191028"/>
            <a:ext cx="3582103" cy="883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2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Pay-as-you-go pricing</a:t>
            </a:r>
            <a:r>
              <a:rPr lang="en-US" sz="1012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eliminates upfront capital expenditure. Convert fixed costs to variable costs. No need to purchase excess capacity for peak periods—pay only for what you consume.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341894" y="3172491"/>
            <a:ext cx="3508212" cy="520449"/>
          </a:xfrm>
          <a:custGeom>
            <a:avLst/>
            <a:gdLst/>
            <a:ahLst/>
            <a:cxnLst/>
            <a:rect l="l" t="t" r="r" b="b"/>
            <a:pathLst>
              <a:path w="3508212" h="520449">
                <a:moveTo>
                  <a:pt x="64255" y="0"/>
                </a:moveTo>
                <a:lnTo>
                  <a:pt x="3443957" y="0"/>
                </a:lnTo>
                <a:cubicBezTo>
                  <a:pt x="3479444" y="0"/>
                  <a:pt x="3508212" y="28768"/>
                  <a:pt x="3508212" y="64255"/>
                </a:cubicBezTo>
                <a:lnTo>
                  <a:pt x="3508212" y="456194"/>
                </a:lnTo>
                <a:cubicBezTo>
                  <a:pt x="3508212" y="491681"/>
                  <a:pt x="3479444" y="520449"/>
                  <a:pt x="3443957" y="520449"/>
                </a:cubicBezTo>
                <a:lnTo>
                  <a:pt x="64255" y="520449"/>
                </a:lnTo>
                <a:cubicBezTo>
                  <a:pt x="28792" y="520449"/>
                  <a:pt x="0" y="491657"/>
                  <a:pt x="0" y="456194"/>
                </a:cubicBezTo>
                <a:lnTo>
                  <a:pt x="0" y="64255"/>
                </a:lnTo>
                <a:cubicBezTo>
                  <a:pt x="0" y="28792"/>
                  <a:pt x="28792" y="0"/>
                  <a:pt x="64255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41486" y="3272081"/>
            <a:ext cx="3365249" cy="321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Impact:</a:t>
            </a:r>
            <a:r>
              <a:rPr lang="en-US" sz="88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Startups can launch with minimal investment and scale as they grow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89448" y="1224019"/>
            <a:ext cx="3781287" cy="2600639"/>
          </a:xfrm>
          <a:custGeom>
            <a:avLst/>
            <a:gdLst/>
            <a:ahLst/>
            <a:cxnLst/>
            <a:rect l="l" t="t" r="r" b="b"/>
            <a:pathLst>
              <a:path w="3781287" h="2600639">
                <a:moveTo>
                  <a:pt x="96380" y="0"/>
                </a:moveTo>
                <a:lnTo>
                  <a:pt x="3684907" y="0"/>
                </a:lnTo>
                <a:cubicBezTo>
                  <a:pt x="3738136" y="0"/>
                  <a:pt x="3781287" y="43151"/>
                  <a:pt x="3781287" y="96380"/>
                </a:cubicBezTo>
                <a:lnTo>
                  <a:pt x="3781287" y="2504259"/>
                </a:lnTo>
                <a:cubicBezTo>
                  <a:pt x="3781287" y="2557488"/>
                  <a:pt x="3738136" y="2600639"/>
                  <a:pt x="3684907" y="2600639"/>
                </a:cubicBezTo>
                <a:lnTo>
                  <a:pt x="96380" y="2600639"/>
                </a:lnTo>
                <a:cubicBezTo>
                  <a:pt x="43151" y="2600639"/>
                  <a:pt x="0" y="2557488"/>
                  <a:pt x="0" y="2504259"/>
                </a:cubicBezTo>
                <a:lnTo>
                  <a:pt x="0" y="96380"/>
                </a:lnTo>
                <a:cubicBezTo>
                  <a:pt x="0" y="43151"/>
                  <a:pt x="43151" y="0"/>
                  <a:pt x="96380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1167" y="1355740"/>
            <a:ext cx="449771" cy="449771"/>
          </a:xfrm>
          <a:custGeom>
            <a:avLst/>
            <a:gdLst/>
            <a:ahLst/>
            <a:cxnLst/>
            <a:rect l="l" t="t" r="r" b="b"/>
            <a:pathLst>
              <a:path w="449771" h="449771">
                <a:moveTo>
                  <a:pt x="96381" y="0"/>
                </a:moveTo>
                <a:lnTo>
                  <a:pt x="353389" y="0"/>
                </a:lnTo>
                <a:cubicBezTo>
                  <a:pt x="406619" y="0"/>
                  <a:pt x="449771" y="43151"/>
                  <a:pt x="449771" y="96381"/>
                </a:cubicBezTo>
                <a:lnTo>
                  <a:pt x="449771" y="353389"/>
                </a:lnTo>
                <a:cubicBezTo>
                  <a:pt x="449771" y="406619"/>
                  <a:pt x="406619" y="449771"/>
                  <a:pt x="353389" y="449771"/>
                </a:cubicBezTo>
                <a:lnTo>
                  <a:pt x="96381" y="449771"/>
                </a:lnTo>
                <a:cubicBezTo>
                  <a:pt x="43151" y="449771"/>
                  <a:pt x="0" y="406619"/>
                  <a:pt x="0" y="353389"/>
                </a:cubicBezTo>
                <a:lnTo>
                  <a:pt x="0" y="96381"/>
                </a:lnTo>
                <a:cubicBezTo>
                  <a:pt x="0" y="43151"/>
                  <a:pt x="43151" y="0"/>
                  <a:pt x="9638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349673" y="1484246"/>
            <a:ext cx="192759" cy="192759"/>
          </a:xfrm>
          <a:custGeom>
            <a:avLst/>
            <a:gdLst/>
            <a:ahLst/>
            <a:cxnLst/>
            <a:rect l="l" t="t" r="r" b="b"/>
            <a:pathLst>
              <a:path w="192759" h="192759">
                <a:moveTo>
                  <a:pt x="20970" y="75183"/>
                </a:moveTo>
                <a:lnTo>
                  <a:pt x="32603" y="86817"/>
                </a:lnTo>
                <a:cubicBezTo>
                  <a:pt x="34862" y="89076"/>
                  <a:pt x="37912" y="90356"/>
                  <a:pt x="41112" y="90356"/>
                </a:cubicBezTo>
                <a:lnTo>
                  <a:pt x="49206" y="90356"/>
                </a:lnTo>
                <a:cubicBezTo>
                  <a:pt x="52406" y="90356"/>
                  <a:pt x="55456" y="91636"/>
                  <a:pt x="57715" y="93895"/>
                </a:cubicBezTo>
                <a:lnTo>
                  <a:pt x="68746" y="104926"/>
                </a:lnTo>
                <a:cubicBezTo>
                  <a:pt x="71005" y="107184"/>
                  <a:pt x="72285" y="110234"/>
                  <a:pt x="72285" y="113434"/>
                </a:cubicBezTo>
                <a:lnTo>
                  <a:pt x="72285" y="127552"/>
                </a:lnTo>
                <a:cubicBezTo>
                  <a:pt x="72285" y="130752"/>
                  <a:pt x="73565" y="133802"/>
                  <a:pt x="75824" y="136061"/>
                </a:cubicBezTo>
                <a:lnTo>
                  <a:pt x="80831" y="141068"/>
                </a:lnTo>
                <a:cubicBezTo>
                  <a:pt x="83090" y="143327"/>
                  <a:pt x="84370" y="146376"/>
                  <a:pt x="84370" y="149576"/>
                </a:cubicBezTo>
                <a:lnTo>
                  <a:pt x="84370" y="156617"/>
                </a:lnTo>
                <a:cubicBezTo>
                  <a:pt x="84370" y="163280"/>
                  <a:pt x="89753" y="168664"/>
                  <a:pt x="96417" y="168664"/>
                </a:cubicBezTo>
                <a:cubicBezTo>
                  <a:pt x="103081" y="168664"/>
                  <a:pt x="108465" y="163280"/>
                  <a:pt x="108465" y="156617"/>
                </a:cubicBezTo>
                <a:lnTo>
                  <a:pt x="108465" y="155600"/>
                </a:lnTo>
                <a:cubicBezTo>
                  <a:pt x="108465" y="152400"/>
                  <a:pt x="109745" y="149350"/>
                  <a:pt x="112003" y="147092"/>
                </a:cubicBezTo>
                <a:lnTo>
                  <a:pt x="129058" y="130037"/>
                </a:lnTo>
                <a:cubicBezTo>
                  <a:pt x="131317" y="127778"/>
                  <a:pt x="132597" y="124729"/>
                  <a:pt x="132597" y="121528"/>
                </a:cubicBezTo>
                <a:lnTo>
                  <a:pt x="132597" y="108465"/>
                </a:lnTo>
                <a:cubicBezTo>
                  <a:pt x="132597" y="101801"/>
                  <a:pt x="127213" y="96417"/>
                  <a:pt x="120550" y="96417"/>
                </a:cubicBezTo>
                <a:lnTo>
                  <a:pt x="89415" y="96417"/>
                </a:lnTo>
                <a:cubicBezTo>
                  <a:pt x="86214" y="96417"/>
                  <a:pt x="83165" y="95137"/>
                  <a:pt x="80906" y="92878"/>
                </a:cubicBezTo>
                <a:lnTo>
                  <a:pt x="74882" y="86854"/>
                </a:lnTo>
                <a:cubicBezTo>
                  <a:pt x="73301" y="85273"/>
                  <a:pt x="72398" y="83090"/>
                  <a:pt x="72398" y="80831"/>
                </a:cubicBezTo>
                <a:cubicBezTo>
                  <a:pt x="72398" y="76125"/>
                  <a:pt x="76200" y="72322"/>
                  <a:pt x="80906" y="72322"/>
                </a:cubicBezTo>
                <a:lnTo>
                  <a:pt x="93970" y="72322"/>
                </a:lnTo>
                <a:cubicBezTo>
                  <a:pt x="98676" y="72322"/>
                  <a:pt x="102478" y="68520"/>
                  <a:pt x="102478" y="63814"/>
                </a:cubicBezTo>
                <a:cubicBezTo>
                  <a:pt x="102478" y="61555"/>
                  <a:pt x="101575" y="59371"/>
                  <a:pt x="99994" y="57790"/>
                </a:cubicBezTo>
                <a:lnTo>
                  <a:pt x="92577" y="50373"/>
                </a:lnTo>
                <a:cubicBezTo>
                  <a:pt x="91109" y="48943"/>
                  <a:pt x="90356" y="47098"/>
                  <a:pt x="90356" y="45178"/>
                </a:cubicBezTo>
                <a:cubicBezTo>
                  <a:pt x="90356" y="43258"/>
                  <a:pt x="91109" y="41413"/>
                  <a:pt x="92502" y="40020"/>
                </a:cubicBezTo>
                <a:lnTo>
                  <a:pt x="99015" y="33507"/>
                </a:lnTo>
                <a:cubicBezTo>
                  <a:pt x="101198" y="31323"/>
                  <a:pt x="102441" y="28349"/>
                  <a:pt x="102441" y="25262"/>
                </a:cubicBezTo>
                <a:cubicBezTo>
                  <a:pt x="102441" y="22551"/>
                  <a:pt x="101537" y="20104"/>
                  <a:pt x="100031" y="18146"/>
                </a:cubicBezTo>
                <a:cubicBezTo>
                  <a:pt x="98827" y="18109"/>
                  <a:pt x="97622" y="18071"/>
                  <a:pt x="96417" y="18071"/>
                </a:cubicBezTo>
                <a:cubicBezTo>
                  <a:pt x="60501" y="18071"/>
                  <a:pt x="30269" y="42241"/>
                  <a:pt x="21008" y="75183"/>
                </a:cubicBezTo>
                <a:close/>
                <a:moveTo>
                  <a:pt x="174688" y="96379"/>
                </a:moveTo>
                <a:cubicBezTo>
                  <a:pt x="174688" y="83353"/>
                  <a:pt x="171525" y="71080"/>
                  <a:pt x="165878" y="60312"/>
                </a:cubicBezTo>
                <a:cubicBezTo>
                  <a:pt x="163469" y="60651"/>
                  <a:pt x="161097" y="61781"/>
                  <a:pt x="159139" y="63738"/>
                </a:cubicBezTo>
                <a:lnTo>
                  <a:pt x="154094" y="68783"/>
                </a:lnTo>
                <a:cubicBezTo>
                  <a:pt x="151835" y="71042"/>
                  <a:pt x="150555" y="74092"/>
                  <a:pt x="150555" y="77292"/>
                </a:cubicBezTo>
                <a:lnTo>
                  <a:pt x="150555" y="90356"/>
                </a:lnTo>
                <a:cubicBezTo>
                  <a:pt x="150555" y="97019"/>
                  <a:pt x="155939" y="102403"/>
                  <a:pt x="162603" y="102403"/>
                </a:cubicBezTo>
                <a:lnTo>
                  <a:pt x="171676" y="102403"/>
                </a:lnTo>
                <a:cubicBezTo>
                  <a:pt x="172617" y="102403"/>
                  <a:pt x="173558" y="102290"/>
                  <a:pt x="174424" y="102102"/>
                </a:cubicBezTo>
                <a:cubicBezTo>
                  <a:pt x="174575" y="100220"/>
                  <a:pt x="174612" y="98300"/>
                  <a:pt x="174612" y="96379"/>
                </a:cubicBezTo>
                <a:close/>
                <a:moveTo>
                  <a:pt x="0" y="96379"/>
                </a:moveTo>
                <a:cubicBezTo>
                  <a:pt x="0" y="43186"/>
                  <a:pt x="43186" y="0"/>
                  <a:pt x="96379" y="0"/>
                </a:cubicBezTo>
                <a:cubicBezTo>
                  <a:pt x="149573" y="0"/>
                  <a:pt x="192759" y="43186"/>
                  <a:pt x="192759" y="96379"/>
                </a:cubicBezTo>
                <a:cubicBezTo>
                  <a:pt x="192759" y="149573"/>
                  <a:pt x="149573" y="192759"/>
                  <a:pt x="96379" y="192759"/>
                </a:cubicBezTo>
                <a:cubicBezTo>
                  <a:pt x="43186" y="192759"/>
                  <a:pt x="0" y="149573"/>
                  <a:pt x="0" y="96379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2" name="Text 20"/>
          <p:cNvSpPr/>
          <p:nvPr/>
        </p:nvSpPr>
        <p:spPr>
          <a:xfrm>
            <a:off x="8221167" y="1901890"/>
            <a:ext cx="3598166" cy="224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Reach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1167" y="2191028"/>
            <a:ext cx="3582103" cy="883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2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 applications worldwide</a:t>
            </a:r>
            <a:r>
              <a:rPr lang="en-US" sz="1012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minutes across multiple regions. Serve users from edge locations closest to them, reducing latency to single-digit milliseconds. AWS operates in </a:t>
            </a:r>
            <a:r>
              <a:rPr lang="en-US" sz="1012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38 geographic regions</a:t>
            </a:r>
            <a:r>
              <a:rPr lang="en-US" sz="1012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224380" y="3172491"/>
            <a:ext cx="3508212" cy="520449"/>
          </a:xfrm>
          <a:custGeom>
            <a:avLst/>
            <a:gdLst/>
            <a:ahLst/>
            <a:cxnLst/>
            <a:rect l="l" t="t" r="r" b="b"/>
            <a:pathLst>
              <a:path w="3508212" h="520449">
                <a:moveTo>
                  <a:pt x="64255" y="0"/>
                </a:moveTo>
                <a:lnTo>
                  <a:pt x="3443957" y="0"/>
                </a:lnTo>
                <a:cubicBezTo>
                  <a:pt x="3479444" y="0"/>
                  <a:pt x="3508212" y="28768"/>
                  <a:pt x="3508212" y="64255"/>
                </a:cubicBezTo>
                <a:lnTo>
                  <a:pt x="3508212" y="456194"/>
                </a:lnTo>
                <a:cubicBezTo>
                  <a:pt x="3508212" y="491681"/>
                  <a:pt x="3479444" y="520449"/>
                  <a:pt x="3443957" y="520449"/>
                </a:cubicBezTo>
                <a:lnTo>
                  <a:pt x="64255" y="520449"/>
                </a:lnTo>
                <a:cubicBezTo>
                  <a:pt x="28792" y="520449"/>
                  <a:pt x="0" y="491657"/>
                  <a:pt x="0" y="456194"/>
                </a:cubicBezTo>
                <a:lnTo>
                  <a:pt x="0" y="64255"/>
                </a:lnTo>
                <a:cubicBezTo>
                  <a:pt x="0" y="28792"/>
                  <a:pt x="28792" y="0"/>
                  <a:pt x="64255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23972" y="3272081"/>
            <a:ext cx="3365249" cy="321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Impact:</a:t>
            </a:r>
            <a:r>
              <a:rPr lang="en-US" sz="88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Global businesses provide consistent performance across continents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24477" y="3930675"/>
            <a:ext cx="3781287" cy="2600639"/>
          </a:xfrm>
          <a:custGeom>
            <a:avLst/>
            <a:gdLst/>
            <a:ahLst/>
            <a:cxnLst/>
            <a:rect l="l" t="t" r="r" b="b"/>
            <a:pathLst>
              <a:path w="3781287" h="2600639">
                <a:moveTo>
                  <a:pt x="96380" y="0"/>
                </a:moveTo>
                <a:lnTo>
                  <a:pt x="3684907" y="0"/>
                </a:lnTo>
                <a:cubicBezTo>
                  <a:pt x="3738136" y="0"/>
                  <a:pt x="3781287" y="43151"/>
                  <a:pt x="3781287" y="96380"/>
                </a:cubicBezTo>
                <a:lnTo>
                  <a:pt x="3781287" y="2504259"/>
                </a:lnTo>
                <a:cubicBezTo>
                  <a:pt x="3781287" y="2557488"/>
                  <a:pt x="3738136" y="2600639"/>
                  <a:pt x="3684907" y="2600639"/>
                </a:cubicBezTo>
                <a:lnTo>
                  <a:pt x="96380" y="2600639"/>
                </a:lnTo>
                <a:cubicBezTo>
                  <a:pt x="43151" y="2600639"/>
                  <a:pt x="0" y="2557488"/>
                  <a:pt x="0" y="2504259"/>
                </a:cubicBezTo>
                <a:lnTo>
                  <a:pt x="0" y="96380"/>
                </a:lnTo>
                <a:cubicBezTo>
                  <a:pt x="0" y="43151"/>
                  <a:pt x="43151" y="0"/>
                  <a:pt x="96380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6196" y="4062396"/>
            <a:ext cx="449771" cy="449771"/>
          </a:xfrm>
          <a:custGeom>
            <a:avLst/>
            <a:gdLst/>
            <a:ahLst/>
            <a:cxnLst/>
            <a:rect l="l" t="t" r="r" b="b"/>
            <a:pathLst>
              <a:path w="449771" h="449771">
                <a:moveTo>
                  <a:pt x="96381" y="0"/>
                </a:moveTo>
                <a:lnTo>
                  <a:pt x="353389" y="0"/>
                </a:lnTo>
                <a:cubicBezTo>
                  <a:pt x="406619" y="0"/>
                  <a:pt x="449771" y="43151"/>
                  <a:pt x="449771" y="96381"/>
                </a:cubicBezTo>
                <a:lnTo>
                  <a:pt x="449771" y="353389"/>
                </a:lnTo>
                <a:cubicBezTo>
                  <a:pt x="449771" y="406619"/>
                  <a:pt x="406619" y="449771"/>
                  <a:pt x="353389" y="449771"/>
                </a:cubicBezTo>
                <a:lnTo>
                  <a:pt x="96381" y="449771"/>
                </a:lnTo>
                <a:cubicBezTo>
                  <a:pt x="43151" y="449771"/>
                  <a:pt x="0" y="406619"/>
                  <a:pt x="0" y="353389"/>
                </a:cubicBezTo>
                <a:lnTo>
                  <a:pt x="0" y="96381"/>
                </a:lnTo>
                <a:cubicBezTo>
                  <a:pt x="0" y="43151"/>
                  <a:pt x="43151" y="0"/>
                  <a:pt x="9638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84702" y="4190902"/>
            <a:ext cx="192759" cy="192759"/>
          </a:xfrm>
          <a:custGeom>
            <a:avLst/>
            <a:gdLst/>
            <a:ahLst/>
            <a:cxnLst/>
            <a:rect l="l" t="t" r="r" b="b"/>
            <a:pathLst>
              <a:path w="192759" h="192759">
                <a:moveTo>
                  <a:pt x="96379" y="0"/>
                </a:moveTo>
                <a:cubicBezTo>
                  <a:pt x="98111" y="0"/>
                  <a:pt x="99843" y="376"/>
                  <a:pt x="101424" y="1092"/>
                </a:cubicBezTo>
                <a:lnTo>
                  <a:pt x="172354" y="31173"/>
                </a:lnTo>
                <a:cubicBezTo>
                  <a:pt x="180636" y="34674"/>
                  <a:pt x="186810" y="42844"/>
                  <a:pt x="186773" y="52708"/>
                </a:cubicBezTo>
                <a:cubicBezTo>
                  <a:pt x="186585" y="90055"/>
                  <a:pt x="171224" y="158386"/>
                  <a:pt x="106356" y="189446"/>
                </a:cubicBezTo>
                <a:cubicBezTo>
                  <a:pt x="100069" y="192458"/>
                  <a:pt x="92765" y="192458"/>
                  <a:pt x="86478" y="189446"/>
                </a:cubicBezTo>
                <a:cubicBezTo>
                  <a:pt x="21572" y="158386"/>
                  <a:pt x="6250" y="90055"/>
                  <a:pt x="6061" y="52708"/>
                </a:cubicBezTo>
                <a:cubicBezTo>
                  <a:pt x="6024" y="42844"/>
                  <a:pt x="12198" y="34674"/>
                  <a:pt x="20481" y="31173"/>
                </a:cubicBezTo>
                <a:lnTo>
                  <a:pt x="91372" y="1092"/>
                </a:lnTo>
                <a:cubicBezTo>
                  <a:pt x="92953" y="376"/>
                  <a:pt x="94648" y="0"/>
                  <a:pt x="96379" y="0"/>
                </a:cubicBezTo>
                <a:close/>
                <a:moveTo>
                  <a:pt x="96379" y="25149"/>
                </a:moveTo>
                <a:lnTo>
                  <a:pt x="96379" y="167497"/>
                </a:lnTo>
                <a:cubicBezTo>
                  <a:pt x="148334" y="142348"/>
                  <a:pt x="162301" y="86629"/>
                  <a:pt x="162640" y="53272"/>
                </a:cubicBezTo>
                <a:lnTo>
                  <a:pt x="96379" y="25187"/>
                </a:lnTo>
                <a:lnTo>
                  <a:pt x="96379" y="25187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9" name="Text 27"/>
          <p:cNvSpPr/>
          <p:nvPr/>
        </p:nvSpPr>
        <p:spPr>
          <a:xfrm>
            <a:off x="456196" y="4608546"/>
            <a:ext cx="3598166" cy="224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Availability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6196" y="4897685"/>
            <a:ext cx="3582103" cy="883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2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Built-in </a:t>
            </a:r>
            <a:r>
              <a:rPr lang="en-US" sz="1012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redundancy across multiple data centers</a:t>
            </a:r>
            <a:r>
              <a:rPr lang="en-US" sz="1012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(Availability Zones). Automatic failover ensures applications remain operational even during infrastructure failures. AWS guarantees </a:t>
            </a:r>
            <a:r>
              <a:rPr lang="en-US" sz="1012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99.99% uptime</a:t>
            </a:r>
            <a:r>
              <a:rPr lang="en-US" sz="1012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many services.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9409" y="5879147"/>
            <a:ext cx="3508212" cy="520449"/>
          </a:xfrm>
          <a:custGeom>
            <a:avLst/>
            <a:gdLst/>
            <a:ahLst/>
            <a:cxnLst/>
            <a:rect l="l" t="t" r="r" b="b"/>
            <a:pathLst>
              <a:path w="3508212" h="520449">
                <a:moveTo>
                  <a:pt x="64255" y="0"/>
                </a:moveTo>
                <a:lnTo>
                  <a:pt x="3443957" y="0"/>
                </a:lnTo>
                <a:cubicBezTo>
                  <a:pt x="3479444" y="0"/>
                  <a:pt x="3508212" y="28768"/>
                  <a:pt x="3508212" y="64255"/>
                </a:cubicBezTo>
                <a:lnTo>
                  <a:pt x="3508212" y="456194"/>
                </a:lnTo>
                <a:cubicBezTo>
                  <a:pt x="3508212" y="491681"/>
                  <a:pt x="3479444" y="520449"/>
                  <a:pt x="3443957" y="520449"/>
                </a:cubicBezTo>
                <a:lnTo>
                  <a:pt x="64255" y="520449"/>
                </a:lnTo>
                <a:cubicBezTo>
                  <a:pt x="28792" y="520449"/>
                  <a:pt x="0" y="491657"/>
                  <a:pt x="0" y="456194"/>
                </a:cubicBezTo>
                <a:lnTo>
                  <a:pt x="0" y="64255"/>
                </a:lnTo>
                <a:cubicBezTo>
                  <a:pt x="0" y="28792"/>
                  <a:pt x="28792" y="0"/>
                  <a:pt x="64255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9001" y="5978738"/>
            <a:ext cx="3365249" cy="321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Impact:</a:t>
            </a:r>
            <a:r>
              <a:rPr lang="en-US" sz="88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Mission-critical applications maintain continuous operation 24/7/365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206963" y="3930675"/>
            <a:ext cx="3781287" cy="2600639"/>
          </a:xfrm>
          <a:custGeom>
            <a:avLst/>
            <a:gdLst/>
            <a:ahLst/>
            <a:cxnLst/>
            <a:rect l="l" t="t" r="r" b="b"/>
            <a:pathLst>
              <a:path w="3781287" h="2600639">
                <a:moveTo>
                  <a:pt x="96380" y="0"/>
                </a:moveTo>
                <a:lnTo>
                  <a:pt x="3684907" y="0"/>
                </a:lnTo>
                <a:cubicBezTo>
                  <a:pt x="3738136" y="0"/>
                  <a:pt x="3781287" y="43151"/>
                  <a:pt x="3781287" y="96380"/>
                </a:cubicBezTo>
                <a:lnTo>
                  <a:pt x="3781287" y="2504259"/>
                </a:lnTo>
                <a:cubicBezTo>
                  <a:pt x="3781287" y="2557488"/>
                  <a:pt x="3738136" y="2600639"/>
                  <a:pt x="3684907" y="2600639"/>
                </a:cubicBezTo>
                <a:lnTo>
                  <a:pt x="96380" y="2600639"/>
                </a:lnTo>
                <a:cubicBezTo>
                  <a:pt x="43151" y="2600639"/>
                  <a:pt x="0" y="2557488"/>
                  <a:pt x="0" y="2504259"/>
                </a:cubicBezTo>
                <a:lnTo>
                  <a:pt x="0" y="96380"/>
                </a:lnTo>
                <a:cubicBezTo>
                  <a:pt x="0" y="43151"/>
                  <a:pt x="43151" y="0"/>
                  <a:pt x="96380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38682" y="4062396"/>
            <a:ext cx="449771" cy="449771"/>
          </a:xfrm>
          <a:custGeom>
            <a:avLst/>
            <a:gdLst/>
            <a:ahLst/>
            <a:cxnLst/>
            <a:rect l="l" t="t" r="r" b="b"/>
            <a:pathLst>
              <a:path w="449771" h="449771">
                <a:moveTo>
                  <a:pt x="96381" y="0"/>
                </a:moveTo>
                <a:lnTo>
                  <a:pt x="353389" y="0"/>
                </a:lnTo>
                <a:cubicBezTo>
                  <a:pt x="406619" y="0"/>
                  <a:pt x="449771" y="43151"/>
                  <a:pt x="449771" y="96381"/>
                </a:cubicBezTo>
                <a:lnTo>
                  <a:pt x="449771" y="353389"/>
                </a:lnTo>
                <a:cubicBezTo>
                  <a:pt x="449771" y="406619"/>
                  <a:pt x="406619" y="449771"/>
                  <a:pt x="353389" y="449771"/>
                </a:cubicBezTo>
                <a:lnTo>
                  <a:pt x="96381" y="449771"/>
                </a:lnTo>
                <a:cubicBezTo>
                  <a:pt x="43151" y="449771"/>
                  <a:pt x="0" y="406619"/>
                  <a:pt x="0" y="353389"/>
                </a:cubicBezTo>
                <a:lnTo>
                  <a:pt x="0" y="96381"/>
                </a:lnTo>
                <a:cubicBezTo>
                  <a:pt x="0" y="43151"/>
                  <a:pt x="43151" y="0"/>
                  <a:pt x="9638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467187" y="4190902"/>
            <a:ext cx="192759" cy="192759"/>
          </a:xfrm>
          <a:custGeom>
            <a:avLst/>
            <a:gdLst/>
            <a:ahLst/>
            <a:cxnLst/>
            <a:rect l="l" t="t" r="r" b="b"/>
            <a:pathLst>
              <a:path w="192759" h="192759">
                <a:moveTo>
                  <a:pt x="48190" y="120474"/>
                </a:moveTo>
                <a:lnTo>
                  <a:pt x="9224" y="120474"/>
                </a:lnTo>
                <a:cubicBezTo>
                  <a:pt x="-151" y="120474"/>
                  <a:pt x="-5911" y="110272"/>
                  <a:pt x="-1092" y="102215"/>
                </a:cubicBezTo>
                <a:lnTo>
                  <a:pt x="18824" y="69009"/>
                </a:lnTo>
                <a:cubicBezTo>
                  <a:pt x="22100" y="63550"/>
                  <a:pt x="27973" y="60237"/>
                  <a:pt x="34335" y="60237"/>
                </a:cubicBezTo>
                <a:lnTo>
                  <a:pt x="70101" y="60237"/>
                </a:lnTo>
                <a:cubicBezTo>
                  <a:pt x="98751" y="11709"/>
                  <a:pt x="141482" y="9261"/>
                  <a:pt x="170057" y="13440"/>
                </a:cubicBezTo>
                <a:cubicBezTo>
                  <a:pt x="174876" y="14156"/>
                  <a:pt x="178641" y="17921"/>
                  <a:pt x="179318" y="22702"/>
                </a:cubicBezTo>
                <a:cubicBezTo>
                  <a:pt x="183497" y="51277"/>
                  <a:pt x="181050" y="94008"/>
                  <a:pt x="132522" y="122658"/>
                </a:cubicBezTo>
                <a:lnTo>
                  <a:pt x="132522" y="158424"/>
                </a:lnTo>
                <a:cubicBezTo>
                  <a:pt x="132522" y="164786"/>
                  <a:pt x="129209" y="170659"/>
                  <a:pt x="123750" y="173935"/>
                </a:cubicBezTo>
                <a:lnTo>
                  <a:pt x="90544" y="193851"/>
                </a:lnTo>
                <a:cubicBezTo>
                  <a:pt x="82525" y="198670"/>
                  <a:pt x="72285" y="192872"/>
                  <a:pt x="72285" y="183535"/>
                </a:cubicBezTo>
                <a:lnTo>
                  <a:pt x="72285" y="144569"/>
                </a:lnTo>
                <a:cubicBezTo>
                  <a:pt x="72285" y="131279"/>
                  <a:pt x="61480" y="120474"/>
                  <a:pt x="48190" y="120474"/>
                </a:cubicBezTo>
                <a:lnTo>
                  <a:pt x="48152" y="120474"/>
                </a:lnTo>
                <a:close/>
                <a:moveTo>
                  <a:pt x="150593" y="60237"/>
                </a:moveTo>
                <a:cubicBezTo>
                  <a:pt x="150593" y="50263"/>
                  <a:pt x="142495" y="42166"/>
                  <a:pt x="132522" y="42166"/>
                </a:cubicBezTo>
                <a:cubicBezTo>
                  <a:pt x="122548" y="42166"/>
                  <a:pt x="114451" y="50263"/>
                  <a:pt x="114451" y="60237"/>
                </a:cubicBezTo>
                <a:cubicBezTo>
                  <a:pt x="114451" y="70211"/>
                  <a:pt x="122548" y="78308"/>
                  <a:pt x="132522" y="78308"/>
                </a:cubicBezTo>
                <a:cubicBezTo>
                  <a:pt x="142495" y="78308"/>
                  <a:pt x="150593" y="70211"/>
                  <a:pt x="150593" y="6023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6" name="Text 34"/>
          <p:cNvSpPr/>
          <p:nvPr/>
        </p:nvSpPr>
        <p:spPr>
          <a:xfrm>
            <a:off x="4338682" y="4608546"/>
            <a:ext cx="3598166" cy="224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Agility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338682" y="4897685"/>
            <a:ext cx="3582103" cy="883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2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Rapidly experiment and innovate</a:t>
            </a:r>
            <a:r>
              <a:rPr lang="en-US" sz="1012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without lengthy procurement cycles. Provision resources in minutes instead of weeks. Test new ideas quickly and fail fast at minimal cost.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341894" y="5879147"/>
            <a:ext cx="3508212" cy="520449"/>
          </a:xfrm>
          <a:custGeom>
            <a:avLst/>
            <a:gdLst/>
            <a:ahLst/>
            <a:cxnLst/>
            <a:rect l="l" t="t" r="r" b="b"/>
            <a:pathLst>
              <a:path w="3508212" h="520449">
                <a:moveTo>
                  <a:pt x="64255" y="0"/>
                </a:moveTo>
                <a:lnTo>
                  <a:pt x="3443957" y="0"/>
                </a:lnTo>
                <a:cubicBezTo>
                  <a:pt x="3479444" y="0"/>
                  <a:pt x="3508212" y="28768"/>
                  <a:pt x="3508212" y="64255"/>
                </a:cubicBezTo>
                <a:lnTo>
                  <a:pt x="3508212" y="456194"/>
                </a:lnTo>
                <a:cubicBezTo>
                  <a:pt x="3508212" y="491681"/>
                  <a:pt x="3479444" y="520449"/>
                  <a:pt x="3443957" y="520449"/>
                </a:cubicBezTo>
                <a:lnTo>
                  <a:pt x="64255" y="520449"/>
                </a:lnTo>
                <a:cubicBezTo>
                  <a:pt x="28792" y="520449"/>
                  <a:pt x="0" y="491657"/>
                  <a:pt x="0" y="456194"/>
                </a:cubicBezTo>
                <a:lnTo>
                  <a:pt x="0" y="64255"/>
                </a:lnTo>
                <a:cubicBezTo>
                  <a:pt x="0" y="28792"/>
                  <a:pt x="28792" y="0"/>
                  <a:pt x="64255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41486" y="5978738"/>
            <a:ext cx="3365249" cy="321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Impact:</a:t>
            </a:r>
            <a:r>
              <a:rPr lang="en-US" sz="88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Product teams iterate faster and bring innovations to market quicker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089448" y="3930675"/>
            <a:ext cx="3781287" cy="2600639"/>
          </a:xfrm>
          <a:custGeom>
            <a:avLst/>
            <a:gdLst/>
            <a:ahLst/>
            <a:cxnLst/>
            <a:rect l="l" t="t" r="r" b="b"/>
            <a:pathLst>
              <a:path w="3781287" h="2600639">
                <a:moveTo>
                  <a:pt x="96380" y="0"/>
                </a:moveTo>
                <a:lnTo>
                  <a:pt x="3684907" y="0"/>
                </a:lnTo>
                <a:cubicBezTo>
                  <a:pt x="3738136" y="0"/>
                  <a:pt x="3781287" y="43151"/>
                  <a:pt x="3781287" y="96380"/>
                </a:cubicBezTo>
                <a:lnTo>
                  <a:pt x="3781287" y="2504259"/>
                </a:lnTo>
                <a:cubicBezTo>
                  <a:pt x="3781287" y="2557488"/>
                  <a:pt x="3738136" y="2600639"/>
                  <a:pt x="3684907" y="2600639"/>
                </a:cubicBezTo>
                <a:lnTo>
                  <a:pt x="96380" y="2600639"/>
                </a:lnTo>
                <a:cubicBezTo>
                  <a:pt x="43151" y="2600639"/>
                  <a:pt x="0" y="2557488"/>
                  <a:pt x="0" y="2504259"/>
                </a:cubicBezTo>
                <a:lnTo>
                  <a:pt x="0" y="96380"/>
                </a:lnTo>
                <a:cubicBezTo>
                  <a:pt x="0" y="43151"/>
                  <a:pt x="43151" y="0"/>
                  <a:pt x="96380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21167" y="4062396"/>
            <a:ext cx="449771" cy="449771"/>
          </a:xfrm>
          <a:custGeom>
            <a:avLst/>
            <a:gdLst/>
            <a:ahLst/>
            <a:cxnLst/>
            <a:rect l="l" t="t" r="r" b="b"/>
            <a:pathLst>
              <a:path w="449771" h="449771">
                <a:moveTo>
                  <a:pt x="96381" y="0"/>
                </a:moveTo>
                <a:lnTo>
                  <a:pt x="353389" y="0"/>
                </a:lnTo>
                <a:cubicBezTo>
                  <a:pt x="406619" y="0"/>
                  <a:pt x="449771" y="43151"/>
                  <a:pt x="449771" y="96381"/>
                </a:cubicBezTo>
                <a:lnTo>
                  <a:pt x="449771" y="353389"/>
                </a:lnTo>
                <a:cubicBezTo>
                  <a:pt x="449771" y="406619"/>
                  <a:pt x="406619" y="449771"/>
                  <a:pt x="353389" y="449771"/>
                </a:cubicBezTo>
                <a:lnTo>
                  <a:pt x="96381" y="449771"/>
                </a:lnTo>
                <a:cubicBezTo>
                  <a:pt x="43151" y="449771"/>
                  <a:pt x="0" y="406619"/>
                  <a:pt x="0" y="353389"/>
                </a:cubicBezTo>
                <a:lnTo>
                  <a:pt x="0" y="96381"/>
                </a:lnTo>
                <a:cubicBezTo>
                  <a:pt x="0" y="43151"/>
                  <a:pt x="43151" y="0"/>
                  <a:pt x="9638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361720" y="4190902"/>
            <a:ext cx="168664" cy="192759"/>
          </a:xfrm>
          <a:custGeom>
            <a:avLst/>
            <a:gdLst/>
            <a:ahLst/>
            <a:cxnLst/>
            <a:rect l="l" t="t" r="r" b="b"/>
            <a:pathLst>
              <a:path w="168664" h="192759">
                <a:moveTo>
                  <a:pt x="12047" y="12047"/>
                </a:moveTo>
                <a:cubicBezTo>
                  <a:pt x="5384" y="12047"/>
                  <a:pt x="0" y="17431"/>
                  <a:pt x="0" y="24095"/>
                </a:cubicBezTo>
                <a:lnTo>
                  <a:pt x="0" y="60237"/>
                </a:lnTo>
                <a:cubicBezTo>
                  <a:pt x="0" y="66901"/>
                  <a:pt x="5384" y="72285"/>
                  <a:pt x="12047" y="72285"/>
                </a:cubicBezTo>
                <a:cubicBezTo>
                  <a:pt x="18711" y="72285"/>
                  <a:pt x="24095" y="66901"/>
                  <a:pt x="24095" y="60237"/>
                </a:cubicBezTo>
                <a:lnTo>
                  <a:pt x="24095" y="36142"/>
                </a:lnTo>
                <a:lnTo>
                  <a:pt x="48190" y="36142"/>
                </a:lnTo>
                <a:cubicBezTo>
                  <a:pt x="54853" y="36142"/>
                  <a:pt x="60237" y="30759"/>
                  <a:pt x="60237" y="24095"/>
                </a:cubicBezTo>
                <a:cubicBezTo>
                  <a:pt x="60237" y="17431"/>
                  <a:pt x="54853" y="12047"/>
                  <a:pt x="48190" y="12047"/>
                </a:cubicBezTo>
                <a:lnTo>
                  <a:pt x="12047" y="12047"/>
                </a:lnTo>
                <a:close/>
                <a:moveTo>
                  <a:pt x="24095" y="132522"/>
                </a:moveTo>
                <a:cubicBezTo>
                  <a:pt x="24095" y="125858"/>
                  <a:pt x="18711" y="120474"/>
                  <a:pt x="12047" y="120474"/>
                </a:cubicBezTo>
                <a:cubicBezTo>
                  <a:pt x="5384" y="120474"/>
                  <a:pt x="0" y="125858"/>
                  <a:pt x="0" y="132522"/>
                </a:cubicBezTo>
                <a:lnTo>
                  <a:pt x="0" y="168664"/>
                </a:lnTo>
                <a:cubicBezTo>
                  <a:pt x="0" y="175328"/>
                  <a:pt x="5384" y="180711"/>
                  <a:pt x="12047" y="180711"/>
                </a:cubicBezTo>
                <a:lnTo>
                  <a:pt x="48190" y="180711"/>
                </a:lnTo>
                <a:cubicBezTo>
                  <a:pt x="54853" y="180711"/>
                  <a:pt x="60237" y="175328"/>
                  <a:pt x="60237" y="168664"/>
                </a:cubicBezTo>
                <a:cubicBezTo>
                  <a:pt x="60237" y="162000"/>
                  <a:pt x="54853" y="156617"/>
                  <a:pt x="48190" y="156617"/>
                </a:cubicBezTo>
                <a:lnTo>
                  <a:pt x="24095" y="156617"/>
                </a:lnTo>
                <a:lnTo>
                  <a:pt x="24095" y="132522"/>
                </a:lnTo>
                <a:close/>
                <a:moveTo>
                  <a:pt x="120474" y="12047"/>
                </a:moveTo>
                <a:cubicBezTo>
                  <a:pt x="113811" y="12047"/>
                  <a:pt x="108427" y="17431"/>
                  <a:pt x="108427" y="24095"/>
                </a:cubicBezTo>
                <a:cubicBezTo>
                  <a:pt x="108427" y="30759"/>
                  <a:pt x="113811" y="36142"/>
                  <a:pt x="120474" y="36142"/>
                </a:cubicBezTo>
                <a:lnTo>
                  <a:pt x="144569" y="36142"/>
                </a:lnTo>
                <a:lnTo>
                  <a:pt x="144569" y="60237"/>
                </a:lnTo>
                <a:cubicBezTo>
                  <a:pt x="144569" y="66901"/>
                  <a:pt x="149953" y="72285"/>
                  <a:pt x="156617" y="72285"/>
                </a:cubicBezTo>
                <a:cubicBezTo>
                  <a:pt x="163280" y="72285"/>
                  <a:pt x="168664" y="66901"/>
                  <a:pt x="168664" y="60237"/>
                </a:cubicBezTo>
                <a:lnTo>
                  <a:pt x="168664" y="24095"/>
                </a:lnTo>
                <a:cubicBezTo>
                  <a:pt x="168664" y="17431"/>
                  <a:pt x="163280" y="12047"/>
                  <a:pt x="156617" y="12047"/>
                </a:cubicBezTo>
                <a:lnTo>
                  <a:pt x="120474" y="12047"/>
                </a:lnTo>
                <a:close/>
                <a:moveTo>
                  <a:pt x="168664" y="132522"/>
                </a:moveTo>
                <a:cubicBezTo>
                  <a:pt x="168664" y="125858"/>
                  <a:pt x="163280" y="120474"/>
                  <a:pt x="156617" y="120474"/>
                </a:cubicBezTo>
                <a:cubicBezTo>
                  <a:pt x="149953" y="120474"/>
                  <a:pt x="144569" y="125858"/>
                  <a:pt x="144569" y="132522"/>
                </a:cubicBezTo>
                <a:lnTo>
                  <a:pt x="144569" y="156617"/>
                </a:lnTo>
                <a:lnTo>
                  <a:pt x="120474" y="156617"/>
                </a:lnTo>
                <a:cubicBezTo>
                  <a:pt x="113811" y="156617"/>
                  <a:pt x="108427" y="162000"/>
                  <a:pt x="108427" y="168664"/>
                </a:cubicBezTo>
                <a:cubicBezTo>
                  <a:pt x="108427" y="175328"/>
                  <a:pt x="113811" y="180711"/>
                  <a:pt x="120474" y="180711"/>
                </a:cubicBezTo>
                <a:lnTo>
                  <a:pt x="156617" y="180711"/>
                </a:lnTo>
                <a:cubicBezTo>
                  <a:pt x="163280" y="180711"/>
                  <a:pt x="168664" y="175328"/>
                  <a:pt x="168664" y="168664"/>
                </a:cubicBezTo>
                <a:lnTo>
                  <a:pt x="168664" y="132522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3" name="Text 41"/>
          <p:cNvSpPr/>
          <p:nvPr/>
        </p:nvSpPr>
        <p:spPr>
          <a:xfrm>
            <a:off x="8221167" y="4608546"/>
            <a:ext cx="3598166" cy="224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Elasticity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221167" y="4897685"/>
            <a:ext cx="3582103" cy="883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2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Automatic scaling</a:t>
            </a:r>
            <a:r>
              <a:rPr lang="en-US" sz="1012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match workload fluctuations in real-time. Resources scale out during demand spikes and scale in during quiet periods without manual intervention. Optimize performance and cost simultaneously.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224380" y="5879147"/>
            <a:ext cx="3508212" cy="520449"/>
          </a:xfrm>
          <a:custGeom>
            <a:avLst/>
            <a:gdLst/>
            <a:ahLst/>
            <a:cxnLst/>
            <a:rect l="l" t="t" r="r" b="b"/>
            <a:pathLst>
              <a:path w="3508212" h="520449">
                <a:moveTo>
                  <a:pt x="64255" y="0"/>
                </a:moveTo>
                <a:lnTo>
                  <a:pt x="3443957" y="0"/>
                </a:lnTo>
                <a:cubicBezTo>
                  <a:pt x="3479444" y="0"/>
                  <a:pt x="3508212" y="28768"/>
                  <a:pt x="3508212" y="64255"/>
                </a:cubicBezTo>
                <a:lnTo>
                  <a:pt x="3508212" y="456194"/>
                </a:lnTo>
                <a:cubicBezTo>
                  <a:pt x="3508212" y="491681"/>
                  <a:pt x="3479444" y="520449"/>
                  <a:pt x="3443957" y="520449"/>
                </a:cubicBezTo>
                <a:lnTo>
                  <a:pt x="64255" y="520449"/>
                </a:lnTo>
                <a:cubicBezTo>
                  <a:pt x="28792" y="520449"/>
                  <a:pt x="0" y="491657"/>
                  <a:pt x="0" y="456194"/>
                </a:cubicBezTo>
                <a:lnTo>
                  <a:pt x="0" y="64255"/>
                </a:lnTo>
                <a:cubicBezTo>
                  <a:pt x="0" y="28792"/>
                  <a:pt x="28792" y="0"/>
                  <a:pt x="64255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23972" y="5978738"/>
            <a:ext cx="3365249" cy="321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Impact:</a:t>
            </a:r>
            <a:r>
              <a:rPr lang="en-US" sz="88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E-commerce sites handle Black Friday traffic without manual intervention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9175" y="369175"/>
            <a:ext cx="11518256" cy="184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7" b="1" kern="0" spc="5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02 • CLOUD ADVANTAGES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9175" y="627597"/>
            <a:ext cx="11619779" cy="369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1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Economics: CapEx vs OpEx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9175" y="1070607"/>
            <a:ext cx="11536715" cy="258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the fundamental economic shift from capital to operational expenditure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7634" y="1402864"/>
            <a:ext cx="5629917" cy="3876336"/>
          </a:xfrm>
          <a:custGeom>
            <a:avLst/>
            <a:gdLst/>
            <a:ahLst/>
            <a:cxnLst/>
            <a:rect l="l" t="t" r="r" b="b"/>
            <a:pathLst>
              <a:path w="5629917" h="3876336">
                <a:moveTo>
                  <a:pt x="36917" y="0"/>
                </a:moveTo>
                <a:lnTo>
                  <a:pt x="5519170" y="0"/>
                </a:lnTo>
                <a:cubicBezTo>
                  <a:pt x="5580334" y="0"/>
                  <a:pt x="5629917" y="49583"/>
                  <a:pt x="5629917" y="110747"/>
                </a:cubicBezTo>
                <a:lnTo>
                  <a:pt x="5629917" y="3765589"/>
                </a:lnTo>
                <a:cubicBezTo>
                  <a:pt x="5629917" y="3826753"/>
                  <a:pt x="5580334" y="3876336"/>
                  <a:pt x="5519170" y="3876336"/>
                </a:cubicBezTo>
                <a:lnTo>
                  <a:pt x="36917" y="3876336"/>
                </a:lnTo>
                <a:cubicBezTo>
                  <a:pt x="16529" y="3876336"/>
                  <a:pt x="0" y="3859808"/>
                  <a:pt x="0" y="3839419"/>
                </a:cubicBezTo>
                <a:lnTo>
                  <a:pt x="0" y="36917"/>
                </a:lnTo>
                <a:cubicBezTo>
                  <a:pt x="0" y="16529"/>
                  <a:pt x="16529" y="0"/>
                  <a:pt x="36917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6" name="Shape 4"/>
          <p:cNvSpPr/>
          <p:nvPr/>
        </p:nvSpPr>
        <p:spPr>
          <a:xfrm>
            <a:off x="387634" y="1402864"/>
            <a:ext cx="36917" cy="3876336"/>
          </a:xfrm>
          <a:custGeom>
            <a:avLst/>
            <a:gdLst/>
            <a:ahLst/>
            <a:cxnLst/>
            <a:rect l="l" t="t" r="r" b="b"/>
            <a:pathLst>
              <a:path w="36917" h="3876336">
                <a:moveTo>
                  <a:pt x="36917" y="0"/>
                </a:moveTo>
                <a:lnTo>
                  <a:pt x="36917" y="0"/>
                </a:lnTo>
                <a:lnTo>
                  <a:pt x="36917" y="3876336"/>
                </a:lnTo>
                <a:lnTo>
                  <a:pt x="36917" y="3876336"/>
                </a:lnTo>
                <a:cubicBezTo>
                  <a:pt x="16529" y="3876336"/>
                  <a:pt x="0" y="3859808"/>
                  <a:pt x="0" y="3839419"/>
                </a:cubicBezTo>
                <a:lnTo>
                  <a:pt x="0" y="36917"/>
                </a:lnTo>
                <a:cubicBezTo>
                  <a:pt x="0" y="16542"/>
                  <a:pt x="16542" y="0"/>
                  <a:pt x="36917" y="0"/>
                </a:cubicBezTo>
                <a:close/>
              </a:path>
            </a:pathLst>
          </a:custGeom>
          <a:solidFill>
            <a:srgbClr val="8F8F8F"/>
          </a:solidFill>
          <a:ln/>
        </p:spPr>
      </p:sp>
      <p:sp>
        <p:nvSpPr>
          <p:cNvPr id="7" name="Shape 5"/>
          <p:cNvSpPr/>
          <p:nvPr/>
        </p:nvSpPr>
        <p:spPr>
          <a:xfrm>
            <a:off x="553762" y="1550534"/>
            <a:ext cx="516845" cy="516845"/>
          </a:xfrm>
          <a:custGeom>
            <a:avLst/>
            <a:gdLst/>
            <a:ahLst/>
            <a:cxnLst/>
            <a:rect l="l" t="t" r="r" b="b"/>
            <a:pathLst>
              <a:path w="516845" h="516845">
                <a:moveTo>
                  <a:pt x="110755" y="0"/>
                </a:moveTo>
                <a:lnTo>
                  <a:pt x="406090" y="0"/>
                </a:lnTo>
                <a:cubicBezTo>
                  <a:pt x="467258" y="0"/>
                  <a:pt x="516845" y="49587"/>
                  <a:pt x="516845" y="110755"/>
                </a:cubicBezTo>
                <a:lnTo>
                  <a:pt x="516845" y="406090"/>
                </a:lnTo>
                <a:cubicBezTo>
                  <a:pt x="516845" y="467258"/>
                  <a:pt x="467258" y="516845"/>
                  <a:pt x="406090" y="516845"/>
                </a:cubicBezTo>
                <a:lnTo>
                  <a:pt x="110755" y="516845"/>
                </a:lnTo>
                <a:cubicBezTo>
                  <a:pt x="49587" y="516845"/>
                  <a:pt x="0" y="467258"/>
                  <a:pt x="0" y="406090"/>
                </a:cubicBezTo>
                <a:lnTo>
                  <a:pt x="0" y="110755"/>
                </a:lnTo>
                <a:cubicBezTo>
                  <a:pt x="0" y="49587"/>
                  <a:pt x="49587" y="0"/>
                  <a:pt x="110755" y="0"/>
                </a:cubicBezTo>
                <a:close/>
              </a:path>
            </a:pathLst>
          </a:custGeom>
          <a:solidFill>
            <a:srgbClr val="8F8F8F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29120" y="1698204"/>
            <a:ext cx="166129" cy="221505"/>
          </a:xfrm>
          <a:custGeom>
            <a:avLst/>
            <a:gdLst/>
            <a:ahLst/>
            <a:cxnLst/>
            <a:rect l="l" t="t" r="r" b="b"/>
            <a:pathLst>
              <a:path w="166129" h="221505">
                <a:moveTo>
                  <a:pt x="27688" y="0"/>
                </a:moveTo>
                <a:cubicBezTo>
                  <a:pt x="12416" y="0"/>
                  <a:pt x="0" y="12416"/>
                  <a:pt x="0" y="27688"/>
                </a:cubicBezTo>
                <a:lnTo>
                  <a:pt x="0" y="193817"/>
                </a:lnTo>
                <a:cubicBezTo>
                  <a:pt x="0" y="209089"/>
                  <a:pt x="12416" y="221505"/>
                  <a:pt x="27688" y="221505"/>
                </a:cubicBezTo>
                <a:lnTo>
                  <a:pt x="138441" y="221505"/>
                </a:lnTo>
                <a:cubicBezTo>
                  <a:pt x="153712" y="221505"/>
                  <a:pt x="166129" y="209089"/>
                  <a:pt x="166129" y="193817"/>
                </a:cubicBezTo>
                <a:lnTo>
                  <a:pt x="166129" y="27688"/>
                </a:lnTo>
                <a:cubicBezTo>
                  <a:pt x="166129" y="12416"/>
                  <a:pt x="153712" y="0"/>
                  <a:pt x="138441" y="0"/>
                </a:cubicBezTo>
                <a:lnTo>
                  <a:pt x="27688" y="0"/>
                </a:lnTo>
                <a:close/>
                <a:moveTo>
                  <a:pt x="76142" y="152285"/>
                </a:moveTo>
                <a:lnTo>
                  <a:pt x="89986" y="152285"/>
                </a:lnTo>
                <a:cubicBezTo>
                  <a:pt x="97644" y="152285"/>
                  <a:pt x="103830" y="158471"/>
                  <a:pt x="103830" y="166129"/>
                </a:cubicBezTo>
                <a:lnTo>
                  <a:pt x="103830" y="200739"/>
                </a:lnTo>
                <a:lnTo>
                  <a:pt x="62298" y="200739"/>
                </a:lnTo>
                <a:lnTo>
                  <a:pt x="62298" y="166129"/>
                </a:lnTo>
                <a:cubicBezTo>
                  <a:pt x="62298" y="158471"/>
                  <a:pt x="68485" y="152285"/>
                  <a:pt x="76142" y="152285"/>
                </a:cubicBezTo>
                <a:close/>
                <a:moveTo>
                  <a:pt x="41532" y="48454"/>
                </a:moveTo>
                <a:cubicBezTo>
                  <a:pt x="41532" y="44647"/>
                  <a:pt x="44647" y="41532"/>
                  <a:pt x="48454" y="41532"/>
                </a:cubicBezTo>
                <a:lnTo>
                  <a:pt x="62298" y="41532"/>
                </a:lnTo>
                <a:cubicBezTo>
                  <a:pt x="66105" y="41532"/>
                  <a:pt x="69220" y="44647"/>
                  <a:pt x="69220" y="48454"/>
                </a:cubicBezTo>
                <a:lnTo>
                  <a:pt x="69220" y="62298"/>
                </a:lnTo>
                <a:cubicBezTo>
                  <a:pt x="69220" y="66105"/>
                  <a:pt x="66105" y="69220"/>
                  <a:pt x="62298" y="69220"/>
                </a:cubicBezTo>
                <a:lnTo>
                  <a:pt x="48454" y="69220"/>
                </a:lnTo>
                <a:cubicBezTo>
                  <a:pt x="44647" y="69220"/>
                  <a:pt x="41532" y="66105"/>
                  <a:pt x="41532" y="62298"/>
                </a:cubicBezTo>
                <a:lnTo>
                  <a:pt x="41532" y="48454"/>
                </a:lnTo>
                <a:close/>
                <a:moveTo>
                  <a:pt x="103830" y="41532"/>
                </a:moveTo>
                <a:lnTo>
                  <a:pt x="117674" y="41532"/>
                </a:lnTo>
                <a:cubicBezTo>
                  <a:pt x="121482" y="41532"/>
                  <a:pt x="124597" y="44647"/>
                  <a:pt x="124597" y="48454"/>
                </a:cubicBezTo>
                <a:lnTo>
                  <a:pt x="124597" y="62298"/>
                </a:lnTo>
                <a:cubicBezTo>
                  <a:pt x="124597" y="66105"/>
                  <a:pt x="121482" y="69220"/>
                  <a:pt x="117674" y="69220"/>
                </a:cubicBezTo>
                <a:lnTo>
                  <a:pt x="103830" y="69220"/>
                </a:lnTo>
                <a:cubicBezTo>
                  <a:pt x="100023" y="69220"/>
                  <a:pt x="96908" y="66105"/>
                  <a:pt x="96908" y="62298"/>
                </a:cubicBezTo>
                <a:lnTo>
                  <a:pt x="96908" y="48454"/>
                </a:lnTo>
                <a:cubicBezTo>
                  <a:pt x="96908" y="44647"/>
                  <a:pt x="100023" y="41532"/>
                  <a:pt x="103830" y="41532"/>
                </a:cubicBezTo>
                <a:close/>
                <a:moveTo>
                  <a:pt x="41532" y="103830"/>
                </a:moveTo>
                <a:cubicBezTo>
                  <a:pt x="41532" y="100023"/>
                  <a:pt x="44647" y="96908"/>
                  <a:pt x="48454" y="96908"/>
                </a:cubicBezTo>
                <a:lnTo>
                  <a:pt x="62298" y="96908"/>
                </a:lnTo>
                <a:cubicBezTo>
                  <a:pt x="66105" y="96908"/>
                  <a:pt x="69220" y="100023"/>
                  <a:pt x="69220" y="103830"/>
                </a:cubicBezTo>
                <a:lnTo>
                  <a:pt x="69220" y="117674"/>
                </a:lnTo>
                <a:cubicBezTo>
                  <a:pt x="69220" y="121482"/>
                  <a:pt x="66105" y="124597"/>
                  <a:pt x="62298" y="124597"/>
                </a:cubicBezTo>
                <a:lnTo>
                  <a:pt x="48454" y="124597"/>
                </a:lnTo>
                <a:cubicBezTo>
                  <a:pt x="44647" y="124597"/>
                  <a:pt x="41532" y="121482"/>
                  <a:pt x="41532" y="117674"/>
                </a:cubicBezTo>
                <a:lnTo>
                  <a:pt x="41532" y="103830"/>
                </a:lnTo>
                <a:close/>
                <a:moveTo>
                  <a:pt x="103830" y="96908"/>
                </a:moveTo>
                <a:lnTo>
                  <a:pt x="117674" y="96908"/>
                </a:lnTo>
                <a:cubicBezTo>
                  <a:pt x="121482" y="96908"/>
                  <a:pt x="124597" y="100023"/>
                  <a:pt x="124597" y="103830"/>
                </a:cubicBezTo>
                <a:lnTo>
                  <a:pt x="124597" y="117674"/>
                </a:lnTo>
                <a:cubicBezTo>
                  <a:pt x="124597" y="121482"/>
                  <a:pt x="121482" y="124597"/>
                  <a:pt x="117674" y="124597"/>
                </a:cubicBezTo>
                <a:lnTo>
                  <a:pt x="103830" y="124597"/>
                </a:lnTo>
                <a:cubicBezTo>
                  <a:pt x="100023" y="124597"/>
                  <a:pt x="96908" y="121482"/>
                  <a:pt x="96908" y="117674"/>
                </a:cubicBezTo>
                <a:lnTo>
                  <a:pt x="96908" y="103830"/>
                </a:lnTo>
                <a:cubicBezTo>
                  <a:pt x="96908" y="100023"/>
                  <a:pt x="100023" y="96908"/>
                  <a:pt x="103830" y="96908"/>
                </a:cubicBezTo>
                <a:close/>
              </a:path>
            </a:pathLst>
          </a:custGeom>
          <a:solidFill>
            <a:srgbClr val="8F8F8F"/>
          </a:solidFill>
          <a:ln/>
        </p:spPr>
      </p:sp>
      <p:sp>
        <p:nvSpPr>
          <p:cNvPr id="9" name="Text 7"/>
          <p:cNvSpPr/>
          <p:nvPr/>
        </p:nvSpPr>
        <p:spPr>
          <a:xfrm>
            <a:off x="1181360" y="1550534"/>
            <a:ext cx="2473472" cy="29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4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Traditional On-Premises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1360" y="1845762"/>
            <a:ext cx="2436554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Capital Expenditure (CapEx) Model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7606" y="2215049"/>
            <a:ext cx="147670" cy="147670"/>
          </a:xfrm>
          <a:custGeom>
            <a:avLst/>
            <a:gdLst/>
            <a:ahLst/>
            <a:cxnLst/>
            <a:rect l="l" t="t" r="r" b="b"/>
            <a:pathLst>
              <a:path w="147670" h="147670">
                <a:moveTo>
                  <a:pt x="73835" y="147670"/>
                </a:moveTo>
                <a:cubicBezTo>
                  <a:pt x="114586" y="147670"/>
                  <a:pt x="147670" y="114586"/>
                  <a:pt x="147670" y="73835"/>
                </a:cubicBezTo>
                <a:cubicBezTo>
                  <a:pt x="147670" y="33084"/>
                  <a:pt x="114586" y="0"/>
                  <a:pt x="73835" y="0"/>
                </a:cubicBezTo>
                <a:cubicBezTo>
                  <a:pt x="33084" y="0"/>
                  <a:pt x="0" y="33084"/>
                  <a:pt x="0" y="73835"/>
                </a:cubicBezTo>
                <a:cubicBezTo>
                  <a:pt x="0" y="114586"/>
                  <a:pt x="33084" y="147670"/>
                  <a:pt x="73835" y="147670"/>
                </a:cubicBezTo>
                <a:close/>
                <a:moveTo>
                  <a:pt x="48166" y="48166"/>
                </a:moveTo>
                <a:cubicBezTo>
                  <a:pt x="50877" y="45455"/>
                  <a:pt x="55261" y="45455"/>
                  <a:pt x="57943" y="48166"/>
                </a:cubicBezTo>
                <a:lnTo>
                  <a:pt x="73806" y="64029"/>
                </a:lnTo>
                <a:lnTo>
                  <a:pt x="89669" y="48166"/>
                </a:lnTo>
                <a:cubicBezTo>
                  <a:pt x="92380" y="45455"/>
                  <a:pt x="96764" y="45455"/>
                  <a:pt x="99446" y="48166"/>
                </a:cubicBezTo>
                <a:cubicBezTo>
                  <a:pt x="102129" y="50877"/>
                  <a:pt x="102158" y="55261"/>
                  <a:pt x="99446" y="57943"/>
                </a:cubicBezTo>
                <a:lnTo>
                  <a:pt x="83583" y="73806"/>
                </a:lnTo>
                <a:lnTo>
                  <a:pt x="99446" y="89669"/>
                </a:lnTo>
                <a:cubicBezTo>
                  <a:pt x="102158" y="92380"/>
                  <a:pt x="102158" y="96764"/>
                  <a:pt x="99446" y="99446"/>
                </a:cubicBezTo>
                <a:cubicBezTo>
                  <a:pt x="96735" y="102129"/>
                  <a:pt x="92351" y="102158"/>
                  <a:pt x="89669" y="99446"/>
                </a:cubicBezTo>
                <a:lnTo>
                  <a:pt x="73806" y="83583"/>
                </a:lnTo>
                <a:lnTo>
                  <a:pt x="57943" y="99446"/>
                </a:lnTo>
                <a:cubicBezTo>
                  <a:pt x="55232" y="102158"/>
                  <a:pt x="50848" y="102158"/>
                  <a:pt x="48166" y="99446"/>
                </a:cubicBezTo>
                <a:cubicBezTo>
                  <a:pt x="45483" y="96735"/>
                  <a:pt x="45455" y="92351"/>
                  <a:pt x="48166" y="89669"/>
                </a:cubicBezTo>
                <a:lnTo>
                  <a:pt x="64029" y="73806"/>
                </a:lnTo>
                <a:lnTo>
                  <a:pt x="48166" y="57943"/>
                </a:lnTo>
                <a:cubicBezTo>
                  <a:pt x="45455" y="55232"/>
                  <a:pt x="45455" y="50848"/>
                  <a:pt x="48166" y="48166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2" name="Text 10"/>
          <p:cNvSpPr/>
          <p:nvPr/>
        </p:nvSpPr>
        <p:spPr>
          <a:xfrm>
            <a:off x="838373" y="2178132"/>
            <a:ext cx="5113072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Upfront Hardware Investment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8373" y="2399637"/>
            <a:ext cx="5113072" cy="443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Purchase servers, storage, networking equipment—often $100K+ initial investment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2221" y="2953399"/>
            <a:ext cx="147670" cy="147670"/>
          </a:xfrm>
          <a:custGeom>
            <a:avLst/>
            <a:gdLst/>
            <a:ahLst/>
            <a:cxnLst/>
            <a:rect l="l" t="t" r="r" b="b"/>
            <a:pathLst>
              <a:path w="147670" h="147670">
                <a:moveTo>
                  <a:pt x="73835" y="147670"/>
                </a:moveTo>
                <a:cubicBezTo>
                  <a:pt x="114586" y="147670"/>
                  <a:pt x="147670" y="114586"/>
                  <a:pt x="147670" y="73835"/>
                </a:cubicBezTo>
                <a:cubicBezTo>
                  <a:pt x="147670" y="33084"/>
                  <a:pt x="114586" y="0"/>
                  <a:pt x="73835" y="0"/>
                </a:cubicBezTo>
                <a:cubicBezTo>
                  <a:pt x="33084" y="0"/>
                  <a:pt x="0" y="33084"/>
                  <a:pt x="0" y="73835"/>
                </a:cubicBezTo>
                <a:cubicBezTo>
                  <a:pt x="0" y="114586"/>
                  <a:pt x="33084" y="147670"/>
                  <a:pt x="73835" y="147670"/>
                </a:cubicBezTo>
                <a:close/>
                <a:moveTo>
                  <a:pt x="48166" y="48166"/>
                </a:moveTo>
                <a:cubicBezTo>
                  <a:pt x="50877" y="45455"/>
                  <a:pt x="55261" y="45455"/>
                  <a:pt x="57943" y="48166"/>
                </a:cubicBezTo>
                <a:lnTo>
                  <a:pt x="73806" y="64029"/>
                </a:lnTo>
                <a:lnTo>
                  <a:pt x="89669" y="48166"/>
                </a:lnTo>
                <a:cubicBezTo>
                  <a:pt x="92380" y="45455"/>
                  <a:pt x="96764" y="45455"/>
                  <a:pt x="99446" y="48166"/>
                </a:cubicBezTo>
                <a:cubicBezTo>
                  <a:pt x="102129" y="50877"/>
                  <a:pt x="102158" y="55261"/>
                  <a:pt x="99446" y="57943"/>
                </a:cubicBezTo>
                <a:lnTo>
                  <a:pt x="83583" y="73806"/>
                </a:lnTo>
                <a:lnTo>
                  <a:pt x="99446" y="89669"/>
                </a:lnTo>
                <a:cubicBezTo>
                  <a:pt x="102158" y="92380"/>
                  <a:pt x="102158" y="96764"/>
                  <a:pt x="99446" y="99446"/>
                </a:cubicBezTo>
                <a:cubicBezTo>
                  <a:pt x="96735" y="102129"/>
                  <a:pt x="92351" y="102158"/>
                  <a:pt x="89669" y="99446"/>
                </a:cubicBezTo>
                <a:lnTo>
                  <a:pt x="73806" y="83583"/>
                </a:lnTo>
                <a:lnTo>
                  <a:pt x="57943" y="99446"/>
                </a:lnTo>
                <a:cubicBezTo>
                  <a:pt x="55232" y="102158"/>
                  <a:pt x="50848" y="102158"/>
                  <a:pt x="48166" y="99446"/>
                </a:cubicBezTo>
                <a:cubicBezTo>
                  <a:pt x="45483" y="96735"/>
                  <a:pt x="45455" y="92351"/>
                  <a:pt x="48166" y="89669"/>
                </a:cubicBezTo>
                <a:lnTo>
                  <a:pt x="64029" y="73806"/>
                </a:lnTo>
                <a:lnTo>
                  <a:pt x="48166" y="57943"/>
                </a:lnTo>
                <a:cubicBezTo>
                  <a:pt x="45455" y="55232"/>
                  <a:pt x="45455" y="50848"/>
                  <a:pt x="48166" y="48166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5" name="Text 13"/>
          <p:cNvSpPr/>
          <p:nvPr/>
        </p:nvSpPr>
        <p:spPr>
          <a:xfrm>
            <a:off x="849102" y="2916481"/>
            <a:ext cx="4642374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Center Costs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9102" y="3137986"/>
            <a:ext cx="4642374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Facility space, power, cooling, physical security, and maintenance staff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2221" y="3470244"/>
            <a:ext cx="147670" cy="147670"/>
          </a:xfrm>
          <a:custGeom>
            <a:avLst/>
            <a:gdLst/>
            <a:ahLst/>
            <a:cxnLst/>
            <a:rect l="l" t="t" r="r" b="b"/>
            <a:pathLst>
              <a:path w="147670" h="147670">
                <a:moveTo>
                  <a:pt x="73835" y="147670"/>
                </a:moveTo>
                <a:cubicBezTo>
                  <a:pt x="114586" y="147670"/>
                  <a:pt x="147670" y="114586"/>
                  <a:pt x="147670" y="73835"/>
                </a:cubicBezTo>
                <a:cubicBezTo>
                  <a:pt x="147670" y="33084"/>
                  <a:pt x="114586" y="0"/>
                  <a:pt x="73835" y="0"/>
                </a:cubicBezTo>
                <a:cubicBezTo>
                  <a:pt x="33084" y="0"/>
                  <a:pt x="0" y="33084"/>
                  <a:pt x="0" y="73835"/>
                </a:cubicBezTo>
                <a:cubicBezTo>
                  <a:pt x="0" y="114586"/>
                  <a:pt x="33084" y="147670"/>
                  <a:pt x="73835" y="147670"/>
                </a:cubicBezTo>
                <a:close/>
                <a:moveTo>
                  <a:pt x="48166" y="48166"/>
                </a:moveTo>
                <a:cubicBezTo>
                  <a:pt x="50877" y="45455"/>
                  <a:pt x="55261" y="45455"/>
                  <a:pt x="57943" y="48166"/>
                </a:cubicBezTo>
                <a:lnTo>
                  <a:pt x="73806" y="64029"/>
                </a:lnTo>
                <a:lnTo>
                  <a:pt x="89669" y="48166"/>
                </a:lnTo>
                <a:cubicBezTo>
                  <a:pt x="92380" y="45455"/>
                  <a:pt x="96764" y="45455"/>
                  <a:pt x="99446" y="48166"/>
                </a:cubicBezTo>
                <a:cubicBezTo>
                  <a:pt x="102129" y="50877"/>
                  <a:pt x="102158" y="55261"/>
                  <a:pt x="99446" y="57943"/>
                </a:cubicBezTo>
                <a:lnTo>
                  <a:pt x="83583" y="73806"/>
                </a:lnTo>
                <a:lnTo>
                  <a:pt x="99446" y="89669"/>
                </a:lnTo>
                <a:cubicBezTo>
                  <a:pt x="102158" y="92380"/>
                  <a:pt x="102158" y="96764"/>
                  <a:pt x="99446" y="99446"/>
                </a:cubicBezTo>
                <a:cubicBezTo>
                  <a:pt x="96735" y="102129"/>
                  <a:pt x="92351" y="102158"/>
                  <a:pt x="89669" y="99446"/>
                </a:cubicBezTo>
                <a:lnTo>
                  <a:pt x="73806" y="83583"/>
                </a:lnTo>
                <a:lnTo>
                  <a:pt x="57943" y="99446"/>
                </a:lnTo>
                <a:cubicBezTo>
                  <a:pt x="55232" y="102158"/>
                  <a:pt x="50848" y="102158"/>
                  <a:pt x="48166" y="99446"/>
                </a:cubicBezTo>
                <a:cubicBezTo>
                  <a:pt x="45483" y="96735"/>
                  <a:pt x="45455" y="92351"/>
                  <a:pt x="48166" y="89669"/>
                </a:cubicBezTo>
                <a:lnTo>
                  <a:pt x="64029" y="73806"/>
                </a:lnTo>
                <a:lnTo>
                  <a:pt x="48166" y="57943"/>
                </a:lnTo>
                <a:cubicBezTo>
                  <a:pt x="45455" y="55232"/>
                  <a:pt x="45455" y="50848"/>
                  <a:pt x="48166" y="48166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8" name="Text 16"/>
          <p:cNvSpPr/>
          <p:nvPr/>
        </p:nvSpPr>
        <p:spPr>
          <a:xfrm>
            <a:off x="849102" y="3433326"/>
            <a:ext cx="4993090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Over-Provisioning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9102" y="3654831"/>
            <a:ext cx="4993090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Must buy capacity for peak usage, leaving resources idle 70-80% of the time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2221" y="3987089"/>
            <a:ext cx="147670" cy="147670"/>
          </a:xfrm>
          <a:custGeom>
            <a:avLst/>
            <a:gdLst/>
            <a:ahLst/>
            <a:cxnLst/>
            <a:rect l="l" t="t" r="r" b="b"/>
            <a:pathLst>
              <a:path w="147670" h="147670">
                <a:moveTo>
                  <a:pt x="73835" y="147670"/>
                </a:moveTo>
                <a:cubicBezTo>
                  <a:pt x="114586" y="147670"/>
                  <a:pt x="147670" y="114586"/>
                  <a:pt x="147670" y="73835"/>
                </a:cubicBezTo>
                <a:cubicBezTo>
                  <a:pt x="147670" y="33084"/>
                  <a:pt x="114586" y="0"/>
                  <a:pt x="73835" y="0"/>
                </a:cubicBezTo>
                <a:cubicBezTo>
                  <a:pt x="33084" y="0"/>
                  <a:pt x="0" y="33084"/>
                  <a:pt x="0" y="73835"/>
                </a:cubicBezTo>
                <a:cubicBezTo>
                  <a:pt x="0" y="114586"/>
                  <a:pt x="33084" y="147670"/>
                  <a:pt x="73835" y="147670"/>
                </a:cubicBezTo>
                <a:close/>
                <a:moveTo>
                  <a:pt x="48166" y="48166"/>
                </a:moveTo>
                <a:cubicBezTo>
                  <a:pt x="50877" y="45455"/>
                  <a:pt x="55261" y="45455"/>
                  <a:pt x="57943" y="48166"/>
                </a:cubicBezTo>
                <a:lnTo>
                  <a:pt x="73806" y="64029"/>
                </a:lnTo>
                <a:lnTo>
                  <a:pt x="89669" y="48166"/>
                </a:lnTo>
                <a:cubicBezTo>
                  <a:pt x="92380" y="45455"/>
                  <a:pt x="96764" y="45455"/>
                  <a:pt x="99446" y="48166"/>
                </a:cubicBezTo>
                <a:cubicBezTo>
                  <a:pt x="102129" y="50877"/>
                  <a:pt x="102158" y="55261"/>
                  <a:pt x="99446" y="57943"/>
                </a:cubicBezTo>
                <a:lnTo>
                  <a:pt x="83583" y="73806"/>
                </a:lnTo>
                <a:lnTo>
                  <a:pt x="99446" y="89669"/>
                </a:lnTo>
                <a:cubicBezTo>
                  <a:pt x="102158" y="92380"/>
                  <a:pt x="102158" y="96764"/>
                  <a:pt x="99446" y="99446"/>
                </a:cubicBezTo>
                <a:cubicBezTo>
                  <a:pt x="96735" y="102129"/>
                  <a:pt x="92351" y="102158"/>
                  <a:pt x="89669" y="99446"/>
                </a:cubicBezTo>
                <a:lnTo>
                  <a:pt x="73806" y="83583"/>
                </a:lnTo>
                <a:lnTo>
                  <a:pt x="57943" y="99446"/>
                </a:lnTo>
                <a:cubicBezTo>
                  <a:pt x="55232" y="102158"/>
                  <a:pt x="50848" y="102158"/>
                  <a:pt x="48166" y="99446"/>
                </a:cubicBezTo>
                <a:cubicBezTo>
                  <a:pt x="45483" y="96735"/>
                  <a:pt x="45455" y="92351"/>
                  <a:pt x="48166" y="89669"/>
                </a:cubicBezTo>
                <a:lnTo>
                  <a:pt x="64029" y="73806"/>
                </a:lnTo>
                <a:lnTo>
                  <a:pt x="48166" y="57943"/>
                </a:lnTo>
                <a:cubicBezTo>
                  <a:pt x="45455" y="55232"/>
                  <a:pt x="45455" y="50848"/>
                  <a:pt x="48166" y="48166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21" name="Text 19"/>
          <p:cNvSpPr/>
          <p:nvPr/>
        </p:nvSpPr>
        <p:spPr>
          <a:xfrm>
            <a:off x="849102" y="3950171"/>
            <a:ext cx="4983861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Depreciation &amp; Obsolescence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9102" y="4171676"/>
            <a:ext cx="4983861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Hardware depreciates over 3-5 years and becomes technologically obsolete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72221" y="4503933"/>
            <a:ext cx="147670" cy="147670"/>
          </a:xfrm>
          <a:custGeom>
            <a:avLst/>
            <a:gdLst/>
            <a:ahLst/>
            <a:cxnLst/>
            <a:rect l="l" t="t" r="r" b="b"/>
            <a:pathLst>
              <a:path w="147670" h="147670">
                <a:moveTo>
                  <a:pt x="73835" y="147670"/>
                </a:moveTo>
                <a:cubicBezTo>
                  <a:pt x="114586" y="147670"/>
                  <a:pt x="147670" y="114586"/>
                  <a:pt x="147670" y="73835"/>
                </a:cubicBezTo>
                <a:cubicBezTo>
                  <a:pt x="147670" y="33084"/>
                  <a:pt x="114586" y="0"/>
                  <a:pt x="73835" y="0"/>
                </a:cubicBezTo>
                <a:cubicBezTo>
                  <a:pt x="33084" y="0"/>
                  <a:pt x="0" y="33084"/>
                  <a:pt x="0" y="73835"/>
                </a:cubicBezTo>
                <a:cubicBezTo>
                  <a:pt x="0" y="114586"/>
                  <a:pt x="33084" y="147670"/>
                  <a:pt x="73835" y="147670"/>
                </a:cubicBezTo>
                <a:close/>
                <a:moveTo>
                  <a:pt x="48166" y="48166"/>
                </a:moveTo>
                <a:cubicBezTo>
                  <a:pt x="50877" y="45455"/>
                  <a:pt x="55261" y="45455"/>
                  <a:pt x="57943" y="48166"/>
                </a:cubicBezTo>
                <a:lnTo>
                  <a:pt x="73806" y="64029"/>
                </a:lnTo>
                <a:lnTo>
                  <a:pt x="89669" y="48166"/>
                </a:lnTo>
                <a:cubicBezTo>
                  <a:pt x="92380" y="45455"/>
                  <a:pt x="96764" y="45455"/>
                  <a:pt x="99446" y="48166"/>
                </a:cubicBezTo>
                <a:cubicBezTo>
                  <a:pt x="102129" y="50877"/>
                  <a:pt x="102158" y="55261"/>
                  <a:pt x="99446" y="57943"/>
                </a:cubicBezTo>
                <a:lnTo>
                  <a:pt x="83583" y="73806"/>
                </a:lnTo>
                <a:lnTo>
                  <a:pt x="99446" y="89669"/>
                </a:lnTo>
                <a:cubicBezTo>
                  <a:pt x="102158" y="92380"/>
                  <a:pt x="102158" y="96764"/>
                  <a:pt x="99446" y="99446"/>
                </a:cubicBezTo>
                <a:cubicBezTo>
                  <a:pt x="96735" y="102129"/>
                  <a:pt x="92351" y="102158"/>
                  <a:pt x="89669" y="99446"/>
                </a:cubicBezTo>
                <a:lnTo>
                  <a:pt x="73806" y="83583"/>
                </a:lnTo>
                <a:lnTo>
                  <a:pt x="57943" y="99446"/>
                </a:lnTo>
                <a:cubicBezTo>
                  <a:pt x="55232" y="102158"/>
                  <a:pt x="50848" y="102158"/>
                  <a:pt x="48166" y="99446"/>
                </a:cubicBezTo>
                <a:cubicBezTo>
                  <a:pt x="45483" y="96735"/>
                  <a:pt x="45455" y="92351"/>
                  <a:pt x="48166" y="89669"/>
                </a:cubicBezTo>
                <a:lnTo>
                  <a:pt x="64029" y="73806"/>
                </a:lnTo>
                <a:lnTo>
                  <a:pt x="48166" y="57943"/>
                </a:lnTo>
                <a:cubicBezTo>
                  <a:pt x="45455" y="55232"/>
                  <a:pt x="45455" y="50848"/>
                  <a:pt x="48166" y="48166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24" name="Text 22"/>
          <p:cNvSpPr/>
          <p:nvPr/>
        </p:nvSpPr>
        <p:spPr>
          <a:xfrm>
            <a:off x="849102" y="4467016"/>
            <a:ext cx="4005547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Long Procurement Cycles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49102" y="4688521"/>
            <a:ext cx="4005547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Weeks or months to order, receive, and deploy new hardware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72867" y="5393645"/>
            <a:ext cx="5646530" cy="450393"/>
          </a:xfrm>
          <a:custGeom>
            <a:avLst/>
            <a:gdLst/>
            <a:ahLst/>
            <a:cxnLst/>
            <a:rect l="l" t="t" r="r" b="b"/>
            <a:pathLst>
              <a:path w="5646530" h="450393">
                <a:moveTo>
                  <a:pt x="110752" y="0"/>
                </a:moveTo>
                <a:lnTo>
                  <a:pt x="5535778" y="0"/>
                </a:lnTo>
                <a:cubicBezTo>
                  <a:pt x="5596944" y="0"/>
                  <a:pt x="5646530" y="49585"/>
                  <a:pt x="5646530" y="110752"/>
                </a:cubicBezTo>
                <a:lnTo>
                  <a:pt x="5646530" y="339642"/>
                </a:lnTo>
                <a:cubicBezTo>
                  <a:pt x="5646530" y="400808"/>
                  <a:pt x="5596944" y="450393"/>
                  <a:pt x="5535778" y="450393"/>
                </a:cubicBezTo>
                <a:lnTo>
                  <a:pt x="110752" y="450393"/>
                </a:lnTo>
                <a:cubicBezTo>
                  <a:pt x="49626" y="450393"/>
                  <a:pt x="0" y="400767"/>
                  <a:pt x="0" y="339642"/>
                </a:cubicBezTo>
                <a:lnTo>
                  <a:pt x="0" y="110752"/>
                </a:lnTo>
                <a:cubicBezTo>
                  <a:pt x="0" y="49626"/>
                  <a:pt x="49626" y="0"/>
                  <a:pt x="110752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4228" y="5537623"/>
            <a:ext cx="110752" cy="147670"/>
          </a:xfrm>
          <a:custGeom>
            <a:avLst/>
            <a:gdLst/>
            <a:ahLst/>
            <a:cxnLst/>
            <a:rect l="l" t="t" r="r" b="b"/>
            <a:pathLst>
              <a:path w="110752" h="147670">
                <a:moveTo>
                  <a:pt x="18459" y="0"/>
                </a:moveTo>
                <a:cubicBezTo>
                  <a:pt x="8278" y="0"/>
                  <a:pt x="0" y="8278"/>
                  <a:pt x="0" y="18459"/>
                </a:cubicBezTo>
                <a:lnTo>
                  <a:pt x="0" y="129211"/>
                </a:lnTo>
                <a:cubicBezTo>
                  <a:pt x="0" y="139392"/>
                  <a:pt x="8278" y="147670"/>
                  <a:pt x="18459" y="147670"/>
                </a:cubicBezTo>
                <a:lnTo>
                  <a:pt x="92294" y="147670"/>
                </a:lnTo>
                <a:cubicBezTo>
                  <a:pt x="102475" y="147670"/>
                  <a:pt x="110752" y="139392"/>
                  <a:pt x="110752" y="129211"/>
                </a:cubicBezTo>
                <a:lnTo>
                  <a:pt x="110752" y="18459"/>
                </a:lnTo>
                <a:cubicBezTo>
                  <a:pt x="110752" y="8278"/>
                  <a:pt x="102475" y="0"/>
                  <a:pt x="92294" y="0"/>
                </a:cubicBezTo>
                <a:lnTo>
                  <a:pt x="18459" y="0"/>
                </a:lnTo>
                <a:close/>
                <a:moveTo>
                  <a:pt x="27688" y="18459"/>
                </a:moveTo>
                <a:lnTo>
                  <a:pt x="83064" y="18459"/>
                </a:lnTo>
                <a:cubicBezTo>
                  <a:pt x="88169" y="18459"/>
                  <a:pt x="92294" y="22583"/>
                  <a:pt x="92294" y="27688"/>
                </a:cubicBezTo>
                <a:lnTo>
                  <a:pt x="92294" y="36917"/>
                </a:lnTo>
                <a:cubicBezTo>
                  <a:pt x="92294" y="42022"/>
                  <a:pt x="88169" y="46147"/>
                  <a:pt x="83064" y="46147"/>
                </a:cubicBezTo>
                <a:lnTo>
                  <a:pt x="27688" y="46147"/>
                </a:lnTo>
                <a:cubicBezTo>
                  <a:pt x="22583" y="46147"/>
                  <a:pt x="18459" y="42022"/>
                  <a:pt x="18459" y="36917"/>
                </a:cubicBezTo>
                <a:lnTo>
                  <a:pt x="18459" y="27688"/>
                </a:lnTo>
                <a:cubicBezTo>
                  <a:pt x="18459" y="22583"/>
                  <a:pt x="22583" y="18459"/>
                  <a:pt x="27688" y="18459"/>
                </a:cubicBezTo>
                <a:close/>
                <a:moveTo>
                  <a:pt x="32303" y="66913"/>
                </a:moveTo>
                <a:cubicBezTo>
                  <a:pt x="32303" y="70733"/>
                  <a:pt x="29201" y="73835"/>
                  <a:pt x="25381" y="73835"/>
                </a:cubicBezTo>
                <a:cubicBezTo>
                  <a:pt x="21560" y="73835"/>
                  <a:pt x="18459" y="70733"/>
                  <a:pt x="18459" y="66913"/>
                </a:cubicBezTo>
                <a:cubicBezTo>
                  <a:pt x="18459" y="63093"/>
                  <a:pt x="21560" y="59991"/>
                  <a:pt x="25381" y="59991"/>
                </a:cubicBezTo>
                <a:cubicBezTo>
                  <a:pt x="29201" y="59991"/>
                  <a:pt x="32303" y="63093"/>
                  <a:pt x="32303" y="66913"/>
                </a:cubicBezTo>
                <a:close/>
                <a:moveTo>
                  <a:pt x="55376" y="73835"/>
                </a:moveTo>
                <a:cubicBezTo>
                  <a:pt x="51556" y="73835"/>
                  <a:pt x="48454" y="70733"/>
                  <a:pt x="48454" y="66913"/>
                </a:cubicBezTo>
                <a:cubicBezTo>
                  <a:pt x="48454" y="63093"/>
                  <a:pt x="51556" y="59991"/>
                  <a:pt x="55376" y="59991"/>
                </a:cubicBezTo>
                <a:cubicBezTo>
                  <a:pt x="59197" y="59991"/>
                  <a:pt x="62298" y="63093"/>
                  <a:pt x="62298" y="66913"/>
                </a:cubicBezTo>
                <a:cubicBezTo>
                  <a:pt x="62298" y="70733"/>
                  <a:pt x="59197" y="73835"/>
                  <a:pt x="55376" y="73835"/>
                </a:cubicBezTo>
                <a:close/>
                <a:moveTo>
                  <a:pt x="92294" y="66913"/>
                </a:moveTo>
                <a:cubicBezTo>
                  <a:pt x="92294" y="70733"/>
                  <a:pt x="89192" y="73835"/>
                  <a:pt x="85372" y="73835"/>
                </a:cubicBezTo>
                <a:cubicBezTo>
                  <a:pt x="81551" y="73835"/>
                  <a:pt x="78450" y="70733"/>
                  <a:pt x="78450" y="66913"/>
                </a:cubicBezTo>
                <a:cubicBezTo>
                  <a:pt x="78450" y="63093"/>
                  <a:pt x="81551" y="59991"/>
                  <a:pt x="85372" y="59991"/>
                </a:cubicBezTo>
                <a:cubicBezTo>
                  <a:pt x="89192" y="59991"/>
                  <a:pt x="92294" y="63093"/>
                  <a:pt x="92294" y="66913"/>
                </a:cubicBezTo>
                <a:close/>
                <a:moveTo>
                  <a:pt x="25381" y="101523"/>
                </a:moveTo>
                <a:cubicBezTo>
                  <a:pt x="21560" y="101523"/>
                  <a:pt x="18459" y="98421"/>
                  <a:pt x="18459" y="94601"/>
                </a:cubicBezTo>
                <a:cubicBezTo>
                  <a:pt x="18459" y="90781"/>
                  <a:pt x="21560" y="87679"/>
                  <a:pt x="25381" y="87679"/>
                </a:cubicBezTo>
                <a:cubicBezTo>
                  <a:pt x="29201" y="87679"/>
                  <a:pt x="32303" y="90781"/>
                  <a:pt x="32303" y="94601"/>
                </a:cubicBezTo>
                <a:cubicBezTo>
                  <a:pt x="32303" y="98421"/>
                  <a:pt x="29201" y="101523"/>
                  <a:pt x="25381" y="101523"/>
                </a:cubicBezTo>
                <a:close/>
                <a:moveTo>
                  <a:pt x="62298" y="94601"/>
                </a:moveTo>
                <a:cubicBezTo>
                  <a:pt x="62298" y="98421"/>
                  <a:pt x="59197" y="101523"/>
                  <a:pt x="55376" y="101523"/>
                </a:cubicBezTo>
                <a:cubicBezTo>
                  <a:pt x="51556" y="101523"/>
                  <a:pt x="48454" y="98421"/>
                  <a:pt x="48454" y="94601"/>
                </a:cubicBezTo>
                <a:cubicBezTo>
                  <a:pt x="48454" y="90781"/>
                  <a:pt x="51556" y="87679"/>
                  <a:pt x="55376" y="87679"/>
                </a:cubicBezTo>
                <a:cubicBezTo>
                  <a:pt x="59197" y="87679"/>
                  <a:pt x="62298" y="90781"/>
                  <a:pt x="62298" y="94601"/>
                </a:cubicBezTo>
                <a:close/>
                <a:moveTo>
                  <a:pt x="85372" y="101523"/>
                </a:moveTo>
                <a:cubicBezTo>
                  <a:pt x="81551" y="101523"/>
                  <a:pt x="78450" y="98421"/>
                  <a:pt x="78450" y="94601"/>
                </a:cubicBezTo>
                <a:cubicBezTo>
                  <a:pt x="78450" y="90781"/>
                  <a:pt x="81551" y="87679"/>
                  <a:pt x="85372" y="87679"/>
                </a:cubicBezTo>
                <a:cubicBezTo>
                  <a:pt x="89192" y="87679"/>
                  <a:pt x="92294" y="90781"/>
                  <a:pt x="92294" y="94601"/>
                </a:cubicBezTo>
                <a:cubicBezTo>
                  <a:pt x="92294" y="98421"/>
                  <a:pt x="89192" y="101523"/>
                  <a:pt x="85372" y="101523"/>
                </a:cubicBezTo>
                <a:close/>
                <a:moveTo>
                  <a:pt x="18459" y="122289"/>
                </a:moveTo>
                <a:cubicBezTo>
                  <a:pt x="18459" y="118453"/>
                  <a:pt x="21545" y="115367"/>
                  <a:pt x="25381" y="115367"/>
                </a:cubicBezTo>
                <a:lnTo>
                  <a:pt x="57684" y="115367"/>
                </a:lnTo>
                <a:cubicBezTo>
                  <a:pt x="61520" y="115367"/>
                  <a:pt x="64606" y="118453"/>
                  <a:pt x="64606" y="122289"/>
                </a:cubicBezTo>
                <a:cubicBezTo>
                  <a:pt x="64606" y="126125"/>
                  <a:pt x="61520" y="129211"/>
                  <a:pt x="57684" y="129211"/>
                </a:cubicBezTo>
                <a:lnTo>
                  <a:pt x="25381" y="129211"/>
                </a:lnTo>
                <a:cubicBezTo>
                  <a:pt x="21545" y="129211"/>
                  <a:pt x="18459" y="126125"/>
                  <a:pt x="18459" y="122289"/>
                </a:cubicBezTo>
                <a:close/>
                <a:moveTo>
                  <a:pt x="85372" y="115367"/>
                </a:moveTo>
                <a:cubicBezTo>
                  <a:pt x="89208" y="115367"/>
                  <a:pt x="92294" y="118453"/>
                  <a:pt x="92294" y="122289"/>
                </a:cubicBezTo>
                <a:cubicBezTo>
                  <a:pt x="92294" y="126125"/>
                  <a:pt x="89208" y="129211"/>
                  <a:pt x="85372" y="129211"/>
                </a:cubicBezTo>
                <a:cubicBezTo>
                  <a:pt x="81536" y="129211"/>
                  <a:pt x="78450" y="126125"/>
                  <a:pt x="78450" y="122289"/>
                </a:cubicBezTo>
                <a:cubicBezTo>
                  <a:pt x="78450" y="118453"/>
                  <a:pt x="81536" y="115367"/>
                  <a:pt x="85372" y="115367"/>
                </a:cubicBezTo>
                <a:close/>
              </a:path>
            </a:pathLst>
          </a:custGeom>
          <a:solidFill>
            <a:srgbClr val="8F8F8F"/>
          </a:solidFill>
          <a:ln/>
        </p:spPr>
      </p:sp>
      <p:sp>
        <p:nvSpPr>
          <p:cNvPr id="28" name="Text 26"/>
          <p:cNvSpPr/>
          <p:nvPr/>
        </p:nvSpPr>
        <p:spPr>
          <a:xfrm>
            <a:off x="725556" y="5508092"/>
            <a:ext cx="5253231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Typical Cost Structure:</a:t>
            </a:r>
            <a:r>
              <a:rPr lang="en-US" sz="116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70% CapEx (upfront) + 30% OpEx (ongoing)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87717" y="1402864"/>
            <a:ext cx="5629917" cy="3876336"/>
          </a:xfrm>
          <a:custGeom>
            <a:avLst/>
            <a:gdLst/>
            <a:ahLst/>
            <a:cxnLst/>
            <a:rect l="l" t="t" r="r" b="b"/>
            <a:pathLst>
              <a:path w="5629917" h="3876336">
                <a:moveTo>
                  <a:pt x="36917" y="0"/>
                </a:moveTo>
                <a:lnTo>
                  <a:pt x="5519170" y="0"/>
                </a:lnTo>
                <a:cubicBezTo>
                  <a:pt x="5580334" y="0"/>
                  <a:pt x="5629917" y="49583"/>
                  <a:pt x="5629917" y="110747"/>
                </a:cubicBezTo>
                <a:lnTo>
                  <a:pt x="5629917" y="3765589"/>
                </a:lnTo>
                <a:cubicBezTo>
                  <a:pt x="5629917" y="3826753"/>
                  <a:pt x="5580334" y="3876336"/>
                  <a:pt x="5519170" y="3876336"/>
                </a:cubicBezTo>
                <a:lnTo>
                  <a:pt x="36917" y="3876336"/>
                </a:lnTo>
                <a:cubicBezTo>
                  <a:pt x="16529" y="3876336"/>
                  <a:pt x="0" y="3859808"/>
                  <a:pt x="0" y="3839419"/>
                </a:cubicBezTo>
                <a:lnTo>
                  <a:pt x="0" y="36917"/>
                </a:lnTo>
                <a:cubicBezTo>
                  <a:pt x="0" y="16529"/>
                  <a:pt x="16529" y="0"/>
                  <a:pt x="36917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30" name="Shape 28"/>
          <p:cNvSpPr/>
          <p:nvPr/>
        </p:nvSpPr>
        <p:spPr>
          <a:xfrm>
            <a:off x="6187717" y="1402864"/>
            <a:ext cx="36917" cy="3876336"/>
          </a:xfrm>
          <a:custGeom>
            <a:avLst/>
            <a:gdLst/>
            <a:ahLst/>
            <a:cxnLst/>
            <a:rect l="l" t="t" r="r" b="b"/>
            <a:pathLst>
              <a:path w="36917" h="3876336">
                <a:moveTo>
                  <a:pt x="36917" y="0"/>
                </a:moveTo>
                <a:lnTo>
                  <a:pt x="36917" y="0"/>
                </a:lnTo>
                <a:lnTo>
                  <a:pt x="36917" y="3876336"/>
                </a:lnTo>
                <a:lnTo>
                  <a:pt x="36917" y="3876336"/>
                </a:lnTo>
                <a:cubicBezTo>
                  <a:pt x="16529" y="3876336"/>
                  <a:pt x="0" y="3859808"/>
                  <a:pt x="0" y="3839419"/>
                </a:cubicBezTo>
                <a:lnTo>
                  <a:pt x="0" y="36917"/>
                </a:lnTo>
                <a:cubicBezTo>
                  <a:pt x="0" y="16542"/>
                  <a:pt x="16542" y="0"/>
                  <a:pt x="36917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1" name="Shape 29"/>
          <p:cNvSpPr/>
          <p:nvPr/>
        </p:nvSpPr>
        <p:spPr>
          <a:xfrm>
            <a:off x="6353846" y="1550534"/>
            <a:ext cx="516845" cy="516845"/>
          </a:xfrm>
          <a:custGeom>
            <a:avLst/>
            <a:gdLst/>
            <a:ahLst/>
            <a:cxnLst/>
            <a:rect l="l" t="t" r="r" b="b"/>
            <a:pathLst>
              <a:path w="516845" h="516845">
                <a:moveTo>
                  <a:pt x="110755" y="0"/>
                </a:moveTo>
                <a:lnTo>
                  <a:pt x="406090" y="0"/>
                </a:lnTo>
                <a:cubicBezTo>
                  <a:pt x="467258" y="0"/>
                  <a:pt x="516845" y="49587"/>
                  <a:pt x="516845" y="110755"/>
                </a:cubicBezTo>
                <a:lnTo>
                  <a:pt x="516845" y="406090"/>
                </a:lnTo>
                <a:cubicBezTo>
                  <a:pt x="516845" y="467258"/>
                  <a:pt x="467258" y="516845"/>
                  <a:pt x="406090" y="516845"/>
                </a:cubicBezTo>
                <a:lnTo>
                  <a:pt x="110755" y="516845"/>
                </a:lnTo>
                <a:cubicBezTo>
                  <a:pt x="49587" y="516845"/>
                  <a:pt x="0" y="467258"/>
                  <a:pt x="0" y="406090"/>
                </a:cubicBezTo>
                <a:lnTo>
                  <a:pt x="0" y="110755"/>
                </a:lnTo>
                <a:cubicBezTo>
                  <a:pt x="0" y="49587"/>
                  <a:pt x="49587" y="0"/>
                  <a:pt x="110755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487671" y="1698204"/>
            <a:ext cx="249193" cy="221505"/>
          </a:xfrm>
          <a:custGeom>
            <a:avLst/>
            <a:gdLst/>
            <a:ahLst/>
            <a:cxnLst/>
            <a:rect l="l" t="t" r="r" b="b"/>
            <a:pathLst>
              <a:path w="249193" h="221505">
                <a:moveTo>
                  <a:pt x="0" y="145363"/>
                </a:moveTo>
                <a:cubicBezTo>
                  <a:pt x="0" y="179756"/>
                  <a:pt x="27904" y="207661"/>
                  <a:pt x="62298" y="207661"/>
                </a:cubicBezTo>
                <a:lnTo>
                  <a:pt x="193817" y="207661"/>
                </a:lnTo>
                <a:cubicBezTo>
                  <a:pt x="224404" y="207661"/>
                  <a:pt x="249193" y="182871"/>
                  <a:pt x="249193" y="152285"/>
                </a:cubicBezTo>
                <a:cubicBezTo>
                  <a:pt x="249193" y="129961"/>
                  <a:pt x="235998" y="110709"/>
                  <a:pt x="216962" y="101970"/>
                </a:cubicBezTo>
                <a:cubicBezTo>
                  <a:pt x="219861" y="96303"/>
                  <a:pt x="221505" y="89857"/>
                  <a:pt x="221505" y="83064"/>
                </a:cubicBezTo>
                <a:cubicBezTo>
                  <a:pt x="221505" y="60135"/>
                  <a:pt x="202902" y="41532"/>
                  <a:pt x="179973" y="41532"/>
                </a:cubicBezTo>
                <a:cubicBezTo>
                  <a:pt x="172315" y="41532"/>
                  <a:pt x="165177" y="43609"/>
                  <a:pt x="159034" y="47200"/>
                </a:cubicBezTo>
                <a:cubicBezTo>
                  <a:pt x="148607" y="27385"/>
                  <a:pt x="127798" y="13844"/>
                  <a:pt x="103830" y="13844"/>
                </a:cubicBezTo>
                <a:cubicBezTo>
                  <a:pt x="69437" y="13844"/>
                  <a:pt x="41532" y="41748"/>
                  <a:pt x="41532" y="76142"/>
                </a:cubicBezTo>
                <a:cubicBezTo>
                  <a:pt x="41532" y="79603"/>
                  <a:pt x="41835" y="83021"/>
                  <a:pt x="42354" y="86309"/>
                </a:cubicBezTo>
                <a:cubicBezTo>
                  <a:pt x="17738" y="94615"/>
                  <a:pt x="0" y="117934"/>
                  <a:pt x="0" y="14536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3" name="Text 31"/>
          <p:cNvSpPr/>
          <p:nvPr/>
        </p:nvSpPr>
        <p:spPr>
          <a:xfrm>
            <a:off x="6981443" y="1550534"/>
            <a:ext cx="2621142" cy="29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4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Computing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81443" y="1845762"/>
            <a:ext cx="2584224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Operational Expenditure (OpEx) Model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67690" y="2215049"/>
            <a:ext cx="147670" cy="147670"/>
          </a:xfrm>
          <a:custGeom>
            <a:avLst/>
            <a:gdLst/>
            <a:ahLst/>
            <a:cxnLst/>
            <a:rect l="l" t="t" r="r" b="b"/>
            <a:pathLst>
              <a:path w="147670" h="147670">
                <a:moveTo>
                  <a:pt x="73835" y="147670"/>
                </a:moveTo>
                <a:cubicBezTo>
                  <a:pt x="114586" y="147670"/>
                  <a:pt x="147670" y="114586"/>
                  <a:pt x="147670" y="73835"/>
                </a:cubicBezTo>
                <a:cubicBezTo>
                  <a:pt x="147670" y="33084"/>
                  <a:pt x="114586" y="0"/>
                  <a:pt x="73835" y="0"/>
                </a:cubicBezTo>
                <a:cubicBezTo>
                  <a:pt x="33084" y="0"/>
                  <a:pt x="0" y="33084"/>
                  <a:pt x="0" y="73835"/>
                </a:cubicBezTo>
                <a:cubicBezTo>
                  <a:pt x="0" y="114586"/>
                  <a:pt x="33084" y="147670"/>
                  <a:pt x="73835" y="147670"/>
                </a:cubicBezTo>
                <a:close/>
                <a:moveTo>
                  <a:pt x="98177" y="61346"/>
                </a:moveTo>
                <a:lnTo>
                  <a:pt x="75104" y="98264"/>
                </a:lnTo>
                <a:cubicBezTo>
                  <a:pt x="73893" y="100196"/>
                  <a:pt x="71816" y="101408"/>
                  <a:pt x="69538" y="101523"/>
                </a:cubicBezTo>
                <a:cubicBezTo>
                  <a:pt x="67259" y="101638"/>
                  <a:pt x="65067" y="100600"/>
                  <a:pt x="63712" y="98754"/>
                </a:cubicBezTo>
                <a:lnTo>
                  <a:pt x="49867" y="80296"/>
                </a:lnTo>
                <a:cubicBezTo>
                  <a:pt x="47560" y="77238"/>
                  <a:pt x="48195" y="72912"/>
                  <a:pt x="51252" y="70605"/>
                </a:cubicBezTo>
                <a:cubicBezTo>
                  <a:pt x="54309" y="68297"/>
                  <a:pt x="58635" y="68932"/>
                  <a:pt x="60943" y="71989"/>
                </a:cubicBezTo>
                <a:lnTo>
                  <a:pt x="68730" y="82372"/>
                </a:lnTo>
                <a:lnTo>
                  <a:pt x="86439" y="54021"/>
                </a:lnTo>
                <a:cubicBezTo>
                  <a:pt x="88458" y="50790"/>
                  <a:pt x="92726" y="49781"/>
                  <a:pt x="95985" y="51829"/>
                </a:cubicBezTo>
                <a:cubicBezTo>
                  <a:pt x="99245" y="53876"/>
                  <a:pt x="100225" y="58116"/>
                  <a:pt x="98177" y="6137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6" name="Text 34"/>
          <p:cNvSpPr/>
          <p:nvPr/>
        </p:nvSpPr>
        <p:spPr>
          <a:xfrm>
            <a:off x="6637187" y="2178132"/>
            <a:ext cx="5113072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Pay-as-You-Go Pricing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637187" y="2399637"/>
            <a:ext cx="5113072" cy="443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 only for resources consumed, billed by the second or hour with no upfront costs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63075" y="2953399"/>
            <a:ext cx="147670" cy="147670"/>
          </a:xfrm>
          <a:custGeom>
            <a:avLst/>
            <a:gdLst/>
            <a:ahLst/>
            <a:cxnLst/>
            <a:rect l="l" t="t" r="r" b="b"/>
            <a:pathLst>
              <a:path w="147670" h="147670">
                <a:moveTo>
                  <a:pt x="73835" y="147670"/>
                </a:moveTo>
                <a:cubicBezTo>
                  <a:pt x="114586" y="147670"/>
                  <a:pt x="147670" y="114586"/>
                  <a:pt x="147670" y="73835"/>
                </a:cubicBezTo>
                <a:cubicBezTo>
                  <a:pt x="147670" y="33084"/>
                  <a:pt x="114586" y="0"/>
                  <a:pt x="73835" y="0"/>
                </a:cubicBezTo>
                <a:cubicBezTo>
                  <a:pt x="33084" y="0"/>
                  <a:pt x="0" y="33084"/>
                  <a:pt x="0" y="73835"/>
                </a:cubicBezTo>
                <a:cubicBezTo>
                  <a:pt x="0" y="114586"/>
                  <a:pt x="33084" y="147670"/>
                  <a:pt x="73835" y="147670"/>
                </a:cubicBezTo>
                <a:close/>
                <a:moveTo>
                  <a:pt x="98177" y="61346"/>
                </a:moveTo>
                <a:lnTo>
                  <a:pt x="75104" y="98264"/>
                </a:lnTo>
                <a:cubicBezTo>
                  <a:pt x="73893" y="100196"/>
                  <a:pt x="71816" y="101408"/>
                  <a:pt x="69538" y="101523"/>
                </a:cubicBezTo>
                <a:cubicBezTo>
                  <a:pt x="67259" y="101638"/>
                  <a:pt x="65067" y="100600"/>
                  <a:pt x="63712" y="98754"/>
                </a:cubicBezTo>
                <a:lnTo>
                  <a:pt x="49867" y="80296"/>
                </a:lnTo>
                <a:cubicBezTo>
                  <a:pt x="47560" y="77238"/>
                  <a:pt x="48195" y="72912"/>
                  <a:pt x="51252" y="70605"/>
                </a:cubicBezTo>
                <a:cubicBezTo>
                  <a:pt x="54309" y="68297"/>
                  <a:pt x="58635" y="68932"/>
                  <a:pt x="60943" y="71989"/>
                </a:cubicBezTo>
                <a:lnTo>
                  <a:pt x="68730" y="82372"/>
                </a:lnTo>
                <a:lnTo>
                  <a:pt x="86439" y="54021"/>
                </a:lnTo>
                <a:cubicBezTo>
                  <a:pt x="88458" y="50790"/>
                  <a:pt x="92726" y="49781"/>
                  <a:pt x="95985" y="51829"/>
                </a:cubicBezTo>
                <a:cubicBezTo>
                  <a:pt x="99245" y="53876"/>
                  <a:pt x="100225" y="58116"/>
                  <a:pt x="98177" y="6137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9" name="Text 37"/>
          <p:cNvSpPr/>
          <p:nvPr/>
        </p:nvSpPr>
        <p:spPr>
          <a:xfrm>
            <a:off x="6631535" y="2916481"/>
            <a:ext cx="5113072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Infrastructure Management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631535" y="3137986"/>
            <a:ext cx="5113072" cy="443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Provider manages all hardware, facilities, and maintenance—zero operational overhead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72304" y="3691749"/>
            <a:ext cx="147670" cy="147670"/>
          </a:xfrm>
          <a:custGeom>
            <a:avLst/>
            <a:gdLst/>
            <a:ahLst/>
            <a:cxnLst/>
            <a:rect l="l" t="t" r="r" b="b"/>
            <a:pathLst>
              <a:path w="147670" h="147670">
                <a:moveTo>
                  <a:pt x="73835" y="147670"/>
                </a:moveTo>
                <a:cubicBezTo>
                  <a:pt x="114586" y="147670"/>
                  <a:pt x="147670" y="114586"/>
                  <a:pt x="147670" y="73835"/>
                </a:cubicBezTo>
                <a:cubicBezTo>
                  <a:pt x="147670" y="33084"/>
                  <a:pt x="114586" y="0"/>
                  <a:pt x="73835" y="0"/>
                </a:cubicBezTo>
                <a:cubicBezTo>
                  <a:pt x="33084" y="0"/>
                  <a:pt x="0" y="33084"/>
                  <a:pt x="0" y="73835"/>
                </a:cubicBezTo>
                <a:cubicBezTo>
                  <a:pt x="0" y="114586"/>
                  <a:pt x="33084" y="147670"/>
                  <a:pt x="73835" y="147670"/>
                </a:cubicBezTo>
                <a:close/>
                <a:moveTo>
                  <a:pt x="98177" y="61346"/>
                </a:moveTo>
                <a:lnTo>
                  <a:pt x="75104" y="98264"/>
                </a:lnTo>
                <a:cubicBezTo>
                  <a:pt x="73893" y="100196"/>
                  <a:pt x="71816" y="101408"/>
                  <a:pt x="69538" y="101523"/>
                </a:cubicBezTo>
                <a:cubicBezTo>
                  <a:pt x="67259" y="101638"/>
                  <a:pt x="65067" y="100600"/>
                  <a:pt x="63712" y="98754"/>
                </a:cubicBezTo>
                <a:lnTo>
                  <a:pt x="49867" y="80296"/>
                </a:lnTo>
                <a:cubicBezTo>
                  <a:pt x="47560" y="77238"/>
                  <a:pt x="48195" y="72912"/>
                  <a:pt x="51252" y="70605"/>
                </a:cubicBezTo>
                <a:cubicBezTo>
                  <a:pt x="54309" y="68297"/>
                  <a:pt x="58635" y="68932"/>
                  <a:pt x="60943" y="71989"/>
                </a:cubicBezTo>
                <a:lnTo>
                  <a:pt x="68730" y="82372"/>
                </a:lnTo>
                <a:lnTo>
                  <a:pt x="86439" y="54021"/>
                </a:lnTo>
                <a:cubicBezTo>
                  <a:pt x="88458" y="50790"/>
                  <a:pt x="92726" y="49781"/>
                  <a:pt x="95985" y="51829"/>
                </a:cubicBezTo>
                <a:cubicBezTo>
                  <a:pt x="99245" y="53876"/>
                  <a:pt x="100225" y="58116"/>
                  <a:pt x="98177" y="6137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2" name="Text 40"/>
          <p:cNvSpPr/>
          <p:nvPr/>
        </p:nvSpPr>
        <p:spPr>
          <a:xfrm>
            <a:off x="6649185" y="3654831"/>
            <a:ext cx="4651603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Right-Sizing &amp; Auto-Scaling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649185" y="3876336"/>
            <a:ext cx="4651603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Match resources exactly to demand. Scale automatically without waste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72304" y="4208593"/>
            <a:ext cx="147670" cy="147670"/>
          </a:xfrm>
          <a:custGeom>
            <a:avLst/>
            <a:gdLst/>
            <a:ahLst/>
            <a:cxnLst/>
            <a:rect l="l" t="t" r="r" b="b"/>
            <a:pathLst>
              <a:path w="147670" h="147670">
                <a:moveTo>
                  <a:pt x="73835" y="147670"/>
                </a:moveTo>
                <a:cubicBezTo>
                  <a:pt x="114586" y="147670"/>
                  <a:pt x="147670" y="114586"/>
                  <a:pt x="147670" y="73835"/>
                </a:cubicBezTo>
                <a:cubicBezTo>
                  <a:pt x="147670" y="33084"/>
                  <a:pt x="114586" y="0"/>
                  <a:pt x="73835" y="0"/>
                </a:cubicBezTo>
                <a:cubicBezTo>
                  <a:pt x="33084" y="0"/>
                  <a:pt x="0" y="33084"/>
                  <a:pt x="0" y="73835"/>
                </a:cubicBezTo>
                <a:cubicBezTo>
                  <a:pt x="0" y="114586"/>
                  <a:pt x="33084" y="147670"/>
                  <a:pt x="73835" y="147670"/>
                </a:cubicBezTo>
                <a:close/>
                <a:moveTo>
                  <a:pt x="98177" y="61346"/>
                </a:moveTo>
                <a:lnTo>
                  <a:pt x="75104" y="98264"/>
                </a:lnTo>
                <a:cubicBezTo>
                  <a:pt x="73893" y="100196"/>
                  <a:pt x="71816" y="101408"/>
                  <a:pt x="69538" y="101523"/>
                </a:cubicBezTo>
                <a:cubicBezTo>
                  <a:pt x="67259" y="101638"/>
                  <a:pt x="65067" y="100600"/>
                  <a:pt x="63712" y="98754"/>
                </a:cubicBezTo>
                <a:lnTo>
                  <a:pt x="49867" y="80296"/>
                </a:lnTo>
                <a:cubicBezTo>
                  <a:pt x="47560" y="77238"/>
                  <a:pt x="48195" y="72912"/>
                  <a:pt x="51252" y="70605"/>
                </a:cubicBezTo>
                <a:cubicBezTo>
                  <a:pt x="54309" y="68297"/>
                  <a:pt x="58635" y="68932"/>
                  <a:pt x="60943" y="71989"/>
                </a:cubicBezTo>
                <a:lnTo>
                  <a:pt x="68730" y="82372"/>
                </a:lnTo>
                <a:lnTo>
                  <a:pt x="86439" y="54021"/>
                </a:lnTo>
                <a:cubicBezTo>
                  <a:pt x="88458" y="50790"/>
                  <a:pt x="92726" y="49781"/>
                  <a:pt x="95985" y="51829"/>
                </a:cubicBezTo>
                <a:cubicBezTo>
                  <a:pt x="99245" y="53876"/>
                  <a:pt x="100225" y="58116"/>
                  <a:pt x="98177" y="6137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5" name="Text 43"/>
          <p:cNvSpPr/>
          <p:nvPr/>
        </p:nvSpPr>
        <p:spPr>
          <a:xfrm>
            <a:off x="6649185" y="4171676"/>
            <a:ext cx="4716209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Always Current Technology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649185" y="4393181"/>
            <a:ext cx="4716209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 latest hardware and software innovations without upgrade costs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72304" y="4725438"/>
            <a:ext cx="147670" cy="147670"/>
          </a:xfrm>
          <a:custGeom>
            <a:avLst/>
            <a:gdLst/>
            <a:ahLst/>
            <a:cxnLst/>
            <a:rect l="l" t="t" r="r" b="b"/>
            <a:pathLst>
              <a:path w="147670" h="147670">
                <a:moveTo>
                  <a:pt x="73835" y="147670"/>
                </a:moveTo>
                <a:cubicBezTo>
                  <a:pt x="114586" y="147670"/>
                  <a:pt x="147670" y="114586"/>
                  <a:pt x="147670" y="73835"/>
                </a:cubicBezTo>
                <a:cubicBezTo>
                  <a:pt x="147670" y="33084"/>
                  <a:pt x="114586" y="0"/>
                  <a:pt x="73835" y="0"/>
                </a:cubicBezTo>
                <a:cubicBezTo>
                  <a:pt x="33084" y="0"/>
                  <a:pt x="0" y="33084"/>
                  <a:pt x="0" y="73835"/>
                </a:cubicBezTo>
                <a:cubicBezTo>
                  <a:pt x="0" y="114586"/>
                  <a:pt x="33084" y="147670"/>
                  <a:pt x="73835" y="147670"/>
                </a:cubicBezTo>
                <a:close/>
                <a:moveTo>
                  <a:pt x="98177" y="61346"/>
                </a:moveTo>
                <a:lnTo>
                  <a:pt x="75104" y="98264"/>
                </a:lnTo>
                <a:cubicBezTo>
                  <a:pt x="73893" y="100196"/>
                  <a:pt x="71816" y="101408"/>
                  <a:pt x="69538" y="101523"/>
                </a:cubicBezTo>
                <a:cubicBezTo>
                  <a:pt x="67259" y="101638"/>
                  <a:pt x="65067" y="100600"/>
                  <a:pt x="63712" y="98754"/>
                </a:cubicBezTo>
                <a:lnTo>
                  <a:pt x="49867" y="80296"/>
                </a:lnTo>
                <a:cubicBezTo>
                  <a:pt x="47560" y="77238"/>
                  <a:pt x="48195" y="72912"/>
                  <a:pt x="51252" y="70605"/>
                </a:cubicBezTo>
                <a:cubicBezTo>
                  <a:pt x="54309" y="68297"/>
                  <a:pt x="58635" y="68932"/>
                  <a:pt x="60943" y="71989"/>
                </a:cubicBezTo>
                <a:lnTo>
                  <a:pt x="68730" y="82372"/>
                </a:lnTo>
                <a:lnTo>
                  <a:pt x="86439" y="54021"/>
                </a:lnTo>
                <a:cubicBezTo>
                  <a:pt x="88458" y="50790"/>
                  <a:pt x="92726" y="49781"/>
                  <a:pt x="95985" y="51829"/>
                </a:cubicBezTo>
                <a:cubicBezTo>
                  <a:pt x="99245" y="53876"/>
                  <a:pt x="100225" y="58116"/>
                  <a:pt x="98177" y="6137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8" name="Text 46"/>
          <p:cNvSpPr/>
          <p:nvPr/>
        </p:nvSpPr>
        <p:spPr>
          <a:xfrm>
            <a:off x="6649185" y="4688521"/>
            <a:ext cx="3931712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Instant Provisioning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649185" y="4910026"/>
            <a:ext cx="3931712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 resources in minutes through APIs or web interfaces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172950" y="5393645"/>
            <a:ext cx="5646530" cy="450393"/>
          </a:xfrm>
          <a:custGeom>
            <a:avLst/>
            <a:gdLst/>
            <a:ahLst/>
            <a:cxnLst/>
            <a:rect l="l" t="t" r="r" b="b"/>
            <a:pathLst>
              <a:path w="5646530" h="450393">
                <a:moveTo>
                  <a:pt x="110752" y="0"/>
                </a:moveTo>
                <a:lnTo>
                  <a:pt x="5535778" y="0"/>
                </a:lnTo>
                <a:cubicBezTo>
                  <a:pt x="5596944" y="0"/>
                  <a:pt x="5646530" y="49585"/>
                  <a:pt x="5646530" y="110752"/>
                </a:cubicBezTo>
                <a:lnTo>
                  <a:pt x="5646530" y="339642"/>
                </a:lnTo>
                <a:cubicBezTo>
                  <a:pt x="5646530" y="400808"/>
                  <a:pt x="5596944" y="450393"/>
                  <a:pt x="5535778" y="450393"/>
                </a:cubicBezTo>
                <a:lnTo>
                  <a:pt x="110752" y="450393"/>
                </a:lnTo>
                <a:cubicBezTo>
                  <a:pt x="49626" y="450393"/>
                  <a:pt x="0" y="400767"/>
                  <a:pt x="0" y="339642"/>
                </a:cubicBezTo>
                <a:lnTo>
                  <a:pt x="0" y="110752"/>
                </a:lnTo>
                <a:cubicBezTo>
                  <a:pt x="0" y="49626"/>
                  <a:pt x="49626" y="0"/>
                  <a:pt x="110752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96623" y="5537623"/>
            <a:ext cx="166129" cy="147670"/>
          </a:xfrm>
          <a:custGeom>
            <a:avLst/>
            <a:gdLst/>
            <a:ahLst/>
            <a:cxnLst/>
            <a:rect l="l" t="t" r="r" b="b"/>
            <a:pathLst>
              <a:path w="166129" h="147670">
                <a:moveTo>
                  <a:pt x="147785" y="69220"/>
                </a:moveTo>
                <a:lnTo>
                  <a:pt x="97024" y="69220"/>
                </a:lnTo>
                <a:cubicBezTo>
                  <a:pt x="91919" y="69220"/>
                  <a:pt x="87794" y="65096"/>
                  <a:pt x="87794" y="59991"/>
                </a:cubicBezTo>
                <a:lnTo>
                  <a:pt x="87794" y="9229"/>
                </a:lnTo>
                <a:cubicBezTo>
                  <a:pt x="87794" y="4124"/>
                  <a:pt x="91948" y="-58"/>
                  <a:pt x="96995" y="606"/>
                </a:cubicBezTo>
                <a:cubicBezTo>
                  <a:pt x="127856" y="4701"/>
                  <a:pt x="152313" y="29159"/>
                  <a:pt x="156409" y="60020"/>
                </a:cubicBezTo>
                <a:cubicBezTo>
                  <a:pt x="157072" y="65067"/>
                  <a:pt x="152890" y="69220"/>
                  <a:pt x="147785" y="69220"/>
                </a:cubicBezTo>
                <a:close/>
                <a:moveTo>
                  <a:pt x="64202" y="10729"/>
                </a:moveTo>
                <a:cubicBezTo>
                  <a:pt x="69422" y="9633"/>
                  <a:pt x="73950" y="13902"/>
                  <a:pt x="73950" y="19237"/>
                </a:cubicBezTo>
                <a:lnTo>
                  <a:pt x="73950" y="76142"/>
                </a:lnTo>
                <a:cubicBezTo>
                  <a:pt x="73950" y="77757"/>
                  <a:pt x="74527" y="79315"/>
                  <a:pt x="75537" y="80555"/>
                </a:cubicBezTo>
                <a:lnTo>
                  <a:pt x="113637" y="126529"/>
                </a:lnTo>
                <a:cubicBezTo>
                  <a:pt x="117011" y="130596"/>
                  <a:pt x="116290" y="136739"/>
                  <a:pt x="111647" y="139248"/>
                </a:cubicBezTo>
                <a:cubicBezTo>
                  <a:pt x="101812" y="144613"/>
                  <a:pt x="90534" y="147670"/>
                  <a:pt x="78565" y="147670"/>
                </a:cubicBezTo>
                <a:cubicBezTo>
                  <a:pt x="40350" y="147670"/>
                  <a:pt x="9345" y="116665"/>
                  <a:pt x="9345" y="78450"/>
                </a:cubicBezTo>
                <a:cubicBezTo>
                  <a:pt x="9345" y="45137"/>
                  <a:pt x="32851" y="17334"/>
                  <a:pt x="64202" y="10729"/>
                </a:cubicBezTo>
                <a:close/>
                <a:moveTo>
                  <a:pt x="137806" y="83064"/>
                </a:moveTo>
                <a:lnTo>
                  <a:pt x="156265" y="83064"/>
                </a:lnTo>
                <a:cubicBezTo>
                  <a:pt x="161601" y="83064"/>
                  <a:pt x="165869" y="87593"/>
                  <a:pt x="164773" y="92813"/>
                </a:cubicBezTo>
                <a:cubicBezTo>
                  <a:pt x="161831" y="106772"/>
                  <a:pt x="154679" y="119174"/>
                  <a:pt x="144699" y="128634"/>
                </a:cubicBezTo>
                <a:cubicBezTo>
                  <a:pt x="141152" y="132009"/>
                  <a:pt x="135585" y="131288"/>
                  <a:pt x="132470" y="127510"/>
                </a:cubicBezTo>
                <a:lnTo>
                  <a:pt x="108128" y="98177"/>
                </a:lnTo>
                <a:cubicBezTo>
                  <a:pt x="103138" y="92150"/>
                  <a:pt x="107436" y="83064"/>
                  <a:pt x="115223" y="83064"/>
                </a:cubicBezTo>
                <a:lnTo>
                  <a:pt x="137777" y="83064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2" name="Text 50"/>
          <p:cNvSpPr/>
          <p:nvPr/>
        </p:nvSpPr>
        <p:spPr>
          <a:xfrm>
            <a:off x="6525639" y="5508092"/>
            <a:ext cx="5253231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Typical Cost Structure:</a:t>
            </a:r>
            <a:r>
              <a:rPr lang="en-US" sz="1163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0% CapEx + 100% OpEx (utility model)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72867" y="5925258"/>
            <a:ext cx="11442575" cy="708816"/>
          </a:xfrm>
          <a:custGeom>
            <a:avLst/>
            <a:gdLst/>
            <a:ahLst/>
            <a:cxnLst/>
            <a:rect l="l" t="t" r="r" b="b"/>
            <a:pathLst>
              <a:path w="11442575" h="708816">
                <a:moveTo>
                  <a:pt x="110752" y="0"/>
                </a:moveTo>
                <a:lnTo>
                  <a:pt x="11331823" y="0"/>
                </a:lnTo>
                <a:cubicBezTo>
                  <a:pt x="11392989" y="0"/>
                  <a:pt x="11442575" y="49586"/>
                  <a:pt x="11442575" y="110752"/>
                </a:cubicBezTo>
                <a:lnTo>
                  <a:pt x="11442575" y="598063"/>
                </a:lnTo>
                <a:cubicBezTo>
                  <a:pt x="11442575" y="659230"/>
                  <a:pt x="11392989" y="708816"/>
                  <a:pt x="11331823" y="708816"/>
                </a:cubicBezTo>
                <a:lnTo>
                  <a:pt x="110752" y="708816"/>
                </a:lnTo>
                <a:cubicBezTo>
                  <a:pt x="49627" y="708816"/>
                  <a:pt x="0" y="659189"/>
                  <a:pt x="0" y="598063"/>
                </a:cubicBezTo>
                <a:lnTo>
                  <a:pt x="0" y="110752"/>
                </a:lnTo>
                <a:cubicBezTo>
                  <a:pt x="0" y="49627"/>
                  <a:pt x="49627" y="0"/>
                  <a:pt x="110752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42687" y="6168798"/>
            <a:ext cx="166129" cy="221505"/>
          </a:xfrm>
          <a:custGeom>
            <a:avLst/>
            <a:gdLst/>
            <a:ahLst/>
            <a:cxnLst/>
            <a:rect l="l" t="t" r="r" b="b"/>
            <a:pathLst>
              <a:path w="166129" h="221505">
                <a:moveTo>
                  <a:pt x="126716" y="166129"/>
                </a:moveTo>
                <a:cubicBezTo>
                  <a:pt x="129875" y="156481"/>
                  <a:pt x="136191" y="147742"/>
                  <a:pt x="143329" y="140214"/>
                </a:cubicBezTo>
                <a:cubicBezTo>
                  <a:pt x="157476" y="125332"/>
                  <a:pt x="166129" y="105215"/>
                  <a:pt x="166129" y="83064"/>
                </a:cubicBezTo>
                <a:cubicBezTo>
                  <a:pt x="166129" y="37206"/>
                  <a:pt x="128923" y="0"/>
                  <a:pt x="83064" y="0"/>
                </a:cubicBezTo>
                <a:cubicBezTo>
                  <a:pt x="37206" y="0"/>
                  <a:pt x="0" y="37206"/>
                  <a:pt x="0" y="83064"/>
                </a:cubicBezTo>
                <a:cubicBezTo>
                  <a:pt x="0" y="105215"/>
                  <a:pt x="8653" y="125332"/>
                  <a:pt x="22799" y="140214"/>
                </a:cubicBezTo>
                <a:cubicBezTo>
                  <a:pt x="29938" y="147742"/>
                  <a:pt x="36297" y="156481"/>
                  <a:pt x="39412" y="166129"/>
                </a:cubicBezTo>
                <a:lnTo>
                  <a:pt x="126673" y="166129"/>
                </a:lnTo>
                <a:close/>
                <a:moveTo>
                  <a:pt x="124597" y="186895"/>
                </a:moveTo>
                <a:lnTo>
                  <a:pt x="41532" y="186895"/>
                </a:lnTo>
                <a:lnTo>
                  <a:pt x="41532" y="193817"/>
                </a:lnTo>
                <a:cubicBezTo>
                  <a:pt x="41532" y="212939"/>
                  <a:pt x="57020" y="228427"/>
                  <a:pt x="76142" y="228427"/>
                </a:cubicBezTo>
                <a:lnTo>
                  <a:pt x="89986" y="228427"/>
                </a:lnTo>
                <a:cubicBezTo>
                  <a:pt x="109108" y="228427"/>
                  <a:pt x="124597" y="212939"/>
                  <a:pt x="124597" y="193817"/>
                </a:cubicBezTo>
                <a:lnTo>
                  <a:pt x="124597" y="186895"/>
                </a:lnTo>
                <a:close/>
                <a:moveTo>
                  <a:pt x="79603" y="48454"/>
                </a:moveTo>
                <a:cubicBezTo>
                  <a:pt x="62385" y="48454"/>
                  <a:pt x="48454" y="62385"/>
                  <a:pt x="48454" y="79603"/>
                </a:cubicBezTo>
                <a:cubicBezTo>
                  <a:pt x="48454" y="85357"/>
                  <a:pt x="43825" y="89986"/>
                  <a:pt x="38071" y="89986"/>
                </a:cubicBezTo>
                <a:cubicBezTo>
                  <a:pt x="32317" y="89986"/>
                  <a:pt x="27688" y="85357"/>
                  <a:pt x="27688" y="79603"/>
                </a:cubicBezTo>
                <a:cubicBezTo>
                  <a:pt x="27688" y="50920"/>
                  <a:pt x="50920" y="27688"/>
                  <a:pt x="79603" y="27688"/>
                </a:cubicBezTo>
                <a:cubicBezTo>
                  <a:pt x="85357" y="27688"/>
                  <a:pt x="89986" y="32317"/>
                  <a:pt x="89986" y="38071"/>
                </a:cubicBezTo>
                <a:cubicBezTo>
                  <a:pt x="89986" y="43825"/>
                  <a:pt x="85357" y="48454"/>
                  <a:pt x="79603" y="4845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5" name="Text 53"/>
          <p:cNvSpPr/>
          <p:nvPr/>
        </p:nvSpPr>
        <p:spPr>
          <a:xfrm>
            <a:off x="911862" y="6168798"/>
            <a:ext cx="9312436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Insight:</a:t>
            </a:r>
            <a:r>
              <a:rPr lang="en-US" sz="1163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Cloud computing transforms IT from a capital-intensive cost center to a flexible operational expense that scales with business value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0687843" y="6039700"/>
            <a:ext cx="1015231" cy="184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1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Average Savings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0641697" y="6224287"/>
            <a:ext cx="1061378" cy="29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744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31%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d1krbhyfejrtpz.cloudfront.net/4e53d8892694aea8cfb6dba28671d395f15bf364.jpg"/>
          <p:cNvPicPr>
            <a:picLocks noChangeAspect="1"/>
          </p:cNvPicPr>
          <p:nvPr/>
        </p:nvPicPr>
        <p:blipFill>
          <a:blip r:embed="rId3">
            <a:alphaModFix amt="30000"/>
          </a:blip>
          <a:srcRect l="9556" r="955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91919"/>
              </a:gs>
              <a:gs pos="50000">
                <a:srgbClr val="191919">
                  <a:alpha val="95000"/>
                </a:srgbClr>
              </a:gs>
              <a:gs pos="100000">
                <a:srgbClr val="191919">
                  <a:alpha val="7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Shape 1"/>
          <p:cNvSpPr/>
          <p:nvPr/>
        </p:nvSpPr>
        <p:spPr>
          <a:xfrm>
            <a:off x="381000" y="159067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" name="Text 2"/>
          <p:cNvSpPr/>
          <p:nvPr/>
        </p:nvSpPr>
        <p:spPr>
          <a:xfrm>
            <a:off x="551378" y="1781175"/>
            <a:ext cx="590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295400" y="195262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7" name="Text 4"/>
          <p:cNvSpPr/>
          <p:nvPr/>
        </p:nvSpPr>
        <p:spPr>
          <a:xfrm>
            <a:off x="381000" y="2581275"/>
            <a:ext cx="76581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Cloud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Terminology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524375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service models and deployment models that define cloud architecture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44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03 • CLOUD TERMINOLOGY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3975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Service Models: IaaS, PaaS, SaaS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920750"/>
            <a:ext cx="11628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 fundamental models defining how cloud services are delivered and consumed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675" y="1209675"/>
            <a:ext cx="4760913" cy="5461713"/>
          </a:xfrm>
          <a:custGeom>
            <a:avLst/>
            <a:gdLst/>
            <a:ahLst/>
            <a:cxnLst/>
            <a:rect l="l" t="t" r="r" b="b"/>
            <a:pathLst>
              <a:path w="4760913" h="6935788">
                <a:moveTo>
                  <a:pt x="95266" y="0"/>
                </a:moveTo>
                <a:lnTo>
                  <a:pt x="4665647" y="0"/>
                </a:lnTo>
                <a:cubicBezTo>
                  <a:pt x="4718261" y="0"/>
                  <a:pt x="4760913" y="42652"/>
                  <a:pt x="4760913" y="95266"/>
                </a:cubicBezTo>
                <a:lnTo>
                  <a:pt x="4760913" y="6840522"/>
                </a:lnTo>
                <a:cubicBezTo>
                  <a:pt x="4760912" y="6893136"/>
                  <a:pt x="4718261" y="6935788"/>
                  <a:pt x="4665647" y="6935788"/>
                </a:cubicBezTo>
                <a:lnTo>
                  <a:pt x="95266" y="6935788"/>
                </a:lnTo>
                <a:cubicBezTo>
                  <a:pt x="42652" y="6935788"/>
                  <a:pt x="0" y="6893136"/>
                  <a:pt x="0" y="6840522"/>
                </a:cubicBezTo>
                <a:lnTo>
                  <a:pt x="0" y="95266"/>
                </a:lnTo>
                <a:cubicBezTo>
                  <a:pt x="0" y="42687"/>
                  <a:pt x="42687" y="0"/>
                  <a:pt x="95266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2912" y="1371602"/>
            <a:ext cx="4516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Service Model Comparison</a:t>
            </a:r>
            <a:endParaRPr lang="en-US" sz="1600" dirty="0"/>
          </a:p>
        </p:txBody>
      </p:sp>
      <p:pic>
        <p:nvPicPr>
          <p:cNvPr id="7" name="Image 0" descr="https://kimi-img.moonshot.cn/pub/slides/26-02-23-01:33:22-d6djroj1huiq9j9b4660.png"/>
          <p:cNvPicPr>
            <a:picLocks noChangeAspect="1"/>
          </p:cNvPicPr>
          <p:nvPr/>
        </p:nvPicPr>
        <p:blipFill>
          <a:blip r:embed="rId3"/>
          <a:srcRect t="9" b="9"/>
          <a:stretch/>
        </p:blipFill>
        <p:spPr>
          <a:xfrm>
            <a:off x="887412" y="1629909"/>
            <a:ext cx="3627438" cy="4819648"/>
          </a:xfrm>
          <a:prstGeom prst="roundRect">
            <a:avLst>
              <a:gd name="adj" fmla="val 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5230515" y="1270001"/>
            <a:ext cx="6643688" cy="1695350"/>
          </a:xfrm>
          <a:custGeom>
            <a:avLst/>
            <a:gdLst/>
            <a:ahLst/>
            <a:cxnLst/>
            <a:rect l="l" t="t" r="r" b="b"/>
            <a:pathLst>
              <a:path w="6643688" h="2254250">
                <a:moveTo>
                  <a:pt x="31750" y="0"/>
                </a:moveTo>
                <a:lnTo>
                  <a:pt x="6548445" y="0"/>
                </a:lnTo>
                <a:cubicBezTo>
                  <a:pt x="6601046" y="0"/>
                  <a:pt x="6643688" y="42641"/>
                  <a:pt x="6643688" y="95242"/>
                </a:cubicBezTo>
                <a:lnTo>
                  <a:pt x="6643688" y="2159008"/>
                </a:lnTo>
                <a:cubicBezTo>
                  <a:pt x="6643688" y="2211609"/>
                  <a:pt x="6601046" y="2254250"/>
                  <a:pt x="6548445" y="2254250"/>
                </a:cubicBezTo>
                <a:lnTo>
                  <a:pt x="31750" y="2254250"/>
                </a:lnTo>
                <a:cubicBezTo>
                  <a:pt x="14227" y="2254250"/>
                  <a:pt x="0" y="2240023"/>
                  <a:pt x="0" y="2222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9" name="Shape 6"/>
          <p:cNvSpPr/>
          <p:nvPr/>
        </p:nvSpPr>
        <p:spPr>
          <a:xfrm>
            <a:off x="5230514" y="1270000"/>
            <a:ext cx="45719" cy="1695351"/>
          </a:xfrm>
          <a:custGeom>
            <a:avLst/>
            <a:gdLst/>
            <a:ahLst/>
            <a:cxnLst/>
            <a:rect l="l" t="t" r="r" b="b"/>
            <a:pathLst>
              <a:path w="31750" h="2254250">
                <a:moveTo>
                  <a:pt x="31750" y="0"/>
                </a:moveTo>
                <a:lnTo>
                  <a:pt x="31750" y="0"/>
                </a:lnTo>
                <a:lnTo>
                  <a:pt x="31750" y="2254250"/>
                </a:lnTo>
                <a:lnTo>
                  <a:pt x="31750" y="2254250"/>
                </a:lnTo>
                <a:cubicBezTo>
                  <a:pt x="14227" y="2254250"/>
                  <a:pt x="0" y="2240023"/>
                  <a:pt x="0" y="2222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0" name="Shape 7"/>
          <p:cNvSpPr/>
          <p:nvPr/>
        </p:nvSpPr>
        <p:spPr>
          <a:xfrm>
            <a:off x="5373390" y="1333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95250" y="0"/>
                </a:moveTo>
                <a:lnTo>
                  <a:pt x="412750" y="0"/>
                </a:lnTo>
                <a:cubicBezTo>
                  <a:pt x="465320" y="0"/>
                  <a:pt x="508000" y="42680"/>
                  <a:pt x="508000" y="95250"/>
                </a:cubicBezTo>
                <a:lnTo>
                  <a:pt x="508000" y="412750"/>
                </a:lnTo>
                <a:cubicBezTo>
                  <a:pt x="508000" y="465320"/>
                  <a:pt x="465320" y="508000"/>
                  <a:pt x="412750" y="508000"/>
                </a:cubicBezTo>
                <a:lnTo>
                  <a:pt x="95250" y="508000"/>
                </a:lnTo>
                <a:cubicBezTo>
                  <a:pt x="42680" y="508000"/>
                  <a:pt x="0" y="465320"/>
                  <a:pt x="0" y="412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446514" y="1460500"/>
            <a:ext cx="460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IaaS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008390" y="1333500"/>
            <a:ext cx="58340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Infrastructure as a Service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008390" y="1650903"/>
            <a:ext cx="58023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Provides </a:t>
            </a: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virtualized computing resources</a:t>
            </a:r>
            <a:r>
              <a:rPr lang="en-US" sz="10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—servers, storage, and networking—over the internet. Users rent cloud infrastructure but </a:t>
            </a: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manage their own operating systems, applications, and data</a:t>
            </a:r>
            <a:r>
              <a:rPr lang="en-US" sz="10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011565" y="2162078"/>
            <a:ext cx="2816225" cy="546100"/>
          </a:xfrm>
          <a:custGeom>
            <a:avLst/>
            <a:gdLst/>
            <a:ahLst/>
            <a:cxnLst/>
            <a:rect l="l" t="t" r="r" b="b"/>
            <a:pathLst>
              <a:path w="2816225" h="546100">
                <a:moveTo>
                  <a:pt x="63501" y="0"/>
                </a:moveTo>
                <a:lnTo>
                  <a:pt x="2752724" y="0"/>
                </a:lnTo>
                <a:cubicBezTo>
                  <a:pt x="2787795" y="0"/>
                  <a:pt x="2816225" y="28430"/>
                  <a:pt x="2816225" y="63501"/>
                </a:cubicBezTo>
                <a:lnTo>
                  <a:pt x="2816225" y="482599"/>
                </a:lnTo>
                <a:cubicBezTo>
                  <a:pt x="2816225" y="517670"/>
                  <a:pt x="2787795" y="546100"/>
                  <a:pt x="2752724" y="546100"/>
                </a:cubicBezTo>
                <a:lnTo>
                  <a:pt x="63501" y="546100"/>
                </a:lnTo>
                <a:cubicBezTo>
                  <a:pt x="28430" y="546100"/>
                  <a:pt x="0" y="517670"/>
                  <a:pt x="0" y="48259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09990" y="2260502"/>
            <a:ext cx="267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Manages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109990" y="2451002"/>
            <a:ext cx="267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OS, Middleware, Runtime, Applications, Data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928695" y="2162078"/>
            <a:ext cx="2816225" cy="546100"/>
          </a:xfrm>
          <a:custGeom>
            <a:avLst/>
            <a:gdLst/>
            <a:ahLst/>
            <a:cxnLst/>
            <a:rect l="l" t="t" r="r" b="b"/>
            <a:pathLst>
              <a:path w="2816225" h="546100">
                <a:moveTo>
                  <a:pt x="63501" y="0"/>
                </a:moveTo>
                <a:lnTo>
                  <a:pt x="2752724" y="0"/>
                </a:lnTo>
                <a:cubicBezTo>
                  <a:pt x="2787795" y="0"/>
                  <a:pt x="2816225" y="28430"/>
                  <a:pt x="2816225" y="63501"/>
                </a:cubicBezTo>
                <a:lnTo>
                  <a:pt x="2816225" y="482599"/>
                </a:lnTo>
                <a:cubicBezTo>
                  <a:pt x="2816225" y="517670"/>
                  <a:pt x="2787795" y="546100"/>
                  <a:pt x="2752724" y="546100"/>
                </a:cubicBezTo>
                <a:lnTo>
                  <a:pt x="63501" y="546100"/>
                </a:lnTo>
                <a:cubicBezTo>
                  <a:pt x="28430" y="546100"/>
                  <a:pt x="0" y="517670"/>
                  <a:pt x="0" y="48259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027121" y="2260502"/>
            <a:ext cx="267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Provider Manages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027121" y="2451002"/>
            <a:ext cx="267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Virtualization, Servers, Storage, Networking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031210" y="2832002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13891" y="6945"/>
                </a:moveTo>
                <a:cubicBezTo>
                  <a:pt x="6229" y="6945"/>
                  <a:pt x="0" y="13174"/>
                  <a:pt x="0" y="20836"/>
                </a:cubicBezTo>
                <a:lnTo>
                  <a:pt x="0" y="34727"/>
                </a:lnTo>
                <a:cubicBezTo>
                  <a:pt x="0" y="42388"/>
                  <a:pt x="6229" y="48617"/>
                  <a:pt x="13891" y="48617"/>
                </a:cubicBezTo>
                <a:lnTo>
                  <a:pt x="83344" y="48617"/>
                </a:lnTo>
                <a:cubicBezTo>
                  <a:pt x="91005" y="48617"/>
                  <a:pt x="97234" y="42388"/>
                  <a:pt x="97234" y="34727"/>
                </a:cubicBezTo>
                <a:lnTo>
                  <a:pt x="97234" y="20836"/>
                </a:lnTo>
                <a:cubicBezTo>
                  <a:pt x="97234" y="13174"/>
                  <a:pt x="91005" y="6945"/>
                  <a:pt x="83344" y="6945"/>
                </a:cubicBezTo>
                <a:lnTo>
                  <a:pt x="13891" y="6945"/>
                </a:lnTo>
                <a:close/>
                <a:moveTo>
                  <a:pt x="60771" y="22572"/>
                </a:moveTo>
                <a:cubicBezTo>
                  <a:pt x="63646" y="22572"/>
                  <a:pt x="65980" y="24906"/>
                  <a:pt x="65980" y="27781"/>
                </a:cubicBezTo>
                <a:cubicBezTo>
                  <a:pt x="65980" y="30656"/>
                  <a:pt x="63646" y="32990"/>
                  <a:pt x="60771" y="32990"/>
                </a:cubicBezTo>
                <a:cubicBezTo>
                  <a:pt x="57897" y="32990"/>
                  <a:pt x="55563" y="30656"/>
                  <a:pt x="55563" y="27781"/>
                </a:cubicBezTo>
                <a:cubicBezTo>
                  <a:pt x="55563" y="24906"/>
                  <a:pt x="57897" y="22572"/>
                  <a:pt x="60771" y="22572"/>
                </a:cubicBezTo>
                <a:close/>
                <a:moveTo>
                  <a:pt x="72926" y="27781"/>
                </a:moveTo>
                <a:cubicBezTo>
                  <a:pt x="72926" y="24906"/>
                  <a:pt x="75260" y="22572"/>
                  <a:pt x="78135" y="22572"/>
                </a:cubicBezTo>
                <a:cubicBezTo>
                  <a:pt x="81010" y="22572"/>
                  <a:pt x="83344" y="24906"/>
                  <a:pt x="83344" y="27781"/>
                </a:cubicBezTo>
                <a:cubicBezTo>
                  <a:pt x="83344" y="30656"/>
                  <a:pt x="81010" y="32990"/>
                  <a:pt x="78135" y="32990"/>
                </a:cubicBezTo>
                <a:cubicBezTo>
                  <a:pt x="75260" y="32990"/>
                  <a:pt x="72926" y="30656"/>
                  <a:pt x="72926" y="27781"/>
                </a:cubicBezTo>
                <a:close/>
                <a:moveTo>
                  <a:pt x="13891" y="62508"/>
                </a:moveTo>
                <a:cubicBezTo>
                  <a:pt x="6229" y="62508"/>
                  <a:pt x="0" y="68737"/>
                  <a:pt x="0" y="76398"/>
                </a:cubicBezTo>
                <a:lnTo>
                  <a:pt x="0" y="90289"/>
                </a:lnTo>
                <a:cubicBezTo>
                  <a:pt x="0" y="97951"/>
                  <a:pt x="6229" y="104180"/>
                  <a:pt x="13891" y="104180"/>
                </a:cubicBezTo>
                <a:lnTo>
                  <a:pt x="83344" y="104180"/>
                </a:lnTo>
                <a:cubicBezTo>
                  <a:pt x="91005" y="104180"/>
                  <a:pt x="97234" y="97951"/>
                  <a:pt x="97234" y="90289"/>
                </a:cubicBezTo>
                <a:lnTo>
                  <a:pt x="97234" y="76398"/>
                </a:lnTo>
                <a:cubicBezTo>
                  <a:pt x="97234" y="68737"/>
                  <a:pt x="91005" y="62508"/>
                  <a:pt x="83344" y="62508"/>
                </a:cubicBezTo>
                <a:lnTo>
                  <a:pt x="13891" y="62508"/>
                </a:lnTo>
                <a:close/>
                <a:moveTo>
                  <a:pt x="60771" y="78135"/>
                </a:moveTo>
                <a:cubicBezTo>
                  <a:pt x="63646" y="78135"/>
                  <a:pt x="65980" y="80469"/>
                  <a:pt x="65980" y="83344"/>
                </a:cubicBezTo>
                <a:cubicBezTo>
                  <a:pt x="65980" y="86219"/>
                  <a:pt x="63646" y="88553"/>
                  <a:pt x="60771" y="88553"/>
                </a:cubicBezTo>
                <a:cubicBezTo>
                  <a:pt x="57897" y="88553"/>
                  <a:pt x="55563" y="86219"/>
                  <a:pt x="55563" y="83344"/>
                </a:cubicBezTo>
                <a:cubicBezTo>
                  <a:pt x="55563" y="80469"/>
                  <a:pt x="57897" y="78135"/>
                  <a:pt x="60771" y="78135"/>
                </a:cubicBezTo>
                <a:close/>
                <a:moveTo>
                  <a:pt x="72926" y="83344"/>
                </a:moveTo>
                <a:cubicBezTo>
                  <a:pt x="72926" y="80469"/>
                  <a:pt x="75260" y="78135"/>
                  <a:pt x="78135" y="78135"/>
                </a:cubicBezTo>
                <a:cubicBezTo>
                  <a:pt x="81010" y="78135"/>
                  <a:pt x="83344" y="80469"/>
                  <a:pt x="83344" y="83344"/>
                </a:cubicBezTo>
                <a:cubicBezTo>
                  <a:pt x="83344" y="86219"/>
                  <a:pt x="81010" y="88553"/>
                  <a:pt x="78135" y="88553"/>
                </a:cubicBezTo>
                <a:cubicBezTo>
                  <a:pt x="75260" y="88553"/>
                  <a:pt x="72926" y="86219"/>
                  <a:pt x="72926" y="8334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1" name="Text 18"/>
          <p:cNvSpPr/>
          <p:nvPr/>
        </p:nvSpPr>
        <p:spPr>
          <a:xfrm>
            <a:off x="6190953" y="2806600"/>
            <a:ext cx="555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AWS EC2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842125" y="2832002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13891" y="6945"/>
                </a:moveTo>
                <a:cubicBezTo>
                  <a:pt x="6229" y="6945"/>
                  <a:pt x="0" y="13174"/>
                  <a:pt x="0" y="20836"/>
                </a:cubicBezTo>
                <a:lnTo>
                  <a:pt x="0" y="56452"/>
                </a:lnTo>
                <a:cubicBezTo>
                  <a:pt x="3928" y="53696"/>
                  <a:pt x="8725" y="52090"/>
                  <a:pt x="13891" y="52090"/>
                </a:cubicBezTo>
                <a:lnTo>
                  <a:pt x="83344" y="52090"/>
                </a:lnTo>
                <a:cubicBezTo>
                  <a:pt x="88509" y="52090"/>
                  <a:pt x="93306" y="53696"/>
                  <a:pt x="97234" y="56452"/>
                </a:cubicBezTo>
                <a:lnTo>
                  <a:pt x="97234" y="20836"/>
                </a:lnTo>
                <a:cubicBezTo>
                  <a:pt x="97234" y="13174"/>
                  <a:pt x="91005" y="6945"/>
                  <a:pt x="83344" y="6945"/>
                </a:cubicBezTo>
                <a:lnTo>
                  <a:pt x="13891" y="6945"/>
                </a:lnTo>
                <a:close/>
                <a:moveTo>
                  <a:pt x="97234" y="76398"/>
                </a:moveTo>
                <a:cubicBezTo>
                  <a:pt x="97234" y="68737"/>
                  <a:pt x="91005" y="62508"/>
                  <a:pt x="83344" y="62508"/>
                </a:cubicBezTo>
                <a:lnTo>
                  <a:pt x="13891" y="62508"/>
                </a:lnTo>
                <a:cubicBezTo>
                  <a:pt x="6229" y="62508"/>
                  <a:pt x="0" y="68737"/>
                  <a:pt x="0" y="76398"/>
                </a:cubicBezTo>
                <a:lnTo>
                  <a:pt x="0" y="90289"/>
                </a:lnTo>
                <a:cubicBezTo>
                  <a:pt x="0" y="97951"/>
                  <a:pt x="6229" y="104180"/>
                  <a:pt x="13891" y="104180"/>
                </a:cubicBezTo>
                <a:lnTo>
                  <a:pt x="83344" y="104180"/>
                </a:lnTo>
                <a:cubicBezTo>
                  <a:pt x="91005" y="104180"/>
                  <a:pt x="97234" y="97951"/>
                  <a:pt x="97234" y="90289"/>
                </a:cubicBezTo>
                <a:lnTo>
                  <a:pt x="97234" y="76398"/>
                </a:lnTo>
                <a:close/>
                <a:moveTo>
                  <a:pt x="48617" y="83344"/>
                </a:moveTo>
                <a:cubicBezTo>
                  <a:pt x="48617" y="79511"/>
                  <a:pt x="51729" y="76398"/>
                  <a:pt x="55563" y="76398"/>
                </a:cubicBezTo>
                <a:cubicBezTo>
                  <a:pt x="59396" y="76398"/>
                  <a:pt x="62508" y="79511"/>
                  <a:pt x="62508" y="83344"/>
                </a:cubicBezTo>
                <a:cubicBezTo>
                  <a:pt x="62508" y="87177"/>
                  <a:pt x="59396" y="90289"/>
                  <a:pt x="55563" y="90289"/>
                </a:cubicBezTo>
                <a:cubicBezTo>
                  <a:pt x="51729" y="90289"/>
                  <a:pt x="48617" y="87177"/>
                  <a:pt x="48617" y="83344"/>
                </a:cubicBezTo>
                <a:close/>
                <a:moveTo>
                  <a:pt x="76398" y="76398"/>
                </a:moveTo>
                <a:cubicBezTo>
                  <a:pt x="80232" y="76398"/>
                  <a:pt x="83344" y="79511"/>
                  <a:pt x="83344" y="83344"/>
                </a:cubicBezTo>
                <a:cubicBezTo>
                  <a:pt x="83344" y="87177"/>
                  <a:pt x="80232" y="90289"/>
                  <a:pt x="76398" y="90289"/>
                </a:cubicBezTo>
                <a:cubicBezTo>
                  <a:pt x="72565" y="90289"/>
                  <a:pt x="69453" y="87177"/>
                  <a:pt x="69453" y="83344"/>
                </a:cubicBezTo>
                <a:cubicBezTo>
                  <a:pt x="69453" y="79511"/>
                  <a:pt x="72565" y="76398"/>
                  <a:pt x="76398" y="7639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3" name="Text 20"/>
          <p:cNvSpPr/>
          <p:nvPr/>
        </p:nvSpPr>
        <p:spPr>
          <a:xfrm>
            <a:off x="7001867" y="2806600"/>
            <a:ext cx="611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Azure VMs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7691636" y="2832002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0" y="72926"/>
                </a:moveTo>
                <a:cubicBezTo>
                  <a:pt x="0" y="90181"/>
                  <a:pt x="13999" y="104180"/>
                  <a:pt x="31254" y="104180"/>
                </a:cubicBezTo>
                <a:lnTo>
                  <a:pt x="97234" y="104180"/>
                </a:lnTo>
                <a:cubicBezTo>
                  <a:pt x="112579" y="104180"/>
                  <a:pt x="125016" y="91743"/>
                  <a:pt x="125016" y="76398"/>
                </a:cubicBezTo>
                <a:cubicBezTo>
                  <a:pt x="125016" y="65199"/>
                  <a:pt x="118396" y="55541"/>
                  <a:pt x="108846" y="51157"/>
                </a:cubicBezTo>
                <a:cubicBezTo>
                  <a:pt x="110300" y="48313"/>
                  <a:pt x="111125" y="45079"/>
                  <a:pt x="111125" y="41672"/>
                </a:cubicBezTo>
                <a:cubicBezTo>
                  <a:pt x="111125" y="30169"/>
                  <a:pt x="101792" y="20836"/>
                  <a:pt x="90289" y="20836"/>
                </a:cubicBezTo>
                <a:cubicBezTo>
                  <a:pt x="86447" y="20836"/>
                  <a:pt x="82866" y="21878"/>
                  <a:pt x="79784" y="23679"/>
                </a:cubicBezTo>
                <a:cubicBezTo>
                  <a:pt x="74554" y="13739"/>
                  <a:pt x="64114" y="6945"/>
                  <a:pt x="52090" y="6945"/>
                </a:cubicBezTo>
                <a:cubicBezTo>
                  <a:pt x="34835" y="6945"/>
                  <a:pt x="20836" y="20944"/>
                  <a:pt x="20836" y="38199"/>
                </a:cubicBezTo>
                <a:cubicBezTo>
                  <a:pt x="20836" y="39936"/>
                  <a:pt x="20988" y="41650"/>
                  <a:pt x="21248" y="43300"/>
                </a:cubicBezTo>
                <a:cubicBezTo>
                  <a:pt x="8899" y="47467"/>
                  <a:pt x="0" y="59165"/>
                  <a:pt x="0" y="7292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5" name="Text 22"/>
          <p:cNvSpPr/>
          <p:nvPr/>
        </p:nvSpPr>
        <p:spPr>
          <a:xfrm>
            <a:off x="7865269" y="2806600"/>
            <a:ext cx="293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GCE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238651" y="3015769"/>
            <a:ext cx="6643688" cy="1851177"/>
          </a:xfrm>
          <a:custGeom>
            <a:avLst/>
            <a:gdLst/>
            <a:ahLst/>
            <a:cxnLst/>
            <a:rect l="l" t="t" r="r" b="b"/>
            <a:pathLst>
              <a:path w="6643688" h="2254250">
                <a:moveTo>
                  <a:pt x="31750" y="0"/>
                </a:moveTo>
                <a:lnTo>
                  <a:pt x="6548445" y="0"/>
                </a:lnTo>
                <a:cubicBezTo>
                  <a:pt x="6601046" y="0"/>
                  <a:pt x="6643688" y="42641"/>
                  <a:pt x="6643688" y="95242"/>
                </a:cubicBezTo>
                <a:lnTo>
                  <a:pt x="6643688" y="2159008"/>
                </a:lnTo>
                <a:cubicBezTo>
                  <a:pt x="6643688" y="2211609"/>
                  <a:pt x="6601046" y="2254250"/>
                  <a:pt x="6548445" y="2254250"/>
                </a:cubicBezTo>
                <a:lnTo>
                  <a:pt x="31750" y="2254250"/>
                </a:lnTo>
                <a:cubicBezTo>
                  <a:pt x="14227" y="2254250"/>
                  <a:pt x="0" y="2240023"/>
                  <a:pt x="0" y="2222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27" name="Shape 24"/>
          <p:cNvSpPr/>
          <p:nvPr/>
        </p:nvSpPr>
        <p:spPr>
          <a:xfrm>
            <a:off x="5238651" y="3015769"/>
            <a:ext cx="31750" cy="1851177"/>
          </a:xfrm>
          <a:custGeom>
            <a:avLst/>
            <a:gdLst/>
            <a:ahLst/>
            <a:cxnLst/>
            <a:rect l="l" t="t" r="r" b="b"/>
            <a:pathLst>
              <a:path w="31750" h="2254250">
                <a:moveTo>
                  <a:pt x="31750" y="0"/>
                </a:moveTo>
                <a:lnTo>
                  <a:pt x="31750" y="0"/>
                </a:lnTo>
                <a:lnTo>
                  <a:pt x="31750" y="2254250"/>
                </a:lnTo>
                <a:lnTo>
                  <a:pt x="31750" y="2254250"/>
                </a:lnTo>
                <a:cubicBezTo>
                  <a:pt x="14227" y="2254250"/>
                  <a:pt x="0" y="2240023"/>
                  <a:pt x="0" y="2222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8" name="Shape 25"/>
          <p:cNvSpPr/>
          <p:nvPr/>
        </p:nvSpPr>
        <p:spPr>
          <a:xfrm>
            <a:off x="5381526" y="3076342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95250" y="0"/>
                </a:moveTo>
                <a:lnTo>
                  <a:pt x="412750" y="0"/>
                </a:lnTo>
                <a:cubicBezTo>
                  <a:pt x="465320" y="0"/>
                  <a:pt x="508000" y="42680"/>
                  <a:pt x="508000" y="95250"/>
                </a:cubicBezTo>
                <a:lnTo>
                  <a:pt x="508000" y="412750"/>
                </a:lnTo>
                <a:cubicBezTo>
                  <a:pt x="508000" y="465320"/>
                  <a:pt x="465320" y="508000"/>
                  <a:pt x="412750" y="508000"/>
                </a:cubicBezTo>
                <a:lnTo>
                  <a:pt x="95250" y="508000"/>
                </a:lnTo>
                <a:cubicBezTo>
                  <a:pt x="42680" y="508000"/>
                  <a:pt x="0" y="465320"/>
                  <a:pt x="0" y="412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9" name="Text 26"/>
          <p:cNvSpPr/>
          <p:nvPr/>
        </p:nvSpPr>
        <p:spPr>
          <a:xfrm>
            <a:off x="5421313" y="3203342"/>
            <a:ext cx="5238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PaaS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016526" y="3076342"/>
            <a:ext cx="58340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Platform as a Service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016526" y="3393745"/>
            <a:ext cx="58023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Offers a </a:t>
            </a: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development platform</a:t>
            </a:r>
            <a:r>
              <a:rPr lang="en-US" sz="10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the cloud including operating systems, databases, and tools. Developers can build, test, and deploy applications </a:t>
            </a: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without managing underlying infrastructure</a:t>
            </a:r>
            <a:r>
              <a:rPr lang="en-US" sz="10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6019701" y="3904920"/>
            <a:ext cx="2816225" cy="704850"/>
          </a:xfrm>
          <a:custGeom>
            <a:avLst/>
            <a:gdLst/>
            <a:ahLst/>
            <a:cxnLst/>
            <a:rect l="l" t="t" r="r" b="b"/>
            <a:pathLst>
              <a:path w="2816225" h="704850">
                <a:moveTo>
                  <a:pt x="63500" y="0"/>
                </a:moveTo>
                <a:lnTo>
                  <a:pt x="2752725" y="0"/>
                </a:lnTo>
                <a:cubicBezTo>
                  <a:pt x="2787795" y="0"/>
                  <a:pt x="2816225" y="28430"/>
                  <a:pt x="2816225" y="63500"/>
                </a:cubicBezTo>
                <a:lnTo>
                  <a:pt x="2816225" y="641350"/>
                </a:lnTo>
                <a:cubicBezTo>
                  <a:pt x="2816225" y="676420"/>
                  <a:pt x="2787795" y="704850"/>
                  <a:pt x="2752725" y="704850"/>
                </a:cubicBezTo>
                <a:lnTo>
                  <a:pt x="63500" y="704850"/>
                </a:lnTo>
                <a:cubicBezTo>
                  <a:pt x="28430" y="704850"/>
                  <a:pt x="0" y="676420"/>
                  <a:pt x="0" y="641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118126" y="4003343"/>
            <a:ext cx="267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Manages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118126" y="4193843"/>
            <a:ext cx="267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Applications, Data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8936831" y="3904920"/>
            <a:ext cx="2816225" cy="704850"/>
          </a:xfrm>
          <a:custGeom>
            <a:avLst/>
            <a:gdLst/>
            <a:ahLst/>
            <a:cxnLst/>
            <a:rect l="l" t="t" r="r" b="b"/>
            <a:pathLst>
              <a:path w="2816225" h="704850">
                <a:moveTo>
                  <a:pt x="63500" y="0"/>
                </a:moveTo>
                <a:lnTo>
                  <a:pt x="2752725" y="0"/>
                </a:lnTo>
                <a:cubicBezTo>
                  <a:pt x="2787795" y="0"/>
                  <a:pt x="2816225" y="28430"/>
                  <a:pt x="2816225" y="63500"/>
                </a:cubicBezTo>
                <a:lnTo>
                  <a:pt x="2816225" y="641350"/>
                </a:lnTo>
                <a:cubicBezTo>
                  <a:pt x="2816225" y="676420"/>
                  <a:pt x="2787795" y="704850"/>
                  <a:pt x="2752725" y="704850"/>
                </a:cubicBezTo>
                <a:lnTo>
                  <a:pt x="63500" y="704850"/>
                </a:lnTo>
                <a:cubicBezTo>
                  <a:pt x="28430" y="704850"/>
                  <a:pt x="0" y="676420"/>
                  <a:pt x="0" y="641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035257" y="4003343"/>
            <a:ext cx="267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Provider Manages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9035257" y="4193843"/>
            <a:ext cx="2674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Runtime, Middleware, OS, Virtualization, Infrastructure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6025456" y="4733593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78308" y="260"/>
                </a:moveTo>
                <a:cubicBezTo>
                  <a:pt x="74619" y="-803"/>
                  <a:pt x="70777" y="1346"/>
                  <a:pt x="69714" y="5035"/>
                </a:cubicBezTo>
                <a:lnTo>
                  <a:pt x="41932" y="102270"/>
                </a:lnTo>
                <a:cubicBezTo>
                  <a:pt x="40869" y="105959"/>
                  <a:pt x="43018" y="109801"/>
                  <a:pt x="46707" y="110865"/>
                </a:cubicBezTo>
                <a:cubicBezTo>
                  <a:pt x="50397" y="111928"/>
                  <a:pt x="54239" y="109779"/>
                  <a:pt x="55302" y="106090"/>
                </a:cubicBezTo>
                <a:lnTo>
                  <a:pt x="83083" y="8855"/>
                </a:lnTo>
                <a:cubicBezTo>
                  <a:pt x="84147" y="5166"/>
                  <a:pt x="81998" y="1324"/>
                  <a:pt x="78308" y="260"/>
                </a:cubicBezTo>
                <a:close/>
                <a:moveTo>
                  <a:pt x="92329" y="29800"/>
                </a:moveTo>
                <a:cubicBezTo>
                  <a:pt x="89616" y="32513"/>
                  <a:pt x="89616" y="36919"/>
                  <a:pt x="92329" y="39632"/>
                </a:cubicBezTo>
                <a:lnTo>
                  <a:pt x="108260" y="55563"/>
                </a:lnTo>
                <a:lnTo>
                  <a:pt x="92329" y="71493"/>
                </a:lnTo>
                <a:cubicBezTo>
                  <a:pt x="89616" y="74206"/>
                  <a:pt x="89616" y="78612"/>
                  <a:pt x="92329" y="81325"/>
                </a:cubicBezTo>
                <a:cubicBezTo>
                  <a:pt x="95042" y="84038"/>
                  <a:pt x="99448" y="84038"/>
                  <a:pt x="102161" y="81325"/>
                </a:cubicBezTo>
                <a:lnTo>
                  <a:pt x="122997" y="60489"/>
                </a:lnTo>
                <a:cubicBezTo>
                  <a:pt x="125710" y="57776"/>
                  <a:pt x="125710" y="53370"/>
                  <a:pt x="122997" y="50657"/>
                </a:cubicBezTo>
                <a:lnTo>
                  <a:pt x="102161" y="29821"/>
                </a:lnTo>
                <a:cubicBezTo>
                  <a:pt x="99448" y="27108"/>
                  <a:pt x="95042" y="27108"/>
                  <a:pt x="92329" y="29821"/>
                </a:cubicBezTo>
                <a:close/>
                <a:moveTo>
                  <a:pt x="32708" y="29800"/>
                </a:moveTo>
                <a:cubicBezTo>
                  <a:pt x="29995" y="27087"/>
                  <a:pt x="25589" y="27087"/>
                  <a:pt x="22876" y="29800"/>
                </a:cubicBezTo>
                <a:lnTo>
                  <a:pt x="2040" y="50636"/>
                </a:lnTo>
                <a:cubicBezTo>
                  <a:pt x="-673" y="53349"/>
                  <a:pt x="-673" y="57755"/>
                  <a:pt x="2040" y="60468"/>
                </a:cubicBezTo>
                <a:lnTo>
                  <a:pt x="22876" y="81304"/>
                </a:lnTo>
                <a:cubicBezTo>
                  <a:pt x="25589" y="84017"/>
                  <a:pt x="29995" y="84017"/>
                  <a:pt x="32708" y="81304"/>
                </a:cubicBezTo>
                <a:cubicBezTo>
                  <a:pt x="35421" y="78591"/>
                  <a:pt x="35421" y="74185"/>
                  <a:pt x="32708" y="71472"/>
                </a:cubicBezTo>
                <a:lnTo>
                  <a:pt x="16777" y="55563"/>
                </a:lnTo>
                <a:lnTo>
                  <a:pt x="32686" y="39632"/>
                </a:lnTo>
                <a:cubicBezTo>
                  <a:pt x="35399" y="36919"/>
                  <a:pt x="35399" y="32513"/>
                  <a:pt x="32686" y="2980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9" name="Text 36"/>
          <p:cNvSpPr/>
          <p:nvPr/>
        </p:nvSpPr>
        <p:spPr>
          <a:xfrm>
            <a:off x="6199089" y="4708196"/>
            <a:ext cx="1174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AWS Elastic Beanstalk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7462441" y="4733593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27781" y="69453"/>
                </a:moveTo>
                <a:lnTo>
                  <a:pt x="5318" y="69453"/>
                </a:lnTo>
                <a:cubicBezTo>
                  <a:pt x="-87" y="69453"/>
                  <a:pt x="-3408" y="63571"/>
                  <a:pt x="-629" y="58927"/>
                </a:cubicBezTo>
                <a:lnTo>
                  <a:pt x="10852" y="39784"/>
                </a:lnTo>
                <a:cubicBezTo>
                  <a:pt x="12740" y="36637"/>
                  <a:pt x="16126" y="34727"/>
                  <a:pt x="19794" y="34727"/>
                </a:cubicBezTo>
                <a:lnTo>
                  <a:pt x="40413" y="34727"/>
                </a:lnTo>
                <a:cubicBezTo>
                  <a:pt x="56930" y="6750"/>
                  <a:pt x="81564" y="5339"/>
                  <a:pt x="98037" y="7748"/>
                </a:cubicBezTo>
                <a:cubicBezTo>
                  <a:pt x="100816" y="8161"/>
                  <a:pt x="102986" y="10331"/>
                  <a:pt x="103377" y="13088"/>
                </a:cubicBezTo>
                <a:cubicBezTo>
                  <a:pt x="105786" y="29561"/>
                  <a:pt x="104375" y="54195"/>
                  <a:pt x="76398" y="70712"/>
                </a:cubicBezTo>
                <a:lnTo>
                  <a:pt x="76398" y="91331"/>
                </a:lnTo>
                <a:cubicBezTo>
                  <a:pt x="76398" y="94999"/>
                  <a:pt x="74488" y="98385"/>
                  <a:pt x="71341" y="100273"/>
                </a:cubicBezTo>
                <a:lnTo>
                  <a:pt x="52198" y="111754"/>
                </a:lnTo>
                <a:cubicBezTo>
                  <a:pt x="47575" y="114533"/>
                  <a:pt x="41672" y="111190"/>
                  <a:pt x="41672" y="105807"/>
                </a:cubicBezTo>
                <a:lnTo>
                  <a:pt x="41672" y="83344"/>
                </a:lnTo>
                <a:cubicBezTo>
                  <a:pt x="41672" y="75682"/>
                  <a:pt x="35443" y="69453"/>
                  <a:pt x="27781" y="69453"/>
                </a:cubicBezTo>
                <a:lnTo>
                  <a:pt x="27760" y="69453"/>
                </a:lnTo>
                <a:close/>
                <a:moveTo>
                  <a:pt x="86816" y="34727"/>
                </a:moveTo>
                <a:cubicBezTo>
                  <a:pt x="86816" y="28977"/>
                  <a:pt x="82148" y="24309"/>
                  <a:pt x="76398" y="24309"/>
                </a:cubicBezTo>
                <a:cubicBezTo>
                  <a:pt x="70649" y="24309"/>
                  <a:pt x="65980" y="28977"/>
                  <a:pt x="65980" y="34727"/>
                </a:cubicBezTo>
                <a:cubicBezTo>
                  <a:pt x="65980" y="40476"/>
                  <a:pt x="70649" y="45145"/>
                  <a:pt x="76398" y="45145"/>
                </a:cubicBezTo>
                <a:cubicBezTo>
                  <a:pt x="82148" y="45145"/>
                  <a:pt x="86816" y="40476"/>
                  <a:pt x="86816" y="3472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1" name="Text 38"/>
          <p:cNvSpPr/>
          <p:nvPr/>
        </p:nvSpPr>
        <p:spPr>
          <a:xfrm>
            <a:off x="7629128" y="4708196"/>
            <a:ext cx="436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Heroku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8149630" y="4733593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14303" y="49594"/>
                </a:moveTo>
                <a:cubicBezTo>
                  <a:pt x="17190" y="29409"/>
                  <a:pt x="34575" y="13891"/>
                  <a:pt x="55563" y="13891"/>
                </a:cubicBezTo>
                <a:cubicBezTo>
                  <a:pt x="67066" y="13891"/>
                  <a:pt x="77484" y="18557"/>
                  <a:pt x="85037" y="26088"/>
                </a:cubicBezTo>
                <a:cubicBezTo>
                  <a:pt x="85080" y="26132"/>
                  <a:pt x="85123" y="26175"/>
                  <a:pt x="85167" y="26219"/>
                </a:cubicBezTo>
                <a:lnTo>
                  <a:pt x="86816" y="27781"/>
                </a:lnTo>
                <a:lnTo>
                  <a:pt x="76420" y="27781"/>
                </a:lnTo>
                <a:cubicBezTo>
                  <a:pt x="72579" y="27781"/>
                  <a:pt x="69475" y="30885"/>
                  <a:pt x="69475" y="34727"/>
                </a:cubicBezTo>
                <a:cubicBezTo>
                  <a:pt x="69475" y="38568"/>
                  <a:pt x="72579" y="41672"/>
                  <a:pt x="76420" y="41672"/>
                </a:cubicBezTo>
                <a:lnTo>
                  <a:pt x="104201" y="41672"/>
                </a:lnTo>
                <a:cubicBezTo>
                  <a:pt x="108043" y="41672"/>
                  <a:pt x="111147" y="38568"/>
                  <a:pt x="111147" y="34727"/>
                </a:cubicBezTo>
                <a:lnTo>
                  <a:pt x="111147" y="6945"/>
                </a:lnTo>
                <a:cubicBezTo>
                  <a:pt x="111147" y="3104"/>
                  <a:pt x="108043" y="0"/>
                  <a:pt x="104201" y="0"/>
                </a:cubicBezTo>
                <a:cubicBezTo>
                  <a:pt x="100360" y="0"/>
                  <a:pt x="97256" y="3104"/>
                  <a:pt x="97256" y="6945"/>
                </a:cubicBezTo>
                <a:lnTo>
                  <a:pt x="97256" y="18535"/>
                </a:lnTo>
                <a:lnTo>
                  <a:pt x="94804" y="16213"/>
                </a:lnTo>
                <a:cubicBezTo>
                  <a:pt x="84755" y="6207"/>
                  <a:pt x="70864" y="0"/>
                  <a:pt x="55563" y="0"/>
                </a:cubicBezTo>
                <a:cubicBezTo>
                  <a:pt x="27564" y="0"/>
                  <a:pt x="4406" y="20706"/>
                  <a:pt x="564" y="47641"/>
                </a:cubicBezTo>
                <a:cubicBezTo>
                  <a:pt x="22" y="51439"/>
                  <a:pt x="2648" y="54955"/>
                  <a:pt x="6446" y="55497"/>
                </a:cubicBezTo>
                <a:cubicBezTo>
                  <a:pt x="10244" y="56040"/>
                  <a:pt x="13760" y="53392"/>
                  <a:pt x="14303" y="49616"/>
                </a:cubicBezTo>
                <a:close/>
                <a:moveTo>
                  <a:pt x="110561" y="63484"/>
                </a:moveTo>
                <a:cubicBezTo>
                  <a:pt x="111103" y="59686"/>
                  <a:pt x="108455" y="56170"/>
                  <a:pt x="104679" y="55628"/>
                </a:cubicBezTo>
                <a:cubicBezTo>
                  <a:pt x="100902" y="55085"/>
                  <a:pt x="97365" y="57733"/>
                  <a:pt x="96822" y="61509"/>
                </a:cubicBezTo>
                <a:cubicBezTo>
                  <a:pt x="93935" y="81694"/>
                  <a:pt x="76550" y="97213"/>
                  <a:pt x="55563" y="97213"/>
                </a:cubicBezTo>
                <a:cubicBezTo>
                  <a:pt x="44059" y="97213"/>
                  <a:pt x="33641" y="92546"/>
                  <a:pt x="26088" y="85015"/>
                </a:cubicBezTo>
                <a:cubicBezTo>
                  <a:pt x="26045" y="84972"/>
                  <a:pt x="26002" y="84928"/>
                  <a:pt x="25958" y="84885"/>
                </a:cubicBezTo>
                <a:lnTo>
                  <a:pt x="24309" y="83322"/>
                </a:lnTo>
                <a:lnTo>
                  <a:pt x="34705" y="83322"/>
                </a:lnTo>
                <a:cubicBezTo>
                  <a:pt x="38546" y="83322"/>
                  <a:pt x="41650" y="80218"/>
                  <a:pt x="41650" y="76377"/>
                </a:cubicBezTo>
                <a:cubicBezTo>
                  <a:pt x="41650" y="72535"/>
                  <a:pt x="38546" y="69431"/>
                  <a:pt x="34705" y="69431"/>
                </a:cubicBezTo>
                <a:lnTo>
                  <a:pt x="6945" y="69453"/>
                </a:lnTo>
                <a:cubicBezTo>
                  <a:pt x="5100" y="69453"/>
                  <a:pt x="3321" y="70191"/>
                  <a:pt x="2018" y="71515"/>
                </a:cubicBezTo>
                <a:cubicBezTo>
                  <a:pt x="716" y="72839"/>
                  <a:pt x="-22" y="74597"/>
                  <a:pt x="0" y="76464"/>
                </a:cubicBezTo>
                <a:lnTo>
                  <a:pt x="217" y="104028"/>
                </a:lnTo>
                <a:cubicBezTo>
                  <a:pt x="239" y="107869"/>
                  <a:pt x="3386" y="110951"/>
                  <a:pt x="7227" y="110908"/>
                </a:cubicBezTo>
                <a:cubicBezTo>
                  <a:pt x="11069" y="110865"/>
                  <a:pt x="14151" y="107739"/>
                  <a:pt x="14108" y="103898"/>
                </a:cubicBezTo>
                <a:lnTo>
                  <a:pt x="14021" y="92720"/>
                </a:lnTo>
                <a:lnTo>
                  <a:pt x="16343" y="94912"/>
                </a:lnTo>
                <a:cubicBezTo>
                  <a:pt x="26392" y="104918"/>
                  <a:pt x="40261" y="111125"/>
                  <a:pt x="55563" y="111125"/>
                </a:cubicBezTo>
                <a:cubicBezTo>
                  <a:pt x="83561" y="111125"/>
                  <a:pt x="106719" y="90419"/>
                  <a:pt x="110561" y="6348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3" name="Text 40"/>
          <p:cNvSpPr/>
          <p:nvPr/>
        </p:nvSpPr>
        <p:spPr>
          <a:xfrm>
            <a:off x="8316317" y="4708196"/>
            <a:ext cx="635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 Engine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5234330" y="4918336"/>
            <a:ext cx="6643688" cy="1851174"/>
          </a:xfrm>
          <a:custGeom>
            <a:avLst/>
            <a:gdLst/>
            <a:ahLst/>
            <a:cxnLst/>
            <a:rect l="l" t="t" r="r" b="b"/>
            <a:pathLst>
              <a:path w="6643688" h="2254250">
                <a:moveTo>
                  <a:pt x="31750" y="0"/>
                </a:moveTo>
                <a:lnTo>
                  <a:pt x="6548445" y="0"/>
                </a:lnTo>
                <a:cubicBezTo>
                  <a:pt x="6601046" y="0"/>
                  <a:pt x="6643688" y="42641"/>
                  <a:pt x="6643688" y="95242"/>
                </a:cubicBezTo>
                <a:lnTo>
                  <a:pt x="6643688" y="2159008"/>
                </a:lnTo>
                <a:cubicBezTo>
                  <a:pt x="6643688" y="2211609"/>
                  <a:pt x="6601046" y="2254250"/>
                  <a:pt x="6548445" y="2254250"/>
                </a:cubicBezTo>
                <a:lnTo>
                  <a:pt x="31750" y="2254250"/>
                </a:lnTo>
                <a:cubicBezTo>
                  <a:pt x="14227" y="2254250"/>
                  <a:pt x="0" y="2240023"/>
                  <a:pt x="0" y="2222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45" name="Shape 42"/>
          <p:cNvSpPr/>
          <p:nvPr/>
        </p:nvSpPr>
        <p:spPr>
          <a:xfrm>
            <a:off x="5234330" y="4918336"/>
            <a:ext cx="31750" cy="1851174"/>
          </a:xfrm>
          <a:custGeom>
            <a:avLst/>
            <a:gdLst/>
            <a:ahLst/>
            <a:cxnLst/>
            <a:rect l="l" t="t" r="r" b="b"/>
            <a:pathLst>
              <a:path w="31750" h="2254250">
                <a:moveTo>
                  <a:pt x="31750" y="0"/>
                </a:moveTo>
                <a:lnTo>
                  <a:pt x="31750" y="0"/>
                </a:lnTo>
                <a:lnTo>
                  <a:pt x="31750" y="2254250"/>
                </a:lnTo>
                <a:lnTo>
                  <a:pt x="31750" y="2254250"/>
                </a:lnTo>
                <a:cubicBezTo>
                  <a:pt x="14227" y="2254250"/>
                  <a:pt x="0" y="2240023"/>
                  <a:pt x="0" y="2222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6" name="Shape 43"/>
          <p:cNvSpPr/>
          <p:nvPr/>
        </p:nvSpPr>
        <p:spPr>
          <a:xfrm>
            <a:off x="5377205" y="4978909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95250" y="0"/>
                </a:moveTo>
                <a:lnTo>
                  <a:pt x="412750" y="0"/>
                </a:lnTo>
                <a:cubicBezTo>
                  <a:pt x="465320" y="0"/>
                  <a:pt x="508000" y="42680"/>
                  <a:pt x="508000" y="95250"/>
                </a:cubicBezTo>
                <a:lnTo>
                  <a:pt x="508000" y="412750"/>
                </a:lnTo>
                <a:cubicBezTo>
                  <a:pt x="508000" y="465320"/>
                  <a:pt x="465320" y="508000"/>
                  <a:pt x="412750" y="508000"/>
                </a:cubicBezTo>
                <a:lnTo>
                  <a:pt x="95250" y="508000"/>
                </a:lnTo>
                <a:cubicBezTo>
                  <a:pt x="42680" y="508000"/>
                  <a:pt x="0" y="465320"/>
                  <a:pt x="0" y="412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7" name="Text 44"/>
          <p:cNvSpPr/>
          <p:nvPr/>
        </p:nvSpPr>
        <p:spPr>
          <a:xfrm>
            <a:off x="5416694" y="5105909"/>
            <a:ext cx="5238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SaaS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6012205" y="4978909"/>
            <a:ext cx="58340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Software as a Service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6012205" y="5296312"/>
            <a:ext cx="58023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Delivers </a:t>
            </a: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fully managed software applications</a:t>
            </a:r>
            <a:r>
              <a:rPr lang="en-US" sz="10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over the internet. Users simply log in through a browser, eliminating the need for installation, maintenance, or management.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6015380" y="5807487"/>
            <a:ext cx="2816225" cy="704850"/>
          </a:xfrm>
          <a:custGeom>
            <a:avLst/>
            <a:gdLst/>
            <a:ahLst/>
            <a:cxnLst/>
            <a:rect l="l" t="t" r="r" b="b"/>
            <a:pathLst>
              <a:path w="2816225" h="704850">
                <a:moveTo>
                  <a:pt x="63500" y="0"/>
                </a:moveTo>
                <a:lnTo>
                  <a:pt x="2752725" y="0"/>
                </a:lnTo>
                <a:cubicBezTo>
                  <a:pt x="2787795" y="0"/>
                  <a:pt x="2816225" y="28430"/>
                  <a:pt x="2816225" y="63500"/>
                </a:cubicBezTo>
                <a:lnTo>
                  <a:pt x="2816225" y="641350"/>
                </a:lnTo>
                <a:cubicBezTo>
                  <a:pt x="2816225" y="676420"/>
                  <a:pt x="2787795" y="704850"/>
                  <a:pt x="2752725" y="704850"/>
                </a:cubicBezTo>
                <a:lnTo>
                  <a:pt x="63500" y="704850"/>
                </a:lnTo>
                <a:cubicBezTo>
                  <a:pt x="28430" y="704850"/>
                  <a:pt x="0" y="676420"/>
                  <a:pt x="0" y="641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113805" y="5905910"/>
            <a:ext cx="267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Manages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6113805" y="6096410"/>
            <a:ext cx="267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Nothing—just use the application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8932510" y="5807487"/>
            <a:ext cx="2816225" cy="704850"/>
          </a:xfrm>
          <a:custGeom>
            <a:avLst/>
            <a:gdLst/>
            <a:ahLst/>
            <a:cxnLst/>
            <a:rect l="l" t="t" r="r" b="b"/>
            <a:pathLst>
              <a:path w="2816225" h="704850">
                <a:moveTo>
                  <a:pt x="63500" y="0"/>
                </a:moveTo>
                <a:lnTo>
                  <a:pt x="2752725" y="0"/>
                </a:lnTo>
                <a:cubicBezTo>
                  <a:pt x="2787795" y="0"/>
                  <a:pt x="2816225" y="28430"/>
                  <a:pt x="2816225" y="63500"/>
                </a:cubicBezTo>
                <a:lnTo>
                  <a:pt x="2816225" y="641350"/>
                </a:lnTo>
                <a:cubicBezTo>
                  <a:pt x="2816225" y="676420"/>
                  <a:pt x="2787795" y="704850"/>
                  <a:pt x="2752725" y="704850"/>
                </a:cubicBezTo>
                <a:lnTo>
                  <a:pt x="63500" y="704850"/>
                </a:lnTo>
                <a:cubicBezTo>
                  <a:pt x="28430" y="704850"/>
                  <a:pt x="0" y="676420"/>
                  <a:pt x="0" y="641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9030936" y="5905910"/>
            <a:ext cx="267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Provider Manages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9030936" y="6096410"/>
            <a:ext cx="2674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Everything: Application, Data, Runtime, Middleware, OS, Infrastructure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6028080" y="6636160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10418" y="13891"/>
                </a:moveTo>
                <a:cubicBezTo>
                  <a:pt x="4666" y="13891"/>
                  <a:pt x="0" y="18557"/>
                  <a:pt x="0" y="24309"/>
                </a:cubicBezTo>
                <a:cubicBezTo>
                  <a:pt x="0" y="27586"/>
                  <a:pt x="1541" y="30668"/>
                  <a:pt x="4167" y="32643"/>
                </a:cubicBezTo>
                <a:lnTo>
                  <a:pt x="49312" y="66501"/>
                </a:lnTo>
                <a:cubicBezTo>
                  <a:pt x="53023" y="69279"/>
                  <a:pt x="58102" y="69279"/>
                  <a:pt x="61813" y="66501"/>
                </a:cubicBezTo>
                <a:lnTo>
                  <a:pt x="106958" y="32643"/>
                </a:lnTo>
                <a:cubicBezTo>
                  <a:pt x="109584" y="30668"/>
                  <a:pt x="111125" y="27586"/>
                  <a:pt x="111125" y="24309"/>
                </a:cubicBezTo>
                <a:cubicBezTo>
                  <a:pt x="111125" y="18557"/>
                  <a:pt x="106459" y="13891"/>
                  <a:pt x="100707" y="13891"/>
                </a:cubicBezTo>
                <a:lnTo>
                  <a:pt x="10418" y="13891"/>
                </a:lnTo>
                <a:close/>
                <a:moveTo>
                  <a:pt x="0" y="42540"/>
                </a:moveTo>
                <a:lnTo>
                  <a:pt x="0" y="83344"/>
                </a:lnTo>
                <a:cubicBezTo>
                  <a:pt x="0" y="91005"/>
                  <a:pt x="6229" y="97234"/>
                  <a:pt x="13891" y="97234"/>
                </a:cubicBezTo>
                <a:lnTo>
                  <a:pt x="97234" y="97234"/>
                </a:lnTo>
                <a:cubicBezTo>
                  <a:pt x="104896" y="97234"/>
                  <a:pt x="111125" y="91005"/>
                  <a:pt x="111125" y="83344"/>
                </a:cubicBezTo>
                <a:lnTo>
                  <a:pt x="111125" y="42540"/>
                </a:lnTo>
                <a:lnTo>
                  <a:pt x="68064" y="74836"/>
                </a:lnTo>
                <a:cubicBezTo>
                  <a:pt x="60663" y="80392"/>
                  <a:pt x="50462" y="80392"/>
                  <a:pt x="43061" y="74836"/>
                </a:cubicBezTo>
                <a:lnTo>
                  <a:pt x="0" y="4254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7" name="Text 54"/>
          <p:cNvSpPr/>
          <p:nvPr/>
        </p:nvSpPr>
        <p:spPr>
          <a:xfrm>
            <a:off x="6194768" y="6610759"/>
            <a:ext cx="769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Microsoft 365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7046561" y="6636160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20836" y="13891"/>
                </a:moveTo>
                <a:cubicBezTo>
                  <a:pt x="13174" y="13891"/>
                  <a:pt x="6945" y="20120"/>
                  <a:pt x="6945" y="27781"/>
                </a:cubicBezTo>
                <a:lnTo>
                  <a:pt x="6945" y="83344"/>
                </a:lnTo>
                <a:cubicBezTo>
                  <a:pt x="6945" y="91005"/>
                  <a:pt x="13174" y="97234"/>
                  <a:pt x="20836" y="97234"/>
                </a:cubicBezTo>
                <a:lnTo>
                  <a:pt x="76398" y="97234"/>
                </a:lnTo>
                <a:cubicBezTo>
                  <a:pt x="84060" y="97234"/>
                  <a:pt x="90289" y="91005"/>
                  <a:pt x="90289" y="83344"/>
                </a:cubicBezTo>
                <a:lnTo>
                  <a:pt x="90289" y="27781"/>
                </a:lnTo>
                <a:cubicBezTo>
                  <a:pt x="90289" y="20120"/>
                  <a:pt x="84060" y="13891"/>
                  <a:pt x="76398" y="13891"/>
                </a:cubicBezTo>
                <a:lnTo>
                  <a:pt x="20836" y="13891"/>
                </a:lnTo>
                <a:close/>
                <a:moveTo>
                  <a:pt x="100707" y="72926"/>
                </a:moveTo>
                <a:lnTo>
                  <a:pt x="116660" y="85688"/>
                </a:lnTo>
                <a:cubicBezTo>
                  <a:pt x="117571" y="86426"/>
                  <a:pt x="118700" y="86816"/>
                  <a:pt x="119872" y="86816"/>
                </a:cubicBezTo>
                <a:cubicBezTo>
                  <a:pt x="122715" y="86816"/>
                  <a:pt x="125016" y="84516"/>
                  <a:pt x="125016" y="81673"/>
                </a:cubicBezTo>
                <a:lnTo>
                  <a:pt x="125016" y="29452"/>
                </a:lnTo>
                <a:cubicBezTo>
                  <a:pt x="125016" y="26609"/>
                  <a:pt x="122715" y="24309"/>
                  <a:pt x="119872" y="24309"/>
                </a:cubicBezTo>
                <a:cubicBezTo>
                  <a:pt x="118700" y="24309"/>
                  <a:pt x="117571" y="24699"/>
                  <a:pt x="116660" y="25437"/>
                </a:cubicBezTo>
                <a:lnTo>
                  <a:pt x="100707" y="38199"/>
                </a:lnTo>
                <a:lnTo>
                  <a:pt x="100707" y="72926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9" name="Text 56"/>
          <p:cNvSpPr/>
          <p:nvPr/>
        </p:nvSpPr>
        <p:spPr>
          <a:xfrm>
            <a:off x="7220193" y="6610759"/>
            <a:ext cx="357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Zoom</a:t>
            </a:r>
            <a:endParaRPr lang="en-US" sz="1600" dirty="0"/>
          </a:p>
        </p:txBody>
      </p:sp>
      <p:sp>
        <p:nvSpPr>
          <p:cNvPr id="60" name="Shape 57"/>
          <p:cNvSpPr/>
          <p:nvPr/>
        </p:nvSpPr>
        <p:spPr>
          <a:xfrm>
            <a:off x="7666281" y="6636160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14303" y="49594"/>
                </a:moveTo>
                <a:cubicBezTo>
                  <a:pt x="17190" y="29409"/>
                  <a:pt x="34575" y="13891"/>
                  <a:pt x="55563" y="13891"/>
                </a:cubicBezTo>
                <a:cubicBezTo>
                  <a:pt x="67066" y="13891"/>
                  <a:pt x="77484" y="18557"/>
                  <a:pt x="85037" y="26088"/>
                </a:cubicBezTo>
                <a:cubicBezTo>
                  <a:pt x="85080" y="26132"/>
                  <a:pt x="85123" y="26175"/>
                  <a:pt x="85167" y="26219"/>
                </a:cubicBezTo>
                <a:lnTo>
                  <a:pt x="86816" y="27781"/>
                </a:lnTo>
                <a:lnTo>
                  <a:pt x="76420" y="27781"/>
                </a:lnTo>
                <a:cubicBezTo>
                  <a:pt x="72579" y="27781"/>
                  <a:pt x="69475" y="30885"/>
                  <a:pt x="69475" y="34727"/>
                </a:cubicBezTo>
                <a:cubicBezTo>
                  <a:pt x="69475" y="38568"/>
                  <a:pt x="72579" y="41672"/>
                  <a:pt x="76420" y="41672"/>
                </a:cubicBezTo>
                <a:lnTo>
                  <a:pt x="104201" y="41672"/>
                </a:lnTo>
                <a:cubicBezTo>
                  <a:pt x="108043" y="41672"/>
                  <a:pt x="111147" y="38568"/>
                  <a:pt x="111147" y="34727"/>
                </a:cubicBezTo>
                <a:lnTo>
                  <a:pt x="111147" y="6945"/>
                </a:lnTo>
                <a:cubicBezTo>
                  <a:pt x="111147" y="3104"/>
                  <a:pt x="108043" y="0"/>
                  <a:pt x="104201" y="0"/>
                </a:cubicBezTo>
                <a:cubicBezTo>
                  <a:pt x="100360" y="0"/>
                  <a:pt x="97256" y="3104"/>
                  <a:pt x="97256" y="6945"/>
                </a:cubicBezTo>
                <a:lnTo>
                  <a:pt x="97256" y="18535"/>
                </a:lnTo>
                <a:lnTo>
                  <a:pt x="94804" y="16213"/>
                </a:lnTo>
                <a:cubicBezTo>
                  <a:pt x="84755" y="6207"/>
                  <a:pt x="70864" y="0"/>
                  <a:pt x="55563" y="0"/>
                </a:cubicBezTo>
                <a:cubicBezTo>
                  <a:pt x="27564" y="0"/>
                  <a:pt x="4406" y="20706"/>
                  <a:pt x="564" y="47641"/>
                </a:cubicBezTo>
                <a:cubicBezTo>
                  <a:pt x="22" y="51439"/>
                  <a:pt x="2648" y="54955"/>
                  <a:pt x="6446" y="55497"/>
                </a:cubicBezTo>
                <a:cubicBezTo>
                  <a:pt x="10244" y="56040"/>
                  <a:pt x="13760" y="53392"/>
                  <a:pt x="14303" y="49616"/>
                </a:cubicBezTo>
                <a:close/>
                <a:moveTo>
                  <a:pt x="110561" y="63484"/>
                </a:moveTo>
                <a:cubicBezTo>
                  <a:pt x="111103" y="59686"/>
                  <a:pt x="108455" y="56170"/>
                  <a:pt x="104679" y="55628"/>
                </a:cubicBezTo>
                <a:cubicBezTo>
                  <a:pt x="100902" y="55085"/>
                  <a:pt x="97365" y="57733"/>
                  <a:pt x="96822" y="61509"/>
                </a:cubicBezTo>
                <a:cubicBezTo>
                  <a:pt x="93935" y="81694"/>
                  <a:pt x="76550" y="97213"/>
                  <a:pt x="55563" y="97213"/>
                </a:cubicBezTo>
                <a:cubicBezTo>
                  <a:pt x="44059" y="97213"/>
                  <a:pt x="33641" y="92546"/>
                  <a:pt x="26088" y="85015"/>
                </a:cubicBezTo>
                <a:cubicBezTo>
                  <a:pt x="26045" y="84972"/>
                  <a:pt x="26002" y="84928"/>
                  <a:pt x="25958" y="84885"/>
                </a:cubicBezTo>
                <a:lnTo>
                  <a:pt x="24309" y="83322"/>
                </a:lnTo>
                <a:lnTo>
                  <a:pt x="34705" y="83322"/>
                </a:lnTo>
                <a:cubicBezTo>
                  <a:pt x="38546" y="83322"/>
                  <a:pt x="41650" y="80218"/>
                  <a:pt x="41650" y="76377"/>
                </a:cubicBezTo>
                <a:cubicBezTo>
                  <a:pt x="41650" y="72535"/>
                  <a:pt x="38546" y="69431"/>
                  <a:pt x="34705" y="69431"/>
                </a:cubicBezTo>
                <a:lnTo>
                  <a:pt x="6945" y="69453"/>
                </a:lnTo>
                <a:cubicBezTo>
                  <a:pt x="5100" y="69453"/>
                  <a:pt x="3321" y="70191"/>
                  <a:pt x="2018" y="71515"/>
                </a:cubicBezTo>
                <a:cubicBezTo>
                  <a:pt x="716" y="72839"/>
                  <a:pt x="-22" y="74597"/>
                  <a:pt x="0" y="76464"/>
                </a:cubicBezTo>
                <a:lnTo>
                  <a:pt x="217" y="104028"/>
                </a:lnTo>
                <a:cubicBezTo>
                  <a:pt x="239" y="107869"/>
                  <a:pt x="3386" y="110951"/>
                  <a:pt x="7227" y="110908"/>
                </a:cubicBezTo>
                <a:cubicBezTo>
                  <a:pt x="11069" y="110865"/>
                  <a:pt x="14151" y="107739"/>
                  <a:pt x="14108" y="103898"/>
                </a:cubicBezTo>
                <a:lnTo>
                  <a:pt x="14021" y="92720"/>
                </a:lnTo>
                <a:lnTo>
                  <a:pt x="16343" y="94912"/>
                </a:lnTo>
                <a:cubicBezTo>
                  <a:pt x="26392" y="104918"/>
                  <a:pt x="40261" y="111125"/>
                  <a:pt x="55563" y="111125"/>
                </a:cubicBezTo>
                <a:cubicBezTo>
                  <a:pt x="83561" y="111125"/>
                  <a:pt x="106719" y="90419"/>
                  <a:pt x="110561" y="6348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1" name="Text 58"/>
          <p:cNvSpPr/>
          <p:nvPr/>
        </p:nvSpPr>
        <p:spPr>
          <a:xfrm>
            <a:off x="7832968" y="6610759"/>
            <a:ext cx="595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Salesforce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3398" y="363398"/>
            <a:ext cx="11528799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b="1" kern="0" spc="5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03 • CLOUD TERMINOLOGY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3398" y="617776"/>
            <a:ext cx="11628733" cy="363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7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Deployment Models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3398" y="1053854"/>
            <a:ext cx="11546969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Four approaches to deploying cloud infrastructure based on organizational needs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568" y="1380912"/>
            <a:ext cx="5659923" cy="2689145"/>
          </a:xfrm>
          <a:custGeom>
            <a:avLst/>
            <a:gdLst/>
            <a:ahLst/>
            <a:cxnLst/>
            <a:rect l="l" t="t" r="r" b="b"/>
            <a:pathLst>
              <a:path w="5659923" h="2689145">
                <a:moveTo>
                  <a:pt x="36340" y="0"/>
                </a:moveTo>
                <a:lnTo>
                  <a:pt x="5550905" y="0"/>
                </a:lnTo>
                <a:cubicBezTo>
                  <a:pt x="5611114" y="0"/>
                  <a:pt x="5659923" y="48809"/>
                  <a:pt x="5659923" y="109018"/>
                </a:cubicBezTo>
                <a:lnTo>
                  <a:pt x="5659923" y="2580127"/>
                </a:lnTo>
                <a:cubicBezTo>
                  <a:pt x="5659923" y="2640336"/>
                  <a:pt x="5611114" y="2689145"/>
                  <a:pt x="5550905" y="2689145"/>
                </a:cubicBezTo>
                <a:lnTo>
                  <a:pt x="36340" y="2689145"/>
                </a:lnTo>
                <a:cubicBezTo>
                  <a:pt x="16270" y="2689145"/>
                  <a:pt x="0" y="2672875"/>
                  <a:pt x="0" y="2652805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6" name="Shape 4"/>
          <p:cNvSpPr/>
          <p:nvPr/>
        </p:nvSpPr>
        <p:spPr>
          <a:xfrm>
            <a:off x="381568" y="1380912"/>
            <a:ext cx="36340" cy="2689145"/>
          </a:xfrm>
          <a:custGeom>
            <a:avLst/>
            <a:gdLst/>
            <a:ahLst/>
            <a:cxnLst/>
            <a:rect l="l" t="t" r="r" b="b"/>
            <a:pathLst>
              <a:path w="36340" h="2689145">
                <a:moveTo>
                  <a:pt x="36340" y="0"/>
                </a:moveTo>
                <a:lnTo>
                  <a:pt x="36340" y="0"/>
                </a:lnTo>
                <a:lnTo>
                  <a:pt x="36340" y="2689145"/>
                </a:lnTo>
                <a:lnTo>
                  <a:pt x="36340" y="2689145"/>
                </a:lnTo>
                <a:cubicBezTo>
                  <a:pt x="16270" y="2689145"/>
                  <a:pt x="0" y="2672875"/>
                  <a:pt x="0" y="2652805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7" name="Shape 5"/>
          <p:cNvSpPr/>
          <p:nvPr/>
        </p:nvSpPr>
        <p:spPr>
          <a:xfrm>
            <a:off x="545097" y="1526271"/>
            <a:ext cx="508757" cy="508757"/>
          </a:xfrm>
          <a:custGeom>
            <a:avLst/>
            <a:gdLst/>
            <a:ahLst/>
            <a:cxnLst/>
            <a:rect l="l" t="t" r="r" b="b"/>
            <a:pathLst>
              <a:path w="508757" h="508757">
                <a:moveTo>
                  <a:pt x="109022" y="0"/>
                </a:moveTo>
                <a:lnTo>
                  <a:pt x="399736" y="0"/>
                </a:lnTo>
                <a:cubicBezTo>
                  <a:pt x="459946" y="0"/>
                  <a:pt x="508757" y="48811"/>
                  <a:pt x="508757" y="109022"/>
                </a:cubicBezTo>
                <a:lnTo>
                  <a:pt x="508757" y="399736"/>
                </a:lnTo>
                <a:cubicBezTo>
                  <a:pt x="508757" y="459946"/>
                  <a:pt x="459946" y="508757"/>
                  <a:pt x="399736" y="508757"/>
                </a:cubicBezTo>
                <a:lnTo>
                  <a:pt x="109022" y="508757"/>
                </a:lnTo>
                <a:cubicBezTo>
                  <a:pt x="48811" y="508757"/>
                  <a:pt x="0" y="459946"/>
                  <a:pt x="0" y="399736"/>
                </a:cubicBezTo>
                <a:lnTo>
                  <a:pt x="0" y="109022"/>
                </a:lnTo>
                <a:cubicBezTo>
                  <a:pt x="0" y="48811"/>
                  <a:pt x="48811" y="0"/>
                  <a:pt x="109022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8" name="Shape 6"/>
          <p:cNvSpPr/>
          <p:nvPr/>
        </p:nvSpPr>
        <p:spPr>
          <a:xfrm>
            <a:off x="676829" y="1671630"/>
            <a:ext cx="245294" cy="218039"/>
          </a:xfrm>
          <a:custGeom>
            <a:avLst/>
            <a:gdLst/>
            <a:ahLst/>
            <a:cxnLst/>
            <a:rect l="l" t="t" r="r" b="b"/>
            <a:pathLst>
              <a:path w="245294" h="218039">
                <a:moveTo>
                  <a:pt x="0" y="143088"/>
                </a:moveTo>
                <a:cubicBezTo>
                  <a:pt x="0" y="176944"/>
                  <a:pt x="27468" y="204411"/>
                  <a:pt x="61323" y="204411"/>
                </a:cubicBezTo>
                <a:lnTo>
                  <a:pt x="190784" y="204411"/>
                </a:lnTo>
                <a:cubicBezTo>
                  <a:pt x="220892" y="204411"/>
                  <a:pt x="245294" y="180010"/>
                  <a:pt x="245294" y="149902"/>
                </a:cubicBezTo>
                <a:cubicBezTo>
                  <a:pt x="245294" y="127927"/>
                  <a:pt x="232305" y="108977"/>
                  <a:pt x="213567" y="100374"/>
                </a:cubicBezTo>
                <a:cubicBezTo>
                  <a:pt x="216420" y="94796"/>
                  <a:pt x="218039" y="88450"/>
                  <a:pt x="218039" y="81765"/>
                </a:cubicBezTo>
                <a:cubicBezTo>
                  <a:pt x="218039" y="59194"/>
                  <a:pt x="199727" y="40882"/>
                  <a:pt x="177156" y="40882"/>
                </a:cubicBezTo>
                <a:cubicBezTo>
                  <a:pt x="169619" y="40882"/>
                  <a:pt x="162592" y="42926"/>
                  <a:pt x="156545" y="46461"/>
                </a:cubicBezTo>
                <a:cubicBezTo>
                  <a:pt x="146282" y="26957"/>
                  <a:pt x="125798" y="13627"/>
                  <a:pt x="102206" y="13627"/>
                </a:cubicBezTo>
                <a:cubicBezTo>
                  <a:pt x="68350" y="13627"/>
                  <a:pt x="40882" y="41095"/>
                  <a:pt x="40882" y="74951"/>
                </a:cubicBezTo>
                <a:cubicBezTo>
                  <a:pt x="40882" y="78358"/>
                  <a:pt x="41180" y="81722"/>
                  <a:pt x="41691" y="84958"/>
                </a:cubicBezTo>
                <a:cubicBezTo>
                  <a:pt x="17460" y="93135"/>
                  <a:pt x="0" y="116089"/>
                  <a:pt x="0" y="14308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162873" y="1526271"/>
            <a:ext cx="1471762" cy="290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Cloud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62873" y="1816874"/>
            <a:ext cx="1435422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Shared Infrastructure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5097" y="2144048"/>
            <a:ext cx="5423714" cy="708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5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Infrastructure is </a:t>
            </a:r>
            <a:r>
              <a:rPr lang="en-US" sz="114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owned and operated by third-party providers</a:t>
            </a:r>
            <a:r>
              <a:rPr lang="en-US" sz="1145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(AWS, Azure, GCP) and resources are shared across multiple tenants. Ideal for general-purpose workloads requiring high scalability.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3267" y="2988948"/>
            <a:ext cx="127189" cy="127189"/>
          </a:xfrm>
          <a:custGeom>
            <a:avLst/>
            <a:gdLst/>
            <a:ahLst/>
            <a:cxnLst/>
            <a:rect l="l" t="t" r="r" b="b"/>
            <a:pathLst>
              <a:path w="127189" h="127189">
                <a:moveTo>
                  <a:pt x="63595" y="127189"/>
                </a:moveTo>
                <a:cubicBezTo>
                  <a:pt x="98693" y="127189"/>
                  <a:pt x="127189" y="98693"/>
                  <a:pt x="127189" y="63595"/>
                </a:cubicBezTo>
                <a:cubicBezTo>
                  <a:pt x="127189" y="28496"/>
                  <a:pt x="98693" y="0"/>
                  <a:pt x="63595" y="0"/>
                </a:cubicBezTo>
                <a:cubicBezTo>
                  <a:pt x="28496" y="0"/>
                  <a:pt x="0" y="28496"/>
                  <a:pt x="0" y="63595"/>
                </a:cubicBezTo>
                <a:cubicBezTo>
                  <a:pt x="0" y="98693"/>
                  <a:pt x="28496" y="127189"/>
                  <a:pt x="63595" y="127189"/>
                </a:cubicBezTo>
                <a:close/>
                <a:moveTo>
                  <a:pt x="84561" y="52838"/>
                </a:moveTo>
                <a:lnTo>
                  <a:pt x="64688" y="84636"/>
                </a:lnTo>
                <a:cubicBezTo>
                  <a:pt x="63644" y="86300"/>
                  <a:pt x="61856" y="87343"/>
                  <a:pt x="59893" y="87443"/>
                </a:cubicBezTo>
                <a:cubicBezTo>
                  <a:pt x="57931" y="87542"/>
                  <a:pt x="56043" y="86648"/>
                  <a:pt x="54875" y="85058"/>
                </a:cubicBezTo>
                <a:lnTo>
                  <a:pt x="42951" y="69159"/>
                </a:lnTo>
                <a:cubicBezTo>
                  <a:pt x="40964" y="66526"/>
                  <a:pt x="41510" y="62800"/>
                  <a:pt x="44144" y="60812"/>
                </a:cubicBezTo>
                <a:cubicBezTo>
                  <a:pt x="46777" y="58825"/>
                  <a:pt x="50503" y="59372"/>
                  <a:pt x="52490" y="62005"/>
                </a:cubicBezTo>
                <a:lnTo>
                  <a:pt x="59198" y="70948"/>
                </a:lnTo>
                <a:lnTo>
                  <a:pt x="74450" y="46528"/>
                </a:lnTo>
                <a:cubicBezTo>
                  <a:pt x="76189" y="43746"/>
                  <a:pt x="79866" y="42877"/>
                  <a:pt x="82673" y="44640"/>
                </a:cubicBezTo>
                <a:cubicBezTo>
                  <a:pt x="85480" y="46404"/>
                  <a:pt x="86325" y="50056"/>
                  <a:pt x="84561" y="5286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776763" y="2961693"/>
            <a:ext cx="3061627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Pros:</a:t>
            </a:r>
            <a:r>
              <a:rPr lang="en-US" sz="100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High scalability, pay-as-you-go, no maintenance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3267" y="3243326"/>
            <a:ext cx="127189" cy="127189"/>
          </a:xfrm>
          <a:custGeom>
            <a:avLst/>
            <a:gdLst/>
            <a:ahLst/>
            <a:cxnLst/>
            <a:rect l="l" t="t" r="r" b="b"/>
            <a:pathLst>
              <a:path w="127189" h="127189">
                <a:moveTo>
                  <a:pt x="63595" y="127189"/>
                </a:moveTo>
                <a:cubicBezTo>
                  <a:pt x="98693" y="127189"/>
                  <a:pt x="127189" y="98693"/>
                  <a:pt x="127189" y="63595"/>
                </a:cubicBezTo>
                <a:cubicBezTo>
                  <a:pt x="127189" y="28496"/>
                  <a:pt x="98693" y="0"/>
                  <a:pt x="63595" y="0"/>
                </a:cubicBezTo>
                <a:cubicBezTo>
                  <a:pt x="28496" y="0"/>
                  <a:pt x="0" y="28496"/>
                  <a:pt x="0" y="63595"/>
                </a:cubicBezTo>
                <a:cubicBezTo>
                  <a:pt x="0" y="98693"/>
                  <a:pt x="28496" y="127189"/>
                  <a:pt x="63595" y="127189"/>
                </a:cubicBezTo>
                <a:close/>
                <a:moveTo>
                  <a:pt x="63595" y="33785"/>
                </a:moveTo>
                <a:cubicBezTo>
                  <a:pt x="66899" y="33785"/>
                  <a:pt x="69557" y="36443"/>
                  <a:pt x="69557" y="39747"/>
                </a:cubicBezTo>
                <a:lnTo>
                  <a:pt x="69557" y="67569"/>
                </a:lnTo>
                <a:cubicBezTo>
                  <a:pt x="69557" y="70873"/>
                  <a:pt x="66899" y="73531"/>
                  <a:pt x="63595" y="73531"/>
                </a:cubicBezTo>
                <a:cubicBezTo>
                  <a:pt x="60291" y="73531"/>
                  <a:pt x="57633" y="70873"/>
                  <a:pt x="57633" y="67569"/>
                </a:cubicBezTo>
                <a:lnTo>
                  <a:pt x="57633" y="39747"/>
                </a:lnTo>
                <a:cubicBezTo>
                  <a:pt x="57633" y="36443"/>
                  <a:pt x="60291" y="33785"/>
                  <a:pt x="63595" y="33785"/>
                </a:cubicBezTo>
                <a:close/>
                <a:moveTo>
                  <a:pt x="56962" y="87443"/>
                </a:moveTo>
                <a:cubicBezTo>
                  <a:pt x="56811" y="84981"/>
                  <a:pt x="58039" y="82638"/>
                  <a:pt x="60149" y="81362"/>
                </a:cubicBezTo>
                <a:cubicBezTo>
                  <a:pt x="62260" y="80085"/>
                  <a:pt x="64905" y="80085"/>
                  <a:pt x="67015" y="81362"/>
                </a:cubicBezTo>
                <a:cubicBezTo>
                  <a:pt x="69126" y="82638"/>
                  <a:pt x="70353" y="84981"/>
                  <a:pt x="70203" y="87443"/>
                </a:cubicBezTo>
                <a:cubicBezTo>
                  <a:pt x="70353" y="89905"/>
                  <a:pt x="69126" y="92247"/>
                  <a:pt x="67015" y="93524"/>
                </a:cubicBezTo>
                <a:cubicBezTo>
                  <a:pt x="64905" y="94800"/>
                  <a:pt x="62260" y="94800"/>
                  <a:pt x="60149" y="93524"/>
                </a:cubicBezTo>
                <a:cubicBezTo>
                  <a:pt x="58039" y="92247"/>
                  <a:pt x="56811" y="89905"/>
                  <a:pt x="56962" y="87443"/>
                </a:cubicBez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15" name="Text 13"/>
          <p:cNvSpPr/>
          <p:nvPr/>
        </p:nvSpPr>
        <p:spPr>
          <a:xfrm>
            <a:off x="776763" y="3216072"/>
            <a:ext cx="3279666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Cons:</a:t>
            </a:r>
            <a:r>
              <a:rPr lang="en-US" sz="100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Limited control, security concerns for sensitive data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731" y="3510424"/>
            <a:ext cx="5349217" cy="407006"/>
          </a:xfrm>
          <a:custGeom>
            <a:avLst/>
            <a:gdLst/>
            <a:ahLst/>
            <a:cxnLst/>
            <a:rect l="l" t="t" r="r" b="b"/>
            <a:pathLst>
              <a:path w="5349217" h="407006">
                <a:moveTo>
                  <a:pt x="72679" y="0"/>
                </a:moveTo>
                <a:lnTo>
                  <a:pt x="5276538" y="0"/>
                </a:lnTo>
                <a:cubicBezTo>
                  <a:pt x="5316678" y="0"/>
                  <a:pt x="5349217" y="32539"/>
                  <a:pt x="5349217" y="72679"/>
                </a:cubicBezTo>
                <a:lnTo>
                  <a:pt x="5349217" y="334327"/>
                </a:lnTo>
                <a:cubicBezTo>
                  <a:pt x="5349217" y="374466"/>
                  <a:pt x="5316678" y="407006"/>
                  <a:pt x="5276538" y="407006"/>
                </a:cubicBezTo>
                <a:lnTo>
                  <a:pt x="72679" y="407006"/>
                </a:lnTo>
                <a:cubicBezTo>
                  <a:pt x="32539" y="407006"/>
                  <a:pt x="0" y="374466"/>
                  <a:pt x="0" y="334327"/>
                </a:cubicBezTo>
                <a:lnTo>
                  <a:pt x="0" y="72679"/>
                </a:lnTo>
                <a:cubicBezTo>
                  <a:pt x="0" y="32566"/>
                  <a:pt x="32566" y="0"/>
                  <a:pt x="72679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5453" y="3652149"/>
            <a:ext cx="95392" cy="127189"/>
          </a:xfrm>
          <a:custGeom>
            <a:avLst/>
            <a:gdLst/>
            <a:ahLst/>
            <a:cxnLst/>
            <a:rect l="l" t="t" r="r" b="b"/>
            <a:pathLst>
              <a:path w="95392" h="127189">
                <a:moveTo>
                  <a:pt x="15899" y="0"/>
                </a:moveTo>
                <a:cubicBezTo>
                  <a:pt x="7130" y="0"/>
                  <a:pt x="0" y="7130"/>
                  <a:pt x="0" y="15899"/>
                </a:cubicBezTo>
                <a:lnTo>
                  <a:pt x="0" y="111291"/>
                </a:lnTo>
                <a:cubicBezTo>
                  <a:pt x="0" y="120060"/>
                  <a:pt x="7130" y="127189"/>
                  <a:pt x="15899" y="127189"/>
                </a:cubicBezTo>
                <a:lnTo>
                  <a:pt x="79493" y="127189"/>
                </a:lnTo>
                <a:cubicBezTo>
                  <a:pt x="88262" y="127189"/>
                  <a:pt x="95392" y="120060"/>
                  <a:pt x="95392" y="111291"/>
                </a:cubicBezTo>
                <a:lnTo>
                  <a:pt x="95392" y="15899"/>
                </a:lnTo>
                <a:cubicBezTo>
                  <a:pt x="95392" y="7130"/>
                  <a:pt x="88262" y="0"/>
                  <a:pt x="79493" y="0"/>
                </a:cubicBezTo>
                <a:lnTo>
                  <a:pt x="15899" y="0"/>
                </a:lnTo>
                <a:close/>
                <a:moveTo>
                  <a:pt x="43721" y="87443"/>
                </a:moveTo>
                <a:lnTo>
                  <a:pt x="51671" y="87443"/>
                </a:lnTo>
                <a:cubicBezTo>
                  <a:pt x="56068" y="87443"/>
                  <a:pt x="59620" y="90995"/>
                  <a:pt x="59620" y="95392"/>
                </a:cubicBezTo>
                <a:lnTo>
                  <a:pt x="59620" y="115265"/>
                </a:lnTo>
                <a:lnTo>
                  <a:pt x="35772" y="115265"/>
                </a:lnTo>
                <a:lnTo>
                  <a:pt x="35772" y="95392"/>
                </a:lnTo>
                <a:cubicBezTo>
                  <a:pt x="35772" y="90995"/>
                  <a:pt x="39324" y="87443"/>
                  <a:pt x="43721" y="87443"/>
                </a:cubicBezTo>
                <a:close/>
                <a:moveTo>
                  <a:pt x="23848" y="27823"/>
                </a:moveTo>
                <a:cubicBezTo>
                  <a:pt x="23848" y="25637"/>
                  <a:pt x="25637" y="23848"/>
                  <a:pt x="27823" y="23848"/>
                </a:cubicBezTo>
                <a:lnTo>
                  <a:pt x="35772" y="23848"/>
                </a:lnTo>
                <a:cubicBezTo>
                  <a:pt x="37958" y="23848"/>
                  <a:pt x="39747" y="25637"/>
                  <a:pt x="39747" y="27823"/>
                </a:cubicBezTo>
                <a:lnTo>
                  <a:pt x="39747" y="35772"/>
                </a:lnTo>
                <a:cubicBezTo>
                  <a:pt x="39747" y="37958"/>
                  <a:pt x="37958" y="39747"/>
                  <a:pt x="35772" y="39747"/>
                </a:cubicBezTo>
                <a:lnTo>
                  <a:pt x="27823" y="39747"/>
                </a:lnTo>
                <a:cubicBezTo>
                  <a:pt x="25637" y="39747"/>
                  <a:pt x="23848" y="37958"/>
                  <a:pt x="23848" y="35772"/>
                </a:cubicBezTo>
                <a:lnTo>
                  <a:pt x="23848" y="27823"/>
                </a:lnTo>
                <a:close/>
                <a:moveTo>
                  <a:pt x="59620" y="23848"/>
                </a:moveTo>
                <a:lnTo>
                  <a:pt x="67569" y="23848"/>
                </a:lnTo>
                <a:cubicBezTo>
                  <a:pt x="69755" y="23848"/>
                  <a:pt x="71544" y="25637"/>
                  <a:pt x="71544" y="27823"/>
                </a:cubicBezTo>
                <a:lnTo>
                  <a:pt x="71544" y="35772"/>
                </a:lnTo>
                <a:cubicBezTo>
                  <a:pt x="71544" y="37958"/>
                  <a:pt x="69755" y="39747"/>
                  <a:pt x="67569" y="39747"/>
                </a:cubicBezTo>
                <a:lnTo>
                  <a:pt x="59620" y="39747"/>
                </a:lnTo>
                <a:cubicBezTo>
                  <a:pt x="57434" y="39747"/>
                  <a:pt x="55645" y="37958"/>
                  <a:pt x="55645" y="35772"/>
                </a:cubicBezTo>
                <a:lnTo>
                  <a:pt x="55645" y="27823"/>
                </a:lnTo>
                <a:cubicBezTo>
                  <a:pt x="55645" y="25637"/>
                  <a:pt x="57434" y="23848"/>
                  <a:pt x="59620" y="23848"/>
                </a:cubicBezTo>
                <a:close/>
                <a:moveTo>
                  <a:pt x="23848" y="59620"/>
                </a:moveTo>
                <a:cubicBezTo>
                  <a:pt x="23848" y="57434"/>
                  <a:pt x="25637" y="55645"/>
                  <a:pt x="27823" y="55645"/>
                </a:cubicBezTo>
                <a:lnTo>
                  <a:pt x="35772" y="55645"/>
                </a:lnTo>
                <a:cubicBezTo>
                  <a:pt x="37958" y="55645"/>
                  <a:pt x="39747" y="57434"/>
                  <a:pt x="39747" y="59620"/>
                </a:cubicBezTo>
                <a:lnTo>
                  <a:pt x="39747" y="67569"/>
                </a:lnTo>
                <a:cubicBezTo>
                  <a:pt x="39747" y="69755"/>
                  <a:pt x="37958" y="71544"/>
                  <a:pt x="35772" y="71544"/>
                </a:cubicBezTo>
                <a:lnTo>
                  <a:pt x="27823" y="71544"/>
                </a:lnTo>
                <a:cubicBezTo>
                  <a:pt x="25637" y="71544"/>
                  <a:pt x="23848" y="69755"/>
                  <a:pt x="23848" y="67569"/>
                </a:cubicBezTo>
                <a:lnTo>
                  <a:pt x="23848" y="59620"/>
                </a:lnTo>
                <a:close/>
                <a:moveTo>
                  <a:pt x="59620" y="55645"/>
                </a:moveTo>
                <a:lnTo>
                  <a:pt x="67569" y="55645"/>
                </a:lnTo>
                <a:cubicBezTo>
                  <a:pt x="69755" y="55645"/>
                  <a:pt x="71544" y="57434"/>
                  <a:pt x="71544" y="59620"/>
                </a:cubicBezTo>
                <a:lnTo>
                  <a:pt x="71544" y="67569"/>
                </a:lnTo>
                <a:cubicBezTo>
                  <a:pt x="71544" y="69755"/>
                  <a:pt x="69755" y="71544"/>
                  <a:pt x="67569" y="71544"/>
                </a:cubicBezTo>
                <a:lnTo>
                  <a:pt x="59620" y="71544"/>
                </a:lnTo>
                <a:cubicBezTo>
                  <a:pt x="57434" y="71544"/>
                  <a:pt x="55645" y="69755"/>
                  <a:pt x="55645" y="67569"/>
                </a:cubicBezTo>
                <a:lnTo>
                  <a:pt x="55645" y="59620"/>
                </a:lnTo>
                <a:cubicBezTo>
                  <a:pt x="55645" y="57434"/>
                  <a:pt x="57434" y="55645"/>
                  <a:pt x="59620" y="5564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876905" y="3623075"/>
            <a:ext cx="4971985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For:</a:t>
            </a:r>
            <a:r>
              <a:rPr lang="en-US" sz="100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Startups, web apps, dev/test environments, variable workloads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69588" y="1380912"/>
            <a:ext cx="5659923" cy="2689145"/>
          </a:xfrm>
          <a:custGeom>
            <a:avLst/>
            <a:gdLst/>
            <a:ahLst/>
            <a:cxnLst/>
            <a:rect l="l" t="t" r="r" b="b"/>
            <a:pathLst>
              <a:path w="5659923" h="2689145">
                <a:moveTo>
                  <a:pt x="36340" y="0"/>
                </a:moveTo>
                <a:lnTo>
                  <a:pt x="5550905" y="0"/>
                </a:lnTo>
                <a:cubicBezTo>
                  <a:pt x="5611114" y="0"/>
                  <a:pt x="5659923" y="48809"/>
                  <a:pt x="5659923" y="109018"/>
                </a:cubicBezTo>
                <a:lnTo>
                  <a:pt x="5659923" y="2580127"/>
                </a:lnTo>
                <a:cubicBezTo>
                  <a:pt x="5659923" y="2640336"/>
                  <a:pt x="5611114" y="2689145"/>
                  <a:pt x="5550905" y="2689145"/>
                </a:cubicBezTo>
                <a:lnTo>
                  <a:pt x="36340" y="2689145"/>
                </a:lnTo>
                <a:cubicBezTo>
                  <a:pt x="16270" y="2689145"/>
                  <a:pt x="0" y="2672875"/>
                  <a:pt x="0" y="2652805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20" name="Shape 18"/>
          <p:cNvSpPr/>
          <p:nvPr/>
        </p:nvSpPr>
        <p:spPr>
          <a:xfrm>
            <a:off x="6169588" y="1380912"/>
            <a:ext cx="36340" cy="2689145"/>
          </a:xfrm>
          <a:custGeom>
            <a:avLst/>
            <a:gdLst/>
            <a:ahLst/>
            <a:cxnLst/>
            <a:rect l="l" t="t" r="r" b="b"/>
            <a:pathLst>
              <a:path w="36340" h="2689145">
                <a:moveTo>
                  <a:pt x="36340" y="0"/>
                </a:moveTo>
                <a:lnTo>
                  <a:pt x="36340" y="0"/>
                </a:lnTo>
                <a:lnTo>
                  <a:pt x="36340" y="2689145"/>
                </a:lnTo>
                <a:lnTo>
                  <a:pt x="36340" y="2689145"/>
                </a:lnTo>
                <a:cubicBezTo>
                  <a:pt x="16270" y="2689145"/>
                  <a:pt x="0" y="2672875"/>
                  <a:pt x="0" y="2652805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1" name="Shape 19"/>
          <p:cNvSpPr/>
          <p:nvPr/>
        </p:nvSpPr>
        <p:spPr>
          <a:xfrm>
            <a:off x="6333117" y="1526271"/>
            <a:ext cx="508757" cy="508757"/>
          </a:xfrm>
          <a:custGeom>
            <a:avLst/>
            <a:gdLst/>
            <a:ahLst/>
            <a:cxnLst/>
            <a:rect l="l" t="t" r="r" b="b"/>
            <a:pathLst>
              <a:path w="508757" h="508757">
                <a:moveTo>
                  <a:pt x="109022" y="0"/>
                </a:moveTo>
                <a:lnTo>
                  <a:pt x="399736" y="0"/>
                </a:lnTo>
                <a:cubicBezTo>
                  <a:pt x="459946" y="0"/>
                  <a:pt x="508757" y="48811"/>
                  <a:pt x="508757" y="109022"/>
                </a:cubicBezTo>
                <a:lnTo>
                  <a:pt x="508757" y="399736"/>
                </a:lnTo>
                <a:cubicBezTo>
                  <a:pt x="508757" y="459946"/>
                  <a:pt x="459946" y="508757"/>
                  <a:pt x="399736" y="508757"/>
                </a:cubicBezTo>
                <a:lnTo>
                  <a:pt x="109022" y="508757"/>
                </a:lnTo>
                <a:cubicBezTo>
                  <a:pt x="48811" y="508757"/>
                  <a:pt x="0" y="459946"/>
                  <a:pt x="0" y="399736"/>
                </a:cubicBezTo>
                <a:lnTo>
                  <a:pt x="0" y="109022"/>
                </a:lnTo>
                <a:cubicBezTo>
                  <a:pt x="0" y="48811"/>
                  <a:pt x="48811" y="0"/>
                  <a:pt x="109022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2" name="Shape 20"/>
          <p:cNvSpPr/>
          <p:nvPr/>
        </p:nvSpPr>
        <p:spPr>
          <a:xfrm>
            <a:off x="6505731" y="1671630"/>
            <a:ext cx="163529" cy="218039"/>
          </a:xfrm>
          <a:custGeom>
            <a:avLst/>
            <a:gdLst/>
            <a:ahLst/>
            <a:cxnLst/>
            <a:rect l="l" t="t" r="r" b="b"/>
            <a:pathLst>
              <a:path w="163529" h="218039">
                <a:moveTo>
                  <a:pt x="54510" y="40882"/>
                </a:moveTo>
                <a:lnTo>
                  <a:pt x="54510" y="68137"/>
                </a:lnTo>
                <a:lnTo>
                  <a:pt x="109019" y="68137"/>
                </a:lnTo>
                <a:lnTo>
                  <a:pt x="109019" y="40882"/>
                </a:lnTo>
                <a:cubicBezTo>
                  <a:pt x="109019" y="25850"/>
                  <a:pt x="96797" y="13627"/>
                  <a:pt x="81765" y="13627"/>
                </a:cubicBezTo>
                <a:cubicBezTo>
                  <a:pt x="66732" y="13627"/>
                  <a:pt x="54510" y="25850"/>
                  <a:pt x="54510" y="40882"/>
                </a:cubicBezTo>
                <a:close/>
                <a:moveTo>
                  <a:pt x="27255" y="68137"/>
                </a:moveTo>
                <a:lnTo>
                  <a:pt x="27255" y="40882"/>
                </a:lnTo>
                <a:cubicBezTo>
                  <a:pt x="27255" y="10774"/>
                  <a:pt x="51656" y="-13627"/>
                  <a:pt x="81765" y="-13627"/>
                </a:cubicBezTo>
                <a:cubicBezTo>
                  <a:pt x="111873" y="-13627"/>
                  <a:pt x="136274" y="10774"/>
                  <a:pt x="136274" y="40882"/>
                </a:cubicBezTo>
                <a:lnTo>
                  <a:pt x="136274" y="68137"/>
                </a:lnTo>
                <a:cubicBezTo>
                  <a:pt x="151307" y="68137"/>
                  <a:pt x="163529" y="80359"/>
                  <a:pt x="163529" y="95392"/>
                </a:cubicBezTo>
                <a:lnTo>
                  <a:pt x="163529" y="190784"/>
                </a:lnTo>
                <a:cubicBezTo>
                  <a:pt x="163529" y="205817"/>
                  <a:pt x="151307" y="218039"/>
                  <a:pt x="136274" y="218039"/>
                </a:cubicBezTo>
                <a:lnTo>
                  <a:pt x="27255" y="218039"/>
                </a:lnTo>
                <a:cubicBezTo>
                  <a:pt x="12222" y="218039"/>
                  <a:pt x="0" y="205817"/>
                  <a:pt x="0" y="190784"/>
                </a:cubicBezTo>
                <a:lnTo>
                  <a:pt x="0" y="95392"/>
                </a:lnTo>
                <a:cubicBezTo>
                  <a:pt x="0" y="80359"/>
                  <a:pt x="12222" y="68137"/>
                  <a:pt x="27255" y="6813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950894" y="1526271"/>
            <a:ext cx="1671630" cy="290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 Cloud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50894" y="1816874"/>
            <a:ext cx="1635291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Dedicated Infrastructure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33117" y="2144048"/>
            <a:ext cx="5423714" cy="708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5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Infrastructure is </a:t>
            </a:r>
            <a:r>
              <a:rPr lang="en-US" sz="114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dedicated to a single organization</a:t>
            </a:r>
            <a:r>
              <a:rPr lang="en-US" sz="1145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either on-premises or hosted externally. Provides maximum control, security, and customization for compliance-heavy environments.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51287" y="2988948"/>
            <a:ext cx="127189" cy="127189"/>
          </a:xfrm>
          <a:custGeom>
            <a:avLst/>
            <a:gdLst/>
            <a:ahLst/>
            <a:cxnLst/>
            <a:rect l="l" t="t" r="r" b="b"/>
            <a:pathLst>
              <a:path w="127189" h="127189">
                <a:moveTo>
                  <a:pt x="63595" y="127189"/>
                </a:moveTo>
                <a:cubicBezTo>
                  <a:pt x="98693" y="127189"/>
                  <a:pt x="127189" y="98693"/>
                  <a:pt x="127189" y="63595"/>
                </a:cubicBezTo>
                <a:cubicBezTo>
                  <a:pt x="127189" y="28496"/>
                  <a:pt x="98693" y="0"/>
                  <a:pt x="63595" y="0"/>
                </a:cubicBezTo>
                <a:cubicBezTo>
                  <a:pt x="28496" y="0"/>
                  <a:pt x="0" y="28496"/>
                  <a:pt x="0" y="63595"/>
                </a:cubicBezTo>
                <a:cubicBezTo>
                  <a:pt x="0" y="98693"/>
                  <a:pt x="28496" y="127189"/>
                  <a:pt x="63595" y="127189"/>
                </a:cubicBezTo>
                <a:close/>
                <a:moveTo>
                  <a:pt x="84561" y="52838"/>
                </a:moveTo>
                <a:lnTo>
                  <a:pt x="64688" y="84636"/>
                </a:lnTo>
                <a:cubicBezTo>
                  <a:pt x="63644" y="86300"/>
                  <a:pt x="61856" y="87343"/>
                  <a:pt x="59893" y="87443"/>
                </a:cubicBezTo>
                <a:cubicBezTo>
                  <a:pt x="57931" y="87542"/>
                  <a:pt x="56043" y="86648"/>
                  <a:pt x="54875" y="85058"/>
                </a:cubicBezTo>
                <a:lnTo>
                  <a:pt x="42951" y="69159"/>
                </a:lnTo>
                <a:cubicBezTo>
                  <a:pt x="40964" y="66526"/>
                  <a:pt x="41510" y="62800"/>
                  <a:pt x="44144" y="60812"/>
                </a:cubicBezTo>
                <a:cubicBezTo>
                  <a:pt x="46777" y="58825"/>
                  <a:pt x="50503" y="59372"/>
                  <a:pt x="52490" y="62005"/>
                </a:cubicBezTo>
                <a:lnTo>
                  <a:pt x="59198" y="70948"/>
                </a:lnTo>
                <a:lnTo>
                  <a:pt x="74450" y="46528"/>
                </a:lnTo>
                <a:cubicBezTo>
                  <a:pt x="76189" y="43746"/>
                  <a:pt x="79866" y="42877"/>
                  <a:pt x="82673" y="44640"/>
                </a:cubicBezTo>
                <a:cubicBezTo>
                  <a:pt x="85480" y="46404"/>
                  <a:pt x="86325" y="50056"/>
                  <a:pt x="84561" y="5286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7" name="Text 25"/>
          <p:cNvSpPr/>
          <p:nvPr/>
        </p:nvSpPr>
        <p:spPr>
          <a:xfrm>
            <a:off x="6564784" y="2961693"/>
            <a:ext cx="3043458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Pros:</a:t>
            </a:r>
            <a:r>
              <a:rPr lang="en-US" sz="100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Full control, strong security, custom compliance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51287" y="3243326"/>
            <a:ext cx="127189" cy="127189"/>
          </a:xfrm>
          <a:custGeom>
            <a:avLst/>
            <a:gdLst/>
            <a:ahLst/>
            <a:cxnLst/>
            <a:rect l="l" t="t" r="r" b="b"/>
            <a:pathLst>
              <a:path w="127189" h="127189">
                <a:moveTo>
                  <a:pt x="63595" y="127189"/>
                </a:moveTo>
                <a:cubicBezTo>
                  <a:pt x="98693" y="127189"/>
                  <a:pt x="127189" y="98693"/>
                  <a:pt x="127189" y="63595"/>
                </a:cubicBezTo>
                <a:cubicBezTo>
                  <a:pt x="127189" y="28496"/>
                  <a:pt x="98693" y="0"/>
                  <a:pt x="63595" y="0"/>
                </a:cubicBezTo>
                <a:cubicBezTo>
                  <a:pt x="28496" y="0"/>
                  <a:pt x="0" y="28496"/>
                  <a:pt x="0" y="63595"/>
                </a:cubicBezTo>
                <a:cubicBezTo>
                  <a:pt x="0" y="98693"/>
                  <a:pt x="28496" y="127189"/>
                  <a:pt x="63595" y="127189"/>
                </a:cubicBezTo>
                <a:close/>
                <a:moveTo>
                  <a:pt x="63595" y="33785"/>
                </a:moveTo>
                <a:cubicBezTo>
                  <a:pt x="66899" y="33785"/>
                  <a:pt x="69557" y="36443"/>
                  <a:pt x="69557" y="39747"/>
                </a:cubicBezTo>
                <a:lnTo>
                  <a:pt x="69557" y="67569"/>
                </a:lnTo>
                <a:cubicBezTo>
                  <a:pt x="69557" y="70873"/>
                  <a:pt x="66899" y="73531"/>
                  <a:pt x="63595" y="73531"/>
                </a:cubicBezTo>
                <a:cubicBezTo>
                  <a:pt x="60291" y="73531"/>
                  <a:pt x="57633" y="70873"/>
                  <a:pt x="57633" y="67569"/>
                </a:cubicBezTo>
                <a:lnTo>
                  <a:pt x="57633" y="39747"/>
                </a:lnTo>
                <a:cubicBezTo>
                  <a:pt x="57633" y="36443"/>
                  <a:pt x="60291" y="33785"/>
                  <a:pt x="63595" y="33785"/>
                </a:cubicBezTo>
                <a:close/>
                <a:moveTo>
                  <a:pt x="56962" y="87443"/>
                </a:moveTo>
                <a:cubicBezTo>
                  <a:pt x="56811" y="84981"/>
                  <a:pt x="58039" y="82638"/>
                  <a:pt x="60149" y="81362"/>
                </a:cubicBezTo>
                <a:cubicBezTo>
                  <a:pt x="62260" y="80085"/>
                  <a:pt x="64905" y="80085"/>
                  <a:pt x="67015" y="81362"/>
                </a:cubicBezTo>
                <a:cubicBezTo>
                  <a:pt x="69126" y="82638"/>
                  <a:pt x="70353" y="84981"/>
                  <a:pt x="70203" y="87443"/>
                </a:cubicBezTo>
                <a:cubicBezTo>
                  <a:pt x="70353" y="89905"/>
                  <a:pt x="69126" y="92247"/>
                  <a:pt x="67015" y="93524"/>
                </a:cubicBezTo>
                <a:cubicBezTo>
                  <a:pt x="64905" y="94800"/>
                  <a:pt x="62260" y="94800"/>
                  <a:pt x="60149" y="93524"/>
                </a:cubicBezTo>
                <a:cubicBezTo>
                  <a:pt x="58039" y="92247"/>
                  <a:pt x="56811" y="89905"/>
                  <a:pt x="56962" y="87443"/>
                </a:cubicBez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29" name="Text 27"/>
          <p:cNvSpPr/>
          <p:nvPr/>
        </p:nvSpPr>
        <p:spPr>
          <a:xfrm>
            <a:off x="6564784" y="3216072"/>
            <a:ext cx="3279666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Cons:</a:t>
            </a:r>
            <a:r>
              <a:rPr lang="en-US" sz="100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Higher cost, requires IT expertise, limited scalability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36751" y="3510424"/>
            <a:ext cx="5349217" cy="407006"/>
          </a:xfrm>
          <a:custGeom>
            <a:avLst/>
            <a:gdLst/>
            <a:ahLst/>
            <a:cxnLst/>
            <a:rect l="l" t="t" r="r" b="b"/>
            <a:pathLst>
              <a:path w="5349217" h="407006">
                <a:moveTo>
                  <a:pt x="72679" y="0"/>
                </a:moveTo>
                <a:lnTo>
                  <a:pt x="5276538" y="0"/>
                </a:lnTo>
                <a:cubicBezTo>
                  <a:pt x="5316678" y="0"/>
                  <a:pt x="5349217" y="32539"/>
                  <a:pt x="5349217" y="72679"/>
                </a:cubicBezTo>
                <a:lnTo>
                  <a:pt x="5349217" y="334327"/>
                </a:lnTo>
                <a:cubicBezTo>
                  <a:pt x="5349217" y="374466"/>
                  <a:pt x="5316678" y="407006"/>
                  <a:pt x="5276538" y="407006"/>
                </a:cubicBezTo>
                <a:lnTo>
                  <a:pt x="72679" y="407006"/>
                </a:lnTo>
                <a:cubicBezTo>
                  <a:pt x="32539" y="407006"/>
                  <a:pt x="0" y="374466"/>
                  <a:pt x="0" y="334327"/>
                </a:cubicBezTo>
                <a:lnTo>
                  <a:pt x="0" y="72679"/>
                </a:lnTo>
                <a:cubicBezTo>
                  <a:pt x="0" y="32566"/>
                  <a:pt x="32566" y="0"/>
                  <a:pt x="72679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67575" y="3652149"/>
            <a:ext cx="127189" cy="127189"/>
          </a:xfrm>
          <a:custGeom>
            <a:avLst/>
            <a:gdLst/>
            <a:ahLst/>
            <a:cxnLst/>
            <a:rect l="l" t="t" r="r" b="b"/>
            <a:pathLst>
              <a:path w="127189" h="127189">
                <a:moveTo>
                  <a:pt x="67544" y="5018"/>
                </a:moveTo>
                <a:cubicBezTo>
                  <a:pt x="65110" y="3627"/>
                  <a:pt x="62104" y="3627"/>
                  <a:pt x="59645" y="5018"/>
                </a:cubicBezTo>
                <a:lnTo>
                  <a:pt x="4000" y="36815"/>
                </a:lnTo>
                <a:cubicBezTo>
                  <a:pt x="869" y="38604"/>
                  <a:pt x="-671" y="42280"/>
                  <a:pt x="248" y="45758"/>
                </a:cubicBezTo>
                <a:cubicBezTo>
                  <a:pt x="1168" y="49236"/>
                  <a:pt x="4347" y="51671"/>
                  <a:pt x="7949" y="51671"/>
                </a:cubicBezTo>
                <a:lnTo>
                  <a:pt x="15899" y="51671"/>
                </a:lnTo>
                <a:lnTo>
                  <a:pt x="15899" y="103341"/>
                </a:lnTo>
                <a:lnTo>
                  <a:pt x="15899" y="103341"/>
                </a:lnTo>
                <a:lnTo>
                  <a:pt x="3180" y="112880"/>
                </a:lnTo>
                <a:cubicBezTo>
                  <a:pt x="1168" y="114371"/>
                  <a:pt x="0" y="116731"/>
                  <a:pt x="0" y="119240"/>
                </a:cubicBezTo>
                <a:cubicBezTo>
                  <a:pt x="0" y="123637"/>
                  <a:pt x="3552" y="127189"/>
                  <a:pt x="7949" y="127189"/>
                </a:cubicBezTo>
                <a:lnTo>
                  <a:pt x="119240" y="127189"/>
                </a:lnTo>
                <a:cubicBezTo>
                  <a:pt x="123637" y="127189"/>
                  <a:pt x="127189" y="123637"/>
                  <a:pt x="127189" y="119240"/>
                </a:cubicBezTo>
                <a:cubicBezTo>
                  <a:pt x="127189" y="116731"/>
                  <a:pt x="126022" y="114371"/>
                  <a:pt x="124010" y="112880"/>
                </a:cubicBezTo>
                <a:lnTo>
                  <a:pt x="111291" y="103341"/>
                </a:lnTo>
                <a:lnTo>
                  <a:pt x="111291" y="51671"/>
                </a:lnTo>
                <a:lnTo>
                  <a:pt x="119240" y="51671"/>
                </a:lnTo>
                <a:cubicBezTo>
                  <a:pt x="122842" y="51671"/>
                  <a:pt x="125997" y="49236"/>
                  <a:pt x="126916" y="45758"/>
                </a:cubicBezTo>
                <a:cubicBezTo>
                  <a:pt x="127835" y="42280"/>
                  <a:pt x="126295" y="38604"/>
                  <a:pt x="123165" y="36815"/>
                </a:cubicBezTo>
                <a:lnTo>
                  <a:pt x="67520" y="5018"/>
                </a:lnTo>
                <a:close/>
                <a:moveTo>
                  <a:pt x="99367" y="51671"/>
                </a:moveTo>
                <a:lnTo>
                  <a:pt x="99367" y="103341"/>
                </a:lnTo>
                <a:lnTo>
                  <a:pt x="83468" y="103341"/>
                </a:lnTo>
                <a:lnTo>
                  <a:pt x="83468" y="51671"/>
                </a:lnTo>
                <a:lnTo>
                  <a:pt x="99367" y="51671"/>
                </a:lnTo>
                <a:close/>
                <a:moveTo>
                  <a:pt x="71544" y="51671"/>
                </a:moveTo>
                <a:lnTo>
                  <a:pt x="71544" y="103341"/>
                </a:lnTo>
                <a:lnTo>
                  <a:pt x="55645" y="103341"/>
                </a:lnTo>
                <a:lnTo>
                  <a:pt x="55645" y="51671"/>
                </a:lnTo>
                <a:lnTo>
                  <a:pt x="71544" y="51671"/>
                </a:lnTo>
                <a:close/>
                <a:moveTo>
                  <a:pt x="43721" y="51671"/>
                </a:moveTo>
                <a:lnTo>
                  <a:pt x="43721" y="103341"/>
                </a:lnTo>
                <a:lnTo>
                  <a:pt x="27823" y="103341"/>
                </a:lnTo>
                <a:lnTo>
                  <a:pt x="27823" y="51671"/>
                </a:lnTo>
                <a:lnTo>
                  <a:pt x="43721" y="51671"/>
                </a:lnTo>
                <a:close/>
                <a:moveTo>
                  <a:pt x="63595" y="23848"/>
                </a:moveTo>
                <a:cubicBezTo>
                  <a:pt x="67982" y="23848"/>
                  <a:pt x="71544" y="27410"/>
                  <a:pt x="71544" y="31797"/>
                </a:cubicBezTo>
                <a:cubicBezTo>
                  <a:pt x="71544" y="36185"/>
                  <a:pt x="67982" y="39747"/>
                  <a:pt x="63595" y="39747"/>
                </a:cubicBezTo>
                <a:cubicBezTo>
                  <a:pt x="59207" y="39747"/>
                  <a:pt x="55645" y="36185"/>
                  <a:pt x="55645" y="31797"/>
                </a:cubicBezTo>
                <a:cubicBezTo>
                  <a:pt x="55645" y="27410"/>
                  <a:pt x="59207" y="23848"/>
                  <a:pt x="63595" y="2384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2" name="Text 30"/>
          <p:cNvSpPr/>
          <p:nvPr/>
        </p:nvSpPr>
        <p:spPr>
          <a:xfrm>
            <a:off x="6664925" y="3623075"/>
            <a:ext cx="4971985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For:</a:t>
            </a:r>
            <a:r>
              <a:rPr lang="en-US" sz="100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Banks, healthcare, government, regulated industries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81568" y="4110130"/>
            <a:ext cx="5659923" cy="2689145"/>
          </a:xfrm>
          <a:custGeom>
            <a:avLst/>
            <a:gdLst/>
            <a:ahLst/>
            <a:cxnLst/>
            <a:rect l="l" t="t" r="r" b="b"/>
            <a:pathLst>
              <a:path w="5659923" h="2689145">
                <a:moveTo>
                  <a:pt x="36340" y="0"/>
                </a:moveTo>
                <a:lnTo>
                  <a:pt x="5550905" y="0"/>
                </a:lnTo>
                <a:cubicBezTo>
                  <a:pt x="5611114" y="0"/>
                  <a:pt x="5659923" y="48809"/>
                  <a:pt x="5659923" y="109018"/>
                </a:cubicBezTo>
                <a:lnTo>
                  <a:pt x="5659923" y="2580127"/>
                </a:lnTo>
                <a:cubicBezTo>
                  <a:pt x="5659923" y="2640336"/>
                  <a:pt x="5611114" y="2689145"/>
                  <a:pt x="5550905" y="2689145"/>
                </a:cubicBezTo>
                <a:lnTo>
                  <a:pt x="36340" y="2689145"/>
                </a:lnTo>
                <a:cubicBezTo>
                  <a:pt x="16270" y="2689145"/>
                  <a:pt x="0" y="2672875"/>
                  <a:pt x="0" y="2652805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34" name="Shape 32"/>
          <p:cNvSpPr/>
          <p:nvPr/>
        </p:nvSpPr>
        <p:spPr>
          <a:xfrm>
            <a:off x="381568" y="4110130"/>
            <a:ext cx="36340" cy="2689145"/>
          </a:xfrm>
          <a:custGeom>
            <a:avLst/>
            <a:gdLst/>
            <a:ahLst/>
            <a:cxnLst/>
            <a:rect l="l" t="t" r="r" b="b"/>
            <a:pathLst>
              <a:path w="36340" h="2689145">
                <a:moveTo>
                  <a:pt x="36340" y="0"/>
                </a:moveTo>
                <a:lnTo>
                  <a:pt x="36340" y="0"/>
                </a:lnTo>
                <a:lnTo>
                  <a:pt x="36340" y="2689145"/>
                </a:lnTo>
                <a:lnTo>
                  <a:pt x="36340" y="2689145"/>
                </a:lnTo>
                <a:cubicBezTo>
                  <a:pt x="16270" y="2689145"/>
                  <a:pt x="0" y="2672875"/>
                  <a:pt x="0" y="2652805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5" name="Shape 33"/>
          <p:cNvSpPr/>
          <p:nvPr/>
        </p:nvSpPr>
        <p:spPr>
          <a:xfrm>
            <a:off x="545097" y="4255490"/>
            <a:ext cx="508757" cy="508757"/>
          </a:xfrm>
          <a:custGeom>
            <a:avLst/>
            <a:gdLst/>
            <a:ahLst/>
            <a:cxnLst/>
            <a:rect l="l" t="t" r="r" b="b"/>
            <a:pathLst>
              <a:path w="508757" h="508757">
                <a:moveTo>
                  <a:pt x="109022" y="0"/>
                </a:moveTo>
                <a:lnTo>
                  <a:pt x="399736" y="0"/>
                </a:lnTo>
                <a:cubicBezTo>
                  <a:pt x="459946" y="0"/>
                  <a:pt x="508757" y="48811"/>
                  <a:pt x="508757" y="109022"/>
                </a:cubicBezTo>
                <a:lnTo>
                  <a:pt x="508757" y="399736"/>
                </a:lnTo>
                <a:cubicBezTo>
                  <a:pt x="508757" y="459946"/>
                  <a:pt x="459946" y="508757"/>
                  <a:pt x="399736" y="508757"/>
                </a:cubicBezTo>
                <a:lnTo>
                  <a:pt x="109022" y="508757"/>
                </a:lnTo>
                <a:cubicBezTo>
                  <a:pt x="48811" y="508757"/>
                  <a:pt x="0" y="459946"/>
                  <a:pt x="0" y="399736"/>
                </a:cubicBezTo>
                <a:lnTo>
                  <a:pt x="0" y="109022"/>
                </a:lnTo>
                <a:cubicBezTo>
                  <a:pt x="0" y="48811"/>
                  <a:pt x="48811" y="0"/>
                  <a:pt x="109022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6" name="Shape 34"/>
          <p:cNvSpPr/>
          <p:nvPr/>
        </p:nvSpPr>
        <p:spPr>
          <a:xfrm>
            <a:off x="690456" y="4400849"/>
            <a:ext cx="218039" cy="218039"/>
          </a:xfrm>
          <a:custGeom>
            <a:avLst/>
            <a:gdLst/>
            <a:ahLst/>
            <a:cxnLst/>
            <a:rect l="l" t="t" r="r" b="b"/>
            <a:pathLst>
              <a:path w="218039" h="218039">
                <a:moveTo>
                  <a:pt x="214036" y="64134"/>
                </a:moveTo>
                <a:lnTo>
                  <a:pt x="173153" y="105016"/>
                </a:lnTo>
                <a:cubicBezTo>
                  <a:pt x="169236" y="108934"/>
                  <a:pt x="163401" y="110084"/>
                  <a:pt x="158291" y="107955"/>
                </a:cubicBezTo>
                <a:cubicBezTo>
                  <a:pt x="153181" y="105825"/>
                  <a:pt x="149902" y="100886"/>
                  <a:pt x="149902" y="95392"/>
                </a:cubicBezTo>
                <a:lnTo>
                  <a:pt x="149902" y="68137"/>
                </a:lnTo>
                <a:lnTo>
                  <a:pt x="13627" y="68137"/>
                </a:lnTo>
                <a:cubicBezTo>
                  <a:pt x="6090" y="68137"/>
                  <a:pt x="0" y="62047"/>
                  <a:pt x="0" y="54510"/>
                </a:cubicBezTo>
                <a:cubicBezTo>
                  <a:pt x="0" y="46972"/>
                  <a:pt x="6090" y="40882"/>
                  <a:pt x="13627" y="40882"/>
                </a:cubicBezTo>
                <a:lnTo>
                  <a:pt x="149902" y="40882"/>
                </a:lnTo>
                <a:lnTo>
                  <a:pt x="149902" y="13627"/>
                </a:lnTo>
                <a:cubicBezTo>
                  <a:pt x="149902" y="8134"/>
                  <a:pt x="153223" y="3151"/>
                  <a:pt x="158334" y="1022"/>
                </a:cubicBezTo>
                <a:cubicBezTo>
                  <a:pt x="163444" y="-1107"/>
                  <a:pt x="169278" y="85"/>
                  <a:pt x="173196" y="3960"/>
                </a:cubicBezTo>
                <a:lnTo>
                  <a:pt x="214078" y="44843"/>
                </a:lnTo>
                <a:cubicBezTo>
                  <a:pt x="219401" y="50166"/>
                  <a:pt x="219401" y="58811"/>
                  <a:pt x="214078" y="64134"/>
                </a:cubicBezTo>
                <a:close/>
                <a:moveTo>
                  <a:pt x="44843" y="214036"/>
                </a:moveTo>
                <a:lnTo>
                  <a:pt x="3960" y="173153"/>
                </a:lnTo>
                <a:cubicBezTo>
                  <a:pt x="-1363" y="167830"/>
                  <a:pt x="-1363" y="159185"/>
                  <a:pt x="3960" y="153862"/>
                </a:cubicBezTo>
                <a:lnTo>
                  <a:pt x="44843" y="112980"/>
                </a:lnTo>
                <a:cubicBezTo>
                  <a:pt x="48761" y="109062"/>
                  <a:pt x="54595" y="107912"/>
                  <a:pt x="59705" y="110041"/>
                </a:cubicBezTo>
                <a:cubicBezTo>
                  <a:pt x="64815" y="112171"/>
                  <a:pt x="68137" y="117153"/>
                  <a:pt x="68137" y="122647"/>
                </a:cubicBezTo>
                <a:lnTo>
                  <a:pt x="68137" y="149902"/>
                </a:lnTo>
                <a:lnTo>
                  <a:pt x="204411" y="149902"/>
                </a:lnTo>
                <a:cubicBezTo>
                  <a:pt x="211949" y="149902"/>
                  <a:pt x="218039" y="155991"/>
                  <a:pt x="218039" y="163529"/>
                </a:cubicBezTo>
                <a:cubicBezTo>
                  <a:pt x="218039" y="171067"/>
                  <a:pt x="211949" y="177156"/>
                  <a:pt x="204411" y="177156"/>
                </a:cubicBezTo>
                <a:lnTo>
                  <a:pt x="68137" y="177156"/>
                </a:lnTo>
                <a:lnTo>
                  <a:pt x="68137" y="204411"/>
                </a:lnTo>
                <a:cubicBezTo>
                  <a:pt x="68137" y="209905"/>
                  <a:pt x="64815" y="214887"/>
                  <a:pt x="59705" y="217017"/>
                </a:cubicBezTo>
                <a:cubicBezTo>
                  <a:pt x="54595" y="219146"/>
                  <a:pt x="48761" y="217954"/>
                  <a:pt x="44843" y="21407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1162873" y="4255490"/>
            <a:ext cx="1380912" cy="290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Hybrid Cloud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62873" y="4546093"/>
            <a:ext cx="1344572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of Both Worlds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45097" y="4873266"/>
            <a:ext cx="5423714" cy="708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Combines public and private clouds</a:t>
            </a:r>
            <a:r>
              <a:rPr lang="en-US" sz="1145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enabling data and application portability between environments. Organizations can keep sensitive data private while leveraging public cloud scalability.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63267" y="5718166"/>
            <a:ext cx="127189" cy="127189"/>
          </a:xfrm>
          <a:custGeom>
            <a:avLst/>
            <a:gdLst/>
            <a:ahLst/>
            <a:cxnLst/>
            <a:rect l="l" t="t" r="r" b="b"/>
            <a:pathLst>
              <a:path w="127189" h="127189">
                <a:moveTo>
                  <a:pt x="63595" y="127189"/>
                </a:moveTo>
                <a:cubicBezTo>
                  <a:pt x="98693" y="127189"/>
                  <a:pt x="127189" y="98693"/>
                  <a:pt x="127189" y="63595"/>
                </a:cubicBezTo>
                <a:cubicBezTo>
                  <a:pt x="127189" y="28496"/>
                  <a:pt x="98693" y="0"/>
                  <a:pt x="63595" y="0"/>
                </a:cubicBezTo>
                <a:cubicBezTo>
                  <a:pt x="28496" y="0"/>
                  <a:pt x="0" y="28496"/>
                  <a:pt x="0" y="63595"/>
                </a:cubicBezTo>
                <a:cubicBezTo>
                  <a:pt x="0" y="98693"/>
                  <a:pt x="28496" y="127189"/>
                  <a:pt x="63595" y="127189"/>
                </a:cubicBezTo>
                <a:close/>
                <a:moveTo>
                  <a:pt x="84561" y="52838"/>
                </a:moveTo>
                <a:lnTo>
                  <a:pt x="64688" y="84636"/>
                </a:lnTo>
                <a:cubicBezTo>
                  <a:pt x="63644" y="86300"/>
                  <a:pt x="61856" y="87343"/>
                  <a:pt x="59893" y="87443"/>
                </a:cubicBezTo>
                <a:cubicBezTo>
                  <a:pt x="57931" y="87542"/>
                  <a:pt x="56043" y="86648"/>
                  <a:pt x="54875" y="85058"/>
                </a:cubicBezTo>
                <a:lnTo>
                  <a:pt x="42951" y="69159"/>
                </a:lnTo>
                <a:cubicBezTo>
                  <a:pt x="40964" y="66526"/>
                  <a:pt x="41510" y="62800"/>
                  <a:pt x="44144" y="60812"/>
                </a:cubicBezTo>
                <a:cubicBezTo>
                  <a:pt x="46777" y="58825"/>
                  <a:pt x="50503" y="59372"/>
                  <a:pt x="52490" y="62005"/>
                </a:cubicBezTo>
                <a:lnTo>
                  <a:pt x="59198" y="70948"/>
                </a:lnTo>
                <a:lnTo>
                  <a:pt x="74450" y="46528"/>
                </a:lnTo>
                <a:cubicBezTo>
                  <a:pt x="76189" y="43746"/>
                  <a:pt x="79866" y="42877"/>
                  <a:pt x="82673" y="44640"/>
                </a:cubicBezTo>
                <a:cubicBezTo>
                  <a:pt x="85480" y="46404"/>
                  <a:pt x="86325" y="50056"/>
                  <a:pt x="84561" y="5286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1" name="Text 39"/>
          <p:cNvSpPr/>
          <p:nvPr/>
        </p:nvSpPr>
        <p:spPr>
          <a:xfrm>
            <a:off x="776763" y="5690911"/>
            <a:ext cx="2943523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Pros:</a:t>
            </a:r>
            <a:r>
              <a:rPr lang="en-US" sz="100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Flexibility, cost optimization, disaster recovery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63267" y="5972545"/>
            <a:ext cx="127189" cy="127189"/>
          </a:xfrm>
          <a:custGeom>
            <a:avLst/>
            <a:gdLst/>
            <a:ahLst/>
            <a:cxnLst/>
            <a:rect l="l" t="t" r="r" b="b"/>
            <a:pathLst>
              <a:path w="127189" h="127189">
                <a:moveTo>
                  <a:pt x="63595" y="127189"/>
                </a:moveTo>
                <a:cubicBezTo>
                  <a:pt x="98693" y="127189"/>
                  <a:pt x="127189" y="98693"/>
                  <a:pt x="127189" y="63595"/>
                </a:cubicBezTo>
                <a:cubicBezTo>
                  <a:pt x="127189" y="28496"/>
                  <a:pt x="98693" y="0"/>
                  <a:pt x="63595" y="0"/>
                </a:cubicBezTo>
                <a:cubicBezTo>
                  <a:pt x="28496" y="0"/>
                  <a:pt x="0" y="28496"/>
                  <a:pt x="0" y="63595"/>
                </a:cubicBezTo>
                <a:cubicBezTo>
                  <a:pt x="0" y="98693"/>
                  <a:pt x="28496" y="127189"/>
                  <a:pt x="63595" y="127189"/>
                </a:cubicBezTo>
                <a:close/>
                <a:moveTo>
                  <a:pt x="63595" y="33785"/>
                </a:moveTo>
                <a:cubicBezTo>
                  <a:pt x="66899" y="33785"/>
                  <a:pt x="69557" y="36443"/>
                  <a:pt x="69557" y="39747"/>
                </a:cubicBezTo>
                <a:lnTo>
                  <a:pt x="69557" y="67569"/>
                </a:lnTo>
                <a:cubicBezTo>
                  <a:pt x="69557" y="70873"/>
                  <a:pt x="66899" y="73531"/>
                  <a:pt x="63595" y="73531"/>
                </a:cubicBezTo>
                <a:cubicBezTo>
                  <a:pt x="60291" y="73531"/>
                  <a:pt x="57633" y="70873"/>
                  <a:pt x="57633" y="67569"/>
                </a:cubicBezTo>
                <a:lnTo>
                  <a:pt x="57633" y="39747"/>
                </a:lnTo>
                <a:cubicBezTo>
                  <a:pt x="57633" y="36443"/>
                  <a:pt x="60291" y="33785"/>
                  <a:pt x="63595" y="33785"/>
                </a:cubicBezTo>
                <a:close/>
                <a:moveTo>
                  <a:pt x="56962" y="87443"/>
                </a:moveTo>
                <a:cubicBezTo>
                  <a:pt x="56811" y="84981"/>
                  <a:pt x="58039" y="82638"/>
                  <a:pt x="60149" y="81362"/>
                </a:cubicBezTo>
                <a:cubicBezTo>
                  <a:pt x="62260" y="80085"/>
                  <a:pt x="64905" y="80085"/>
                  <a:pt x="67015" y="81362"/>
                </a:cubicBezTo>
                <a:cubicBezTo>
                  <a:pt x="69126" y="82638"/>
                  <a:pt x="70353" y="84981"/>
                  <a:pt x="70203" y="87443"/>
                </a:cubicBezTo>
                <a:cubicBezTo>
                  <a:pt x="70353" y="89905"/>
                  <a:pt x="69126" y="92247"/>
                  <a:pt x="67015" y="93524"/>
                </a:cubicBezTo>
                <a:cubicBezTo>
                  <a:pt x="64905" y="94800"/>
                  <a:pt x="62260" y="94800"/>
                  <a:pt x="60149" y="93524"/>
                </a:cubicBezTo>
                <a:cubicBezTo>
                  <a:pt x="58039" y="92247"/>
                  <a:pt x="56811" y="89905"/>
                  <a:pt x="56962" y="87443"/>
                </a:cubicBez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43" name="Text 41"/>
          <p:cNvSpPr/>
          <p:nvPr/>
        </p:nvSpPr>
        <p:spPr>
          <a:xfrm>
            <a:off x="776763" y="5945290"/>
            <a:ext cx="2889013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Cons:</a:t>
            </a:r>
            <a:r>
              <a:rPr lang="en-US" sz="100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Complex integration, management overhead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48731" y="6239642"/>
            <a:ext cx="5349217" cy="407006"/>
          </a:xfrm>
          <a:custGeom>
            <a:avLst/>
            <a:gdLst/>
            <a:ahLst/>
            <a:cxnLst/>
            <a:rect l="l" t="t" r="r" b="b"/>
            <a:pathLst>
              <a:path w="5349217" h="407006">
                <a:moveTo>
                  <a:pt x="72679" y="0"/>
                </a:moveTo>
                <a:lnTo>
                  <a:pt x="5276538" y="0"/>
                </a:lnTo>
                <a:cubicBezTo>
                  <a:pt x="5316678" y="0"/>
                  <a:pt x="5349217" y="32539"/>
                  <a:pt x="5349217" y="72679"/>
                </a:cubicBezTo>
                <a:lnTo>
                  <a:pt x="5349217" y="334327"/>
                </a:lnTo>
                <a:cubicBezTo>
                  <a:pt x="5349217" y="374466"/>
                  <a:pt x="5316678" y="407006"/>
                  <a:pt x="5276538" y="407006"/>
                </a:cubicBezTo>
                <a:lnTo>
                  <a:pt x="72679" y="407006"/>
                </a:lnTo>
                <a:cubicBezTo>
                  <a:pt x="32539" y="407006"/>
                  <a:pt x="0" y="374466"/>
                  <a:pt x="0" y="334327"/>
                </a:cubicBezTo>
                <a:lnTo>
                  <a:pt x="0" y="72679"/>
                </a:lnTo>
                <a:cubicBezTo>
                  <a:pt x="0" y="32566"/>
                  <a:pt x="32566" y="0"/>
                  <a:pt x="72679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79554" y="6381367"/>
            <a:ext cx="127189" cy="127189"/>
          </a:xfrm>
          <a:custGeom>
            <a:avLst/>
            <a:gdLst/>
            <a:ahLst/>
            <a:cxnLst/>
            <a:rect l="l" t="t" r="r" b="b"/>
            <a:pathLst>
              <a:path w="127189" h="127189">
                <a:moveTo>
                  <a:pt x="49683" y="11924"/>
                </a:moveTo>
                <a:lnTo>
                  <a:pt x="77506" y="11924"/>
                </a:lnTo>
                <a:cubicBezTo>
                  <a:pt x="78599" y="11924"/>
                  <a:pt x="79493" y="12818"/>
                  <a:pt x="79493" y="13911"/>
                </a:cubicBezTo>
                <a:lnTo>
                  <a:pt x="79493" y="23848"/>
                </a:lnTo>
                <a:lnTo>
                  <a:pt x="47696" y="23848"/>
                </a:lnTo>
                <a:lnTo>
                  <a:pt x="47696" y="13911"/>
                </a:lnTo>
                <a:cubicBezTo>
                  <a:pt x="47696" y="12818"/>
                  <a:pt x="48590" y="11924"/>
                  <a:pt x="49683" y="11924"/>
                </a:cubicBezTo>
                <a:close/>
                <a:moveTo>
                  <a:pt x="35772" y="13911"/>
                </a:moveTo>
                <a:lnTo>
                  <a:pt x="35772" y="23848"/>
                </a:lnTo>
                <a:lnTo>
                  <a:pt x="15899" y="23848"/>
                </a:lnTo>
                <a:cubicBezTo>
                  <a:pt x="7130" y="23848"/>
                  <a:pt x="0" y="30978"/>
                  <a:pt x="0" y="39747"/>
                </a:cubicBezTo>
                <a:lnTo>
                  <a:pt x="0" y="63595"/>
                </a:lnTo>
                <a:lnTo>
                  <a:pt x="127189" y="63595"/>
                </a:lnTo>
                <a:lnTo>
                  <a:pt x="127189" y="39747"/>
                </a:lnTo>
                <a:cubicBezTo>
                  <a:pt x="127189" y="30978"/>
                  <a:pt x="120060" y="23848"/>
                  <a:pt x="111291" y="23848"/>
                </a:cubicBezTo>
                <a:lnTo>
                  <a:pt x="91417" y="23848"/>
                </a:lnTo>
                <a:lnTo>
                  <a:pt x="91417" y="13911"/>
                </a:lnTo>
                <a:cubicBezTo>
                  <a:pt x="91417" y="6235"/>
                  <a:pt x="85182" y="0"/>
                  <a:pt x="77506" y="0"/>
                </a:cubicBezTo>
                <a:lnTo>
                  <a:pt x="49683" y="0"/>
                </a:lnTo>
                <a:cubicBezTo>
                  <a:pt x="42007" y="0"/>
                  <a:pt x="35772" y="6235"/>
                  <a:pt x="35772" y="13911"/>
                </a:cubicBezTo>
                <a:close/>
                <a:moveTo>
                  <a:pt x="127189" y="75519"/>
                </a:moveTo>
                <a:lnTo>
                  <a:pt x="79493" y="75519"/>
                </a:lnTo>
                <a:lnTo>
                  <a:pt x="79493" y="79493"/>
                </a:lnTo>
                <a:cubicBezTo>
                  <a:pt x="79493" y="83890"/>
                  <a:pt x="75941" y="87443"/>
                  <a:pt x="71544" y="87443"/>
                </a:cubicBezTo>
                <a:lnTo>
                  <a:pt x="55645" y="87443"/>
                </a:lnTo>
                <a:cubicBezTo>
                  <a:pt x="51248" y="87443"/>
                  <a:pt x="47696" y="83890"/>
                  <a:pt x="47696" y="79493"/>
                </a:cubicBezTo>
                <a:lnTo>
                  <a:pt x="47696" y="75519"/>
                </a:lnTo>
                <a:lnTo>
                  <a:pt x="0" y="75519"/>
                </a:lnTo>
                <a:lnTo>
                  <a:pt x="0" y="103341"/>
                </a:lnTo>
                <a:cubicBezTo>
                  <a:pt x="0" y="112110"/>
                  <a:pt x="7130" y="119240"/>
                  <a:pt x="15899" y="119240"/>
                </a:cubicBezTo>
                <a:lnTo>
                  <a:pt x="111291" y="119240"/>
                </a:lnTo>
                <a:cubicBezTo>
                  <a:pt x="120060" y="119240"/>
                  <a:pt x="127189" y="112110"/>
                  <a:pt x="127189" y="103341"/>
                </a:cubicBezTo>
                <a:lnTo>
                  <a:pt x="127189" y="75519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6" name="Text 44"/>
          <p:cNvSpPr/>
          <p:nvPr/>
        </p:nvSpPr>
        <p:spPr>
          <a:xfrm>
            <a:off x="876905" y="6352294"/>
            <a:ext cx="4971985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For:</a:t>
            </a:r>
            <a:r>
              <a:rPr lang="en-US" sz="100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Enterprises migrating to cloud, seasonal workloads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169588" y="4110130"/>
            <a:ext cx="5659923" cy="2689145"/>
          </a:xfrm>
          <a:custGeom>
            <a:avLst/>
            <a:gdLst/>
            <a:ahLst/>
            <a:cxnLst/>
            <a:rect l="l" t="t" r="r" b="b"/>
            <a:pathLst>
              <a:path w="5659923" h="2689145">
                <a:moveTo>
                  <a:pt x="36340" y="0"/>
                </a:moveTo>
                <a:lnTo>
                  <a:pt x="5550905" y="0"/>
                </a:lnTo>
                <a:cubicBezTo>
                  <a:pt x="5611114" y="0"/>
                  <a:pt x="5659923" y="48809"/>
                  <a:pt x="5659923" y="109018"/>
                </a:cubicBezTo>
                <a:lnTo>
                  <a:pt x="5659923" y="2580127"/>
                </a:lnTo>
                <a:cubicBezTo>
                  <a:pt x="5659923" y="2640336"/>
                  <a:pt x="5611114" y="2689145"/>
                  <a:pt x="5550905" y="2689145"/>
                </a:cubicBezTo>
                <a:lnTo>
                  <a:pt x="36340" y="2689145"/>
                </a:lnTo>
                <a:cubicBezTo>
                  <a:pt x="16270" y="2689145"/>
                  <a:pt x="0" y="2672875"/>
                  <a:pt x="0" y="2652805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48" name="Shape 46"/>
          <p:cNvSpPr/>
          <p:nvPr/>
        </p:nvSpPr>
        <p:spPr>
          <a:xfrm>
            <a:off x="6169588" y="4110130"/>
            <a:ext cx="36340" cy="2689145"/>
          </a:xfrm>
          <a:custGeom>
            <a:avLst/>
            <a:gdLst/>
            <a:ahLst/>
            <a:cxnLst/>
            <a:rect l="l" t="t" r="r" b="b"/>
            <a:pathLst>
              <a:path w="36340" h="2689145">
                <a:moveTo>
                  <a:pt x="36340" y="0"/>
                </a:moveTo>
                <a:lnTo>
                  <a:pt x="36340" y="0"/>
                </a:lnTo>
                <a:lnTo>
                  <a:pt x="36340" y="2689145"/>
                </a:lnTo>
                <a:lnTo>
                  <a:pt x="36340" y="2689145"/>
                </a:lnTo>
                <a:cubicBezTo>
                  <a:pt x="16270" y="2689145"/>
                  <a:pt x="0" y="2672875"/>
                  <a:pt x="0" y="2652805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9" name="Shape 47"/>
          <p:cNvSpPr/>
          <p:nvPr/>
        </p:nvSpPr>
        <p:spPr>
          <a:xfrm>
            <a:off x="6333117" y="4255490"/>
            <a:ext cx="508757" cy="508757"/>
          </a:xfrm>
          <a:custGeom>
            <a:avLst/>
            <a:gdLst/>
            <a:ahLst/>
            <a:cxnLst/>
            <a:rect l="l" t="t" r="r" b="b"/>
            <a:pathLst>
              <a:path w="508757" h="508757">
                <a:moveTo>
                  <a:pt x="109022" y="0"/>
                </a:moveTo>
                <a:lnTo>
                  <a:pt x="399736" y="0"/>
                </a:lnTo>
                <a:cubicBezTo>
                  <a:pt x="459946" y="0"/>
                  <a:pt x="508757" y="48811"/>
                  <a:pt x="508757" y="109022"/>
                </a:cubicBezTo>
                <a:lnTo>
                  <a:pt x="508757" y="399736"/>
                </a:lnTo>
                <a:cubicBezTo>
                  <a:pt x="508757" y="459946"/>
                  <a:pt x="459946" y="508757"/>
                  <a:pt x="399736" y="508757"/>
                </a:cubicBezTo>
                <a:lnTo>
                  <a:pt x="109022" y="508757"/>
                </a:lnTo>
                <a:cubicBezTo>
                  <a:pt x="48811" y="508757"/>
                  <a:pt x="0" y="459946"/>
                  <a:pt x="0" y="399736"/>
                </a:cubicBezTo>
                <a:lnTo>
                  <a:pt x="0" y="109022"/>
                </a:lnTo>
                <a:cubicBezTo>
                  <a:pt x="0" y="48811"/>
                  <a:pt x="48811" y="0"/>
                  <a:pt x="109022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0" name="Shape 48"/>
          <p:cNvSpPr/>
          <p:nvPr/>
        </p:nvSpPr>
        <p:spPr>
          <a:xfrm>
            <a:off x="6451222" y="4400849"/>
            <a:ext cx="272548" cy="218039"/>
          </a:xfrm>
          <a:custGeom>
            <a:avLst/>
            <a:gdLst/>
            <a:ahLst/>
            <a:cxnLst/>
            <a:rect l="l" t="t" r="r" b="b"/>
            <a:pathLst>
              <a:path w="272548" h="218039">
                <a:moveTo>
                  <a:pt x="136274" y="6814"/>
                </a:moveTo>
                <a:cubicBezTo>
                  <a:pt x="160718" y="6814"/>
                  <a:pt x="180563" y="26659"/>
                  <a:pt x="180563" y="51103"/>
                </a:cubicBezTo>
                <a:cubicBezTo>
                  <a:pt x="180563" y="75547"/>
                  <a:pt x="160718" y="95392"/>
                  <a:pt x="136274" y="95392"/>
                </a:cubicBezTo>
                <a:cubicBezTo>
                  <a:pt x="111830" y="95392"/>
                  <a:pt x="91985" y="75547"/>
                  <a:pt x="91985" y="51103"/>
                </a:cubicBezTo>
                <a:cubicBezTo>
                  <a:pt x="91985" y="26659"/>
                  <a:pt x="111830" y="6814"/>
                  <a:pt x="136274" y="6814"/>
                </a:cubicBezTo>
                <a:close/>
                <a:moveTo>
                  <a:pt x="40882" y="37475"/>
                </a:moveTo>
                <a:cubicBezTo>
                  <a:pt x="57805" y="37475"/>
                  <a:pt x="71544" y="51214"/>
                  <a:pt x="71544" y="68137"/>
                </a:cubicBezTo>
                <a:cubicBezTo>
                  <a:pt x="71544" y="85060"/>
                  <a:pt x="57805" y="98799"/>
                  <a:pt x="40882" y="98799"/>
                </a:cubicBezTo>
                <a:cubicBezTo>
                  <a:pt x="23960" y="98799"/>
                  <a:pt x="10221" y="85060"/>
                  <a:pt x="10221" y="68137"/>
                </a:cubicBezTo>
                <a:cubicBezTo>
                  <a:pt x="10221" y="51214"/>
                  <a:pt x="23960" y="37475"/>
                  <a:pt x="40882" y="37475"/>
                </a:cubicBezTo>
                <a:close/>
                <a:moveTo>
                  <a:pt x="0" y="177156"/>
                </a:moveTo>
                <a:cubicBezTo>
                  <a:pt x="0" y="147048"/>
                  <a:pt x="24402" y="122647"/>
                  <a:pt x="54510" y="122647"/>
                </a:cubicBezTo>
                <a:cubicBezTo>
                  <a:pt x="59961" y="122647"/>
                  <a:pt x="65241" y="123456"/>
                  <a:pt x="70224" y="124946"/>
                </a:cubicBezTo>
                <a:cubicBezTo>
                  <a:pt x="56213" y="140618"/>
                  <a:pt x="47696" y="161315"/>
                  <a:pt x="47696" y="183970"/>
                </a:cubicBezTo>
                <a:lnTo>
                  <a:pt x="47696" y="190784"/>
                </a:lnTo>
                <a:cubicBezTo>
                  <a:pt x="47696" y="195639"/>
                  <a:pt x="48718" y="200238"/>
                  <a:pt x="50549" y="204411"/>
                </a:cubicBezTo>
                <a:lnTo>
                  <a:pt x="13627" y="204411"/>
                </a:lnTo>
                <a:cubicBezTo>
                  <a:pt x="6090" y="204411"/>
                  <a:pt x="0" y="198322"/>
                  <a:pt x="0" y="190784"/>
                </a:cubicBezTo>
                <a:lnTo>
                  <a:pt x="0" y="177156"/>
                </a:lnTo>
                <a:close/>
                <a:moveTo>
                  <a:pt x="221999" y="204411"/>
                </a:moveTo>
                <a:cubicBezTo>
                  <a:pt x="223830" y="200238"/>
                  <a:pt x="224852" y="195639"/>
                  <a:pt x="224852" y="190784"/>
                </a:cubicBezTo>
                <a:lnTo>
                  <a:pt x="224852" y="183970"/>
                </a:lnTo>
                <a:cubicBezTo>
                  <a:pt x="224852" y="161315"/>
                  <a:pt x="216335" y="140618"/>
                  <a:pt x="202325" y="124946"/>
                </a:cubicBezTo>
                <a:cubicBezTo>
                  <a:pt x="207307" y="123456"/>
                  <a:pt x="212588" y="122647"/>
                  <a:pt x="218039" y="122647"/>
                </a:cubicBezTo>
                <a:cubicBezTo>
                  <a:pt x="248147" y="122647"/>
                  <a:pt x="272548" y="147048"/>
                  <a:pt x="272548" y="177156"/>
                </a:cubicBezTo>
                <a:lnTo>
                  <a:pt x="272548" y="190784"/>
                </a:lnTo>
                <a:cubicBezTo>
                  <a:pt x="272548" y="198322"/>
                  <a:pt x="266459" y="204411"/>
                  <a:pt x="258921" y="204411"/>
                </a:cubicBezTo>
                <a:lnTo>
                  <a:pt x="221999" y="204411"/>
                </a:lnTo>
                <a:close/>
                <a:moveTo>
                  <a:pt x="201004" y="68137"/>
                </a:moveTo>
                <a:cubicBezTo>
                  <a:pt x="201004" y="51214"/>
                  <a:pt x="214744" y="37475"/>
                  <a:pt x="231666" y="37475"/>
                </a:cubicBezTo>
                <a:cubicBezTo>
                  <a:pt x="248589" y="37475"/>
                  <a:pt x="262328" y="51214"/>
                  <a:pt x="262328" y="68137"/>
                </a:cubicBezTo>
                <a:cubicBezTo>
                  <a:pt x="262328" y="85060"/>
                  <a:pt x="248589" y="98799"/>
                  <a:pt x="231666" y="98799"/>
                </a:cubicBezTo>
                <a:cubicBezTo>
                  <a:pt x="214744" y="98799"/>
                  <a:pt x="201004" y="85060"/>
                  <a:pt x="201004" y="68137"/>
                </a:cubicBezTo>
                <a:close/>
                <a:moveTo>
                  <a:pt x="68137" y="183970"/>
                </a:moveTo>
                <a:cubicBezTo>
                  <a:pt x="68137" y="146324"/>
                  <a:pt x="98628" y="115833"/>
                  <a:pt x="136274" y="115833"/>
                </a:cubicBezTo>
                <a:cubicBezTo>
                  <a:pt x="173920" y="115833"/>
                  <a:pt x="204411" y="146324"/>
                  <a:pt x="204411" y="183970"/>
                </a:cubicBezTo>
                <a:lnTo>
                  <a:pt x="204411" y="190784"/>
                </a:lnTo>
                <a:cubicBezTo>
                  <a:pt x="204411" y="198322"/>
                  <a:pt x="198322" y="204411"/>
                  <a:pt x="190784" y="204411"/>
                </a:cubicBezTo>
                <a:lnTo>
                  <a:pt x="81765" y="204411"/>
                </a:lnTo>
                <a:cubicBezTo>
                  <a:pt x="74227" y="204411"/>
                  <a:pt x="68137" y="198322"/>
                  <a:pt x="68137" y="190784"/>
                </a:cubicBezTo>
                <a:lnTo>
                  <a:pt x="68137" y="18397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6950894" y="4255490"/>
            <a:ext cx="1844244" cy="290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Community Cloud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950894" y="4546093"/>
            <a:ext cx="1807905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Shared by Organizations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333117" y="4873266"/>
            <a:ext cx="5423714" cy="708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5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Infrastructure is </a:t>
            </a:r>
            <a:r>
              <a:rPr lang="en-US" sz="114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shared by several organizations</a:t>
            </a:r>
            <a:r>
              <a:rPr lang="en-US" sz="1145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 common concerns (security, compliance, mission). Costs are distributed among community members while maintaining data isolation.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51287" y="5718166"/>
            <a:ext cx="127189" cy="127189"/>
          </a:xfrm>
          <a:custGeom>
            <a:avLst/>
            <a:gdLst/>
            <a:ahLst/>
            <a:cxnLst/>
            <a:rect l="l" t="t" r="r" b="b"/>
            <a:pathLst>
              <a:path w="127189" h="127189">
                <a:moveTo>
                  <a:pt x="63595" y="127189"/>
                </a:moveTo>
                <a:cubicBezTo>
                  <a:pt x="98693" y="127189"/>
                  <a:pt x="127189" y="98693"/>
                  <a:pt x="127189" y="63595"/>
                </a:cubicBezTo>
                <a:cubicBezTo>
                  <a:pt x="127189" y="28496"/>
                  <a:pt x="98693" y="0"/>
                  <a:pt x="63595" y="0"/>
                </a:cubicBezTo>
                <a:cubicBezTo>
                  <a:pt x="28496" y="0"/>
                  <a:pt x="0" y="28496"/>
                  <a:pt x="0" y="63595"/>
                </a:cubicBezTo>
                <a:cubicBezTo>
                  <a:pt x="0" y="98693"/>
                  <a:pt x="28496" y="127189"/>
                  <a:pt x="63595" y="127189"/>
                </a:cubicBezTo>
                <a:close/>
                <a:moveTo>
                  <a:pt x="84561" y="52838"/>
                </a:moveTo>
                <a:lnTo>
                  <a:pt x="64688" y="84636"/>
                </a:lnTo>
                <a:cubicBezTo>
                  <a:pt x="63644" y="86300"/>
                  <a:pt x="61856" y="87343"/>
                  <a:pt x="59893" y="87443"/>
                </a:cubicBezTo>
                <a:cubicBezTo>
                  <a:pt x="57931" y="87542"/>
                  <a:pt x="56043" y="86648"/>
                  <a:pt x="54875" y="85058"/>
                </a:cubicBezTo>
                <a:lnTo>
                  <a:pt x="42951" y="69159"/>
                </a:lnTo>
                <a:cubicBezTo>
                  <a:pt x="40964" y="66526"/>
                  <a:pt x="41510" y="62800"/>
                  <a:pt x="44144" y="60812"/>
                </a:cubicBezTo>
                <a:cubicBezTo>
                  <a:pt x="46777" y="58825"/>
                  <a:pt x="50503" y="59372"/>
                  <a:pt x="52490" y="62005"/>
                </a:cubicBezTo>
                <a:lnTo>
                  <a:pt x="59198" y="70948"/>
                </a:lnTo>
                <a:lnTo>
                  <a:pt x="74450" y="46528"/>
                </a:lnTo>
                <a:cubicBezTo>
                  <a:pt x="76189" y="43746"/>
                  <a:pt x="79866" y="42877"/>
                  <a:pt x="82673" y="44640"/>
                </a:cubicBezTo>
                <a:cubicBezTo>
                  <a:pt x="85480" y="46404"/>
                  <a:pt x="86325" y="50056"/>
                  <a:pt x="84561" y="5286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5" name="Text 53"/>
          <p:cNvSpPr/>
          <p:nvPr/>
        </p:nvSpPr>
        <p:spPr>
          <a:xfrm>
            <a:off x="6564784" y="5690911"/>
            <a:ext cx="3397770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Pros:</a:t>
            </a:r>
            <a:r>
              <a:rPr lang="en-US" sz="100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Cost sharing, collaborative focus, targeted compliance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51287" y="5972545"/>
            <a:ext cx="127189" cy="127189"/>
          </a:xfrm>
          <a:custGeom>
            <a:avLst/>
            <a:gdLst/>
            <a:ahLst/>
            <a:cxnLst/>
            <a:rect l="l" t="t" r="r" b="b"/>
            <a:pathLst>
              <a:path w="127189" h="127189">
                <a:moveTo>
                  <a:pt x="63595" y="127189"/>
                </a:moveTo>
                <a:cubicBezTo>
                  <a:pt x="98693" y="127189"/>
                  <a:pt x="127189" y="98693"/>
                  <a:pt x="127189" y="63595"/>
                </a:cubicBezTo>
                <a:cubicBezTo>
                  <a:pt x="127189" y="28496"/>
                  <a:pt x="98693" y="0"/>
                  <a:pt x="63595" y="0"/>
                </a:cubicBezTo>
                <a:cubicBezTo>
                  <a:pt x="28496" y="0"/>
                  <a:pt x="0" y="28496"/>
                  <a:pt x="0" y="63595"/>
                </a:cubicBezTo>
                <a:cubicBezTo>
                  <a:pt x="0" y="98693"/>
                  <a:pt x="28496" y="127189"/>
                  <a:pt x="63595" y="127189"/>
                </a:cubicBezTo>
                <a:close/>
                <a:moveTo>
                  <a:pt x="63595" y="33785"/>
                </a:moveTo>
                <a:cubicBezTo>
                  <a:pt x="66899" y="33785"/>
                  <a:pt x="69557" y="36443"/>
                  <a:pt x="69557" y="39747"/>
                </a:cubicBezTo>
                <a:lnTo>
                  <a:pt x="69557" y="67569"/>
                </a:lnTo>
                <a:cubicBezTo>
                  <a:pt x="69557" y="70873"/>
                  <a:pt x="66899" y="73531"/>
                  <a:pt x="63595" y="73531"/>
                </a:cubicBezTo>
                <a:cubicBezTo>
                  <a:pt x="60291" y="73531"/>
                  <a:pt x="57633" y="70873"/>
                  <a:pt x="57633" y="67569"/>
                </a:cubicBezTo>
                <a:lnTo>
                  <a:pt x="57633" y="39747"/>
                </a:lnTo>
                <a:cubicBezTo>
                  <a:pt x="57633" y="36443"/>
                  <a:pt x="60291" y="33785"/>
                  <a:pt x="63595" y="33785"/>
                </a:cubicBezTo>
                <a:close/>
                <a:moveTo>
                  <a:pt x="56962" y="87443"/>
                </a:moveTo>
                <a:cubicBezTo>
                  <a:pt x="56811" y="84981"/>
                  <a:pt x="58039" y="82638"/>
                  <a:pt x="60149" y="81362"/>
                </a:cubicBezTo>
                <a:cubicBezTo>
                  <a:pt x="62260" y="80085"/>
                  <a:pt x="64905" y="80085"/>
                  <a:pt x="67015" y="81362"/>
                </a:cubicBezTo>
                <a:cubicBezTo>
                  <a:pt x="69126" y="82638"/>
                  <a:pt x="70353" y="84981"/>
                  <a:pt x="70203" y="87443"/>
                </a:cubicBezTo>
                <a:cubicBezTo>
                  <a:pt x="70353" y="89905"/>
                  <a:pt x="69126" y="92247"/>
                  <a:pt x="67015" y="93524"/>
                </a:cubicBezTo>
                <a:cubicBezTo>
                  <a:pt x="64905" y="94800"/>
                  <a:pt x="62260" y="94800"/>
                  <a:pt x="60149" y="93524"/>
                </a:cubicBezTo>
                <a:cubicBezTo>
                  <a:pt x="58039" y="92247"/>
                  <a:pt x="56811" y="89905"/>
                  <a:pt x="56962" y="87443"/>
                </a:cubicBez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57" name="Text 55"/>
          <p:cNvSpPr/>
          <p:nvPr/>
        </p:nvSpPr>
        <p:spPr>
          <a:xfrm>
            <a:off x="6564784" y="5945290"/>
            <a:ext cx="3107052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Cons:</a:t>
            </a:r>
            <a:r>
              <a:rPr lang="en-US" sz="100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Limited scalability, shared governance decisions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36751" y="6239642"/>
            <a:ext cx="5349217" cy="407006"/>
          </a:xfrm>
          <a:custGeom>
            <a:avLst/>
            <a:gdLst/>
            <a:ahLst/>
            <a:cxnLst/>
            <a:rect l="l" t="t" r="r" b="b"/>
            <a:pathLst>
              <a:path w="5349217" h="407006">
                <a:moveTo>
                  <a:pt x="72679" y="0"/>
                </a:moveTo>
                <a:lnTo>
                  <a:pt x="5276538" y="0"/>
                </a:lnTo>
                <a:cubicBezTo>
                  <a:pt x="5316678" y="0"/>
                  <a:pt x="5349217" y="32539"/>
                  <a:pt x="5349217" y="72679"/>
                </a:cubicBezTo>
                <a:lnTo>
                  <a:pt x="5349217" y="334327"/>
                </a:lnTo>
                <a:cubicBezTo>
                  <a:pt x="5349217" y="374466"/>
                  <a:pt x="5316678" y="407006"/>
                  <a:pt x="5276538" y="407006"/>
                </a:cubicBezTo>
                <a:lnTo>
                  <a:pt x="72679" y="407006"/>
                </a:lnTo>
                <a:cubicBezTo>
                  <a:pt x="32539" y="407006"/>
                  <a:pt x="0" y="374466"/>
                  <a:pt x="0" y="334327"/>
                </a:cubicBezTo>
                <a:lnTo>
                  <a:pt x="0" y="72679"/>
                </a:lnTo>
                <a:cubicBezTo>
                  <a:pt x="0" y="32566"/>
                  <a:pt x="32566" y="0"/>
                  <a:pt x="72679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459625" y="6381367"/>
            <a:ext cx="143088" cy="127189"/>
          </a:xfrm>
          <a:custGeom>
            <a:avLst/>
            <a:gdLst/>
            <a:ahLst/>
            <a:cxnLst/>
            <a:rect l="l" t="t" r="r" b="b"/>
            <a:pathLst>
              <a:path w="143088" h="127189">
                <a:moveTo>
                  <a:pt x="66799" y="21165"/>
                </a:moveTo>
                <a:lnTo>
                  <a:pt x="37834" y="53360"/>
                </a:lnTo>
                <a:cubicBezTo>
                  <a:pt x="36691" y="54627"/>
                  <a:pt x="36741" y="56589"/>
                  <a:pt x="37958" y="57807"/>
                </a:cubicBezTo>
                <a:cubicBezTo>
                  <a:pt x="45535" y="65383"/>
                  <a:pt x="57831" y="65383"/>
                  <a:pt x="65408" y="57807"/>
                </a:cubicBezTo>
                <a:lnTo>
                  <a:pt x="73308" y="49907"/>
                </a:lnTo>
                <a:cubicBezTo>
                  <a:pt x="74351" y="48864"/>
                  <a:pt x="75668" y="48292"/>
                  <a:pt x="77009" y="48193"/>
                </a:cubicBezTo>
                <a:cubicBezTo>
                  <a:pt x="78698" y="48044"/>
                  <a:pt x="80437" y="48615"/>
                  <a:pt x="81729" y="49907"/>
                </a:cubicBezTo>
                <a:lnTo>
                  <a:pt x="125599" y="93405"/>
                </a:lnTo>
                <a:lnTo>
                  <a:pt x="143088" y="79493"/>
                </a:lnTo>
                <a:lnTo>
                  <a:pt x="143088" y="7949"/>
                </a:lnTo>
                <a:lnTo>
                  <a:pt x="115265" y="23848"/>
                </a:lnTo>
                <a:lnTo>
                  <a:pt x="109353" y="19898"/>
                </a:lnTo>
                <a:cubicBezTo>
                  <a:pt x="105428" y="17290"/>
                  <a:pt x="100832" y="15899"/>
                  <a:pt x="96112" y="15899"/>
                </a:cubicBezTo>
                <a:lnTo>
                  <a:pt x="78624" y="15899"/>
                </a:lnTo>
                <a:cubicBezTo>
                  <a:pt x="78351" y="15899"/>
                  <a:pt x="78052" y="15899"/>
                  <a:pt x="77779" y="15924"/>
                </a:cubicBezTo>
                <a:cubicBezTo>
                  <a:pt x="73581" y="16147"/>
                  <a:pt x="69631" y="18035"/>
                  <a:pt x="66799" y="21165"/>
                </a:cubicBezTo>
                <a:close/>
                <a:moveTo>
                  <a:pt x="28965" y="45386"/>
                </a:moveTo>
                <a:lnTo>
                  <a:pt x="55496" y="15899"/>
                </a:lnTo>
                <a:lnTo>
                  <a:pt x="45659" y="15899"/>
                </a:lnTo>
                <a:cubicBezTo>
                  <a:pt x="39324" y="15899"/>
                  <a:pt x="33263" y="18408"/>
                  <a:pt x="28791" y="22879"/>
                </a:cubicBezTo>
                <a:lnTo>
                  <a:pt x="27823" y="23848"/>
                </a:lnTo>
                <a:lnTo>
                  <a:pt x="0" y="7949"/>
                </a:lnTo>
                <a:lnTo>
                  <a:pt x="0" y="79493"/>
                </a:lnTo>
                <a:lnTo>
                  <a:pt x="38852" y="111862"/>
                </a:lnTo>
                <a:cubicBezTo>
                  <a:pt x="44566" y="116632"/>
                  <a:pt x="51770" y="119240"/>
                  <a:pt x="59198" y="119240"/>
                </a:cubicBezTo>
                <a:lnTo>
                  <a:pt x="63098" y="119240"/>
                </a:lnTo>
                <a:lnTo>
                  <a:pt x="61359" y="117501"/>
                </a:lnTo>
                <a:cubicBezTo>
                  <a:pt x="59024" y="115166"/>
                  <a:pt x="59024" y="111390"/>
                  <a:pt x="61359" y="109080"/>
                </a:cubicBezTo>
                <a:cubicBezTo>
                  <a:pt x="63694" y="106769"/>
                  <a:pt x="67470" y="106745"/>
                  <a:pt x="69780" y="109080"/>
                </a:cubicBezTo>
                <a:lnTo>
                  <a:pt x="79965" y="119265"/>
                </a:lnTo>
                <a:lnTo>
                  <a:pt x="82201" y="119265"/>
                </a:lnTo>
                <a:cubicBezTo>
                  <a:pt x="86946" y="119265"/>
                  <a:pt x="91591" y="118197"/>
                  <a:pt x="95814" y="116209"/>
                </a:cubicBezTo>
                <a:lnTo>
                  <a:pt x="89182" y="109552"/>
                </a:lnTo>
                <a:cubicBezTo>
                  <a:pt x="86846" y="107217"/>
                  <a:pt x="86846" y="103441"/>
                  <a:pt x="89182" y="101130"/>
                </a:cubicBezTo>
                <a:cubicBezTo>
                  <a:pt x="91517" y="98820"/>
                  <a:pt x="95293" y="98795"/>
                  <a:pt x="97603" y="101130"/>
                </a:cubicBezTo>
                <a:lnTo>
                  <a:pt x="105552" y="109080"/>
                </a:lnTo>
                <a:lnTo>
                  <a:pt x="109899" y="104732"/>
                </a:lnTo>
                <a:cubicBezTo>
                  <a:pt x="112110" y="102522"/>
                  <a:pt x="112756" y="99317"/>
                  <a:pt x="111787" y="96510"/>
                </a:cubicBezTo>
                <a:lnTo>
                  <a:pt x="77531" y="62526"/>
                </a:lnTo>
                <a:lnTo>
                  <a:pt x="73829" y="66228"/>
                </a:lnTo>
                <a:cubicBezTo>
                  <a:pt x="61582" y="78475"/>
                  <a:pt x="41759" y="78475"/>
                  <a:pt x="29512" y="66228"/>
                </a:cubicBezTo>
                <a:cubicBezTo>
                  <a:pt x="23798" y="60514"/>
                  <a:pt x="23575" y="51348"/>
                  <a:pt x="28965" y="4536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0" name="Text 58"/>
          <p:cNvSpPr/>
          <p:nvPr/>
        </p:nvSpPr>
        <p:spPr>
          <a:xfrm>
            <a:off x="6664925" y="6352294"/>
            <a:ext cx="4971985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For:</a:t>
            </a:r>
            <a:r>
              <a:rPr lang="en-US" sz="100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Government agencies, healthcare consortiums, research institutions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assets.aboutamazon.com/b558eefac68011fc78791763259e0c4ac9f707f3.JPG"/>
          <p:cNvPicPr>
            <a:picLocks noChangeAspect="1"/>
          </p:cNvPicPr>
          <p:nvPr/>
        </p:nvPicPr>
        <p:blipFill>
          <a:blip r:embed="rId3">
            <a:alphaModFix amt="30000"/>
          </a:blip>
          <a:srcRect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91919"/>
              </a:gs>
              <a:gs pos="50000">
                <a:srgbClr val="191919">
                  <a:alpha val="95000"/>
                </a:srgbClr>
              </a:gs>
              <a:gs pos="100000">
                <a:srgbClr val="191919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9677400" y="195262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" name="Shape 2"/>
          <p:cNvSpPr/>
          <p:nvPr/>
        </p:nvSpPr>
        <p:spPr>
          <a:xfrm>
            <a:off x="11049000" y="159067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" name="Text 3"/>
          <p:cNvSpPr/>
          <p:nvPr/>
        </p:nvSpPr>
        <p:spPr>
          <a:xfrm>
            <a:off x="11048166" y="1781175"/>
            <a:ext cx="590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152900" y="2581275"/>
            <a:ext cx="76581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54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AWS Global</a:t>
            </a:r>
            <a:endParaRPr lang="en-US" sz="1600" dirty="0"/>
          </a:p>
          <a:p>
            <a:pPr algn="r">
              <a:lnSpc>
                <a:spcPct val="100000"/>
              </a:lnSpc>
            </a:pPr>
            <a:r>
              <a:rPr lang="en-US" sz="54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Infrastructure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381500" y="4524375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8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how AWS delivers cloud services worldwide with high availability and low latency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44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04 • AWS INFRASTRUCTURE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3975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AWS Global Infrastructure Components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920750"/>
            <a:ext cx="11628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foundation of AWS cloud services: Regions, Availability Zones, and Edge Locations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3375" y="1206500"/>
            <a:ext cx="5127625" cy="2611438"/>
          </a:xfrm>
          <a:custGeom>
            <a:avLst/>
            <a:gdLst/>
            <a:ahLst/>
            <a:cxnLst/>
            <a:rect l="l" t="t" r="r" b="b"/>
            <a:pathLst>
              <a:path w="5127625" h="2611438">
                <a:moveTo>
                  <a:pt x="31750" y="0"/>
                </a:moveTo>
                <a:lnTo>
                  <a:pt x="5032386" y="0"/>
                </a:lnTo>
                <a:cubicBezTo>
                  <a:pt x="5084985" y="0"/>
                  <a:pt x="5127625" y="42640"/>
                  <a:pt x="5127625" y="95239"/>
                </a:cubicBezTo>
                <a:lnTo>
                  <a:pt x="5127625" y="2516198"/>
                </a:lnTo>
                <a:cubicBezTo>
                  <a:pt x="5127625" y="2568797"/>
                  <a:pt x="5084985" y="2611437"/>
                  <a:pt x="5032386" y="2611438"/>
                </a:cubicBezTo>
                <a:lnTo>
                  <a:pt x="31750" y="2611438"/>
                </a:lnTo>
                <a:cubicBezTo>
                  <a:pt x="14227" y="2611438"/>
                  <a:pt x="0" y="2597211"/>
                  <a:pt x="0" y="257968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6" name="Shape 4"/>
          <p:cNvSpPr/>
          <p:nvPr/>
        </p:nvSpPr>
        <p:spPr>
          <a:xfrm>
            <a:off x="333375" y="1206500"/>
            <a:ext cx="31750" cy="2611438"/>
          </a:xfrm>
          <a:custGeom>
            <a:avLst/>
            <a:gdLst/>
            <a:ahLst/>
            <a:cxnLst/>
            <a:rect l="l" t="t" r="r" b="b"/>
            <a:pathLst>
              <a:path w="31750" h="2611438">
                <a:moveTo>
                  <a:pt x="31750" y="0"/>
                </a:moveTo>
                <a:lnTo>
                  <a:pt x="31750" y="0"/>
                </a:lnTo>
                <a:lnTo>
                  <a:pt x="31750" y="2611438"/>
                </a:lnTo>
                <a:lnTo>
                  <a:pt x="31750" y="2611438"/>
                </a:lnTo>
                <a:cubicBezTo>
                  <a:pt x="14227" y="2611438"/>
                  <a:pt x="0" y="2597211"/>
                  <a:pt x="0" y="257968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7" name="Shape 5"/>
          <p:cNvSpPr/>
          <p:nvPr/>
        </p:nvSpPr>
        <p:spPr>
          <a:xfrm>
            <a:off x="476250" y="1333500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8" name="Shape 6"/>
          <p:cNvSpPr/>
          <p:nvPr/>
        </p:nvSpPr>
        <p:spPr>
          <a:xfrm>
            <a:off x="603250" y="1460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0724" y="74302"/>
                </a:moveTo>
                <a:lnTo>
                  <a:pt x="32221" y="85799"/>
                </a:lnTo>
                <a:cubicBezTo>
                  <a:pt x="34454" y="88032"/>
                  <a:pt x="37467" y="89297"/>
                  <a:pt x="40630" y="89297"/>
                </a:cubicBezTo>
                <a:lnTo>
                  <a:pt x="48630" y="89297"/>
                </a:lnTo>
                <a:cubicBezTo>
                  <a:pt x="51792" y="89297"/>
                  <a:pt x="54806" y="90562"/>
                  <a:pt x="57038" y="92794"/>
                </a:cubicBezTo>
                <a:lnTo>
                  <a:pt x="67940" y="103696"/>
                </a:lnTo>
                <a:cubicBezTo>
                  <a:pt x="70172" y="105928"/>
                  <a:pt x="71438" y="108942"/>
                  <a:pt x="71438" y="112105"/>
                </a:cubicBezTo>
                <a:lnTo>
                  <a:pt x="71438" y="126057"/>
                </a:lnTo>
                <a:cubicBezTo>
                  <a:pt x="71438" y="129220"/>
                  <a:pt x="72703" y="132234"/>
                  <a:pt x="74935" y="134466"/>
                </a:cubicBezTo>
                <a:lnTo>
                  <a:pt x="79883" y="139415"/>
                </a:lnTo>
                <a:cubicBezTo>
                  <a:pt x="82116" y="141647"/>
                  <a:pt x="83381" y="144661"/>
                  <a:pt x="83381" y="147824"/>
                </a:cubicBezTo>
                <a:lnTo>
                  <a:pt x="83381" y="154781"/>
                </a:lnTo>
                <a:cubicBezTo>
                  <a:pt x="83381" y="161367"/>
                  <a:pt x="88702" y="166688"/>
                  <a:pt x="95287" y="166688"/>
                </a:cubicBezTo>
                <a:cubicBezTo>
                  <a:pt x="101873" y="166688"/>
                  <a:pt x="107193" y="161367"/>
                  <a:pt x="107193" y="154781"/>
                </a:cubicBezTo>
                <a:lnTo>
                  <a:pt x="107193" y="153777"/>
                </a:lnTo>
                <a:cubicBezTo>
                  <a:pt x="107193" y="150614"/>
                  <a:pt x="108458" y="147600"/>
                  <a:pt x="110691" y="145368"/>
                </a:cubicBezTo>
                <a:lnTo>
                  <a:pt x="127546" y="128513"/>
                </a:lnTo>
                <a:cubicBezTo>
                  <a:pt x="129778" y="126281"/>
                  <a:pt x="131043" y="123267"/>
                  <a:pt x="131043" y="120104"/>
                </a:cubicBezTo>
                <a:lnTo>
                  <a:pt x="131043" y="107193"/>
                </a:lnTo>
                <a:cubicBezTo>
                  <a:pt x="131043" y="100608"/>
                  <a:pt x="125723" y="95287"/>
                  <a:pt x="119137" y="95287"/>
                </a:cubicBezTo>
                <a:lnTo>
                  <a:pt x="88367" y="95287"/>
                </a:lnTo>
                <a:cubicBezTo>
                  <a:pt x="85204" y="95287"/>
                  <a:pt x="82190" y="94022"/>
                  <a:pt x="79958" y="91790"/>
                </a:cubicBezTo>
                <a:lnTo>
                  <a:pt x="74005" y="85837"/>
                </a:lnTo>
                <a:cubicBezTo>
                  <a:pt x="72442" y="84274"/>
                  <a:pt x="71549" y="82116"/>
                  <a:pt x="71549" y="79883"/>
                </a:cubicBezTo>
                <a:cubicBezTo>
                  <a:pt x="71549" y="75233"/>
                  <a:pt x="75307" y="71475"/>
                  <a:pt x="79958" y="71475"/>
                </a:cubicBezTo>
                <a:lnTo>
                  <a:pt x="92869" y="71475"/>
                </a:lnTo>
                <a:cubicBezTo>
                  <a:pt x="97520" y="71475"/>
                  <a:pt x="101278" y="67717"/>
                  <a:pt x="101278" y="63066"/>
                </a:cubicBezTo>
                <a:cubicBezTo>
                  <a:pt x="101278" y="60833"/>
                  <a:pt x="100385" y="58675"/>
                  <a:pt x="98822" y="57113"/>
                </a:cubicBezTo>
                <a:lnTo>
                  <a:pt x="91492" y="49783"/>
                </a:lnTo>
                <a:cubicBezTo>
                  <a:pt x="90041" y="48369"/>
                  <a:pt x="89297" y="46546"/>
                  <a:pt x="89297" y="44648"/>
                </a:cubicBezTo>
                <a:cubicBezTo>
                  <a:pt x="89297" y="42751"/>
                  <a:pt x="90041" y="40928"/>
                  <a:pt x="91418" y="39551"/>
                </a:cubicBezTo>
                <a:lnTo>
                  <a:pt x="97854" y="33114"/>
                </a:lnTo>
                <a:cubicBezTo>
                  <a:pt x="100013" y="30956"/>
                  <a:pt x="101240" y="28017"/>
                  <a:pt x="101240" y="24966"/>
                </a:cubicBezTo>
                <a:cubicBezTo>
                  <a:pt x="101240" y="22287"/>
                  <a:pt x="100347" y="19869"/>
                  <a:pt x="98859" y="17934"/>
                </a:cubicBezTo>
                <a:cubicBezTo>
                  <a:pt x="97668" y="17897"/>
                  <a:pt x="96478" y="17859"/>
                  <a:pt x="95287" y="17859"/>
                </a:cubicBezTo>
                <a:cubicBezTo>
                  <a:pt x="59792" y="17859"/>
                  <a:pt x="29914" y="41746"/>
                  <a:pt x="20762" y="74302"/>
                </a:cubicBezTo>
                <a:close/>
                <a:moveTo>
                  <a:pt x="172641" y="95250"/>
                </a:moveTo>
                <a:cubicBezTo>
                  <a:pt x="172641" y="82376"/>
                  <a:pt x="169515" y="70247"/>
                  <a:pt x="163934" y="59606"/>
                </a:cubicBezTo>
                <a:cubicBezTo>
                  <a:pt x="161553" y="59941"/>
                  <a:pt x="159209" y="61057"/>
                  <a:pt x="157274" y="62992"/>
                </a:cubicBezTo>
                <a:lnTo>
                  <a:pt x="152288" y="67977"/>
                </a:lnTo>
                <a:cubicBezTo>
                  <a:pt x="150056" y="70210"/>
                  <a:pt x="148791" y="73223"/>
                  <a:pt x="148791" y="76386"/>
                </a:cubicBezTo>
                <a:lnTo>
                  <a:pt x="148791" y="89297"/>
                </a:lnTo>
                <a:cubicBezTo>
                  <a:pt x="148791" y="95883"/>
                  <a:pt x="154112" y="101203"/>
                  <a:pt x="160697" y="101203"/>
                </a:cubicBezTo>
                <a:lnTo>
                  <a:pt x="169664" y="101203"/>
                </a:lnTo>
                <a:cubicBezTo>
                  <a:pt x="170594" y="101203"/>
                  <a:pt x="171524" y="101092"/>
                  <a:pt x="172380" y="100905"/>
                </a:cubicBezTo>
                <a:cubicBezTo>
                  <a:pt x="172529" y="99045"/>
                  <a:pt x="172566" y="97148"/>
                  <a:pt x="172566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1333500"/>
            <a:ext cx="1317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Regions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1587399"/>
            <a:ext cx="128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Geographic Locations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6250" y="1873250"/>
            <a:ext cx="49212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</a:t>
            </a: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Region is a physical location in the world</a:t>
            </a:r>
            <a:r>
              <a:rPr lang="en-US" sz="10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where AWS has multiple Availability Zones. Each Region is completely independent and isolated from other Regions for fault tolerance and stability.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9425" y="2590800"/>
            <a:ext cx="2371725" cy="641350"/>
          </a:xfrm>
          <a:custGeom>
            <a:avLst/>
            <a:gdLst/>
            <a:ahLst/>
            <a:cxnLst/>
            <a:rect l="l" t="t" r="r" b="b"/>
            <a:pathLst>
              <a:path w="2371725" h="641350">
                <a:moveTo>
                  <a:pt x="63500" y="0"/>
                </a:moveTo>
                <a:lnTo>
                  <a:pt x="2308225" y="0"/>
                </a:lnTo>
                <a:cubicBezTo>
                  <a:pt x="2343295" y="0"/>
                  <a:pt x="2371725" y="28430"/>
                  <a:pt x="2371725" y="63500"/>
                </a:cubicBezTo>
                <a:lnTo>
                  <a:pt x="2371725" y="577850"/>
                </a:lnTo>
                <a:cubicBezTo>
                  <a:pt x="2371725" y="612920"/>
                  <a:pt x="2343295" y="641350"/>
                  <a:pt x="2308225" y="641350"/>
                </a:cubicBezTo>
                <a:lnTo>
                  <a:pt x="63500" y="641350"/>
                </a:lnTo>
                <a:cubicBezTo>
                  <a:pt x="28430" y="641350"/>
                  <a:pt x="0" y="612920"/>
                  <a:pt x="0" y="5778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8319" y="2689223"/>
            <a:ext cx="22939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38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0069" y="2974973"/>
            <a:ext cx="2230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Geographic Regions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955925" y="2590800"/>
            <a:ext cx="2371725" cy="641350"/>
          </a:xfrm>
          <a:custGeom>
            <a:avLst/>
            <a:gdLst/>
            <a:ahLst/>
            <a:cxnLst/>
            <a:rect l="l" t="t" r="r" b="b"/>
            <a:pathLst>
              <a:path w="2371725" h="641350">
                <a:moveTo>
                  <a:pt x="63500" y="0"/>
                </a:moveTo>
                <a:lnTo>
                  <a:pt x="2308225" y="0"/>
                </a:lnTo>
                <a:cubicBezTo>
                  <a:pt x="2343295" y="0"/>
                  <a:pt x="2371725" y="28430"/>
                  <a:pt x="2371725" y="63500"/>
                </a:cubicBezTo>
                <a:lnTo>
                  <a:pt x="2371725" y="577850"/>
                </a:lnTo>
                <a:cubicBezTo>
                  <a:pt x="2371725" y="612920"/>
                  <a:pt x="2343295" y="641350"/>
                  <a:pt x="2308225" y="641350"/>
                </a:cubicBezTo>
                <a:lnTo>
                  <a:pt x="63500" y="641350"/>
                </a:lnTo>
                <a:cubicBezTo>
                  <a:pt x="28430" y="641350"/>
                  <a:pt x="0" y="612920"/>
                  <a:pt x="0" y="5778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94819" y="2689223"/>
            <a:ext cx="22939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026569" y="2974973"/>
            <a:ext cx="2230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Availability Zones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9425" y="3333755"/>
            <a:ext cx="4848225" cy="355600"/>
          </a:xfrm>
          <a:custGeom>
            <a:avLst/>
            <a:gdLst/>
            <a:ahLst/>
            <a:cxnLst/>
            <a:rect l="l" t="t" r="r" b="b"/>
            <a:pathLst>
              <a:path w="4848225" h="355600">
                <a:moveTo>
                  <a:pt x="63499" y="0"/>
                </a:moveTo>
                <a:lnTo>
                  <a:pt x="4784726" y="0"/>
                </a:lnTo>
                <a:cubicBezTo>
                  <a:pt x="4819795" y="0"/>
                  <a:pt x="4848225" y="28430"/>
                  <a:pt x="4848225" y="63499"/>
                </a:cubicBezTo>
                <a:lnTo>
                  <a:pt x="4848225" y="292101"/>
                </a:lnTo>
                <a:cubicBezTo>
                  <a:pt x="4848225" y="327170"/>
                  <a:pt x="4819795" y="355600"/>
                  <a:pt x="4784726" y="355600"/>
                </a:cubicBezTo>
                <a:lnTo>
                  <a:pt x="63499" y="355600"/>
                </a:lnTo>
                <a:cubicBezTo>
                  <a:pt x="28430" y="355600"/>
                  <a:pt x="0" y="327170"/>
                  <a:pt x="0" y="2921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7616" y="3457580"/>
            <a:ext cx="83344" cy="111125"/>
          </a:xfrm>
          <a:custGeom>
            <a:avLst/>
            <a:gdLst/>
            <a:ahLst/>
            <a:cxnLst/>
            <a:rect l="l" t="t" r="r" b="b"/>
            <a:pathLst>
              <a:path w="83344" h="111125">
                <a:moveTo>
                  <a:pt x="63571" y="83344"/>
                </a:moveTo>
                <a:cubicBezTo>
                  <a:pt x="65156" y="78504"/>
                  <a:pt x="68325" y="74120"/>
                  <a:pt x="71906" y="70343"/>
                </a:cubicBezTo>
                <a:cubicBezTo>
                  <a:pt x="79003" y="62877"/>
                  <a:pt x="83344" y="52784"/>
                  <a:pt x="83344" y="41672"/>
                </a:cubicBezTo>
                <a:cubicBezTo>
                  <a:pt x="83344" y="18666"/>
                  <a:pt x="64678" y="0"/>
                  <a:pt x="41672" y="0"/>
                </a:cubicBezTo>
                <a:cubicBezTo>
                  <a:pt x="18666" y="0"/>
                  <a:pt x="0" y="18666"/>
                  <a:pt x="0" y="41672"/>
                </a:cubicBezTo>
                <a:cubicBezTo>
                  <a:pt x="0" y="52784"/>
                  <a:pt x="4341" y="62877"/>
                  <a:pt x="11438" y="70343"/>
                </a:cubicBezTo>
                <a:cubicBezTo>
                  <a:pt x="15019" y="74120"/>
                  <a:pt x="18210" y="78504"/>
                  <a:pt x="19772" y="83344"/>
                </a:cubicBezTo>
                <a:lnTo>
                  <a:pt x="63550" y="83344"/>
                </a:lnTo>
                <a:close/>
                <a:moveTo>
                  <a:pt x="62508" y="93762"/>
                </a:moveTo>
                <a:lnTo>
                  <a:pt x="20836" y="93762"/>
                </a:lnTo>
                <a:lnTo>
                  <a:pt x="20836" y="97234"/>
                </a:lnTo>
                <a:cubicBezTo>
                  <a:pt x="20836" y="106828"/>
                  <a:pt x="28606" y="114598"/>
                  <a:pt x="38199" y="114598"/>
                </a:cubicBezTo>
                <a:lnTo>
                  <a:pt x="45145" y="114598"/>
                </a:lnTo>
                <a:cubicBezTo>
                  <a:pt x="54738" y="114598"/>
                  <a:pt x="62508" y="106828"/>
                  <a:pt x="62508" y="97234"/>
                </a:cubicBezTo>
                <a:lnTo>
                  <a:pt x="62508" y="93762"/>
                </a:lnTo>
                <a:close/>
                <a:moveTo>
                  <a:pt x="39936" y="24309"/>
                </a:moveTo>
                <a:cubicBezTo>
                  <a:pt x="31297" y="24309"/>
                  <a:pt x="24309" y="31297"/>
                  <a:pt x="24309" y="39936"/>
                </a:cubicBezTo>
                <a:cubicBezTo>
                  <a:pt x="24309" y="42822"/>
                  <a:pt x="21986" y="45145"/>
                  <a:pt x="19100" y="45145"/>
                </a:cubicBezTo>
                <a:cubicBezTo>
                  <a:pt x="16213" y="45145"/>
                  <a:pt x="13891" y="42822"/>
                  <a:pt x="13891" y="39936"/>
                </a:cubicBezTo>
                <a:cubicBezTo>
                  <a:pt x="13891" y="25546"/>
                  <a:pt x="25546" y="13891"/>
                  <a:pt x="39936" y="13891"/>
                </a:cubicBezTo>
                <a:cubicBezTo>
                  <a:pt x="42822" y="13891"/>
                  <a:pt x="45145" y="16213"/>
                  <a:pt x="45145" y="19100"/>
                </a:cubicBezTo>
                <a:cubicBezTo>
                  <a:pt x="45145" y="21986"/>
                  <a:pt x="42822" y="24309"/>
                  <a:pt x="39936" y="24309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760413" y="3432178"/>
            <a:ext cx="4524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Examples:</a:t>
            </a: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us-east-1 (N. Virginia), eu-west-1 (Ireland), ap-southeast-1 (Singapore)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33375" y="3914777"/>
            <a:ext cx="5127625" cy="2111375"/>
          </a:xfrm>
          <a:custGeom>
            <a:avLst/>
            <a:gdLst/>
            <a:ahLst/>
            <a:cxnLst/>
            <a:rect l="l" t="t" r="r" b="b"/>
            <a:pathLst>
              <a:path w="5127625" h="2111375">
                <a:moveTo>
                  <a:pt x="31750" y="0"/>
                </a:moveTo>
                <a:lnTo>
                  <a:pt x="5032381" y="0"/>
                </a:lnTo>
                <a:cubicBezTo>
                  <a:pt x="5084983" y="0"/>
                  <a:pt x="5127625" y="42642"/>
                  <a:pt x="5127625" y="95244"/>
                </a:cubicBezTo>
                <a:lnTo>
                  <a:pt x="5127625" y="2016131"/>
                </a:lnTo>
                <a:cubicBezTo>
                  <a:pt x="5127625" y="2068733"/>
                  <a:pt x="5084983" y="2111375"/>
                  <a:pt x="5032381" y="2111375"/>
                </a:cubicBezTo>
                <a:lnTo>
                  <a:pt x="31750" y="2111375"/>
                </a:lnTo>
                <a:cubicBezTo>
                  <a:pt x="14215" y="2111375"/>
                  <a:pt x="0" y="2097160"/>
                  <a:pt x="0" y="2079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22" name="Shape 20"/>
          <p:cNvSpPr/>
          <p:nvPr/>
        </p:nvSpPr>
        <p:spPr>
          <a:xfrm>
            <a:off x="333375" y="3914777"/>
            <a:ext cx="31750" cy="2111375"/>
          </a:xfrm>
          <a:custGeom>
            <a:avLst/>
            <a:gdLst/>
            <a:ahLst/>
            <a:cxnLst/>
            <a:rect l="l" t="t" r="r" b="b"/>
            <a:pathLst>
              <a:path w="31750" h="2111375">
                <a:moveTo>
                  <a:pt x="31750" y="0"/>
                </a:moveTo>
                <a:lnTo>
                  <a:pt x="31750" y="0"/>
                </a:lnTo>
                <a:lnTo>
                  <a:pt x="31750" y="2111375"/>
                </a:lnTo>
                <a:lnTo>
                  <a:pt x="31750" y="2111375"/>
                </a:lnTo>
                <a:cubicBezTo>
                  <a:pt x="14227" y="2111375"/>
                  <a:pt x="0" y="2097148"/>
                  <a:pt x="0" y="2079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3" name="Shape 21"/>
          <p:cNvSpPr/>
          <p:nvPr/>
        </p:nvSpPr>
        <p:spPr>
          <a:xfrm>
            <a:off x="476250" y="4041777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4" name="Shape 22"/>
          <p:cNvSpPr/>
          <p:nvPr/>
        </p:nvSpPr>
        <p:spPr>
          <a:xfrm>
            <a:off x="615156" y="4168777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1016000" y="4041777"/>
            <a:ext cx="157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Availability Zones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16000" y="4295676"/>
            <a:ext cx="1539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Isolated Data Centers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76250" y="4581527"/>
            <a:ext cx="49212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 </a:t>
            </a: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AZ is one or more discrete data centers</a:t>
            </a:r>
            <a:r>
              <a:rPr lang="en-US" sz="10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 redundant power, networking, and connectivity in an AWS Region. AZs are physically separate (miles apart) to prevent correlated failures.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92125" y="532765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9" name="Text 27"/>
          <p:cNvSpPr/>
          <p:nvPr/>
        </p:nvSpPr>
        <p:spPr>
          <a:xfrm>
            <a:off x="698500" y="5295902"/>
            <a:ext cx="392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Independent Infrastructure:</a:t>
            </a: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Each AZ has its own power, cooling, and networking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92125" y="554990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1" name="Text 29"/>
          <p:cNvSpPr/>
          <p:nvPr/>
        </p:nvSpPr>
        <p:spPr>
          <a:xfrm>
            <a:off x="698500" y="5518152"/>
            <a:ext cx="4437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Low-Latency Connections:</a:t>
            </a: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AZs in a Region are connected via high-speed private networks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92125" y="577215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3" name="Text 31"/>
          <p:cNvSpPr/>
          <p:nvPr/>
        </p:nvSpPr>
        <p:spPr>
          <a:xfrm>
            <a:off x="698500" y="5740402"/>
            <a:ext cx="3111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Availability:</a:t>
            </a: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Deploy across multiple AZs for fault tolerance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603875" y="1206500"/>
            <a:ext cx="6270625" cy="2690813"/>
          </a:xfrm>
          <a:custGeom>
            <a:avLst/>
            <a:gdLst/>
            <a:ahLst/>
            <a:cxnLst/>
            <a:rect l="l" t="t" r="r" b="b"/>
            <a:pathLst>
              <a:path w="6270625" h="2690813">
                <a:moveTo>
                  <a:pt x="31750" y="0"/>
                </a:moveTo>
                <a:lnTo>
                  <a:pt x="6175370" y="0"/>
                </a:lnTo>
                <a:cubicBezTo>
                  <a:pt x="6227978" y="0"/>
                  <a:pt x="6270625" y="42647"/>
                  <a:pt x="6270625" y="95255"/>
                </a:cubicBezTo>
                <a:lnTo>
                  <a:pt x="6270625" y="2595558"/>
                </a:lnTo>
                <a:cubicBezTo>
                  <a:pt x="6270625" y="2648165"/>
                  <a:pt x="6227978" y="2690813"/>
                  <a:pt x="6175370" y="2690813"/>
                </a:cubicBezTo>
                <a:lnTo>
                  <a:pt x="31750" y="2690813"/>
                </a:lnTo>
                <a:cubicBezTo>
                  <a:pt x="14215" y="2690813"/>
                  <a:pt x="0" y="2676598"/>
                  <a:pt x="0" y="26590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35" name="Shape 33"/>
          <p:cNvSpPr/>
          <p:nvPr/>
        </p:nvSpPr>
        <p:spPr>
          <a:xfrm>
            <a:off x="5603875" y="1206500"/>
            <a:ext cx="31750" cy="2690813"/>
          </a:xfrm>
          <a:custGeom>
            <a:avLst/>
            <a:gdLst/>
            <a:ahLst/>
            <a:cxnLst/>
            <a:rect l="l" t="t" r="r" b="b"/>
            <a:pathLst>
              <a:path w="31750" h="2690813">
                <a:moveTo>
                  <a:pt x="31750" y="0"/>
                </a:moveTo>
                <a:lnTo>
                  <a:pt x="31750" y="0"/>
                </a:lnTo>
                <a:lnTo>
                  <a:pt x="31750" y="2690813"/>
                </a:lnTo>
                <a:lnTo>
                  <a:pt x="31750" y="2690813"/>
                </a:lnTo>
                <a:cubicBezTo>
                  <a:pt x="14227" y="2690813"/>
                  <a:pt x="0" y="2676586"/>
                  <a:pt x="0" y="26590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6" name="Shape 34"/>
          <p:cNvSpPr/>
          <p:nvPr/>
        </p:nvSpPr>
        <p:spPr>
          <a:xfrm>
            <a:off x="5746750" y="1333500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7" name="Shape 35"/>
          <p:cNvSpPr/>
          <p:nvPr/>
        </p:nvSpPr>
        <p:spPr>
          <a:xfrm>
            <a:off x="5885656" y="14605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6286500" y="1333500"/>
            <a:ext cx="15319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Edge Locations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286500" y="1587399"/>
            <a:ext cx="1500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 Delivery Network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746750" y="1873250"/>
            <a:ext cx="60642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</a:t>
            </a: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globally distributed network of data centers</a:t>
            </a:r>
            <a:r>
              <a:rPr lang="en-US" sz="10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that cache content close to end users. Edge Locations deliver content with ultra-low latency and high throughput using Amazon's high-speed network.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749925" y="2384425"/>
            <a:ext cx="2943225" cy="641350"/>
          </a:xfrm>
          <a:custGeom>
            <a:avLst/>
            <a:gdLst/>
            <a:ahLst/>
            <a:cxnLst/>
            <a:rect l="l" t="t" r="r" b="b"/>
            <a:pathLst>
              <a:path w="2943225" h="641350">
                <a:moveTo>
                  <a:pt x="63500" y="0"/>
                </a:moveTo>
                <a:lnTo>
                  <a:pt x="2879725" y="0"/>
                </a:lnTo>
                <a:cubicBezTo>
                  <a:pt x="2914795" y="0"/>
                  <a:pt x="2943225" y="28430"/>
                  <a:pt x="2943225" y="63500"/>
                </a:cubicBezTo>
                <a:lnTo>
                  <a:pt x="2943225" y="577850"/>
                </a:lnTo>
                <a:cubicBezTo>
                  <a:pt x="2943225" y="612920"/>
                  <a:pt x="2914795" y="641350"/>
                  <a:pt x="2879725" y="641350"/>
                </a:cubicBezTo>
                <a:lnTo>
                  <a:pt x="63500" y="641350"/>
                </a:lnTo>
                <a:cubicBezTo>
                  <a:pt x="28430" y="641350"/>
                  <a:pt x="0" y="612920"/>
                  <a:pt x="0" y="5778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88819" y="2482848"/>
            <a:ext cx="28654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400+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820569" y="2768598"/>
            <a:ext cx="280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Edge Locations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797925" y="2384425"/>
            <a:ext cx="2943225" cy="641350"/>
          </a:xfrm>
          <a:custGeom>
            <a:avLst/>
            <a:gdLst/>
            <a:ahLst/>
            <a:cxnLst/>
            <a:rect l="l" t="t" r="r" b="b"/>
            <a:pathLst>
              <a:path w="2943225" h="641350">
                <a:moveTo>
                  <a:pt x="63500" y="0"/>
                </a:moveTo>
                <a:lnTo>
                  <a:pt x="2879725" y="0"/>
                </a:lnTo>
                <a:cubicBezTo>
                  <a:pt x="2914795" y="0"/>
                  <a:pt x="2943225" y="28430"/>
                  <a:pt x="2943225" y="63500"/>
                </a:cubicBezTo>
                <a:lnTo>
                  <a:pt x="2943225" y="577850"/>
                </a:lnTo>
                <a:cubicBezTo>
                  <a:pt x="2943225" y="612920"/>
                  <a:pt x="2914795" y="641350"/>
                  <a:pt x="2879725" y="641350"/>
                </a:cubicBezTo>
                <a:lnTo>
                  <a:pt x="63500" y="641350"/>
                </a:lnTo>
                <a:cubicBezTo>
                  <a:pt x="28430" y="641350"/>
                  <a:pt x="0" y="612920"/>
                  <a:pt x="0" y="5778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836819" y="2482848"/>
            <a:ext cx="28654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&lt;10ms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868569" y="2768598"/>
            <a:ext cx="280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Response Time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749925" y="3127380"/>
            <a:ext cx="5991225" cy="641350"/>
          </a:xfrm>
          <a:custGeom>
            <a:avLst/>
            <a:gdLst/>
            <a:ahLst/>
            <a:cxnLst/>
            <a:rect l="l" t="t" r="r" b="b"/>
            <a:pathLst>
              <a:path w="5991225" h="641350">
                <a:moveTo>
                  <a:pt x="63500" y="0"/>
                </a:moveTo>
                <a:lnTo>
                  <a:pt x="5927725" y="0"/>
                </a:lnTo>
                <a:cubicBezTo>
                  <a:pt x="5962795" y="0"/>
                  <a:pt x="5991225" y="28430"/>
                  <a:pt x="5991225" y="63500"/>
                </a:cubicBezTo>
                <a:lnTo>
                  <a:pt x="5991225" y="577850"/>
                </a:lnTo>
                <a:cubicBezTo>
                  <a:pt x="5991225" y="612920"/>
                  <a:pt x="5962795" y="641350"/>
                  <a:pt x="5927725" y="641350"/>
                </a:cubicBezTo>
                <a:lnTo>
                  <a:pt x="63500" y="641350"/>
                </a:lnTo>
                <a:cubicBezTo>
                  <a:pt x="28430" y="641350"/>
                  <a:pt x="0" y="612920"/>
                  <a:pt x="0" y="5778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48350" y="3225803"/>
            <a:ext cx="1587202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Services Using Edge Locations: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848350" y="3448053"/>
            <a:ext cx="1087438" cy="222250"/>
          </a:xfrm>
          <a:custGeom>
            <a:avLst/>
            <a:gdLst/>
            <a:ahLst/>
            <a:cxnLst/>
            <a:rect l="l" t="t" r="r" b="b"/>
            <a:pathLst>
              <a:path w="1087438" h="222250">
                <a:moveTo>
                  <a:pt x="111125" y="0"/>
                </a:moveTo>
                <a:lnTo>
                  <a:pt x="976312" y="0"/>
                </a:lnTo>
                <a:cubicBezTo>
                  <a:pt x="1037644" y="0"/>
                  <a:pt x="1087438" y="49793"/>
                  <a:pt x="1087438" y="111125"/>
                </a:cubicBezTo>
                <a:lnTo>
                  <a:pt x="1087438" y="111125"/>
                </a:lnTo>
                <a:cubicBezTo>
                  <a:pt x="1087438" y="172457"/>
                  <a:pt x="1037644" y="222250"/>
                  <a:pt x="976312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5848350" y="3448053"/>
            <a:ext cx="1143000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CloudFront (CDN)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997204" y="3448053"/>
            <a:ext cx="968375" cy="222250"/>
          </a:xfrm>
          <a:custGeom>
            <a:avLst/>
            <a:gdLst/>
            <a:ahLst/>
            <a:cxnLst/>
            <a:rect l="l" t="t" r="r" b="b"/>
            <a:pathLst>
              <a:path w="968375" h="222250">
                <a:moveTo>
                  <a:pt x="111125" y="0"/>
                </a:moveTo>
                <a:lnTo>
                  <a:pt x="857250" y="0"/>
                </a:lnTo>
                <a:cubicBezTo>
                  <a:pt x="918582" y="0"/>
                  <a:pt x="968375" y="49793"/>
                  <a:pt x="968375" y="111125"/>
                </a:cubicBezTo>
                <a:lnTo>
                  <a:pt x="968375" y="111125"/>
                </a:lnTo>
                <a:cubicBezTo>
                  <a:pt x="968375" y="172457"/>
                  <a:pt x="918582" y="222250"/>
                  <a:pt x="857250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6997204" y="3448053"/>
            <a:ext cx="1023938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Route 53 (DNS)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025904" y="3448053"/>
            <a:ext cx="1095375" cy="222250"/>
          </a:xfrm>
          <a:custGeom>
            <a:avLst/>
            <a:gdLst/>
            <a:ahLst/>
            <a:cxnLst/>
            <a:rect l="l" t="t" r="r" b="b"/>
            <a:pathLst>
              <a:path w="1095375" h="222250">
                <a:moveTo>
                  <a:pt x="111125" y="0"/>
                </a:moveTo>
                <a:lnTo>
                  <a:pt x="984250" y="0"/>
                </a:lnTo>
                <a:cubicBezTo>
                  <a:pt x="1045582" y="0"/>
                  <a:pt x="1095375" y="49793"/>
                  <a:pt x="1095375" y="111125"/>
                </a:cubicBezTo>
                <a:lnTo>
                  <a:pt x="1095375" y="111125"/>
                </a:lnTo>
                <a:cubicBezTo>
                  <a:pt x="1095375" y="172457"/>
                  <a:pt x="1045582" y="222250"/>
                  <a:pt x="984250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8025904" y="3448053"/>
            <a:ext cx="1150938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Accelerator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9184481" y="3448053"/>
            <a:ext cx="944563" cy="222250"/>
          </a:xfrm>
          <a:custGeom>
            <a:avLst/>
            <a:gdLst/>
            <a:ahLst/>
            <a:cxnLst/>
            <a:rect l="l" t="t" r="r" b="b"/>
            <a:pathLst>
              <a:path w="944563" h="222250">
                <a:moveTo>
                  <a:pt x="111125" y="0"/>
                </a:moveTo>
                <a:lnTo>
                  <a:pt x="833438" y="0"/>
                </a:lnTo>
                <a:cubicBezTo>
                  <a:pt x="894769" y="0"/>
                  <a:pt x="944563" y="49793"/>
                  <a:pt x="944563" y="111125"/>
                </a:cubicBezTo>
                <a:lnTo>
                  <a:pt x="944563" y="111125"/>
                </a:lnTo>
                <a:cubicBezTo>
                  <a:pt x="944563" y="172457"/>
                  <a:pt x="894769" y="222250"/>
                  <a:pt x="833438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9184481" y="3448053"/>
            <a:ext cx="1000125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Lambda@Edge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5603875" y="3994152"/>
            <a:ext cx="6270625" cy="2032000"/>
          </a:xfrm>
          <a:custGeom>
            <a:avLst/>
            <a:gdLst/>
            <a:ahLst/>
            <a:cxnLst/>
            <a:rect l="l" t="t" r="r" b="b"/>
            <a:pathLst>
              <a:path w="6270625" h="2032000">
                <a:moveTo>
                  <a:pt x="31750" y="0"/>
                </a:moveTo>
                <a:lnTo>
                  <a:pt x="6175365" y="0"/>
                </a:lnTo>
                <a:cubicBezTo>
                  <a:pt x="6227976" y="0"/>
                  <a:pt x="6270625" y="42649"/>
                  <a:pt x="6270625" y="95260"/>
                </a:cubicBezTo>
                <a:lnTo>
                  <a:pt x="6270625" y="1936740"/>
                </a:lnTo>
                <a:cubicBezTo>
                  <a:pt x="6270625" y="1989351"/>
                  <a:pt x="6227976" y="2032000"/>
                  <a:pt x="6175365" y="2032000"/>
                </a:cubicBezTo>
                <a:lnTo>
                  <a:pt x="31750" y="2032000"/>
                </a:lnTo>
                <a:cubicBezTo>
                  <a:pt x="14227" y="2032000"/>
                  <a:pt x="0" y="2017773"/>
                  <a:pt x="0" y="2000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58" name="Shape 56"/>
          <p:cNvSpPr/>
          <p:nvPr/>
        </p:nvSpPr>
        <p:spPr>
          <a:xfrm>
            <a:off x="5603875" y="3994152"/>
            <a:ext cx="31750" cy="2032000"/>
          </a:xfrm>
          <a:custGeom>
            <a:avLst/>
            <a:gdLst/>
            <a:ahLst/>
            <a:cxnLst/>
            <a:rect l="l" t="t" r="r" b="b"/>
            <a:pathLst>
              <a:path w="31750" h="2032000">
                <a:moveTo>
                  <a:pt x="31750" y="0"/>
                </a:moveTo>
                <a:lnTo>
                  <a:pt x="31750" y="0"/>
                </a:lnTo>
                <a:lnTo>
                  <a:pt x="31750" y="2032000"/>
                </a:lnTo>
                <a:lnTo>
                  <a:pt x="31750" y="2032000"/>
                </a:lnTo>
                <a:cubicBezTo>
                  <a:pt x="14227" y="2032000"/>
                  <a:pt x="0" y="2017773"/>
                  <a:pt x="0" y="2000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9" name="Shape 57"/>
          <p:cNvSpPr/>
          <p:nvPr/>
        </p:nvSpPr>
        <p:spPr>
          <a:xfrm>
            <a:off x="5746750" y="4121152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0" name="Shape 58"/>
          <p:cNvSpPr/>
          <p:nvPr/>
        </p:nvSpPr>
        <p:spPr>
          <a:xfrm>
            <a:off x="5885656" y="4248152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6286500" y="4121152"/>
            <a:ext cx="1960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Regional Edge Caches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286500" y="4375051"/>
            <a:ext cx="1928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Intermediate Caching Layer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5746750" y="4660902"/>
            <a:ext cx="6064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Sit between Edge Locations and origin servers in the CloudFront CDN. They </a:t>
            </a: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cache larger or less frequently accessed objects</a:t>
            </a:r>
            <a:r>
              <a:rPr lang="en-US" sz="10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that may not be stored at every Edge Location, improving cache hit ratios and reducing origin load.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5762625" y="554990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24668" y="69106"/>
                </a:moveTo>
                <a:cubicBezTo>
                  <a:pt x="127769" y="66005"/>
                  <a:pt x="127769" y="60970"/>
                  <a:pt x="124668" y="57869"/>
                </a:cubicBezTo>
                <a:lnTo>
                  <a:pt x="84981" y="18182"/>
                </a:lnTo>
                <a:cubicBezTo>
                  <a:pt x="81880" y="15081"/>
                  <a:pt x="76845" y="15081"/>
                  <a:pt x="73744" y="18182"/>
                </a:cubicBezTo>
                <a:cubicBezTo>
                  <a:pt x="70644" y="21282"/>
                  <a:pt x="70644" y="26318"/>
                  <a:pt x="73744" y="29418"/>
                </a:cubicBezTo>
                <a:lnTo>
                  <a:pt x="99888" y="55563"/>
                </a:lnTo>
                <a:lnTo>
                  <a:pt x="7938" y="55563"/>
                </a:lnTo>
                <a:cubicBezTo>
                  <a:pt x="3547" y="55563"/>
                  <a:pt x="0" y="59110"/>
                  <a:pt x="0" y="63500"/>
                </a:cubicBezTo>
                <a:cubicBezTo>
                  <a:pt x="0" y="67890"/>
                  <a:pt x="3547" y="71438"/>
                  <a:pt x="7938" y="71438"/>
                </a:cubicBezTo>
                <a:lnTo>
                  <a:pt x="99888" y="71438"/>
                </a:lnTo>
                <a:lnTo>
                  <a:pt x="73744" y="97582"/>
                </a:lnTo>
                <a:cubicBezTo>
                  <a:pt x="70644" y="100682"/>
                  <a:pt x="70644" y="105718"/>
                  <a:pt x="73744" y="108818"/>
                </a:cubicBezTo>
                <a:cubicBezTo>
                  <a:pt x="76845" y="111919"/>
                  <a:pt x="81880" y="111919"/>
                  <a:pt x="84981" y="108818"/>
                </a:cubicBezTo>
                <a:lnTo>
                  <a:pt x="124668" y="69131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5" name="Text 63"/>
          <p:cNvSpPr/>
          <p:nvPr/>
        </p:nvSpPr>
        <p:spPr>
          <a:xfrm>
            <a:off x="5969000" y="5518152"/>
            <a:ext cx="3913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Larger Cache Capacity:</a:t>
            </a: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Hold content that doesn't fit in standard Edge Locations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5762625" y="577215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24668" y="69106"/>
                </a:moveTo>
                <a:cubicBezTo>
                  <a:pt x="127769" y="66005"/>
                  <a:pt x="127769" y="60970"/>
                  <a:pt x="124668" y="57869"/>
                </a:cubicBezTo>
                <a:lnTo>
                  <a:pt x="84981" y="18182"/>
                </a:lnTo>
                <a:cubicBezTo>
                  <a:pt x="81880" y="15081"/>
                  <a:pt x="76845" y="15081"/>
                  <a:pt x="73744" y="18182"/>
                </a:cubicBezTo>
                <a:cubicBezTo>
                  <a:pt x="70644" y="21282"/>
                  <a:pt x="70644" y="26318"/>
                  <a:pt x="73744" y="29418"/>
                </a:cubicBezTo>
                <a:lnTo>
                  <a:pt x="99888" y="55563"/>
                </a:lnTo>
                <a:lnTo>
                  <a:pt x="7938" y="55563"/>
                </a:lnTo>
                <a:cubicBezTo>
                  <a:pt x="3547" y="55563"/>
                  <a:pt x="0" y="59110"/>
                  <a:pt x="0" y="63500"/>
                </a:cubicBezTo>
                <a:cubicBezTo>
                  <a:pt x="0" y="67890"/>
                  <a:pt x="3547" y="71438"/>
                  <a:pt x="7938" y="71438"/>
                </a:cubicBezTo>
                <a:lnTo>
                  <a:pt x="99888" y="71438"/>
                </a:lnTo>
                <a:lnTo>
                  <a:pt x="73744" y="97582"/>
                </a:lnTo>
                <a:cubicBezTo>
                  <a:pt x="70644" y="100682"/>
                  <a:pt x="70644" y="105718"/>
                  <a:pt x="73744" y="108818"/>
                </a:cubicBezTo>
                <a:cubicBezTo>
                  <a:pt x="76845" y="111919"/>
                  <a:pt x="81880" y="111919"/>
                  <a:pt x="84981" y="108818"/>
                </a:cubicBezTo>
                <a:lnTo>
                  <a:pt x="124668" y="69131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7" name="Text 65"/>
          <p:cNvSpPr/>
          <p:nvPr/>
        </p:nvSpPr>
        <p:spPr>
          <a:xfrm>
            <a:off x="5969000" y="5740402"/>
            <a:ext cx="3103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Reduced Origin Load:</a:t>
            </a: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Decrease requests back to origin servers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320675" y="6092827"/>
            <a:ext cx="11547475" cy="577850"/>
          </a:xfrm>
          <a:custGeom>
            <a:avLst/>
            <a:gdLst/>
            <a:ahLst/>
            <a:cxnLst/>
            <a:rect l="l" t="t" r="r" b="b"/>
            <a:pathLst>
              <a:path w="11547475" h="577850">
                <a:moveTo>
                  <a:pt x="95253" y="0"/>
                </a:moveTo>
                <a:lnTo>
                  <a:pt x="11452222" y="0"/>
                </a:lnTo>
                <a:cubicBezTo>
                  <a:pt x="11504829" y="0"/>
                  <a:pt x="11547475" y="42646"/>
                  <a:pt x="11547475" y="95253"/>
                </a:cubicBezTo>
                <a:lnTo>
                  <a:pt x="11547475" y="482597"/>
                </a:lnTo>
                <a:cubicBezTo>
                  <a:pt x="11547475" y="535204"/>
                  <a:pt x="11504829" y="577850"/>
                  <a:pt x="11452222" y="577850"/>
                </a:cubicBezTo>
                <a:lnTo>
                  <a:pt x="95253" y="577850"/>
                </a:lnTo>
                <a:cubicBezTo>
                  <a:pt x="42646" y="577850"/>
                  <a:pt x="0" y="535204"/>
                  <a:pt x="0" y="482597"/>
                </a:cubicBezTo>
                <a:lnTo>
                  <a:pt x="0" y="95253"/>
                </a:lnTo>
                <a:cubicBezTo>
                  <a:pt x="0" y="42681"/>
                  <a:pt x="42681" y="0"/>
                  <a:pt x="95253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38944" y="630237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69453" y="49609"/>
                </a:moveTo>
                <a:cubicBezTo>
                  <a:pt x="69453" y="44133"/>
                  <a:pt x="73899" y="39688"/>
                  <a:pt x="79375" y="39688"/>
                </a:cubicBezTo>
                <a:cubicBezTo>
                  <a:pt x="84851" y="39688"/>
                  <a:pt x="89297" y="44133"/>
                  <a:pt x="89297" y="49609"/>
                </a:cubicBezTo>
                <a:cubicBezTo>
                  <a:pt x="89297" y="55085"/>
                  <a:pt x="84851" y="59531"/>
                  <a:pt x="79375" y="59531"/>
                </a:cubicBezTo>
                <a:cubicBezTo>
                  <a:pt x="73899" y="59531"/>
                  <a:pt x="69453" y="55085"/>
                  <a:pt x="69453" y="49609"/>
                </a:cubicBezTo>
                <a:close/>
                <a:moveTo>
                  <a:pt x="66973" y="69453"/>
                </a:moveTo>
                <a:lnTo>
                  <a:pt x="81855" y="69453"/>
                </a:lnTo>
                <a:cubicBezTo>
                  <a:pt x="85979" y="69453"/>
                  <a:pt x="89297" y="72771"/>
                  <a:pt x="89297" y="76895"/>
                </a:cubicBezTo>
                <a:lnTo>
                  <a:pt x="89297" y="104180"/>
                </a:lnTo>
                <a:lnTo>
                  <a:pt x="91777" y="104180"/>
                </a:lnTo>
                <a:cubicBezTo>
                  <a:pt x="95901" y="104180"/>
                  <a:pt x="99219" y="107497"/>
                  <a:pt x="99219" y="111621"/>
                </a:cubicBezTo>
                <a:cubicBezTo>
                  <a:pt x="99219" y="115745"/>
                  <a:pt x="95901" y="119062"/>
                  <a:pt x="91777" y="119062"/>
                </a:cubicBezTo>
                <a:lnTo>
                  <a:pt x="66973" y="119062"/>
                </a:lnTo>
                <a:cubicBezTo>
                  <a:pt x="62849" y="119062"/>
                  <a:pt x="59531" y="115745"/>
                  <a:pt x="59531" y="111621"/>
                </a:cubicBezTo>
                <a:cubicBezTo>
                  <a:pt x="59531" y="107497"/>
                  <a:pt x="62849" y="104180"/>
                  <a:pt x="66973" y="104180"/>
                </a:cubicBezTo>
                <a:lnTo>
                  <a:pt x="74414" y="104180"/>
                </a:lnTo>
                <a:lnTo>
                  <a:pt x="74414" y="84336"/>
                </a:lnTo>
                <a:lnTo>
                  <a:pt x="66973" y="84336"/>
                </a:lnTo>
                <a:cubicBezTo>
                  <a:pt x="62849" y="84336"/>
                  <a:pt x="59531" y="81018"/>
                  <a:pt x="59531" y="76895"/>
                </a:cubicBezTo>
                <a:cubicBezTo>
                  <a:pt x="59531" y="72771"/>
                  <a:pt x="62849" y="69453"/>
                  <a:pt x="66973" y="6945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70" name="Text 68"/>
          <p:cNvSpPr/>
          <p:nvPr/>
        </p:nvSpPr>
        <p:spPr>
          <a:xfrm>
            <a:off x="712788" y="6286500"/>
            <a:ext cx="736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Principle:</a:t>
            </a:r>
            <a:r>
              <a:rPr lang="en-US" sz="10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AWS designs for failure—deploy applications across multiple Availability Zones for high availability and fault tolerance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10656690" y="6191250"/>
            <a:ext cx="1119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AWS Global Footprint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10632877" y="6350000"/>
            <a:ext cx="1143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190+ Countries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2327" y="322327"/>
            <a:ext cx="11603754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8" b="1" kern="0" spc="44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04 • AWS INFRASTRUCTURE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2327" y="547955"/>
            <a:ext cx="11692394" cy="3223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84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AWS Core Services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2327" y="934747"/>
            <a:ext cx="11619870" cy="225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2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Foundational services that power cloud applications on AWS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8443" y="1224841"/>
            <a:ext cx="5705179" cy="2610845"/>
          </a:xfrm>
          <a:custGeom>
            <a:avLst/>
            <a:gdLst/>
            <a:ahLst/>
            <a:cxnLst/>
            <a:rect l="l" t="t" r="r" b="b"/>
            <a:pathLst>
              <a:path w="5705179" h="2610845">
                <a:moveTo>
                  <a:pt x="32233" y="0"/>
                </a:moveTo>
                <a:lnTo>
                  <a:pt x="5608473" y="0"/>
                </a:lnTo>
                <a:cubicBezTo>
                  <a:pt x="5661883" y="0"/>
                  <a:pt x="5705179" y="43297"/>
                  <a:pt x="5705179" y="96706"/>
                </a:cubicBezTo>
                <a:lnTo>
                  <a:pt x="5705179" y="2514139"/>
                </a:lnTo>
                <a:cubicBezTo>
                  <a:pt x="5705179" y="2567548"/>
                  <a:pt x="5661883" y="2610845"/>
                  <a:pt x="5608473" y="2610845"/>
                </a:cubicBezTo>
                <a:lnTo>
                  <a:pt x="32233" y="2610845"/>
                </a:lnTo>
                <a:cubicBezTo>
                  <a:pt x="14431" y="2610845"/>
                  <a:pt x="0" y="2596414"/>
                  <a:pt x="0" y="2578612"/>
                </a:cubicBezTo>
                <a:lnTo>
                  <a:pt x="0" y="32233"/>
                </a:lnTo>
                <a:cubicBezTo>
                  <a:pt x="0" y="14443"/>
                  <a:pt x="14443" y="0"/>
                  <a:pt x="32233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6" name="Shape 4"/>
          <p:cNvSpPr/>
          <p:nvPr/>
        </p:nvSpPr>
        <p:spPr>
          <a:xfrm>
            <a:off x="338443" y="1224841"/>
            <a:ext cx="32233" cy="2610845"/>
          </a:xfrm>
          <a:custGeom>
            <a:avLst/>
            <a:gdLst/>
            <a:ahLst/>
            <a:cxnLst/>
            <a:rect l="l" t="t" r="r" b="b"/>
            <a:pathLst>
              <a:path w="32233" h="2610845">
                <a:moveTo>
                  <a:pt x="32233" y="0"/>
                </a:moveTo>
                <a:lnTo>
                  <a:pt x="32233" y="0"/>
                </a:lnTo>
                <a:lnTo>
                  <a:pt x="32233" y="2610845"/>
                </a:lnTo>
                <a:lnTo>
                  <a:pt x="32233" y="2610845"/>
                </a:lnTo>
                <a:cubicBezTo>
                  <a:pt x="14431" y="2610845"/>
                  <a:pt x="0" y="2596414"/>
                  <a:pt x="0" y="2578612"/>
                </a:cubicBezTo>
                <a:lnTo>
                  <a:pt x="0" y="32233"/>
                </a:lnTo>
                <a:cubicBezTo>
                  <a:pt x="0" y="14443"/>
                  <a:pt x="14443" y="0"/>
                  <a:pt x="32233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7" name="Shape 5"/>
          <p:cNvSpPr/>
          <p:nvPr/>
        </p:nvSpPr>
        <p:spPr>
          <a:xfrm>
            <a:off x="483490" y="1353771"/>
            <a:ext cx="451257" cy="451257"/>
          </a:xfrm>
          <a:custGeom>
            <a:avLst/>
            <a:gdLst/>
            <a:ahLst/>
            <a:cxnLst/>
            <a:rect l="l" t="t" r="r" b="b"/>
            <a:pathLst>
              <a:path w="451257" h="451257">
                <a:moveTo>
                  <a:pt x="96700" y="0"/>
                </a:moveTo>
                <a:lnTo>
                  <a:pt x="354557" y="0"/>
                </a:lnTo>
                <a:cubicBezTo>
                  <a:pt x="407963" y="0"/>
                  <a:pt x="451257" y="43294"/>
                  <a:pt x="451257" y="96700"/>
                </a:cubicBezTo>
                <a:lnTo>
                  <a:pt x="451257" y="354557"/>
                </a:lnTo>
                <a:cubicBezTo>
                  <a:pt x="451257" y="407963"/>
                  <a:pt x="407963" y="451257"/>
                  <a:pt x="354557" y="451257"/>
                </a:cubicBezTo>
                <a:lnTo>
                  <a:pt x="96700" y="451257"/>
                </a:lnTo>
                <a:cubicBezTo>
                  <a:pt x="43294" y="451257"/>
                  <a:pt x="0" y="407963"/>
                  <a:pt x="0" y="354557"/>
                </a:cubicBezTo>
                <a:lnTo>
                  <a:pt x="0" y="96700"/>
                </a:lnTo>
                <a:cubicBezTo>
                  <a:pt x="0" y="43294"/>
                  <a:pt x="43294" y="0"/>
                  <a:pt x="967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8" name="Shape 6"/>
          <p:cNvSpPr/>
          <p:nvPr/>
        </p:nvSpPr>
        <p:spPr>
          <a:xfrm>
            <a:off x="624508" y="1482702"/>
            <a:ext cx="169221" cy="193396"/>
          </a:xfrm>
          <a:custGeom>
            <a:avLst/>
            <a:gdLst/>
            <a:ahLst/>
            <a:cxnLst/>
            <a:rect l="l" t="t" r="r" b="b"/>
            <a:pathLst>
              <a:path w="169221" h="193396">
                <a:moveTo>
                  <a:pt x="24174" y="12087"/>
                </a:moveTo>
                <a:cubicBezTo>
                  <a:pt x="10841" y="12087"/>
                  <a:pt x="0" y="22928"/>
                  <a:pt x="0" y="36262"/>
                </a:cubicBezTo>
                <a:lnTo>
                  <a:pt x="0" y="60436"/>
                </a:lnTo>
                <a:cubicBezTo>
                  <a:pt x="0" y="73770"/>
                  <a:pt x="10841" y="84611"/>
                  <a:pt x="24174" y="84611"/>
                </a:cubicBezTo>
                <a:lnTo>
                  <a:pt x="145047" y="84611"/>
                </a:lnTo>
                <a:cubicBezTo>
                  <a:pt x="158381" y="84611"/>
                  <a:pt x="169221" y="73770"/>
                  <a:pt x="169221" y="60436"/>
                </a:cubicBezTo>
                <a:lnTo>
                  <a:pt x="169221" y="36262"/>
                </a:lnTo>
                <a:cubicBezTo>
                  <a:pt x="169221" y="22928"/>
                  <a:pt x="158381" y="12087"/>
                  <a:pt x="145047" y="12087"/>
                </a:cubicBezTo>
                <a:lnTo>
                  <a:pt x="24174" y="12087"/>
                </a:lnTo>
                <a:close/>
                <a:moveTo>
                  <a:pt x="105763" y="39284"/>
                </a:moveTo>
                <a:cubicBezTo>
                  <a:pt x="110767" y="39284"/>
                  <a:pt x="114829" y="43346"/>
                  <a:pt x="114829" y="48349"/>
                </a:cubicBezTo>
                <a:cubicBezTo>
                  <a:pt x="114829" y="53352"/>
                  <a:pt x="110767" y="57414"/>
                  <a:pt x="105763" y="57414"/>
                </a:cubicBezTo>
                <a:cubicBezTo>
                  <a:pt x="100760" y="57414"/>
                  <a:pt x="96698" y="53352"/>
                  <a:pt x="96698" y="48349"/>
                </a:cubicBezTo>
                <a:cubicBezTo>
                  <a:pt x="96698" y="43346"/>
                  <a:pt x="100760" y="39284"/>
                  <a:pt x="105763" y="39284"/>
                </a:cubicBezTo>
                <a:close/>
                <a:moveTo>
                  <a:pt x="126916" y="48349"/>
                </a:moveTo>
                <a:cubicBezTo>
                  <a:pt x="126916" y="43346"/>
                  <a:pt x="130978" y="39284"/>
                  <a:pt x="135981" y="39284"/>
                </a:cubicBezTo>
                <a:cubicBezTo>
                  <a:pt x="140985" y="39284"/>
                  <a:pt x="145047" y="43346"/>
                  <a:pt x="145047" y="48349"/>
                </a:cubicBezTo>
                <a:cubicBezTo>
                  <a:pt x="145047" y="53352"/>
                  <a:pt x="140985" y="57414"/>
                  <a:pt x="135981" y="57414"/>
                </a:cubicBezTo>
                <a:cubicBezTo>
                  <a:pt x="130978" y="57414"/>
                  <a:pt x="126916" y="53352"/>
                  <a:pt x="126916" y="48349"/>
                </a:cubicBezTo>
                <a:close/>
                <a:moveTo>
                  <a:pt x="24174" y="108785"/>
                </a:moveTo>
                <a:cubicBezTo>
                  <a:pt x="10841" y="108785"/>
                  <a:pt x="0" y="119626"/>
                  <a:pt x="0" y="132960"/>
                </a:cubicBezTo>
                <a:lnTo>
                  <a:pt x="0" y="157134"/>
                </a:lnTo>
                <a:cubicBezTo>
                  <a:pt x="0" y="170468"/>
                  <a:pt x="10841" y="181309"/>
                  <a:pt x="24174" y="181309"/>
                </a:cubicBezTo>
                <a:lnTo>
                  <a:pt x="145047" y="181309"/>
                </a:lnTo>
                <a:cubicBezTo>
                  <a:pt x="158381" y="181309"/>
                  <a:pt x="169221" y="170468"/>
                  <a:pt x="169221" y="157134"/>
                </a:cubicBezTo>
                <a:lnTo>
                  <a:pt x="169221" y="132960"/>
                </a:lnTo>
                <a:cubicBezTo>
                  <a:pt x="169221" y="119626"/>
                  <a:pt x="158381" y="108785"/>
                  <a:pt x="145047" y="108785"/>
                </a:cubicBezTo>
                <a:lnTo>
                  <a:pt x="24174" y="108785"/>
                </a:lnTo>
                <a:close/>
                <a:moveTo>
                  <a:pt x="105763" y="135981"/>
                </a:moveTo>
                <a:cubicBezTo>
                  <a:pt x="110767" y="135981"/>
                  <a:pt x="114829" y="140044"/>
                  <a:pt x="114829" y="145047"/>
                </a:cubicBezTo>
                <a:cubicBezTo>
                  <a:pt x="114829" y="150050"/>
                  <a:pt x="110767" y="154112"/>
                  <a:pt x="105763" y="154112"/>
                </a:cubicBezTo>
                <a:cubicBezTo>
                  <a:pt x="100760" y="154112"/>
                  <a:pt x="96698" y="150050"/>
                  <a:pt x="96698" y="145047"/>
                </a:cubicBezTo>
                <a:cubicBezTo>
                  <a:pt x="96698" y="140044"/>
                  <a:pt x="100760" y="135981"/>
                  <a:pt x="105763" y="135981"/>
                </a:cubicBezTo>
                <a:close/>
                <a:moveTo>
                  <a:pt x="126916" y="145047"/>
                </a:moveTo>
                <a:cubicBezTo>
                  <a:pt x="126916" y="140044"/>
                  <a:pt x="130978" y="135981"/>
                  <a:pt x="135981" y="135981"/>
                </a:cubicBezTo>
                <a:cubicBezTo>
                  <a:pt x="140985" y="135981"/>
                  <a:pt x="145047" y="140044"/>
                  <a:pt x="145047" y="145047"/>
                </a:cubicBezTo>
                <a:cubicBezTo>
                  <a:pt x="145047" y="150050"/>
                  <a:pt x="140985" y="154112"/>
                  <a:pt x="135981" y="154112"/>
                </a:cubicBezTo>
                <a:cubicBezTo>
                  <a:pt x="130978" y="154112"/>
                  <a:pt x="126916" y="150050"/>
                  <a:pt x="126916" y="14504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031445" y="1353771"/>
            <a:ext cx="139406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3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Amazon EC2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31445" y="1611530"/>
            <a:ext cx="1361829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5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Elastic Compute Cloud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3490" y="1901726"/>
            <a:ext cx="5495667" cy="628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5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Provides </a:t>
            </a:r>
            <a:r>
              <a:rPr lang="en-US" sz="101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resizable virtual servers</a:t>
            </a:r>
            <a:r>
              <a:rPr lang="en-US" sz="1015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the cloud. Launch instances with various operating systems, configure security and networking, and manage storage. Choose from hundreds of instance types optimized for different workloads.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7664" y="2659194"/>
            <a:ext cx="112814" cy="128931"/>
          </a:xfrm>
          <a:custGeom>
            <a:avLst/>
            <a:gdLst/>
            <a:ahLst/>
            <a:cxnLst/>
            <a:rect l="l" t="t" r="r" b="b"/>
            <a:pathLst>
              <a:path w="112814" h="128931">
                <a:moveTo>
                  <a:pt x="109490" y="17652"/>
                </a:moveTo>
                <a:cubicBezTo>
                  <a:pt x="113091" y="20271"/>
                  <a:pt x="113897" y="25308"/>
                  <a:pt x="111278" y="28909"/>
                </a:cubicBezTo>
                <a:lnTo>
                  <a:pt x="46813" y="117548"/>
                </a:lnTo>
                <a:cubicBezTo>
                  <a:pt x="45428" y="119462"/>
                  <a:pt x="43287" y="120646"/>
                  <a:pt x="40920" y="120847"/>
                </a:cubicBezTo>
                <a:cubicBezTo>
                  <a:pt x="38553" y="121049"/>
                  <a:pt x="36262" y="120167"/>
                  <a:pt x="34600" y="118505"/>
                </a:cubicBezTo>
                <a:lnTo>
                  <a:pt x="2367" y="86273"/>
                </a:lnTo>
                <a:cubicBezTo>
                  <a:pt x="-781" y="83125"/>
                  <a:pt x="-781" y="78013"/>
                  <a:pt x="2367" y="74865"/>
                </a:cubicBezTo>
                <a:cubicBezTo>
                  <a:pt x="5515" y="71718"/>
                  <a:pt x="10627" y="71718"/>
                  <a:pt x="13774" y="74865"/>
                </a:cubicBezTo>
                <a:lnTo>
                  <a:pt x="39334" y="100425"/>
                </a:lnTo>
                <a:lnTo>
                  <a:pt x="98259" y="19415"/>
                </a:lnTo>
                <a:cubicBezTo>
                  <a:pt x="100878" y="15814"/>
                  <a:pt x="105914" y="15008"/>
                  <a:pt x="109515" y="1762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709118" y="2626961"/>
            <a:ext cx="4480338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8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Instance Types:</a:t>
            </a:r>
            <a:r>
              <a:rPr lang="en-US" sz="88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General purpose, compute-optimized, memory-optimized, GPU instances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7664" y="2884822"/>
            <a:ext cx="112814" cy="128931"/>
          </a:xfrm>
          <a:custGeom>
            <a:avLst/>
            <a:gdLst/>
            <a:ahLst/>
            <a:cxnLst/>
            <a:rect l="l" t="t" r="r" b="b"/>
            <a:pathLst>
              <a:path w="112814" h="128931">
                <a:moveTo>
                  <a:pt x="109490" y="17652"/>
                </a:moveTo>
                <a:cubicBezTo>
                  <a:pt x="113091" y="20271"/>
                  <a:pt x="113897" y="25308"/>
                  <a:pt x="111278" y="28909"/>
                </a:cubicBezTo>
                <a:lnTo>
                  <a:pt x="46813" y="117548"/>
                </a:lnTo>
                <a:cubicBezTo>
                  <a:pt x="45428" y="119462"/>
                  <a:pt x="43287" y="120646"/>
                  <a:pt x="40920" y="120847"/>
                </a:cubicBezTo>
                <a:cubicBezTo>
                  <a:pt x="38553" y="121049"/>
                  <a:pt x="36262" y="120167"/>
                  <a:pt x="34600" y="118505"/>
                </a:cubicBezTo>
                <a:lnTo>
                  <a:pt x="2367" y="86273"/>
                </a:lnTo>
                <a:cubicBezTo>
                  <a:pt x="-781" y="83125"/>
                  <a:pt x="-781" y="78013"/>
                  <a:pt x="2367" y="74865"/>
                </a:cubicBezTo>
                <a:cubicBezTo>
                  <a:pt x="5515" y="71718"/>
                  <a:pt x="10627" y="71718"/>
                  <a:pt x="13774" y="74865"/>
                </a:cubicBezTo>
                <a:lnTo>
                  <a:pt x="39334" y="100425"/>
                </a:lnTo>
                <a:lnTo>
                  <a:pt x="98259" y="19415"/>
                </a:lnTo>
                <a:cubicBezTo>
                  <a:pt x="100878" y="15814"/>
                  <a:pt x="105914" y="15008"/>
                  <a:pt x="109515" y="1762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709118" y="2852590"/>
            <a:ext cx="2989578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8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Pricing Models:</a:t>
            </a:r>
            <a:r>
              <a:rPr lang="en-US" sz="88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On-Demand, Reserved, Spot, Savings Plans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7664" y="3110451"/>
            <a:ext cx="112814" cy="128931"/>
          </a:xfrm>
          <a:custGeom>
            <a:avLst/>
            <a:gdLst/>
            <a:ahLst/>
            <a:cxnLst/>
            <a:rect l="l" t="t" r="r" b="b"/>
            <a:pathLst>
              <a:path w="112814" h="128931">
                <a:moveTo>
                  <a:pt x="109490" y="17652"/>
                </a:moveTo>
                <a:cubicBezTo>
                  <a:pt x="113091" y="20271"/>
                  <a:pt x="113897" y="25308"/>
                  <a:pt x="111278" y="28909"/>
                </a:cubicBezTo>
                <a:lnTo>
                  <a:pt x="46813" y="117548"/>
                </a:lnTo>
                <a:cubicBezTo>
                  <a:pt x="45428" y="119462"/>
                  <a:pt x="43287" y="120646"/>
                  <a:pt x="40920" y="120847"/>
                </a:cubicBezTo>
                <a:cubicBezTo>
                  <a:pt x="38553" y="121049"/>
                  <a:pt x="36262" y="120167"/>
                  <a:pt x="34600" y="118505"/>
                </a:cubicBezTo>
                <a:lnTo>
                  <a:pt x="2367" y="86273"/>
                </a:lnTo>
                <a:cubicBezTo>
                  <a:pt x="-781" y="83125"/>
                  <a:pt x="-781" y="78013"/>
                  <a:pt x="2367" y="74865"/>
                </a:cubicBezTo>
                <a:cubicBezTo>
                  <a:pt x="5515" y="71718"/>
                  <a:pt x="10627" y="71718"/>
                  <a:pt x="13774" y="74865"/>
                </a:cubicBezTo>
                <a:lnTo>
                  <a:pt x="39334" y="100425"/>
                </a:lnTo>
                <a:lnTo>
                  <a:pt x="98259" y="19415"/>
                </a:lnTo>
                <a:cubicBezTo>
                  <a:pt x="100878" y="15814"/>
                  <a:pt x="105914" y="15008"/>
                  <a:pt x="109515" y="1762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7" name="Text 15"/>
          <p:cNvSpPr/>
          <p:nvPr/>
        </p:nvSpPr>
        <p:spPr>
          <a:xfrm>
            <a:off x="709118" y="3078218"/>
            <a:ext cx="3094334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8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 Scaling:</a:t>
            </a:r>
            <a:r>
              <a:rPr lang="en-US" sz="88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Automatically adjust capacity based on demand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86713" y="3339303"/>
            <a:ext cx="5429590" cy="361006"/>
          </a:xfrm>
          <a:custGeom>
            <a:avLst/>
            <a:gdLst/>
            <a:ahLst/>
            <a:cxnLst/>
            <a:rect l="l" t="t" r="r" b="b"/>
            <a:pathLst>
              <a:path w="5429590" h="361006">
                <a:moveTo>
                  <a:pt x="64465" y="0"/>
                </a:moveTo>
                <a:lnTo>
                  <a:pt x="5365125" y="0"/>
                </a:lnTo>
                <a:cubicBezTo>
                  <a:pt x="5400728" y="0"/>
                  <a:pt x="5429590" y="28862"/>
                  <a:pt x="5429590" y="64465"/>
                </a:cubicBezTo>
                <a:lnTo>
                  <a:pt x="5429590" y="296541"/>
                </a:lnTo>
                <a:cubicBezTo>
                  <a:pt x="5429590" y="332144"/>
                  <a:pt x="5400728" y="361006"/>
                  <a:pt x="5365125" y="361006"/>
                </a:cubicBezTo>
                <a:lnTo>
                  <a:pt x="64465" y="361006"/>
                </a:lnTo>
                <a:cubicBezTo>
                  <a:pt x="28862" y="361006"/>
                  <a:pt x="0" y="332144"/>
                  <a:pt x="0" y="296541"/>
                </a:cubicBezTo>
                <a:lnTo>
                  <a:pt x="0" y="64465"/>
                </a:lnTo>
                <a:cubicBezTo>
                  <a:pt x="0" y="28862"/>
                  <a:pt x="28862" y="0"/>
                  <a:pt x="64465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6852" y="3465010"/>
            <a:ext cx="84611" cy="112814"/>
          </a:xfrm>
          <a:custGeom>
            <a:avLst/>
            <a:gdLst/>
            <a:ahLst/>
            <a:cxnLst/>
            <a:rect l="l" t="t" r="r" b="b"/>
            <a:pathLst>
              <a:path w="84611" h="112814">
                <a:moveTo>
                  <a:pt x="64538" y="84611"/>
                </a:moveTo>
                <a:cubicBezTo>
                  <a:pt x="66146" y="79697"/>
                  <a:pt x="69363" y="75246"/>
                  <a:pt x="72999" y="71412"/>
                </a:cubicBezTo>
                <a:cubicBezTo>
                  <a:pt x="80204" y="63833"/>
                  <a:pt x="84611" y="53587"/>
                  <a:pt x="84611" y="42305"/>
                </a:cubicBezTo>
                <a:cubicBezTo>
                  <a:pt x="84611" y="18949"/>
                  <a:pt x="65661" y="0"/>
                  <a:pt x="42305" y="0"/>
                </a:cubicBezTo>
                <a:cubicBezTo>
                  <a:pt x="18949" y="0"/>
                  <a:pt x="0" y="18949"/>
                  <a:pt x="0" y="42305"/>
                </a:cubicBezTo>
                <a:cubicBezTo>
                  <a:pt x="0" y="53587"/>
                  <a:pt x="4407" y="63833"/>
                  <a:pt x="11612" y="71412"/>
                </a:cubicBezTo>
                <a:cubicBezTo>
                  <a:pt x="15248" y="75246"/>
                  <a:pt x="18487" y="79697"/>
                  <a:pt x="20073" y="84611"/>
                </a:cubicBezTo>
                <a:lnTo>
                  <a:pt x="64516" y="84611"/>
                </a:lnTo>
                <a:close/>
                <a:moveTo>
                  <a:pt x="63458" y="95187"/>
                </a:moveTo>
                <a:lnTo>
                  <a:pt x="21153" y="95187"/>
                </a:lnTo>
                <a:lnTo>
                  <a:pt x="21153" y="98712"/>
                </a:lnTo>
                <a:cubicBezTo>
                  <a:pt x="21153" y="108452"/>
                  <a:pt x="29041" y="116340"/>
                  <a:pt x="38780" y="116340"/>
                </a:cubicBezTo>
                <a:lnTo>
                  <a:pt x="45831" y="116340"/>
                </a:lnTo>
                <a:cubicBezTo>
                  <a:pt x="55570" y="116340"/>
                  <a:pt x="63458" y="108452"/>
                  <a:pt x="63458" y="98712"/>
                </a:cubicBezTo>
                <a:lnTo>
                  <a:pt x="63458" y="95187"/>
                </a:lnTo>
                <a:close/>
                <a:moveTo>
                  <a:pt x="40543" y="24678"/>
                </a:moveTo>
                <a:cubicBezTo>
                  <a:pt x="31773" y="24678"/>
                  <a:pt x="24678" y="31773"/>
                  <a:pt x="24678" y="40543"/>
                </a:cubicBezTo>
                <a:cubicBezTo>
                  <a:pt x="24678" y="43473"/>
                  <a:pt x="22320" y="45831"/>
                  <a:pt x="19390" y="45831"/>
                </a:cubicBezTo>
                <a:cubicBezTo>
                  <a:pt x="16459" y="45831"/>
                  <a:pt x="14102" y="43473"/>
                  <a:pt x="14102" y="40543"/>
                </a:cubicBezTo>
                <a:cubicBezTo>
                  <a:pt x="14102" y="25934"/>
                  <a:pt x="25934" y="14102"/>
                  <a:pt x="40543" y="14102"/>
                </a:cubicBezTo>
                <a:cubicBezTo>
                  <a:pt x="43473" y="14102"/>
                  <a:pt x="45831" y="16459"/>
                  <a:pt x="45831" y="19390"/>
                </a:cubicBezTo>
                <a:cubicBezTo>
                  <a:pt x="45831" y="22320"/>
                  <a:pt x="43473" y="24678"/>
                  <a:pt x="40543" y="2467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772584" y="3439222"/>
            <a:ext cx="5100204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8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Cases:</a:t>
            </a:r>
            <a:r>
              <a:rPr lang="en-US" sz="88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Web hosting, batch processing, machine learning, gaming servers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59962" y="1224841"/>
            <a:ext cx="5705179" cy="2610845"/>
          </a:xfrm>
          <a:custGeom>
            <a:avLst/>
            <a:gdLst/>
            <a:ahLst/>
            <a:cxnLst/>
            <a:rect l="l" t="t" r="r" b="b"/>
            <a:pathLst>
              <a:path w="5705179" h="2610845">
                <a:moveTo>
                  <a:pt x="32233" y="0"/>
                </a:moveTo>
                <a:lnTo>
                  <a:pt x="5608473" y="0"/>
                </a:lnTo>
                <a:cubicBezTo>
                  <a:pt x="5661883" y="0"/>
                  <a:pt x="5705179" y="43297"/>
                  <a:pt x="5705179" y="96706"/>
                </a:cubicBezTo>
                <a:lnTo>
                  <a:pt x="5705179" y="2514139"/>
                </a:lnTo>
                <a:cubicBezTo>
                  <a:pt x="5705179" y="2567548"/>
                  <a:pt x="5661883" y="2610845"/>
                  <a:pt x="5608473" y="2610845"/>
                </a:cubicBezTo>
                <a:lnTo>
                  <a:pt x="32233" y="2610845"/>
                </a:lnTo>
                <a:cubicBezTo>
                  <a:pt x="14431" y="2610845"/>
                  <a:pt x="0" y="2596414"/>
                  <a:pt x="0" y="2578612"/>
                </a:cubicBezTo>
                <a:lnTo>
                  <a:pt x="0" y="32233"/>
                </a:lnTo>
                <a:cubicBezTo>
                  <a:pt x="0" y="14443"/>
                  <a:pt x="14443" y="0"/>
                  <a:pt x="32233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22" name="Shape 20"/>
          <p:cNvSpPr/>
          <p:nvPr/>
        </p:nvSpPr>
        <p:spPr>
          <a:xfrm>
            <a:off x="6159962" y="1224841"/>
            <a:ext cx="32233" cy="2610845"/>
          </a:xfrm>
          <a:custGeom>
            <a:avLst/>
            <a:gdLst/>
            <a:ahLst/>
            <a:cxnLst/>
            <a:rect l="l" t="t" r="r" b="b"/>
            <a:pathLst>
              <a:path w="32233" h="2610845">
                <a:moveTo>
                  <a:pt x="32233" y="0"/>
                </a:moveTo>
                <a:lnTo>
                  <a:pt x="32233" y="0"/>
                </a:lnTo>
                <a:lnTo>
                  <a:pt x="32233" y="2610845"/>
                </a:lnTo>
                <a:lnTo>
                  <a:pt x="32233" y="2610845"/>
                </a:lnTo>
                <a:cubicBezTo>
                  <a:pt x="14431" y="2610845"/>
                  <a:pt x="0" y="2596414"/>
                  <a:pt x="0" y="2578612"/>
                </a:cubicBezTo>
                <a:lnTo>
                  <a:pt x="0" y="32233"/>
                </a:lnTo>
                <a:cubicBezTo>
                  <a:pt x="0" y="14443"/>
                  <a:pt x="14443" y="0"/>
                  <a:pt x="32233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3" name="Shape 21"/>
          <p:cNvSpPr/>
          <p:nvPr/>
        </p:nvSpPr>
        <p:spPr>
          <a:xfrm>
            <a:off x="6305009" y="1353771"/>
            <a:ext cx="451257" cy="451257"/>
          </a:xfrm>
          <a:custGeom>
            <a:avLst/>
            <a:gdLst/>
            <a:ahLst/>
            <a:cxnLst/>
            <a:rect l="l" t="t" r="r" b="b"/>
            <a:pathLst>
              <a:path w="451257" h="451257">
                <a:moveTo>
                  <a:pt x="96700" y="0"/>
                </a:moveTo>
                <a:lnTo>
                  <a:pt x="354557" y="0"/>
                </a:lnTo>
                <a:cubicBezTo>
                  <a:pt x="407963" y="0"/>
                  <a:pt x="451257" y="43294"/>
                  <a:pt x="451257" y="96700"/>
                </a:cubicBezTo>
                <a:lnTo>
                  <a:pt x="451257" y="354557"/>
                </a:lnTo>
                <a:cubicBezTo>
                  <a:pt x="451257" y="407963"/>
                  <a:pt x="407963" y="451257"/>
                  <a:pt x="354557" y="451257"/>
                </a:cubicBezTo>
                <a:lnTo>
                  <a:pt x="96700" y="451257"/>
                </a:lnTo>
                <a:cubicBezTo>
                  <a:pt x="43294" y="451257"/>
                  <a:pt x="0" y="407963"/>
                  <a:pt x="0" y="354557"/>
                </a:cubicBezTo>
                <a:lnTo>
                  <a:pt x="0" y="96700"/>
                </a:lnTo>
                <a:cubicBezTo>
                  <a:pt x="0" y="43294"/>
                  <a:pt x="43294" y="0"/>
                  <a:pt x="967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4" name="Shape 22"/>
          <p:cNvSpPr/>
          <p:nvPr/>
        </p:nvSpPr>
        <p:spPr>
          <a:xfrm>
            <a:off x="6446026" y="1482702"/>
            <a:ext cx="169221" cy="193396"/>
          </a:xfrm>
          <a:custGeom>
            <a:avLst/>
            <a:gdLst/>
            <a:ahLst/>
            <a:cxnLst/>
            <a:rect l="l" t="t" r="r" b="b"/>
            <a:pathLst>
              <a:path w="169221" h="193396">
                <a:moveTo>
                  <a:pt x="24174" y="12087"/>
                </a:moveTo>
                <a:cubicBezTo>
                  <a:pt x="10841" y="12087"/>
                  <a:pt x="0" y="22928"/>
                  <a:pt x="0" y="36262"/>
                </a:cubicBezTo>
                <a:lnTo>
                  <a:pt x="0" y="98247"/>
                </a:lnTo>
                <a:cubicBezTo>
                  <a:pt x="6837" y="93450"/>
                  <a:pt x="15185" y="90654"/>
                  <a:pt x="24174" y="90654"/>
                </a:cubicBezTo>
                <a:lnTo>
                  <a:pt x="145047" y="90654"/>
                </a:lnTo>
                <a:cubicBezTo>
                  <a:pt x="154037" y="90654"/>
                  <a:pt x="162385" y="93450"/>
                  <a:pt x="169221" y="98247"/>
                </a:cubicBezTo>
                <a:lnTo>
                  <a:pt x="169221" y="36262"/>
                </a:lnTo>
                <a:cubicBezTo>
                  <a:pt x="169221" y="22928"/>
                  <a:pt x="158381" y="12087"/>
                  <a:pt x="145047" y="12087"/>
                </a:cubicBezTo>
                <a:lnTo>
                  <a:pt x="24174" y="12087"/>
                </a:lnTo>
                <a:close/>
                <a:moveTo>
                  <a:pt x="169221" y="132960"/>
                </a:moveTo>
                <a:cubicBezTo>
                  <a:pt x="169221" y="119626"/>
                  <a:pt x="158381" y="108785"/>
                  <a:pt x="145047" y="108785"/>
                </a:cubicBezTo>
                <a:lnTo>
                  <a:pt x="24174" y="108785"/>
                </a:lnTo>
                <a:cubicBezTo>
                  <a:pt x="10841" y="108785"/>
                  <a:pt x="0" y="119626"/>
                  <a:pt x="0" y="132960"/>
                </a:cubicBezTo>
                <a:lnTo>
                  <a:pt x="0" y="157134"/>
                </a:lnTo>
                <a:cubicBezTo>
                  <a:pt x="0" y="170468"/>
                  <a:pt x="10841" y="181309"/>
                  <a:pt x="24174" y="181309"/>
                </a:cubicBezTo>
                <a:lnTo>
                  <a:pt x="145047" y="181309"/>
                </a:lnTo>
                <a:cubicBezTo>
                  <a:pt x="158381" y="181309"/>
                  <a:pt x="169221" y="170468"/>
                  <a:pt x="169221" y="157134"/>
                </a:cubicBezTo>
                <a:lnTo>
                  <a:pt x="169221" y="132960"/>
                </a:lnTo>
                <a:close/>
                <a:moveTo>
                  <a:pt x="84611" y="145047"/>
                </a:moveTo>
                <a:cubicBezTo>
                  <a:pt x="84611" y="138376"/>
                  <a:pt x="90027" y="132960"/>
                  <a:pt x="96698" y="132960"/>
                </a:cubicBezTo>
                <a:cubicBezTo>
                  <a:pt x="103369" y="132960"/>
                  <a:pt x="108785" y="138376"/>
                  <a:pt x="108785" y="145047"/>
                </a:cubicBezTo>
                <a:cubicBezTo>
                  <a:pt x="108785" y="151718"/>
                  <a:pt x="103369" y="157134"/>
                  <a:pt x="96698" y="157134"/>
                </a:cubicBezTo>
                <a:cubicBezTo>
                  <a:pt x="90027" y="157134"/>
                  <a:pt x="84611" y="151718"/>
                  <a:pt x="84611" y="145047"/>
                </a:cubicBezTo>
                <a:close/>
                <a:moveTo>
                  <a:pt x="132960" y="132960"/>
                </a:moveTo>
                <a:cubicBezTo>
                  <a:pt x="139631" y="132960"/>
                  <a:pt x="145047" y="138376"/>
                  <a:pt x="145047" y="145047"/>
                </a:cubicBezTo>
                <a:cubicBezTo>
                  <a:pt x="145047" y="151718"/>
                  <a:pt x="139631" y="157134"/>
                  <a:pt x="132960" y="157134"/>
                </a:cubicBezTo>
                <a:cubicBezTo>
                  <a:pt x="126289" y="157134"/>
                  <a:pt x="120872" y="151718"/>
                  <a:pt x="120872" y="145047"/>
                </a:cubicBezTo>
                <a:cubicBezTo>
                  <a:pt x="120872" y="138376"/>
                  <a:pt x="126289" y="132960"/>
                  <a:pt x="132960" y="13296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852964" y="1353771"/>
            <a:ext cx="141823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3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Amazon S3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52964" y="1611530"/>
            <a:ext cx="1386004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5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Simple Storage Service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05009" y="1901726"/>
            <a:ext cx="5495667" cy="628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5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Offers </a:t>
            </a:r>
            <a:r>
              <a:rPr lang="en-US" sz="101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industry-leading scalability, data availability, security, and performance</a:t>
            </a:r>
            <a:r>
              <a:rPr lang="en-US" sz="1015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Store and retrieve any amount of data from anywhere. Designed for 99.999999999% (11 nines) durability.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29183" y="2659194"/>
            <a:ext cx="112814" cy="128931"/>
          </a:xfrm>
          <a:custGeom>
            <a:avLst/>
            <a:gdLst/>
            <a:ahLst/>
            <a:cxnLst/>
            <a:rect l="l" t="t" r="r" b="b"/>
            <a:pathLst>
              <a:path w="112814" h="128931">
                <a:moveTo>
                  <a:pt x="109490" y="17652"/>
                </a:moveTo>
                <a:cubicBezTo>
                  <a:pt x="113091" y="20271"/>
                  <a:pt x="113897" y="25308"/>
                  <a:pt x="111278" y="28909"/>
                </a:cubicBezTo>
                <a:lnTo>
                  <a:pt x="46813" y="117548"/>
                </a:lnTo>
                <a:cubicBezTo>
                  <a:pt x="45428" y="119462"/>
                  <a:pt x="43287" y="120646"/>
                  <a:pt x="40920" y="120847"/>
                </a:cubicBezTo>
                <a:cubicBezTo>
                  <a:pt x="38553" y="121049"/>
                  <a:pt x="36262" y="120167"/>
                  <a:pt x="34600" y="118505"/>
                </a:cubicBezTo>
                <a:lnTo>
                  <a:pt x="2367" y="86273"/>
                </a:lnTo>
                <a:cubicBezTo>
                  <a:pt x="-781" y="83125"/>
                  <a:pt x="-781" y="78013"/>
                  <a:pt x="2367" y="74865"/>
                </a:cubicBezTo>
                <a:cubicBezTo>
                  <a:pt x="5515" y="71718"/>
                  <a:pt x="10627" y="71718"/>
                  <a:pt x="13774" y="74865"/>
                </a:cubicBezTo>
                <a:lnTo>
                  <a:pt x="39334" y="100425"/>
                </a:lnTo>
                <a:lnTo>
                  <a:pt x="98259" y="19415"/>
                </a:lnTo>
                <a:cubicBezTo>
                  <a:pt x="100878" y="15814"/>
                  <a:pt x="105914" y="15008"/>
                  <a:pt x="109515" y="1762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9" name="Text 27"/>
          <p:cNvSpPr/>
          <p:nvPr/>
        </p:nvSpPr>
        <p:spPr>
          <a:xfrm>
            <a:off x="6530637" y="2626961"/>
            <a:ext cx="3408603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8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Storage Classes:</a:t>
            </a:r>
            <a:r>
              <a:rPr lang="en-US" sz="88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Standard, Intelligent-Tiering, Glacier, Deep Archive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29183" y="2884822"/>
            <a:ext cx="112814" cy="128931"/>
          </a:xfrm>
          <a:custGeom>
            <a:avLst/>
            <a:gdLst/>
            <a:ahLst/>
            <a:cxnLst/>
            <a:rect l="l" t="t" r="r" b="b"/>
            <a:pathLst>
              <a:path w="112814" h="128931">
                <a:moveTo>
                  <a:pt x="109490" y="17652"/>
                </a:moveTo>
                <a:cubicBezTo>
                  <a:pt x="113091" y="20271"/>
                  <a:pt x="113897" y="25308"/>
                  <a:pt x="111278" y="28909"/>
                </a:cubicBezTo>
                <a:lnTo>
                  <a:pt x="46813" y="117548"/>
                </a:lnTo>
                <a:cubicBezTo>
                  <a:pt x="45428" y="119462"/>
                  <a:pt x="43287" y="120646"/>
                  <a:pt x="40920" y="120847"/>
                </a:cubicBezTo>
                <a:cubicBezTo>
                  <a:pt x="38553" y="121049"/>
                  <a:pt x="36262" y="120167"/>
                  <a:pt x="34600" y="118505"/>
                </a:cubicBezTo>
                <a:lnTo>
                  <a:pt x="2367" y="86273"/>
                </a:lnTo>
                <a:cubicBezTo>
                  <a:pt x="-781" y="83125"/>
                  <a:pt x="-781" y="78013"/>
                  <a:pt x="2367" y="74865"/>
                </a:cubicBezTo>
                <a:cubicBezTo>
                  <a:pt x="5515" y="71718"/>
                  <a:pt x="10627" y="71718"/>
                  <a:pt x="13774" y="74865"/>
                </a:cubicBezTo>
                <a:lnTo>
                  <a:pt x="39334" y="100425"/>
                </a:lnTo>
                <a:lnTo>
                  <a:pt x="98259" y="19415"/>
                </a:lnTo>
                <a:cubicBezTo>
                  <a:pt x="100878" y="15814"/>
                  <a:pt x="105914" y="15008"/>
                  <a:pt x="109515" y="1762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1" name="Text 29"/>
          <p:cNvSpPr/>
          <p:nvPr/>
        </p:nvSpPr>
        <p:spPr>
          <a:xfrm>
            <a:off x="6530637" y="2852590"/>
            <a:ext cx="3174916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8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Features:</a:t>
            </a:r>
            <a:r>
              <a:rPr lang="en-US" sz="88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Versioning, lifecycle policies, cross-region replication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29183" y="3110451"/>
            <a:ext cx="112814" cy="128931"/>
          </a:xfrm>
          <a:custGeom>
            <a:avLst/>
            <a:gdLst/>
            <a:ahLst/>
            <a:cxnLst/>
            <a:rect l="l" t="t" r="r" b="b"/>
            <a:pathLst>
              <a:path w="112814" h="128931">
                <a:moveTo>
                  <a:pt x="109490" y="17652"/>
                </a:moveTo>
                <a:cubicBezTo>
                  <a:pt x="113091" y="20271"/>
                  <a:pt x="113897" y="25308"/>
                  <a:pt x="111278" y="28909"/>
                </a:cubicBezTo>
                <a:lnTo>
                  <a:pt x="46813" y="117548"/>
                </a:lnTo>
                <a:cubicBezTo>
                  <a:pt x="45428" y="119462"/>
                  <a:pt x="43287" y="120646"/>
                  <a:pt x="40920" y="120847"/>
                </a:cubicBezTo>
                <a:cubicBezTo>
                  <a:pt x="38553" y="121049"/>
                  <a:pt x="36262" y="120167"/>
                  <a:pt x="34600" y="118505"/>
                </a:cubicBezTo>
                <a:lnTo>
                  <a:pt x="2367" y="86273"/>
                </a:lnTo>
                <a:cubicBezTo>
                  <a:pt x="-781" y="83125"/>
                  <a:pt x="-781" y="78013"/>
                  <a:pt x="2367" y="74865"/>
                </a:cubicBezTo>
                <a:cubicBezTo>
                  <a:pt x="5515" y="71718"/>
                  <a:pt x="10627" y="71718"/>
                  <a:pt x="13774" y="74865"/>
                </a:cubicBezTo>
                <a:lnTo>
                  <a:pt x="39334" y="100425"/>
                </a:lnTo>
                <a:lnTo>
                  <a:pt x="98259" y="19415"/>
                </a:lnTo>
                <a:cubicBezTo>
                  <a:pt x="100878" y="15814"/>
                  <a:pt x="105914" y="15008"/>
                  <a:pt x="109515" y="1762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3" name="Text 31"/>
          <p:cNvSpPr/>
          <p:nvPr/>
        </p:nvSpPr>
        <p:spPr>
          <a:xfrm>
            <a:off x="6530637" y="3078218"/>
            <a:ext cx="2852590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8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Security:</a:t>
            </a:r>
            <a:r>
              <a:rPr lang="en-US" sz="88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Encryption at rest and in transit, access policies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08232" y="3339303"/>
            <a:ext cx="5429590" cy="361006"/>
          </a:xfrm>
          <a:custGeom>
            <a:avLst/>
            <a:gdLst/>
            <a:ahLst/>
            <a:cxnLst/>
            <a:rect l="l" t="t" r="r" b="b"/>
            <a:pathLst>
              <a:path w="5429590" h="361006">
                <a:moveTo>
                  <a:pt x="64465" y="0"/>
                </a:moveTo>
                <a:lnTo>
                  <a:pt x="5365125" y="0"/>
                </a:lnTo>
                <a:cubicBezTo>
                  <a:pt x="5400728" y="0"/>
                  <a:pt x="5429590" y="28862"/>
                  <a:pt x="5429590" y="64465"/>
                </a:cubicBezTo>
                <a:lnTo>
                  <a:pt x="5429590" y="296541"/>
                </a:lnTo>
                <a:cubicBezTo>
                  <a:pt x="5429590" y="332144"/>
                  <a:pt x="5400728" y="361006"/>
                  <a:pt x="5365125" y="361006"/>
                </a:cubicBezTo>
                <a:lnTo>
                  <a:pt x="64465" y="361006"/>
                </a:lnTo>
                <a:cubicBezTo>
                  <a:pt x="28862" y="361006"/>
                  <a:pt x="0" y="332144"/>
                  <a:pt x="0" y="296541"/>
                </a:cubicBezTo>
                <a:lnTo>
                  <a:pt x="0" y="64465"/>
                </a:lnTo>
                <a:cubicBezTo>
                  <a:pt x="0" y="28862"/>
                  <a:pt x="28862" y="0"/>
                  <a:pt x="64465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38371" y="3465010"/>
            <a:ext cx="84611" cy="112814"/>
          </a:xfrm>
          <a:custGeom>
            <a:avLst/>
            <a:gdLst/>
            <a:ahLst/>
            <a:cxnLst/>
            <a:rect l="l" t="t" r="r" b="b"/>
            <a:pathLst>
              <a:path w="84611" h="112814">
                <a:moveTo>
                  <a:pt x="64538" y="84611"/>
                </a:moveTo>
                <a:cubicBezTo>
                  <a:pt x="66146" y="79697"/>
                  <a:pt x="69363" y="75246"/>
                  <a:pt x="72999" y="71412"/>
                </a:cubicBezTo>
                <a:cubicBezTo>
                  <a:pt x="80204" y="63833"/>
                  <a:pt x="84611" y="53587"/>
                  <a:pt x="84611" y="42305"/>
                </a:cubicBezTo>
                <a:cubicBezTo>
                  <a:pt x="84611" y="18949"/>
                  <a:pt x="65661" y="0"/>
                  <a:pt x="42305" y="0"/>
                </a:cubicBezTo>
                <a:cubicBezTo>
                  <a:pt x="18949" y="0"/>
                  <a:pt x="0" y="18949"/>
                  <a:pt x="0" y="42305"/>
                </a:cubicBezTo>
                <a:cubicBezTo>
                  <a:pt x="0" y="53587"/>
                  <a:pt x="4407" y="63833"/>
                  <a:pt x="11612" y="71412"/>
                </a:cubicBezTo>
                <a:cubicBezTo>
                  <a:pt x="15248" y="75246"/>
                  <a:pt x="18487" y="79697"/>
                  <a:pt x="20073" y="84611"/>
                </a:cubicBezTo>
                <a:lnTo>
                  <a:pt x="64516" y="84611"/>
                </a:lnTo>
                <a:close/>
                <a:moveTo>
                  <a:pt x="63458" y="95187"/>
                </a:moveTo>
                <a:lnTo>
                  <a:pt x="21153" y="95187"/>
                </a:lnTo>
                <a:lnTo>
                  <a:pt x="21153" y="98712"/>
                </a:lnTo>
                <a:cubicBezTo>
                  <a:pt x="21153" y="108452"/>
                  <a:pt x="29041" y="116340"/>
                  <a:pt x="38780" y="116340"/>
                </a:cubicBezTo>
                <a:lnTo>
                  <a:pt x="45831" y="116340"/>
                </a:lnTo>
                <a:cubicBezTo>
                  <a:pt x="55570" y="116340"/>
                  <a:pt x="63458" y="108452"/>
                  <a:pt x="63458" y="98712"/>
                </a:cubicBezTo>
                <a:lnTo>
                  <a:pt x="63458" y="95187"/>
                </a:lnTo>
                <a:close/>
                <a:moveTo>
                  <a:pt x="40543" y="24678"/>
                </a:moveTo>
                <a:cubicBezTo>
                  <a:pt x="31773" y="24678"/>
                  <a:pt x="24678" y="31773"/>
                  <a:pt x="24678" y="40543"/>
                </a:cubicBezTo>
                <a:cubicBezTo>
                  <a:pt x="24678" y="43473"/>
                  <a:pt x="22320" y="45831"/>
                  <a:pt x="19390" y="45831"/>
                </a:cubicBezTo>
                <a:cubicBezTo>
                  <a:pt x="16459" y="45831"/>
                  <a:pt x="14102" y="43473"/>
                  <a:pt x="14102" y="40543"/>
                </a:cubicBezTo>
                <a:cubicBezTo>
                  <a:pt x="14102" y="25934"/>
                  <a:pt x="25934" y="14102"/>
                  <a:pt x="40543" y="14102"/>
                </a:cubicBezTo>
                <a:cubicBezTo>
                  <a:pt x="43473" y="14102"/>
                  <a:pt x="45831" y="16459"/>
                  <a:pt x="45831" y="19390"/>
                </a:cubicBezTo>
                <a:cubicBezTo>
                  <a:pt x="45831" y="22320"/>
                  <a:pt x="43473" y="24678"/>
                  <a:pt x="40543" y="2467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6" name="Text 34"/>
          <p:cNvSpPr/>
          <p:nvPr/>
        </p:nvSpPr>
        <p:spPr>
          <a:xfrm>
            <a:off x="6594103" y="3439222"/>
            <a:ext cx="5100204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8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Cases:</a:t>
            </a:r>
            <a:r>
              <a:rPr lang="en-US" sz="88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Data lakes, backups, static website hosting, content distribution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38443" y="3929165"/>
            <a:ext cx="5705179" cy="2610845"/>
          </a:xfrm>
          <a:custGeom>
            <a:avLst/>
            <a:gdLst/>
            <a:ahLst/>
            <a:cxnLst/>
            <a:rect l="l" t="t" r="r" b="b"/>
            <a:pathLst>
              <a:path w="5705179" h="2610845">
                <a:moveTo>
                  <a:pt x="32233" y="0"/>
                </a:moveTo>
                <a:lnTo>
                  <a:pt x="5608473" y="0"/>
                </a:lnTo>
                <a:cubicBezTo>
                  <a:pt x="5661883" y="0"/>
                  <a:pt x="5705179" y="43297"/>
                  <a:pt x="5705179" y="96706"/>
                </a:cubicBezTo>
                <a:lnTo>
                  <a:pt x="5705179" y="2514139"/>
                </a:lnTo>
                <a:cubicBezTo>
                  <a:pt x="5705179" y="2567548"/>
                  <a:pt x="5661883" y="2610845"/>
                  <a:pt x="5608473" y="2610845"/>
                </a:cubicBezTo>
                <a:lnTo>
                  <a:pt x="32233" y="2610845"/>
                </a:lnTo>
                <a:cubicBezTo>
                  <a:pt x="14431" y="2610845"/>
                  <a:pt x="0" y="2596414"/>
                  <a:pt x="0" y="2578612"/>
                </a:cubicBezTo>
                <a:lnTo>
                  <a:pt x="0" y="32233"/>
                </a:lnTo>
                <a:cubicBezTo>
                  <a:pt x="0" y="14443"/>
                  <a:pt x="14443" y="0"/>
                  <a:pt x="32233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38" name="Shape 36"/>
          <p:cNvSpPr/>
          <p:nvPr/>
        </p:nvSpPr>
        <p:spPr>
          <a:xfrm>
            <a:off x="338443" y="3929165"/>
            <a:ext cx="32233" cy="2610845"/>
          </a:xfrm>
          <a:custGeom>
            <a:avLst/>
            <a:gdLst/>
            <a:ahLst/>
            <a:cxnLst/>
            <a:rect l="l" t="t" r="r" b="b"/>
            <a:pathLst>
              <a:path w="32233" h="2610845">
                <a:moveTo>
                  <a:pt x="32233" y="0"/>
                </a:moveTo>
                <a:lnTo>
                  <a:pt x="32233" y="0"/>
                </a:lnTo>
                <a:lnTo>
                  <a:pt x="32233" y="2610845"/>
                </a:lnTo>
                <a:lnTo>
                  <a:pt x="32233" y="2610845"/>
                </a:lnTo>
                <a:cubicBezTo>
                  <a:pt x="14431" y="2610845"/>
                  <a:pt x="0" y="2596414"/>
                  <a:pt x="0" y="2578612"/>
                </a:cubicBezTo>
                <a:lnTo>
                  <a:pt x="0" y="32233"/>
                </a:lnTo>
                <a:cubicBezTo>
                  <a:pt x="0" y="14443"/>
                  <a:pt x="14443" y="0"/>
                  <a:pt x="32233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9" name="Shape 37"/>
          <p:cNvSpPr/>
          <p:nvPr/>
        </p:nvSpPr>
        <p:spPr>
          <a:xfrm>
            <a:off x="483490" y="4058095"/>
            <a:ext cx="451257" cy="451257"/>
          </a:xfrm>
          <a:custGeom>
            <a:avLst/>
            <a:gdLst/>
            <a:ahLst/>
            <a:cxnLst/>
            <a:rect l="l" t="t" r="r" b="b"/>
            <a:pathLst>
              <a:path w="451257" h="451257">
                <a:moveTo>
                  <a:pt x="96700" y="0"/>
                </a:moveTo>
                <a:lnTo>
                  <a:pt x="354557" y="0"/>
                </a:lnTo>
                <a:cubicBezTo>
                  <a:pt x="407963" y="0"/>
                  <a:pt x="451257" y="43294"/>
                  <a:pt x="451257" y="96700"/>
                </a:cubicBezTo>
                <a:lnTo>
                  <a:pt x="451257" y="354557"/>
                </a:lnTo>
                <a:cubicBezTo>
                  <a:pt x="451257" y="407963"/>
                  <a:pt x="407963" y="451257"/>
                  <a:pt x="354557" y="451257"/>
                </a:cubicBezTo>
                <a:lnTo>
                  <a:pt x="96700" y="451257"/>
                </a:lnTo>
                <a:cubicBezTo>
                  <a:pt x="43294" y="451257"/>
                  <a:pt x="0" y="407963"/>
                  <a:pt x="0" y="354557"/>
                </a:cubicBezTo>
                <a:lnTo>
                  <a:pt x="0" y="96700"/>
                </a:lnTo>
                <a:cubicBezTo>
                  <a:pt x="0" y="43294"/>
                  <a:pt x="43294" y="0"/>
                  <a:pt x="967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0" name="Shape 38"/>
          <p:cNvSpPr/>
          <p:nvPr/>
        </p:nvSpPr>
        <p:spPr>
          <a:xfrm>
            <a:off x="624508" y="4187026"/>
            <a:ext cx="169221" cy="193396"/>
          </a:xfrm>
          <a:custGeom>
            <a:avLst/>
            <a:gdLst/>
            <a:ahLst/>
            <a:cxnLst/>
            <a:rect l="l" t="t" r="r" b="b"/>
            <a:pathLst>
              <a:path w="169221" h="193396">
                <a:moveTo>
                  <a:pt x="169221" y="77736"/>
                </a:moveTo>
                <a:cubicBezTo>
                  <a:pt x="163631" y="81438"/>
                  <a:pt x="157210" y="84422"/>
                  <a:pt x="150524" y="86802"/>
                </a:cubicBezTo>
                <a:cubicBezTo>
                  <a:pt x="132771" y="93147"/>
                  <a:pt x="109465" y="96698"/>
                  <a:pt x="84611" y="96698"/>
                </a:cubicBezTo>
                <a:cubicBezTo>
                  <a:pt x="59756" y="96698"/>
                  <a:pt x="36413" y="93110"/>
                  <a:pt x="18697" y="86802"/>
                </a:cubicBezTo>
                <a:cubicBezTo>
                  <a:pt x="12049" y="84422"/>
                  <a:pt x="5590" y="81438"/>
                  <a:pt x="0" y="77736"/>
                </a:cubicBezTo>
                <a:lnTo>
                  <a:pt x="0" y="108785"/>
                </a:lnTo>
                <a:cubicBezTo>
                  <a:pt x="0" y="125481"/>
                  <a:pt x="37886" y="139003"/>
                  <a:pt x="84611" y="139003"/>
                </a:cubicBezTo>
                <a:cubicBezTo>
                  <a:pt x="131335" y="139003"/>
                  <a:pt x="169221" y="125481"/>
                  <a:pt x="169221" y="108785"/>
                </a:cubicBezTo>
                <a:lnTo>
                  <a:pt x="169221" y="77736"/>
                </a:lnTo>
                <a:close/>
                <a:moveTo>
                  <a:pt x="169221" y="48349"/>
                </a:moveTo>
                <a:lnTo>
                  <a:pt x="169221" y="30218"/>
                </a:lnTo>
                <a:cubicBezTo>
                  <a:pt x="169221" y="13523"/>
                  <a:pt x="131335" y="0"/>
                  <a:pt x="84611" y="0"/>
                </a:cubicBezTo>
                <a:cubicBezTo>
                  <a:pt x="37886" y="0"/>
                  <a:pt x="0" y="13523"/>
                  <a:pt x="0" y="30218"/>
                </a:cubicBezTo>
                <a:lnTo>
                  <a:pt x="0" y="48349"/>
                </a:lnTo>
                <a:cubicBezTo>
                  <a:pt x="0" y="65044"/>
                  <a:pt x="37886" y="78567"/>
                  <a:pt x="84611" y="78567"/>
                </a:cubicBezTo>
                <a:cubicBezTo>
                  <a:pt x="131335" y="78567"/>
                  <a:pt x="169221" y="65044"/>
                  <a:pt x="169221" y="48349"/>
                </a:cubicBezTo>
                <a:close/>
                <a:moveTo>
                  <a:pt x="150524" y="147238"/>
                </a:moveTo>
                <a:cubicBezTo>
                  <a:pt x="132809" y="153546"/>
                  <a:pt x="109503" y="157134"/>
                  <a:pt x="84611" y="157134"/>
                </a:cubicBezTo>
                <a:cubicBezTo>
                  <a:pt x="59719" y="157134"/>
                  <a:pt x="36413" y="153546"/>
                  <a:pt x="18697" y="147238"/>
                </a:cubicBezTo>
                <a:cubicBezTo>
                  <a:pt x="12049" y="144858"/>
                  <a:pt x="5590" y="141874"/>
                  <a:pt x="0" y="138172"/>
                </a:cubicBezTo>
                <a:lnTo>
                  <a:pt x="0" y="163178"/>
                </a:lnTo>
                <a:cubicBezTo>
                  <a:pt x="0" y="179873"/>
                  <a:pt x="37886" y="193396"/>
                  <a:pt x="84611" y="193396"/>
                </a:cubicBezTo>
                <a:cubicBezTo>
                  <a:pt x="131335" y="193396"/>
                  <a:pt x="169221" y="179873"/>
                  <a:pt x="169221" y="163178"/>
                </a:cubicBezTo>
                <a:lnTo>
                  <a:pt x="169221" y="138172"/>
                </a:lnTo>
                <a:cubicBezTo>
                  <a:pt x="163631" y="141874"/>
                  <a:pt x="157210" y="144858"/>
                  <a:pt x="150524" y="1472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1031445" y="4058095"/>
            <a:ext cx="166804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3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Amazon RDS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31445" y="4315854"/>
            <a:ext cx="1635807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5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Relational Database Service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83490" y="4606050"/>
            <a:ext cx="5495667" cy="628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5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Makes it easy to </a:t>
            </a:r>
            <a:r>
              <a:rPr lang="en-US" sz="101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 up, operate, and scale relational databases</a:t>
            </a:r>
            <a:r>
              <a:rPr lang="en-US" sz="1015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the cloud. Automates time-consuming administration tasks such as hardware provisioning, database setup, patching, and backups.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07664" y="5363518"/>
            <a:ext cx="112814" cy="128931"/>
          </a:xfrm>
          <a:custGeom>
            <a:avLst/>
            <a:gdLst/>
            <a:ahLst/>
            <a:cxnLst/>
            <a:rect l="l" t="t" r="r" b="b"/>
            <a:pathLst>
              <a:path w="112814" h="128931">
                <a:moveTo>
                  <a:pt x="109490" y="17652"/>
                </a:moveTo>
                <a:cubicBezTo>
                  <a:pt x="113091" y="20271"/>
                  <a:pt x="113897" y="25308"/>
                  <a:pt x="111278" y="28909"/>
                </a:cubicBezTo>
                <a:lnTo>
                  <a:pt x="46813" y="117548"/>
                </a:lnTo>
                <a:cubicBezTo>
                  <a:pt x="45428" y="119462"/>
                  <a:pt x="43287" y="120646"/>
                  <a:pt x="40920" y="120847"/>
                </a:cubicBezTo>
                <a:cubicBezTo>
                  <a:pt x="38553" y="121049"/>
                  <a:pt x="36262" y="120167"/>
                  <a:pt x="34600" y="118505"/>
                </a:cubicBezTo>
                <a:lnTo>
                  <a:pt x="2367" y="86273"/>
                </a:lnTo>
                <a:cubicBezTo>
                  <a:pt x="-781" y="83125"/>
                  <a:pt x="-781" y="78013"/>
                  <a:pt x="2367" y="74865"/>
                </a:cubicBezTo>
                <a:cubicBezTo>
                  <a:pt x="5515" y="71718"/>
                  <a:pt x="10627" y="71718"/>
                  <a:pt x="13774" y="74865"/>
                </a:cubicBezTo>
                <a:lnTo>
                  <a:pt x="39334" y="100425"/>
                </a:lnTo>
                <a:lnTo>
                  <a:pt x="98259" y="19415"/>
                </a:lnTo>
                <a:cubicBezTo>
                  <a:pt x="100878" y="15814"/>
                  <a:pt x="105914" y="15008"/>
                  <a:pt x="109515" y="1762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5" name="Text 43"/>
          <p:cNvSpPr/>
          <p:nvPr/>
        </p:nvSpPr>
        <p:spPr>
          <a:xfrm>
            <a:off x="709118" y="5331285"/>
            <a:ext cx="3537533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8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Supported Engines:</a:t>
            </a:r>
            <a:r>
              <a:rPr lang="en-US" sz="88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MySQL, PostgreSQL, MariaDB, Oracle, SQL Server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07664" y="5589146"/>
            <a:ext cx="112814" cy="128931"/>
          </a:xfrm>
          <a:custGeom>
            <a:avLst/>
            <a:gdLst/>
            <a:ahLst/>
            <a:cxnLst/>
            <a:rect l="l" t="t" r="r" b="b"/>
            <a:pathLst>
              <a:path w="112814" h="128931">
                <a:moveTo>
                  <a:pt x="109490" y="17652"/>
                </a:moveTo>
                <a:cubicBezTo>
                  <a:pt x="113091" y="20271"/>
                  <a:pt x="113897" y="25308"/>
                  <a:pt x="111278" y="28909"/>
                </a:cubicBezTo>
                <a:lnTo>
                  <a:pt x="46813" y="117548"/>
                </a:lnTo>
                <a:cubicBezTo>
                  <a:pt x="45428" y="119462"/>
                  <a:pt x="43287" y="120646"/>
                  <a:pt x="40920" y="120847"/>
                </a:cubicBezTo>
                <a:cubicBezTo>
                  <a:pt x="38553" y="121049"/>
                  <a:pt x="36262" y="120167"/>
                  <a:pt x="34600" y="118505"/>
                </a:cubicBezTo>
                <a:lnTo>
                  <a:pt x="2367" y="86273"/>
                </a:lnTo>
                <a:cubicBezTo>
                  <a:pt x="-781" y="83125"/>
                  <a:pt x="-781" y="78013"/>
                  <a:pt x="2367" y="74865"/>
                </a:cubicBezTo>
                <a:cubicBezTo>
                  <a:pt x="5515" y="71718"/>
                  <a:pt x="10627" y="71718"/>
                  <a:pt x="13774" y="74865"/>
                </a:cubicBezTo>
                <a:lnTo>
                  <a:pt x="39334" y="100425"/>
                </a:lnTo>
                <a:lnTo>
                  <a:pt x="98259" y="19415"/>
                </a:lnTo>
                <a:cubicBezTo>
                  <a:pt x="100878" y="15814"/>
                  <a:pt x="105914" y="15008"/>
                  <a:pt x="109515" y="1762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7" name="Text 45"/>
          <p:cNvSpPr/>
          <p:nvPr/>
        </p:nvSpPr>
        <p:spPr>
          <a:xfrm>
            <a:off x="709118" y="5556914"/>
            <a:ext cx="3174916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8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Availability:</a:t>
            </a:r>
            <a:r>
              <a:rPr lang="en-US" sz="88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Multi-AZ deployments with automatic failover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07664" y="5814775"/>
            <a:ext cx="112814" cy="128931"/>
          </a:xfrm>
          <a:custGeom>
            <a:avLst/>
            <a:gdLst/>
            <a:ahLst/>
            <a:cxnLst/>
            <a:rect l="l" t="t" r="r" b="b"/>
            <a:pathLst>
              <a:path w="112814" h="128931">
                <a:moveTo>
                  <a:pt x="109490" y="17652"/>
                </a:moveTo>
                <a:cubicBezTo>
                  <a:pt x="113091" y="20271"/>
                  <a:pt x="113897" y="25308"/>
                  <a:pt x="111278" y="28909"/>
                </a:cubicBezTo>
                <a:lnTo>
                  <a:pt x="46813" y="117548"/>
                </a:lnTo>
                <a:cubicBezTo>
                  <a:pt x="45428" y="119462"/>
                  <a:pt x="43287" y="120646"/>
                  <a:pt x="40920" y="120847"/>
                </a:cubicBezTo>
                <a:cubicBezTo>
                  <a:pt x="38553" y="121049"/>
                  <a:pt x="36262" y="120167"/>
                  <a:pt x="34600" y="118505"/>
                </a:cubicBezTo>
                <a:lnTo>
                  <a:pt x="2367" y="86273"/>
                </a:lnTo>
                <a:cubicBezTo>
                  <a:pt x="-781" y="83125"/>
                  <a:pt x="-781" y="78013"/>
                  <a:pt x="2367" y="74865"/>
                </a:cubicBezTo>
                <a:cubicBezTo>
                  <a:pt x="5515" y="71718"/>
                  <a:pt x="10627" y="71718"/>
                  <a:pt x="13774" y="74865"/>
                </a:cubicBezTo>
                <a:lnTo>
                  <a:pt x="39334" y="100425"/>
                </a:lnTo>
                <a:lnTo>
                  <a:pt x="98259" y="19415"/>
                </a:lnTo>
                <a:cubicBezTo>
                  <a:pt x="100878" y="15814"/>
                  <a:pt x="105914" y="15008"/>
                  <a:pt x="109515" y="1762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9" name="Text 47"/>
          <p:cNvSpPr/>
          <p:nvPr/>
        </p:nvSpPr>
        <p:spPr>
          <a:xfrm>
            <a:off x="709118" y="5782542"/>
            <a:ext cx="2788124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8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 Replicas:</a:t>
            </a:r>
            <a:r>
              <a:rPr lang="en-US" sz="88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Scale read-heavy workloads horizontally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86713" y="6043627"/>
            <a:ext cx="5429590" cy="361006"/>
          </a:xfrm>
          <a:custGeom>
            <a:avLst/>
            <a:gdLst/>
            <a:ahLst/>
            <a:cxnLst/>
            <a:rect l="l" t="t" r="r" b="b"/>
            <a:pathLst>
              <a:path w="5429590" h="361006">
                <a:moveTo>
                  <a:pt x="64465" y="0"/>
                </a:moveTo>
                <a:lnTo>
                  <a:pt x="5365125" y="0"/>
                </a:lnTo>
                <a:cubicBezTo>
                  <a:pt x="5400728" y="0"/>
                  <a:pt x="5429590" y="28862"/>
                  <a:pt x="5429590" y="64465"/>
                </a:cubicBezTo>
                <a:lnTo>
                  <a:pt x="5429590" y="296541"/>
                </a:lnTo>
                <a:cubicBezTo>
                  <a:pt x="5429590" y="332144"/>
                  <a:pt x="5400728" y="361006"/>
                  <a:pt x="5365125" y="361006"/>
                </a:cubicBezTo>
                <a:lnTo>
                  <a:pt x="64465" y="361006"/>
                </a:lnTo>
                <a:cubicBezTo>
                  <a:pt x="28862" y="361006"/>
                  <a:pt x="0" y="332144"/>
                  <a:pt x="0" y="296541"/>
                </a:cubicBezTo>
                <a:lnTo>
                  <a:pt x="0" y="64465"/>
                </a:lnTo>
                <a:cubicBezTo>
                  <a:pt x="0" y="28862"/>
                  <a:pt x="28862" y="0"/>
                  <a:pt x="64465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6852" y="6169334"/>
            <a:ext cx="84611" cy="112814"/>
          </a:xfrm>
          <a:custGeom>
            <a:avLst/>
            <a:gdLst/>
            <a:ahLst/>
            <a:cxnLst/>
            <a:rect l="l" t="t" r="r" b="b"/>
            <a:pathLst>
              <a:path w="84611" h="112814">
                <a:moveTo>
                  <a:pt x="64538" y="84611"/>
                </a:moveTo>
                <a:cubicBezTo>
                  <a:pt x="66146" y="79697"/>
                  <a:pt x="69363" y="75246"/>
                  <a:pt x="72999" y="71412"/>
                </a:cubicBezTo>
                <a:cubicBezTo>
                  <a:pt x="80204" y="63833"/>
                  <a:pt x="84611" y="53587"/>
                  <a:pt x="84611" y="42305"/>
                </a:cubicBezTo>
                <a:cubicBezTo>
                  <a:pt x="84611" y="18949"/>
                  <a:pt x="65661" y="0"/>
                  <a:pt x="42305" y="0"/>
                </a:cubicBezTo>
                <a:cubicBezTo>
                  <a:pt x="18949" y="0"/>
                  <a:pt x="0" y="18949"/>
                  <a:pt x="0" y="42305"/>
                </a:cubicBezTo>
                <a:cubicBezTo>
                  <a:pt x="0" y="53587"/>
                  <a:pt x="4407" y="63833"/>
                  <a:pt x="11612" y="71412"/>
                </a:cubicBezTo>
                <a:cubicBezTo>
                  <a:pt x="15248" y="75246"/>
                  <a:pt x="18487" y="79697"/>
                  <a:pt x="20073" y="84611"/>
                </a:cubicBezTo>
                <a:lnTo>
                  <a:pt x="64516" y="84611"/>
                </a:lnTo>
                <a:close/>
                <a:moveTo>
                  <a:pt x="63458" y="95187"/>
                </a:moveTo>
                <a:lnTo>
                  <a:pt x="21153" y="95187"/>
                </a:lnTo>
                <a:lnTo>
                  <a:pt x="21153" y="98712"/>
                </a:lnTo>
                <a:cubicBezTo>
                  <a:pt x="21153" y="108452"/>
                  <a:pt x="29041" y="116340"/>
                  <a:pt x="38780" y="116340"/>
                </a:cubicBezTo>
                <a:lnTo>
                  <a:pt x="45831" y="116340"/>
                </a:lnTo>
                <a:cubicBezTo>
                  <a:pt x="55570" y="116340"/>
                  <a:pt x="63458" y="108452"/>
                  <a:pt x="63458" y="98712"/>
                </a:cubicBezTo>
                <a:lnTo>
                  <a:pt x="63458" y="95187"/>
                </a:lnTo>
                <a:close/>
                <a:moveTo>
                  <a:pt x="40543" y="24678"/>
                </a:moveTo>
                <a:cubicBezTo>
                  <a:pt x="31773" y="24678"/>
                  <a:pt x="24678" y="31773"/>
                  <a:pt x="24678" y="40543"/>
                </a:cubicBezTo>
                <a:cubicBezTo>
                  <a:pt x="24678" y="43473"/>
                  <a:pt x="22320" y="45831"/>
                  <a:pt x="19390" y="45831"/>
                </a:cubicBezTo>
                <a:cubicBezTo>
                  <a:pt x="16459" y="45831"/>
                  <a:pt x="14102" y="43473"/>
                  <a:pt x="14102" y="40543"/>
                </a:cubicBezTo>
                <a:cubicBezTo>
                  <a:pt x="14102" y="25934"/>
                  <a:pt x="25934" y="14102"/>
                  <a:pt x="40543" y="14102"/>
                </a:cubicBezTo>
                <a:cubicBezTo>
                  <a:pt x="43473" y="14102"/>
                  <a:pt x="45831" y="16459"/>
                  <a:pt x="45831" y="19390"/>
                </a:cubicBezTo>
                <a:cubicBezTo>
                  <a:pt x="45831" y="22320"/>
                  <a:pt x="43473" y="24678"/>
                  <a:pt x="40543" y="2467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2" name="Text 50"/>
          <p:cNvSpPr/>
          <p:nvPr/>
        </p:nvSpPr>
        <p:spPr>
          <a:xfrm>
            <a:off x="772584" y="6143546"/>
            <a:ext cx="5100204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8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Cases:</a:t>
            </a:r>
            <a:r>
              <a:rPr lang="en-US" sz="88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E-commerce transactions, CRM systems, financial applications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159962" y="3929165"/>
            <a:ext cx="5705179" cy="2610845"/>
          </a:xfrm>
          <a:custGeom>
            <a:avLst/>
            <a:gdLst/>
            <a:ahLst/>
            <a:cxnLst/>
            <a:rect l="l" t="t" r="r" b="b"/>
            <a:pathLst>
              <a:path w="5705179" h="2610845">
                <a:moveTo>
                  <a:pt x="32233" y="0"/>
                </a:moveTo>
                <a:lnTo>
                  <a:pt x="5608473" y="0"/>
                </a:lnTo>
                <a:cubicBezTo>
                  <a:pt x="5661883" y="0"/>
                  <a:pt x="5705179" y="43297"/>
                  <a:pt x="5705179" y="96706"/>
                </a:cubicBezTo>
                <a:lnTo>
                  <a:pt x="5705179" y="2514139"/>
                </a:lnTo>
                <a:cubicBezTo>
                  <a:pt x="5705179" y="2567548"/>
                  <a:pt x="5661883" y="2610845"/>
                  <a:pt x="5608473" y="2610845"/>
                </a:cubicBezTo>
                <a:lnTo>
                  <a:pt x="32233" y="2610845"/>
                </a:lnTo>
                <a:cubicBezTo>
                  <a:pt x="14431" y="2610845"/>
                  <a:pt x="0" y="2596414"/>
                  <a:pt x="0" y="2578612"/>
                </a:cubicBezTo>
                <a:lnTo>
                  <a:pt x="0" y="32233"/>
                </a:lnTo>
                <a:cubicBezTo>
                  <a:pt x="0" y="14443"/>
                  <a:pt x="14443" y="0"/>
                  <a:pt x="32233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54" name="Shape 52"/>
          <p:cNvSpPr/>
          <p:nvPr/>
        </p:nvSpPr>
        <p:spPr>
          <a:xfrm>
            <a:off x="6159962" y="3929165"/>
            <a:ext cx="32233" cy="2610845"/>
          </a:xfrm>
          <a:custGeom>
            <a:avLst/>
            <a:gdLst/>
            <a:ahLst/>
            <a:cxnLst/>
            <a:rect l="l" t="t" r="r" b="b"/>
            <a:pathLst>
              <a:path w="32233" h="2610845">
                <a:moveTo>
                  <a:pt x="32233" y="0"/>
                </a:moveTo>
                <a:lnTo>
                  <a:pt x="32233" y="0"/>
                </a:lnTo>
                <a:lnTo>
                  <a:pt x="32233" y="2610845"/>
                </a:lnTo>
                <a:lnTo>
                  <a:pt x="32233" y="2610845"/>
                </a:lnTo>
                <a:cubicBezTo>
                  <a:pt x="14431" y="2610845"/>
                  <a:pt x="0" y="2596414"/>
                  <a:pt x="0" y="2578612"/>
                </a:cubicBezTo>
                <a:lnTo>
                  <a:pt x="0" y="32233"/>
                </a:lnTo>
                <a:cubicBezTo>
                  <a:pt x="0" y="14443"/>
                  <a:pt x="14443" y="0"/>
                  <a:pt x="32233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5" name="Shape 53"/>
          <p:cNvSpPr/>
          <p:nvPr/>
        </p:nvSpPr>
        <p:spPr>
          <a:xfrm>
            <a:off x="6305009" y="4058095"/>
            <a:ext cx="451257" cy="451257"/>
          </a:xfrm>
          <a:custGeom>
            <a:avLst/>
            <a:gdLst/>
            <a:ahLst/>
            <a:cxnLst/>
            <a:rect l="l" t="t" r="r" b="b"/>
            <a:pathLst>
              <a:path w="451257" h="451257">
                <a:moveTo>
                  <a:pt x="96700" y="0"/>
                </a:moveTo>
                <a:lnTo>
                  <a:pt x="354557" y="0"/>
                </a:lnTo>
                <a:cubicBezTo>
                  <a:pt x="407963" y="0"/>
                  <a:pt x="451257" y="43294"/>
                  <a:pt x="451257" y="96700"/>
                </a:cubicBezTo>
                <a:lnTo>
                  <a:pt x="451257" y="354557"/>
                </a:lnTo>
                <a:cubicBezTo>
                  <a:pt x="451257" y="407963"/>
                  <a:pt x="407963" y="451257"/>
                  <a:pt x="354557" y="451257"/>
                </a:cubicBezTo>
                <a:lnTo>
                  <a:pt x="96700" y="451257"/>
                </a:lnTo>
                <a:cubicBezTo>
                  <a:pt x="43294" y="451257"/>
                  <a:pt x="0" y="407963"/>
                  <a:pt x="0" y="354557"/>
                </a:cubicBezTo>
                <a:lnTo>
                  <a:pt x="0" y="96700"/>
                </a:lnTo>
                <a:cubicBezTo>
                  <a:pt x="0" y="43294"/>
                  <a:pt x="43294" y="0"/>
                  <a:pt x="967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6" name="Shape 54"/>
          <p:cNvSpPr/>
          <p:nvPr/>
        </p:nvSpPr>
        <p:spPr>
          <a:xfrm>
            <a:off x="6421852" y="4187026"/>
            <a:ext cx="217570" cy="193396"/>
          </a:xfrm>
          <a:custGeom>
            <a:avLst/>
            <a:gdLst/>
            <a:ahLst/>
            <a:cxnLst/>
            <a:rect l="l" t="t" r="r" b="b"/>
            <a:pathLst>
              <a:path w="217570" h="193396">
                <a:moveTo>
                  <a:pt x="136284" y="453"/>
                </a:moveTo>
                <a:cubicBezTo>
                  <a:pt x="129862" y="-1398"/>
                  <a:pt x="123177" y="2342"/>
                  <a:pt x="121326" y="8763"/>
                </a:cubicBezTo>
                <a:lnTo>
                  <a:pt x="72977" y="177985"/>
                </a:lnTo>
                <a:cubicBezTo>
                  <a:pt x="71126" y="184406"/>
                  <a:pt x="74865" y="191092"/>
                  <a:pt x="81287" y="192943"/>
                </a:cubicBezTo>
                <a:cubicBezTo>
                  <a:pt x="87708" y="194793"/>
                  <a:pt x="94394" y="191054"/>
                  <a:pt x="96245" y="184633"/>
                </a:cubicBezTo>
                <a:lnTo>
                  <a:pt x="144594" y="15411"/>
                </a:lnTo>
                <a:cubicBezTo>
                  <a:pt x="146445" y="8990"/>
                  <a:pt x="142705" y="2304"/>
                  <a:pt x="136284" y="453"/>
                </a:cubicBezTo>
                <a:close/>
                <a:moveTo>
                  <a:pt x="160685" y="51862"/>
                </a:moveTo>
                <a:cubicBezTo>
                  <a:pt x="155963" y="56583"/>
                  <a:pt x="155963" y="64251"/>
                  <a:pt x="160685" y="68973"/>
                </a:cubicBezTo>
                <a:lnTo>
                  <a:pt x="188410" y="96698"/>
                </a:lnTo>
                <a:lnTo>
                  <a:pt x="160685" y="124423"/>
                </a:lnTo>
                <a:cubicBezTo>
                  <a:pt x="155963" y="129145"/>
                  <a:pt x="155963" y="136812"/>
                  <a:pt x="160685" y="141534"/>
                </a:cubicBezTo>
                <a:cubicBezTo>
                  <a:pt x="165406" y="146256"/>
                  <a:pt x="173074" y="146256"/>
                  <a:pt x="177796" y="141534"/>
                </a:cubicBezTo>
                <a:lnTo>
                  <a:pt x="214058" y="105272"/>
                </a:lnTo>
                <a:cubicBezTo>
                  <a:pt x="218779" y="100551"/>
                  <a:pt x="218779" y="92883"/>
                  <a:pt x="214058" y="88161"/>
                </a:cubicBezTo>
                <a:lnTo>
                  <a:pt x="177796" y="51900"/>
                </a:lnTo>
                <a:cubicBezTo>
                  <a:pt x="173074" y="47178"/>
                  <a:pt x="165406" y="47178"/>
                  <a:pt x="160685" y="51900"/>
                </a:cubicBezTo>
                <a:close/>
                <a:moveTo>
                  <a:pt x="56923" y="51862"/>
                </a:moveTo>
                <a:cubicBezTo>
                  <a:pt x="52202" y="47140"/>
                  <a:pt x="44534" y="47140"/>
                  <a:pt x="39812" y="51862"/>
                </a:cubicBezTo>
                <a:lnTo>
                  <a:pt x="3551" y="88124"/>
                </a:lnTo>
                <a:cubicBezTo>
                  <a:pt x="-1171" y="92845"/>
                  <a:pt x="-1171" y="100513"/>
                  <a:pt x="3551" y="105235"/>
                </a:cubicBezTo>
                <a:lnTo>
                  <a:pt x="39812" y="141496"/>
                </a:lnTo>
                <a:cubicBezTo>
                  <a:pt x="44534" y="146218"/>
                  <a:pt x="52202" y="146218"/>
                  <a:pt x="56923" y="141496"/>
                </a:cubicBezTo>
                <a:cubicBezTo>
                  <a:pt x="61645" y="136775"/>
                  <a:pt x="61645" y="129107"/>
                  <a:pt x="56923" y="124385"/>
                </a:cubicBezTo>
                <a:lnTo>
                  <a:pt x="29198" y="96698"/>
                </a:lnTo>
                <a:lnTo>
                  <a:pt x="56886" y="68973"/>
                </a:lnTo>
                <a:cubicBezTo>
                  <a:pt x="61607" y="64251"/>
                  <a:pt x="61607" y="56583"/>
                  <a:pt x="56886" y="5186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6852964" y="4058095"/>
            <a:ext cx="126513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3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AWS Lambda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852964" y="4315854"/>
            <a:ext cx="1232899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5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Serverless Compute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305009" y="4606050"/>
            <a:ext cx="5495667" cy="628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5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Lets you </a:t>
            </a:r>
            <a:r>
              <a:rPr lang="en-US" sz="101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run code without provisioning or managing servers</a:t>
            </a:r>
            <a:r>
              <a:rPr lang="en-US" sz="1015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Automatically scales from a few requests per day to thousands per second. Pay only for the compute time you consume—no charge when code is not running.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329183" y="5363518"/>
            <a:ext cx="112814" cy="128931"/>
          </a:xfrm>
          <a:custGeom>
            <a:avLst/>
            <a:gdLst/>
            <a:ahLst/>
            <a:cxnLst/>
            <a:rect l="l" t="t" r="r" b="b"/>
            <a:pathLst>
              <a:path w="112814" h="128931">
                <a:moveTo>
                  <a:pt x="109490" y="17652"/>
                </a:moveTo>
                <a:cubicBezTo>
                  <a:pt x="113091" y="20271"/>
                  <a:pt x="113897" y="25308"/>
                  <a:pt x="111278" y="28909"/>
                </a:cubicBezTo>
                <a:lnTo>
                  <a:pt x="46813" y="117548"/>
                </a:lnTo>
                <a:cubicBezTo>
                  <a:pt x="45428" y="119462"/>
                  <a:pt x="43287" y="120646"/>
                  <a:pt x="40920" y="120847"/>
                </a:cubicBezTo>
                <a:cubicBezTo>
                  <a:pt x="38553" y="121049"/>
                  <a:pt x="36262" y="120167"/>
                  <a:pt x="34600" y="118505"/>
                </a:cubicBezTo>
                <a:lnTo>
                  <a:pt x="2367" y="86273"/>
                </a:lnTo>
                <a:cubicBezTo>
                  <a:pt x="-781" y="83125"/>
                  <a:pt x="-781" y="78013"/>
                  <a:pt x="2367" y="74865"/>
                </a:cubicBezTo>
                <a:cubicBezTo>
                  <a:pt x="5515" y="71718"/>
                  <a:pt x="10627" y="71718"/>
                  <a:pt x="13774" y="74865"/>
                </a:cubicBezTo>
                <a:lnTo>
                  <a:pt x="39334" y="100425"/>
                </a:lnTo>
                <a:lnTo>
                  <a:pt x="98259" y="19415"/>
                </a:lnTo>
                <a:cubicBezTo>
                  <a:pt x="100878" y="15814"/>
                  <a:pt x="105914" y="15008"/>
                  <a:pt x="109515" y="1762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1" name="Text 59"/>
          <p:cNvSpPr/>
          <p:nvPr/>
        </p:nvSpPr>
        <p:spPr>
          <a:xfrm>
            <a:off x="6530637" y="5331285"/>
            <a:ext cx="3505301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8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Event-Driven:</a:t>
            </a:r>
            <a:r>
              <a:rPr lang="en-US" sz="88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Trigger from S3, DynamoDB, API Gateway, CloudWatch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329183" y="5589146"/>
            <a:ext cx="112814" cy="128931"/>
          </a:xfrm>
          <a:custGeom>
            <a:avLst/>
            <a:gdLst/>
            <a:ahLst/>
            <a:cxnLst/>
            <a:rect l="l" t="t" r="r" b="b"/>
            <a:pathLst>
              <a:path w="112814" h="128931">
                <a:moveTo>
                  <a:pt x="109490" y="17652"/>
                </a:moveTo>
                <a:cubicBezTo>
                  <a:pt x="113091" y="20271"/>
                  <a:pt x="113897" y="25308"/>
                  <a:pt x="111278" y="28909"/>
                </a:cubicBezTo>
                <a:lnTo>
                  <a:pt x="46813" y="117548"/>
                </a:lnTo>
                <a:cubicBezTo>
                  <a:pt x="45428" y="119462"/>
                  <a:pt x="43287" y="120646"/>
                  <a:pt x="40920" y="120847"/>
                </a:cubicBezTo>
                <a:cubicBezTo>
                  <a:pt x="38553" y="121049"/>
                  <a:pt x="36262" y="120167"/>
                  <a:pt x="34600" y="118505"/>
                </a:cubicBezTo>
                <a:lnTo>
                  <a:pt x="2367" y="86273"/>
                </a:lnTo>
                <a:cubicBezTo>
                  <a:pt x="-781" y="83125"/>
                  <a:pt x="-781" y="78013"/>
                  <a:pt x="2367" y="74865"/>
                </a:cubicBezTo>
                <a:cubicBezTo>
                  <a:pt x="5515" y="71718"/>
                  <a:pt x="10627" y="71718"/>
                  <a:pt x="13774" y="74865"/>
                </a:cubicBezTo>
                <a:lnTo>
                  <a:pt x="39334" y="100425"/>
                </a:lnTo>
                <a:lnTo>
                  <a:pt x="98259" y="19415"/>
                </a:lnTo>
                <a:cubicBezTo>
                  <a:pt x="100878" y="15814"/>
                  <a:pt x="105914" y="15008"/>
                  <a:pt x="109515" y="1762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3" name="Text 61"/>
          <p:cNvSpPr/>
          <p:nvPr/>
        </p:nvSpPr>
        <p:spPr>
          <a:xfrm>
            <a:off x="6530637" y="5556914"/>
            <a:ext cx="2957346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8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Supported Languages:</a:t>
            </a:r>
            <a:r>
              <a:rPr lang="en-US" sz="88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Python, Node.js, Java, Go, C#, Ruby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329183" y="5814775"/>
            <a:ext cx="112814" cy="128931"/>
          </a:xfrm>
          <a:custGeom>
            <a:avLst/>
            <a:gdLst/>
            <a:ahLst/>
            <a:cxnLst/>
            <a:rect l="l" t="t" r="r" b="b"/>
            <a:pathLst>
              <a:path w="112814" h="128931">
                <a:moveTo>
                  <a:pt x="109490" y="17652"/>
                </a:moveTo>
                <a:cubicBezTo>
                  <a:pt x="113091" y="20271"/>
                  <a:pt x="113897" y="25308"/>
                  <a:pt x="111278" y="28909"/>
                </a:cubicBezTo>
                <a:lnTo>
                  <a:pt x="46813" y="117548"/>
                </a:lnTo>
                <a:cubicBezTo>
                  <a:pt x="45428" y="119462"/>
                  <a:pt x="43287" y="120646"/>
                  <a:pt x="40920" y="120847"/>
                </a:cubicBezTo>
                <a:cubicBezTo>
                  <a:pt x="38553" y="121049"/>
                  <a:pt x="36262" y="120167"/>
                  <a:pt x="34600" y="118505"/>
                </a:cubicBezTo>
                <a:lnTo>
                  <a:pt x="2367" y="86273"/>
                </a:lnTo>
                <a:cubicBezTo>
                  <a:pt x="-781" y="83125"/>
                  <a:pt x="-781" y="78013"/>
                  <a:pt x="2367" y="74865"/>
                </a:cubicBezTo>
                <a:cubicBezTo>
                  <a:pt x="5515" y="71718"/>
                  <a:pt x="10627" y="71718"/>
                  <a:pt x="13774" y="74865"/>
                </a:cubicBezTo>
                <a:lnTo>
                  <a:pt x="39334" y="100425"/>
                </a:lnTo>
                <a:lnTo>
                  <a:pt x="98259" y="19415"/>
                </a:lnTo>
                <a:cubicBezTo>
                  <a:pt x="100878" y="15814"/>
                  <a:pt x="105914" y="15008"/>
                  <a:pt x="109515" y="1762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5" name="Text 63"/>
          <p:cNvSpPr/>
          <p:nvPr/>
        </p:nvSpPr>
        <p:spPr>
          <a:xfrm>
            <a:off x="6530637" y="5782542"/>
            <a:ext cx="3755104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8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Subsecond Billing:</a:t>
            </a:r>
            <a:r>
              <a:rPr lang="en-US" sz="88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Pay per request and execution time (100ms increments)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308232" y="6043627"/>
            <a:ext cx="5429590" cy="361006"/>
          </a:xfrm>
          <a:custGeom>
            <a:avLst/>
            <a:gdLst/>
            <a:ahLst/>
            <a:cxnLst/>
            <a:rect l="l" t="t" r="r" b="b"/>
            <a:pathLst>
              <a:path w="5429590" h="361006">
                <a:moveTo>
                  <a:pt x="64465" y="0"/>
                </a:moveTo>
                <a:lnTo>
                  <a:pt x="5365125" y="0"/>
                </a:lnTo>
                <a:cubicBezTo>
                  <a:pt x="5400728" y="0"/>
                  <a:pt x="5429590" y="28862"/>
                  <a:pt x="5429590" y="64465"/>
                </a:cubicBezTo>
                <a:lnTo>
                  <a:pt x="5429590" y="296541"/>
                </a:lnTo>
                <a:cubicBezTo>
                  <a:pt x="5429590" y="332144"/>
                  <a:pt x="5400728" y="361006"/>
                  <a:pt x="5365125" y="361006"/>
                </a:cubicBezTo>
                <a:lnTo>
                  <a:pt x="64465" y="361006"/>
                </a:lnTo>
                <a:cubicBezTo>
                  <a:pt x="28862" y="361006"/>
                  <a:pt x="0" y="332144"/>
                  <a:pt x="0" y="296541"/>
                </a:cubicBezTo>
                <a:lnTo>
                  <a:pt x="0" y="64465"/>
                </a:lnTo>
                <a:cubicBezTo>
                  <a:pt x="0" y="28862"/>
                  <a:pt x="28862" y="0"/>
                  <a:pt x="64465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438371" y="6169334"/>
            <a:ext cx="84611" cy="112814"/>
          </a:xfrm>
          <a:custGeom>
            <a:avLst/>
            <a:gdLst/>
            <a:ahLst/>
            <a:cxnLst/>
            <a:rect l="l" t="t" r="r" b="b"/>
            <a:pathLst>
              <a:path w="84611" h="112814">
                <a:moveTo>
                  <a:pt x="64538" y="84611"/>
                </a:moveTo>
                <a:cubicBezTo>
                  <a:pt x="66146" y="79697"/>
                  <a:pt x="69363" y="75246"/>
                  <a:pt x="72999" y="71412"/>
                </a:cubicBezTo>
                <a:cubicBezTo>
                  <a:pt x="80204" y="63833"/>
                  <a:pt x="84611" y="53587"/>
                  <a:pt x="84611" y="42305"/>
                </a:cubicBezTo>
                <a:cubicBezTo>
                  <a:pt x="84611" y="18949"/>
                  <a:pt x="65661" y="0"/>
                  <a:pt x="42305" y="0"/>
                </a:cubicBezTo>
                <a:cubicBezTo>
                  <a:pt x="18949" y="0"/>
                  <a:pt x="0" y="18949"/>
                  <a:pt x="0" y="42305"/>
                </a:cubicBezTo>
                <a:cubicBezTo>
                  <a:pt x="0" y="53587"/>
                  <a:pt x="4407" y="63833"/>
                  <a:pt x="11612" y="71412"/>
                </a:cubicBezTo>
                <a:cubicBezTo>
                  <a:pt x="15248" y="75246"/>
                  <a:pt x="18487" y="79697"/>
                  <a:pt x="20073" y="84611"/>
                </a:cubicBezTo>
                <a:lnTo>
                  <a:pt x="64516" y="84611"/>
                </a:lnTo>
                <a:close/>
                <a:moveTo>
                  <a:pt x="63458" y="95187"/>
                </a:moveTo>
                <a:lnTo>
                  <a:pt x="21153" y="95187"/>
                </a:lnTo>
                <a:lnTo>
                  <a:pt x="21153" y="98712"/>
                </a:lnTo>
                <a:cubicBezTo>
                  <a:pt x="21153" y="108452"/>
                  <a:pt x="29041" y="116340"/>
                  <a:pt x="38780" y="116340"/>
                </a:cubicBezTo>
                <a:lnTo>
                  <a:pt x="45831" y="116340"/>
                </a:lnTo>
                <a:cubicBezTo>
                  <a:pt x="55570" y="116340"/>
                  <a:pt x="63458" y="108452"/>
                  <a:pt x="63458" y="98712"/>
                </a:cubicBezTo>
                <a:lnTo>
                  <a:pt x="63458" y="95187"/>
                </a:lnTo>
                <a:close/>
                <a:moveTo>
                  <a:pt x="40543" y="24678"/>
                </a:moveTo>
                <a:cubicBezTo>
                  <a:pt x="31773" y="24678"/>
                  <a:pt x="24678" y="31773"/>
                  <a:pt x="24678" y="40543"/>
                </a:cubicBezTo>
                <a:cubicBezTo>
                  <a:pt x="24678" y="43473"/>
                  <a:pt x="22320" y="45831"/>
                  <a:pt x="19390" y="45831"/>
                </a:cubicBezTo>
                <a:cubicBezTo>
                  <a:pt x="16459" y="45831"/>
                  <a:pt x="14102" y="43473"/>
                  <a:pt x="14102" y="40543"/>
                </a:cubicBezTo>
                <a:cubicBezTo>
                  <a:pt x="14102" y="25934"/>
                  <a:pt x="25934" y="14102"/>
                  <a:pt x="40543" y="14102"/>
                </a:cubicBezTo>
                <a:cubicBezTo>
                  <a:pt x="43473" y="14102"/>
                  <a:pt x="45831" y="16459"/>
                  <a:pt x="45831" y="19390"/>
                </a:cubicBezTo>
                <a:cubicBezTo>
                  <a:pt x="45831" y="22320"/>
                  <a:pt x="43473" y="24678"/>
                  <a:pt x="40543" y="2467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8" name="Text 66"/>
          <p:cNvSpPr/>
          <p:nvPr/>
        </p:nvSpPr>
        <p:spPr>
          <a:xfrm>
            <a:off x="6594103" y="6143546"/>
            <a:ext cx="5100204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8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Cases:</a:t>
            </a:r>
            <a:r>
              <a:rPr lang="en-US" sz="88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Real-time file processing, data transformation, API backends, automation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44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05 • CERTIFICATION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3975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AWS Well-Architected Framework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920750"/>
            <a:ext cx="11628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Six pillars guiding cloud architecture decisions for optimal outcomes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675" y="1209675"/>
            <a:ext cx="4205287" cy="5508366"/>
          </a:xfrm>
          <a:custGeom>
            <a:avLst/>
            <a:gdLst/>
            <a:ahLst/>
            <a:cxnLst/>
            <a:rect l="l" t="t" r="r" b="b"/>
            <a:pathLst>
              <a:path w="4205287" h="7118350">
                <a:moveTo>
                  <a:pt x="95250" y="0"/>
                </a:moveTo>
                <a:lnTo>
                  <a:pt x="4110038" y="0"/>
                </a:lnTo>
                <a:cubicBezTo>
                  <a:pt x="4162643" y="0"/>
                  <a:pt x="4205287" y="42645"/>
                  <a:pt x="4205287" y="95250"/>
                </a:cubicBezTo>
                <a:lnTo>
                  <a:pt x="4205287" y="7023100"/>
                </a:lnTo>
                <a:cubicBezTo>
                  <a:pt x="4205287" y="7075705"/>
                  <a:pt x="4162643" y="7118350"/>
                  <a:pt x="4110038" y="7118350"/>
                </a:cubicBezTo>
                <a:lnTo>
                  <a:pt x="95250" y="7118350"/>
                </a:lnTo>
                <a:cubicBezTo>
                  <a:pt x="42645" y="7118350"/>
                  <a:pt x="0" y="7075705"/>
                  <a:pt x="0" y="70231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2912" y="1371598"/>
            <a:ext cx="3960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Pillar Distribution</a:t>
            </a:r>
            <a:endParaRPr lang="en-US" sz="1600" dirty="0"/>
          </a:p>
        </p:txBody>
      </p:sp>
      <p:pic>
        <p:nvPicPr>
          <p:cNvPr id="7" name="Image 0" descr="https://kimi-img.moonshot.cn/pub/slides/26-02-23-01:33:23-d6djroup4uo4ck0dsao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3236" y="798050"/>
            <a:ext cx="3540124" cy="6053612"/>
          </a:xfrm>
          <a:prstGeom prst="roundRect">
            <a:avLst>
              <a:gd name="adj" fmla="val 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489645" y="5468345"/>
            <a:ext cx="3879850" cy="879475"/>
          </a:xfrm>
          <a:custGeom>
            <a:avLst/>
            <a:gdLst/>
            <a:ahLst/>
            <a:cxnLst/>
            <a:rect l="l" t="t" r="r" b="b"/>
            <a:pathLst>
              <a:path w="3879850" h="879475">
                <a:moveTo>
                  <a:pt x="63498" y="0"/>
                </a:moveTo>
                <a:lnTo>
                  <a:pt x="3816352" y="0"/>
                </a:lnTo>
                <a:cubicBezTo>
                  <a:pt x="3851421" y="0"/>
                  <a:pt x="3879850" y="28429"/>
                  <a:pt x="3879850" y="63498"/>
                </a:cubicBezTo>
                <a:lnTo>
                  <a:pt x="3879850" y="815977"/>
                </a:lnTo>
                <a:cubicBezTo>
                  <a:pt x="3879850" y="851046"/>
                  <a:pt x="3851421" y="879475"/>
                  <a:pt x="3816352" y="879475"/>
                </a:cubicBezTo>
                <a:lnTo>
                  <a:pt x="63498" y="879475"/>
                </a:lnTo>
                <a:cubicBezTo>
                  <a:pt x="28429" y="879475"/>
                  <a:pt x="0" y="851046"/>
                  <a:pt x="0" y="815977"/>
                </a:cubicBezTo>
                <a:lnTo>
                  <a:pt x="0" y="63498"/>
                </a:lnTo>
                <a:cubicBezTo>
                  <a:pt x="0" y="28429"/>
                  <a:pt x="28429" y="0"/>
                  <a:pt x="63498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35695" y="563027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55563" y="39688"/>
                </a:moveTo>
                <a:cubicBezTo>
                  <a:pt x="55563" y="35307"/>
                  <a:pt x="59119" y="31750"/>
                  <a:pt x="63500" y="31750"/>
                </a:cubicBezTo>
                <a:cubicBezTo>
                  <a:pt x="67881" y="31750"/>
                  <a:pt x="71438" y="35307"/>
                  <a:pt x="71438" y="39688"/>
                </a:cubicBezTo>
                <a:cubicBezTo>
                  <a:pt x="71438" y="44068"/>
                  <a:pt x="67881" y="47625"/>
                  <a:pt x="63500" y="47625"/>
                </a:cubicBezTo>
                <a:cubicBezTo>
                  <a:pt x="59119" y="47625"/>
                  <a:pt x="55563" y="44068"/>
                  <a:pt x="55563" y="39688"/>
                </a:cubicBezTo>
                <a:close/>
                <a:moveTo>
                  <a:pt x="53578" y="55563"/>
                </a:moveTo>
                <a:lnTo>
                  <a:pt x="65484" y="55563"/>
                </a:lnTo>
                <a:cubicBezTo>
                  <a:pt x="68783" y="55563"/>
                  <a:pt x="71438" y="58217"/>
                  <a:pt x="71438" y="61516"/>
                </a:cubicBezTo>
                <a:lnTo>
                  <a:pt x="71438" y="83344"/>
                </a:lnTo>
                <a:lnTo>
                  <a:pt x="73422" y="83344"/>
                </a:lnTo>
                <a:cubicBezTo>
                  <a:pt x="76721" y="83344"/>
                  <a:pt x="79375" y="85998"/>
                  <a:pt x="79375" y="89297"/>
                </a:cubicBezTo>
                <a:cubicBezTo>
                  <a:pt x="79375" y="92596"/>
                  <a:pt x="76721" y="95250"/>
                  <a:pt x="73422" y="95250"/>
                </a:cubicBezTo>
                <a:lnTo>
                  <a:pt x="53578" y="95250"/>
                </a:lnTo>
                <a:cubicBezTo>
                  <a:pt x="50279" y="95250"/>
                  <a:pt x="47625" y="92596"/>
                  <a:pt x="47625" y="89297"/>
                </a:cubicBezTo>
                <a:cubicBezTo>
                  <a:pt x="47625" y="85998"/>
                  <a:pt x="50279" y="83344"/>
                  <a:pt x="53578" y="83344"/>
                </a:cubicBezTo>
                <a:lnTo>
                  <a:pt x="59531" y="83344"/>
                </a:lnTo>
                <a:lnTo>
                  <a:pt x="59531" y="67469"/>
                </a:lnTo>
                <a:lnTo>
                  <a:pt x="53578" y="67469"/>
                </a:lnTo>
                <a:cubicBezTo>
                  <a:pt x="50279" y="67469"/>
                  <a:pt x="47625" y="64815"/>
                  <a:pt x="47625" y="61516"/>
                </a:cubicBezTo>
                <a:cubicBezTo>
                  <a:pt x="47625" y="58217"/>
                  <a:pt x="50279" y="55563"/>
                  <a:pt x="53578" y="5556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0" name="Text 7"/>
          <p:cNvSpPr/>
          <p:nvPr/>
        </p:nvSpPr>
        <p:spPr>
          <a:xfrm>
            <a:off x="818257" y="5598527"/>
            <a:ext cx="3484563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Well-Architected Framework provides a consistent approach to evaluate architectures and implement designs that scale over time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675485" y="1206500"/>
            <a:ext cx="3540125" cy="1738313"/>
          </a:xfrm>
          <a:custGeom>
            <a:avLst/>
            <a:gdLst/>
            <a:ahLst/>
            <a:cxnLst/>
            <a:rect l="l" t="t" r="r" b="b"/>
            <a:pathLst>
              <a:path w="3540125" h="2325688">
                <a:moveTo>
                  <a:pt x="31750" y="0"/>
                </a:moveTo>
                <a:lnTo>
                  <a:pt x="3444865" y="0"/>
                </a:lnTo>
                <a:cubicBezTo>
                  <a:pt x="3497476" y="0"/>
                  <a:pt x="3540125" y="42649"/>
                  <a:pt x="3540125" y="95260"/>
                </a:cubicBezTo>
                <a:lnTo>
                  <a:pt x="3540125" y="2230427"/>
                </a:lnTo>
                <a:cubicBezTo>
                  <a:pt x="3540125" y="2283038"/>
                  <a:pt x="3497476" y="2325688"/>
                  <a:pt x="3444865" y="2325687"/>
                </a:cubicBezTo>
                <a:lnTo>
                  <a:pt x="31750" y="2325688"/>
                </a:lnTo>
                <a:cubicBezTo>
                  <a:pt x="14227" y="2325688"/>
                  <a:pt x="0" y="2311461"/>
                  <a:pt x="0" y="229393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4675485" y="1206500"/>
            <a:ext cx="31750" cy="1738313"/>
          </a:xfrm>
          <a:custGeom>
            <a:avLst/>
            <a:gdLst/>
            <a:ahLst/>
            <a:cxnLst/>
            <a:rect l="l" t="t" r="r" b="b"/>
            <a:pathLst>
              <a:path w="31750" h="2325688">
                <a:moveTo>
                  <a:pt x="31750" y="0"/>
                </a:moveTo>
                <a:lnTo>
                  <a:pt x="31750" y="0"/>
                </a:lnTo>
                <a:lnTo>
                  <a:pt x="31750" y="2325688"/>
                </a:lnTo>
                <a:lnTo>
                  <a:pt x="31750" y="2325688"/>
                </a:lnTo>
                <a:cubicBezTo>
                  <a:pt x="14227" y="2325688"/>
                  <a:pt x="0" y="2311461"/>
                  <a:pt x="0" y="229393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3" name="Shape 10"/>
          <p:cNvSpPr/>
          <p:nvPr/>
        </p:nvSpPr>
        <p:spPr>
          <a:xfrm>
            <a:off x="4818360" y="1333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4" name="Shape 11"/>
          <p:cNvSpPr/>
          <p:nvPr/>
        </p:nvSpPr>
        <p:spPr>
          <a:xfrm>
            <a:off x="4909642" y="1444625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128953" y="65267"/>
                </a:moveTo>
                <a:cubicBezTo>
                  <a:pt x="132736" y="64244"/>
                  <a:pt x="136705" y="66042"/>
                  <a:pt x="138410" y="69546"/>
                </a:cubicBezTo>
                <a:lnTo>
                  <a:pt x="144177" y="81204"/>
                </a:lnTo>
                <a:cubicBezTo>
                  <a:pt x="147371" y="81638"/>
                  <a:pt x="150502" y="82507"/>
                  <a:pt x="153448" y="83716"/>
                </a:cubicBezTo>
                <a:lnTo>
                  <a:pt x="164300" y="76491"/>
                </a:lnTo>
                <a:cubicBezTo>
                  <a:pt x="167556" y="74321"/>
                  <a:pt x="171865" y="74755"/>
                  <a:pt x="174625" y="77515"/>
                </a:cubicBezTo>
                <a:lnTo>
                  <a:pt x="180578" y="83468"/>
                </a:lnTo>
                <a:cubicBezTo>
                  <a:pt x="183338" y="86227"/>
                  <a:pt x="183772" y="90568"/>
                  <a:pt x="181601" y="93793"/>
                </a:cubicBezTo>
                <a:lnTo>
                  <a:pt x="174377" y="104614"/>
                </a:lnTo>
                <a:cubicBezTo>
                  <a:pt x="174966" y="106071"/>
                  <a:pt x="175493" y="107590"/>
                  <a:pt x="175927" y="109172"/>
                </a:cubicBezTo>
                <a:cubicBezTo>
                  <a:pt x="176361" y="110753"/>
                  <a:pt x="176640" y="112303"/>
                  <a:pt x="176857" y="113885"/>
                </a:cubicBezTo>
                <a:lnTo>
                  <a:pt x="188547" y="119652"/>
                </a:lnTo>
                <a:cubicBezTo>
                  <a:pt x="192050" y="121388"/>
                  <a:pt x="193849" y="125357"/>
                  <a:pt x="192825" y="129108"/>
                </a:cubicBezTo>
                <a:lnTo>
                  <a:pt x="190655" y="137232"/>
                </a:lnTo>
                <a:cubicBezTo>
                  <a:pt x="189632" y="140984"/>
                  <a:pt x="186128" y="143526"/>
                  <a:pt x="182221" y="143278"/>
                </a:cubicBezTo>
                <a:lnTo>
                  <a:pt x="169199" y="142441"/>
                </a:lnTo>
                <a:cubicBezTo>
                  <a:pt x="167246" y="144952"/>
                  <a:pt x="164982" y="147278"/>
                  <a:pt x="162409" y="149262"/>
                </a:cubicBezTo>
                <a:lnTo>
                  <a:pt x="163246" y="162254"/>
                </a:lnTo>
                <a:cubicBezTo>
                  <a:pt x="163494" y="166160"/>
                  <a:pt x="160951" y="169695"/>
                  <a:pt x="157200" y="170687"/>
                </a:cubicBezTo>
                <a:lnTo>
                  <a:pt x="149076" y="172858"/>
                </a:lnTo>
                <a:cubicBezTo>
                  <a:pt x="145293" y="173881"/>
                  <a:pt x="141356" y="172083"/>
                  <a:pt x="139619" y="168579"/>
                </a:cubicBezTo>
                <a:lnTo>
                  <a:pt x="133852" y="156921"/>
                </a:lnTo>
                <a:cubicBezTo>
                  <a:pt x="130659" y="156487"/>
                  <a:pt x="127527" y="155618"/>
                  <a:pt x="124582" y="154409"/>
                </a:cubicBezTo>
                <a:lnTo>
                  <a:pt x="113729" y="161634"/>
                </a:lnTo>
                <a:cubicBezTo>
                  <a:pt x="110474" y="163804"/>
                  <a:pt x="106164" y="163370"/>
                  <a:pt x="103405" y="160610"/>
                </a:cubicBezTo>
                <a:lnTo>
                  <a:pt x="97451" y="154657"/>
                </a:lnTo>
                <a:cubicBezTo>
                  <a:pt x="94692" y="151898"/>
                  <a:pt x="94258" y="147588"/>
                  <a:pt x="96428" y="144332"/>
                </a:cubicBezTo>
                <a:lnTo>
                  <a:pt x="103653" y="133480"/>
                </a:lnTo>
                <a:cubicBezTo>
                  <a:pt x="103063" y="132023"/>
                  <a:pt x="102536" y="130504"/>
                  <a:pt x="102102" y="128922"/>
                </a:cubicBezTo>
                <a:cubicBezTo>
                  <a:pt x="101668" y="127341"/>
                  <a:pt x="101389" y="125760"/>
                  <a:pt x="101172" y="124209"/>
                </a:cubicBezTo>
                <a:lnTo>
                  <a:pt x="89483" y="118442"/>
                </a:lnTo>
                <a:cubicBezTo>
                  <a:pt x="85979" y="116706"/>
                  <a:pt x="84212" y="112737"/>
                  <a:pt x="85204" y="108986"/>
                </a:cubicBezTo>
                <a:lnTo>
                  <a:pt x="87375" y="100862"/>
                </a:lnTo>
                <a:cubicBezTo>
                  <a:pt x="88398" y="97110"/>
                  <a:pt x="91901" y="94568"/>
                  <a:pt x="95808" y="94816"/>
                </a:cubicBezTo>
                <a:lnTo>
                  <a:pt x="108800" y="95653"/>
                </a:lnTo>
                <a:cubicBezTo>
                  <a:pt x="110753" y="93142"/>
                  <a:pt x="113016" y="90816"/>
                  <a:pt x="115590" y="88832"/>
                </a:cubicBezTo>
                <a:lnTo>
                  <a:pt x="114753" y="75871"/>
                </a:lnTo>
                <a:cubicBezTo>
                  <a:pt x="114505" y="71965"/>
                  <a:pt x="117047" y="68430"/>
                  <a:pt x="120799" y="67438"/>
                </a:cubicBezTo>
                <a:lnTo>
                  <a:pt x="128922" y="65267"/>
                </a:lnTo>
                <a:close/>
                <a:moveTo>
                  <a:pt x="139030" y="105420"/>
                </a:moveTo>
                <a:cubicBezTo>
                  <a:pt x="131501" y="105428"/>
                  <a:pt x="125395" y="111548"/>
                  <a:pt x="125403" y="119078"/>
                </a:cubicBezTo>
                <a:cubicBezTo>
                  <a:pt x="125412" y="126608"/>
                  <a:pt x="131532" y="132714"/>
                  <a:pt x="139061" y="132705"/>
                </a:cubicBezTo>
                <a:cubicBezTo>
                  <a:pt x="146591" y="132697"/>
                  <a:pt x="152697" y="126577"/>
                  <a:pt x="152688" y="119047"/>
                </a:cubicBezTo>
                <a:cubicBezTo>
                  <a:pt x="152680" y="111517"/>
                  <a:pt x="146560" y="105411"/>
                  <a:pt x="139030" y="105420"/>
                </a:cubicBezTo>
                <a:close/>
                <a:moveTo>
                  <a:pt x="69732" y="-14108"/>
                </a:moveTo>
                <a:lnTo>
                  <a:pt x="77856" y="-11937"/>
                </a:lnTo>
                <a:cubicBezTo>
                  <a:pt x="81607" y="-10914"/>
                  <a:pt x="84150" y="-7379"/>
                  <a:pt x="83902" y="-3504"/>
                </a:cubicBezTo>
                <a:lnTo>
                  <a:pt x="83065" y="9457"/>
                </a:lnTo>
                <a:cubicBezTo>
                  <a:pt x="85638" y="11441"/>
                  <a:pt x="87902" y="13736"/>
                  <a:pt x="89855" y="16278"/>
                </a:cubicBezTo>
                <a:lnTo>
                  <a:pt x="102877" y="15441"/>
                </a:lnTo>
                <a:cubicBezTo>
                  <a:pt x="106753" y="15193"/>
                  <a:pt x="110288" y="17735"/>
                  <a:pt x="111311" y="21487"/>
                </a:cubicBezTo>
                <a:lnTo>
                  <a:pt x="113481" y="29611"/>
                </a:lnTo>
                <a:cubicBezTo>
                  <a:pt x="114474" y="33362"/>
                  <a:pt x="112706" y="37331"/>
                  <a:pt x="109203" y="39067"/>
                </a:cubicBezTo>
                <a:lnTo>
                  <a:pt x="97513" y="44834"/>
                </a:lnTo>
                <a:cubicBezTo>
                  <a:pt x="97296" y="46416"/>
                  <a:pt x="96986" y="47997"/>
                  <a:pt x="96583" y="49547"/>
                </a:cubicBezTo>
                <a:cubicBezTo>
                  <a:pt x="96180" y="51098"/>
                  <a:pt x="95622" y="52648"/>
                  <a:pt x="95033" y="54105"/>
                </a:cubicBezTo>
                <a:lnTo>
                  <a:pt x="102257" y="64957"/>
                </a:lnTo>
                <a:cubicBezTo>
                  <a:pt x="104428" y="68213"/>
                  <a:pt x="103994" y="72523"/>
                  <a:pt x="101234" y="75282"/>
                </a:cubicBezTo>
                <a:lnTo>
                  <a:pt x="95281" y="81235"/>
                </a:lnTo>
                <a:cubicBezTo>
                  <a:pt x="92521" y="83995"/>
                  <a:pt x="88212" y="84429"/>
                  <a:pt x="84956" y="82259"/>
                </a:cubicBezTo>
                <a:lnTo>
                  <a:pt x="74104" y="75034"/>
                </a:lnTo>
                <a:cubicBezTo>
                  <a:pt x="71158" y="76243"/>
                  <a:pt x="68027" y="77112"/>
                  <a:pt x="64833" y="77546"/>
                </a:cubicBezTo>
                <a:lnTo>
                  <a:pt x="59066" y="89204"/>
                </a:lnTo>
                <a:cubicBezTo>
                  <a:pt x="57330" y="92708"/>
                  <a:pt x="53361" y="94475"/>
                  <a:pt x="49609" y="93483"/>
                </a:cubicBezTo>
                <a:lnTo>
                  <a:pt x="41486" y="91312"/>
                </a:lnTo>
                <a:cubicBezTo>
                  <a:pt x="37703" y="90289"/>
                  <a:pt x="35192" y="86754"/>
                  <a:pt x="35440" y="82879"/>
                </a:cubicBezTo>
                <a:lnTo>
                  <a:pt x="36277" y="69887"/>
                </a:lnTo>
                <a:cubicBezTo>
                  <a:pt x="33703" y="67903"/>
                  <a:pt x="31440" y="65608"/>
                  <a:pt x="29487" y="63066"/>
                </a:cubicBezTo>
                <a:lnTo>
                  <a:pt x="16464" y="63903"/>
                </a:lnTo>
                <a:cubicBezTo>
                  <a:pt x="12588" y="64151"/>
                  <a:pt x="9054" y="61609"/>
                  <a:pt x="8031" y="57857"/>
                </a:cubicBezTo>
                <a:lnTo>
                  <a:pt x="5860" y="49733"/>
                </a:lnTo>
                <a:cubicBezTo>
                  <a:pt x="4868" y="45982"/>
                  <a:pt x="6635" y="42013"/>
                  <a:pt x="10139" y="40277"/>
                </a:cubicBezTo>
                <a:lnTo>
                  <a:pt x="21828" y="34510"/>
                </a:lnTo>
                <a:cubicBezTo>
                  <a:pt x="22045" y="32928"/>
                  <a:pt x="22355" y="31378"/>
                  <a:pt x="22758" y="29797"/>
                </a:cubicBezTo>
                <a:cubicBezTo>
                  <a:pt x="23192" y="28215"/>
                  <a:pt x="23688" y="26696"/>
                  <a:pt x="24309" y="25239"/>
                </a:cubicBezTo>
                <a:lnTo>
                  <a:pt x="17084" y="14418"/>
                </a:lnTo>
                <a:cubicBezTo>
                  <a:pt x="14914" y="11162"/>
                  <a:pt x="15348" y="6852"/>
                  <a:pt x="18107" y="4093"/>
                </a:cubicBezTo>
                <a:lnTo>
                  <a:pt x="24061" y="-1860"/>
                </a:lnTo>
                <a:cubicBezTo>
                  <a:pt x="26820" y="-4620"/>
                  <a:pt x="31130" y="-5054"/>
                  <a:pt x="34385" y="-2884"/>
                </a:cubicBezTo>
                <a:lnTo>
                  <a:pt x="45238" y="4341"/>
                </a:lnTo>
                <a:cubicBezTo>
                  <a:pt x="48183" y="3132"/>
                  <a:pt x="51315" y="2263"/>
                  <a:pt x="54508" y="1829"/>
                </a:cubicBezTo>
                <a:lnTo>
                  <a:pt x="60275" y="-9829"/>
                </a:lnTo>
                <a:cubicBezTo>
                  <a:pt x="62012" y="-13333"/>
                  <a:pt x="65949" y="-15100"/>
                  <a:pt x="69732" y="-14108"/>
                </a:cubicBezTo>
                <a:close/>
                <a:moveTo>
                  <a:pt x="59655" y="26045"/>
                </a:moveTo>
                <a:cubicBezTo>
                  <a:pt x="52126" y="26045"/>
                  <a:pt x="46013" y="32158"/>
                  <a:pt x="46013" y="39688"/>
                </a:cubicBezTo>
                <a:cubicBezTo>
                  <a:pt x="46013" y="47217"/>
                  <a:pt x="52126" y="53330"/>
                  <a:pt x="59655" y="53330"/>
                </a:cubicBezTo>
                <a:cubicBezTo>
                  <a:pt x="67185" y="53330"/>
                  <a:pt x="73298" y="47217"/>
                  <a:pt x="73298" y="39688"/>
                </a:cubicBezTo>
                <a:cubicBezTo>
                  <a:pt x="73298" y="32158"/>
                  <a:pt x="67185" y="26045"/>
                  <a:pt x="59655" y="2604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5294610" y="1412875"/>
            <a:ext cx="1682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Operational Excellence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818360" y="1809750"/>
            <a:ext cx="3333750" cy="1135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Run and monitor systems to deliver business value and continually improve supporting processes and procedures. Focus on </a:t>
            </a: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automation, observability, and iterative improvement</a:t>
            </a:r>
            <a:r>
              <a:rPr lang="en-US" sz="10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330506" y="1206500"/>
            <a:ext cx="3540125" cy="1738313"/>
          </a:xfrm>
          <a:custGeom>
            <a:avLst/>
            <a:gdLst/>
            <a:ahLst/>
            <a:cxnLst/>
            <a:rect l="l" t="t" r="r" b="b"/>
            <a:pathLst>
              <a:path w="3540125" h="2325688">
                <a:moveTo>
                  <a:pt x="31750" y="0"/>
                </a:moveTo>
                <a:lnTo>
                  <a:pt x="3444865" y="0"/>
                </a:lnTo>
                <a:cubicBezTo>
                  <a:pt x="3497476" y="0"/>
                  <a:pt x="3540125" y="42649"/>
                  <a:pt x="3540125" y="95260"/>
                </a:cubicBezTo>
                <a:lnTo>
                  <a:pt x="3540125" y="2230427"/>
                </a:lnTo>
                <a:cubicBezTo>
                  <a:pt x="3540125" y="2283038"/>
                  <a:pt x="3497476" y="2325688"/>
                  <a:pt x="3444865" y="2325687"/>
                </a:cubicBezTo>
                <a:lnTo>
                  <a:pt x="31750" y="2325688"/>
                </a:lnTo>
                <a:cubicBezTo>
                  <a:pt x="14227" y="2325688"/>
                  <a:pt x="0" y="2311461"/>
                  <a:pt x="0" y="229393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20" name="Shape 17"/>
          <p:cNvSpPr/>
          <p:nvPr/>
        </p:nvSpPr>
        <p:spPr>
          <a:xfrm>
            <a:off x="8330506" y="1206500"/>
            <a:ext cx="31750" cy="1738313"/>
          </a:xfrm>
          <a:custGeom>
            <a:avLst/>
            <a:gdLst/>
            <a:ahLst/>
            <a:cxnLst/>
            <a:rect l="l" t="t" r="r" b="b"/>
            <a:pathLst>
              <a:path w="31750" h="2325688">
                <a:moveTo>
                  <a:pt x="31750" y="0"/>
                </a:moveTo>
                <a:lnTo>
                  <a:pt x="31750" y="0"/>
                </a:lnTo>
                <a:lnTo>
                  <a:pt x="31750" y="2325688"/>
                </a:lnTo>
                <a:lnTo>
                  <a:pt x="31750" y="2325688"/>
                </a:lnTo>
                <a:cubicBezTo>
                  <a:pt x="14227" y="2325688"/>
                  <a:pt x="0" y="2311461"/>
                  <a:pt x="0" y="229393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1" name="Shape 18"/>
          <p:cNvSpPr/>
          <p:nvPr/>
        </p:nvSpPr>
        <p:spPr>
          <a:xfrm>
            <a:off x="8473381" y="1333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2" name="Shape 19"/>
          <p:cNvSpPr/>
          <p:nvPr/>
        </p:nvSpPr>
        <p:spPr>
          <a:xfrm>
            <a:off x="8584506" y="144462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0"/>
                </a:moveTo>
                <a:cubicBezTo>
                  <a:pt x="80801" y="0"/>
                  <a:pt x="82228" y="310"/>
                  <a:pt x="83530" y="899"/>
                </a:cubicBezTo>
                <a:lnTo>
                  <a:pt x="141945" y="25673"/>
                </a:lnTo>
                <a:cubicBezTo>
                  <a:pt x="148766" y="28556"/>
                  <a:pt x="153851" y="35285"/>
                  <a:pt x="153820" y="43408"/>
                </a:cubicBezTo>
                <a:cubicBezTo>
                  <a:pt x="153665" y="74166"/>
                  <a:pt x="141015" y="130442"/>
                  <a:pt x="87592" y="156021"/>
                </a:cubicBezTo>
                <a:cubicBezTo>
                  <a:pt x="82414" y="158502"/>
                  <a:pt x="76398" y="158502"/>
                  <a:pt x="71220" y="156021"/>
                </a:cubicBezTo>
                <a:cubicBezTo>
                  <a:pt x="17766" y="130442"/>
                  <a:pt x="5147" y="74166"/>
                  <a:pt x="4992" y="43408"/>
                </a:cubicBezTo>
                <a:cubicBezTo>
                  <a:pt x="4961" y="35285"/>
                  <a:pt x="10046" y="28556"/>
                  <a:pt x="16867" y="25673"/>
                </a:cubicBezTo>
                <a:lnTo>
                  <a:pt x="75251" y="899"/>
                </a:lnTo>
                <a:cubicBezTo>
                  <a:pt x="76553" y="310"/>
                  <a:pt x="77949" y="0"/>
                  <a:pt x="79375" y="0"/>
                </a:cubicBezTo>
                <a:close/>
                <a:moveTo>
                  <a:pt x="79375" y="20712"/>
                </a:moveTo>
                <a:lnTo>
                  <a:pt x="79375" y="137945"/>
                </a:lnTo>
                <a:cubicBezTo>
                  <a:pt x="122163" y="117233"/>
                  <a:pt x="133666" y="71344"/>
                  <a:pt x="133945" y="43873"/>
                </a:cubicBezTo>
                <a:lnTo>
                  <a:pt x="79375" y="20743"/>
                </a:lnTo>
                <a:lnTo>
                  <a:pt x="79375" y="2074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0"/>
          <p:cNvSpPr/>
          <p:nvPr/>
        </p:nvSpPr>
        <p:spPr>
          <a:xfrm>
            <a:off x="8949631" y="1412875"/>
            <a:ext cx="658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473381" y="1809750"/>
            <a:ext cx="3333750" cy="1135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Protect information, systems, and assets while delivering business value through risk assessments and mitigation strategies. Implement </a:t>
            </a: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defense in depth, least privilege, and encryption</a:t>
            </a:r>
            <a:r>
              <a:rPr lang="en-US" sz="10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4675486" y="3205706"/>
            <a:ext cx="3540125" cy="1681662"/>
          </a:xfrm>
          <a:custGeom>
            <a:avLst/>
            <a:gdLst/>
            <a:ahLst/>
            <a:cxnLst/>
            <a:rect l="l" t="t" r="r" b="b"/>
            <a:pathLst>
              <a:path w="3540125" h="2325688">
                <a:moveTo>
                  <a:pt x="31750" y="0"/>
                </a:moveTo>
                <a:lnTo>
                  <a:pt x="3444865" y="0"/>
                </a:lnTo>
                <a:cubicBezTo>
                  <a:pt x="3497476" y="0"/>
                  <a:pt x="3540125" y="42649"/>
                  <a:pt x="3540125" y="95260"/>
                </a:cubicBezTo>
                <a:lnTo>
                  <a:pt x="3540125" y="2230427"/>
                </a:lnTo>
                <a:cubicBezTo>
                  <a:pt x="3540125" y="2283038"/>
                  <a:pt x="3497476" y="2325688"/>
                  <a:pt x="3444865" y="2325687"/>
                </a:cubicBezTo>
                <a:lnTo>
                  <a:pt x="31750" y="2325688"/>
                </a:lnTo>
                <a:cubicBezTo>
                  <a:pt x="14227" y="2325688"/>
                  <a:pt x="0" y="2311461"/>
                  <a:pt x="0" y="229393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8" name="Shape 25"/>
          <p:cNvSpPr/>
          <p:nvPr/>
        </p:nvSpPr>
        <p:spPr>
          <a:xfrm>
            <a:off x="4675485" y="3205706"/>
            <a:ext cx="45719" cy="1681662"/>
          </a:xfrm>
          <a:custGeom>
            <a:avLst/>
            <a:gdLst/>
            <a:ahLst/>
            <a:cxnLst/>
            <a:rect l="l" t="t" r="r" b="b"/>
            <a:pathLst>
              <a:path w="31750" h="2325688">
                <a:moveTo>
                  <a:pt x="31750" y="0"/>
                </a:moveTo>
                <a:lnTo>
                  <a:pt x="31750" y="0"/>
                </a:lnTo>
                <a:lnTo>
                  <a:pt x="31750" y="2325688"/>
                </a:lnTo>
                <a:lnTo>
                  <a:pt x="31750" y="2325688"/>
                </a:lnTo>
                <a:cubicBezTo>
                  <a:pt x="14227" y="2325688"/>
                  <a:pt x="0" y="2311461"/>
                  <a:pt x="0" y="229393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9" name="Shape 26"/>
          <p:cNvSpPr/>
          <p:nvPr/>
        </p:nvSpPr>
        <p:spPr>
          <a:xfrm>
            <a:off x="4818361" y="333270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0" name="Shape 27"/>
          <p:cNvSpPr/>
          <p:nvPr/>
        </p:nvSpPr>
        <p:spPr>
          <a:xfrm>
            <a:off x="4929486" y="3443831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33455"/>
                </a:moveTo>
                <a:lnTo>
                  <a:pt x="74724" y="27006"/>
                </a:lnTo>
                <a:cubicBezTo>
                  <a:pt x="66973" y="16278"/>
                  <a:pt x="54539" y="9922"/>
                  <a:pt x="41269" y="9922"/>
                </a:cubicBezTo>
                <a:cubicBezTo>
                  <a:pt x="18479" y="9922"/>
                  <a:pt x="0" y="28401"/>
                  <a:pt x="0" y="51191"/>
                </a:cubicBezTo>
                <a:lnTo>
                  <a:pt x="0" y="51997"/>
                </a:lnTo>
                <a:cubicBezTo>
                  <a:pt x="0" y="59314"/>
                  <a:pt x="1922" y="66880"/>
                  <a:pt x="5147" y="74414"/>
                </a:cubicBezTo>
                <a:lnTo>
                  <a:pt x="38013" y="74414"/>
                </a:lnTo>
                <a:cubicBezTo>
                  <a:pt x="39005" y="74414"/>
                  <a:pt x="39905" y="73825"/>
                  <a:pt x="40308" y="72895"/>
                </a:cubicBezTo>
                <a:lnTo>
                  <a:pt x="50167" y="49237"/>
                </a:lnTo>
                <a:cubicBezTo>
                  <a:pt x="51315" y="46509"/>
                  <a:pt x="53981" y="44710"/>
                  <a:pt x="56927" y="44648"/>
                </a:cubicBezTo>
                <a:cubicBezTo>
                  <a:pt x="59872" y="44586"/>
                  <a:pt x="62601" y="46323"/>
                  <a:pt x="63810" y="49020"/>
                </a:cubicBezTo>
                <a:lnTo>
                  <a:pt x="79716" y="84336"/>
                </a:lnTo>
                <a:lnTo>
                  <a:pt x="92552" y="58663"/>
                </a:lnTo>
                <a:cubicBezTo>
                  <a:pt x="93824" y="56152"/>
                  <a:pt x="96397" y="54539"/>
                  <a:pt x="99219" y="54539"/>
                </a:cubicBezTo>
                <a:cubicBezTo>
                  <a:pt x="102040" y="54539"/>
                  <a:pt x="104614" y="56121"/>
                  <a:pt x="105885" y="58663"/>
                </a:cubicBezTo>
                <a:lnTo>
                  <a:pt x="113078" y="73019"/>
                </a:lnTo>
                <a:cubicBezTo>
                  <a:pt x="113512" y="73856"/>
                  <a:pt x="114350" y="74383"/>
                  <a:pt x="115311" y="74383"/>
                </a:cubicBezTo>
                <a:lnTo>
                  <a:pt x="153634" y="74383"/>
                </a:lnTo>
                <a:cubicBezTo>
                  <a:pt x="156890" y="66849"/>
                  <a:pt x="158781" y="59283"/>
                  <a:pt x="158781" y="51966"/>
                </a:cubicBezTo>
                <a:lnTo>
                  <a:pt x="158781" y="51160"/>
                </a:lnTo>
                <a:cubicBezTo>
                  <a:pt x="158750" y="28401"/>
                  <a:pt x="140271" y="9922"/>
                  <a:pt x="117481" y="9922"/>
                </a:cubicBezTo>
                <a:cubicBezTo>
                  <a:pt x="104242" y="9922"/>
                  <a:pt x="91777" y="16278"/>
                  <a:pt x="84026" y="27006"/>
                </a:cubicBezTo>
                <a:lnTo>
                  <a:pt x="79375" y="33424"/>
                </a:lnTo>
                <a:close/>
                <a:moveTo>
                  <a:pt x="145604" y="89297"/>
                </a:moveTo>
                <a:lnTo>
                  <a:pt x="115280" y="89297"/>
                </a:lnTo>
                <a:cubicBezTo>
                  <a:pt x="108707" y="89297"/>
                  <a:pt x="102691" y="85576"/>
                  <a:pt x="99746" y="79685"/>
                </a:cubicBezTo>
                <a:lnTo>
                  <a:pt x="99219" y="78631"/>
                </a:lnTo>
                <a:lnTo>
                  <a:pt x="86041" y="105017"/>
                </a:lnTo>
                <a:cubicBezTo>
                  <a:pt x="84770" y="107590"/>
                  <a:pt x="82104" y="109203"/>
                  <a:pt x="79220" y="109141"/>
                </a:cubicBezTo>
                <a:cubicBezTo>
                  <a:pt x="76336" y="109079"/>
                  <a:pt x="73763" y="107373"/>
                  <a:pt x="72585" y="104769"/>
                </a:cubicBezTo>
                <a:lnTo>
                  <a:pt x="57299" y="70817"/>
                </a:lnTo>
                <a:lnTo>
                  <a:pt x="54043" y="78631"/>
                </a:lnTo>
                <a:cubicBezTo>
                  <a:pt x="51346" y="85111"/>
                  <a:pt x="45021" y="89328"/>
                  <a:pt x="38013" y="89328"/>
                </a:cubicBezTo>
                <a:lnTo>
                  <a:pt x="13146" y="89328"/>
                </a:lnTo>
                <a:cubicBezTo>
                  <a:pt x="27781" y="112210"/>
                  <a:pt x="51284" y="133263"/>
                  <a:pt x="65980" y="144487"/>
                </a:cubicBezTo>
                <a:cubicBezTo>
                  <a:pt x="69825" y="147402"/>
                  <a:pt x="74538" y="148859"/>
                  <a:pt x="79344" y="148859"/>
                </a:cubicBezTo>
                <a:cubicBezTo>
                  <a:pt x="84150" y="148859"/>
                  <a:pt x="88894" y="147433"/>
                  <a:pt x="92708" y="144487"/>
                </a:cubicBezTo>
                <a:cubicBezTo>
                  <a:pt x="107466" y="133232"/>
                  <a:pt x="130969" y="112179"/>
                  <a:pt x="145604" y="8929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Text 28"/>
          <p:cNvSpPr/>
          <p:nvPr/>
        </p:nvSpPr>
        <p:spPr>
          <a:xfrm>
            <a:off x="5294611" y="3412081"/>
            <a:ext cx="762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Reliability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4818361" y="3808956"/>
            <a:ext cx="3333750" cy="1135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Ensure workloads perform their intended functions correctly and consistently, and recover quickly from failures. Design for </a:t>
            </a: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fault tolerance, automated recovery, and horizontal scaling</a:t>
            </a:r>
            <a:r>
              <a:rPr lang="en-US" sz="10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8330506" y="3215728"/>
            <a:ext cx="3540125" cy="1681662"/>
          </a:xfrm>
          <a:custGeom>
            <a:avLst/>
            <a:gdLst/>
            <a:ahLst/>
            <a:cxnLst/>
            <a:rect l="l" t="t" r="r" b="b"/>
            <a:pathLst>
              <a:path w="3540125" h="2325688">
                <a:moveTo>
                  <a:pt x="31750" y="0"/>
                </a:moveTo>
                <a:lnTo>
                  <a:pt x="3444865" y="0"/>
                </a:lnTo>
                <a:cubicBezTo>
                  <a:pt x="3497476" y="0"/>
                  <a:pt x="3540125" y="42649"/>
                  <a:pt x="3540125" y="95260"/>
                </a:cubicBezTo>
                <a:lnTo>
                  <a:pt x="3540125" y="2230427"/>
                </a:lnTo>
                <a:cubicBezTo>
                  <a:pt x="3540125" y="2283038"/>
                  <a:pt x="3497476" y="2325688"/>
                  <a:pt x="3444865" y="2325687"/>
                </a:cubicBezTo>
                <a:lnTo>
                  <a:pt x="31750" y="2325688"/>
                </a:lnTo>
                <a:cubicBezTo>
                  <a:pt x="14227" y="2325688"/>
                  <a:pt x="0" y="2311461"/>
                  <a:pt x="0" y="229393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36" name="Shape 33"/>
          <p:cNvSpPr/>
          <p:nvPr/>
        </p:nvSpPr>
        <p:spPr>
          <a:xfrm>
            <a:off x="8330506" y="3215728"/>
            <a:ext cx="31750" cy="1681662"/>
          </a:xfrm>
          <a:custGeom>
            <a:avLst/>
            <a:gdLst/>
            <a:ahLst/>
            <a:cxnLst/>
            <a:rect l="l" t="t" r="r" b="b"/>
            <a:pathLst>
              <a:path w="31750" h="2325688">
                <a:moveTo>
                  <a:pt x="31750" y="0"/>
                </a:moveTo>
                <a:lnTo>
                  <a:pt x="31750" y="0"/>
                </a:lnTo>
                <a:lnTo>
                  <a:pt x="31750" y="2325688"/>
                </a:lnTo>
                <a:lnTo>
                  <a:pt x="31750" y="2325688"/>
                </a:lnTo>
                <a:cubicBezTo>
                  <a:pt x="14227" y="2325688"/>
                  <a:pt x="0" y="2311461"/>
                  <a:pt x="0" y="229393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7" name="Shape 34"/>
          <p:cNvSpPr/>
          <p:nvPr/>
        </p:nvSpPr>
        <p:spPr>
          <a:xfrm>
            <a:off x="8473381" y="334272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8" name="Shape 35"/>
          <p:cNvSpPr/>
          <p:nvPr/>
        </p:nvSpPr>
        <p:spPr>
          <a:xfrm>
            <a:off x="8584506" y="345385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0" y="79375"/>
                </a:moveTo>
                <a:cubicBezTo>
                  <a:pt x="0" y="35567"/>
                  <a:pt x="35567" y="0"/>
                  <a:pt x="79375" y="0"/>
                </a:cubicBezTo>
                <a:cubicBezTo>
                  <a:pt x="123183" y="0"/>
                  <a:pt x="158750" y="35567"/>
                  <a:pt x="158750" y="79375"/>
                </a:cubicBezTo>
                <a:cubicBezTo>
                  <a:pt x="158750" y="123183"/>
                  <a:pt x="123183" y="158750"/>
                  <a:pt x="79375" y="158750"/>
                </a:cubicBezTo>
                <a:cubicBezTo>
                  <a:pt x="35567" y="158750"/>
                  <a:pt x="0" y="123183"/>
                  <a:pt x="0" y="79375"/>
                </a:cubicBezTo>
                <a:close/>
                <a:moveTo>
                  <a:pt x="89297" y="29766"/>
                </a:moveTo>
                <a:cubicBezTo>
                  <a:pt x="89297" y="24290"/>
                  <a:pt x="84851" y="19844"/>
                  <a:pt x="79375" y="19844"/>
                </a:cubicBezTo>
                <a:cubicBezTo>
                  <a:pt x="73899" y="19844"/>
                  <a:pt x="69453" y="24290"/>
                  <a:pt x="69453" y="29766"/>
                </a:cubicBezTo>
                <a:cubicBezTo>
                  <a:pt x="69453" y="35242"/>
                  <a:pt x="73899" y="39688"/>
                  <a:pt x="79375" y="39688"/>
                </a:cubicBezTo>
                <a:cubicBezTo>
                  <a:pt x="84851" y="39688"/>
                  <a:pt x="89297" y="35242"/>
                  <a:pt x="89297" y="29766"/>
                </a:cubicBezTo>
                <a:close/>
                <a:moveTo>
                  <a:pt x="79375" y="128984"/>
                </a:moveTo>
                <a:cubicBezTo>
                  <a:pt x="90320" y="128984"/>
                  <a:pt x="99219" y="120086"/>
                  <a:pt x="99219" y="109141"/>
                </a:cubicBezTo>
                <a:cubicBezTo>
                  <a:pt x="99219" y="104118"/>
                  <a:pt x="97358" y="99498"/>
                  <a:pt x="94258" y="96025"/>
                </a:cubicBezTo>
                <a:lnTo>
                  <a:pt x="115807" y="52958"/>
                </a:lnTo>
                <a:cubicBezTo>
                  <a:pt x="117636" y="49268"/>
                  <a:pt x="116148" y="44803"/>
                  <a:pt x="112489" y="42974"/>
                </a:cubicBezTo>
                <a:cubicBezTo>
                  <a:pt x="108831" y="41145"/>
                  <a:pt x="104335" y="42633"/>
                  <a:pt x="102505" y="46292"/>
                </a:cubicBezTo>
                <a:lnTo>
                  <a:pt x="80956" y="89359"/>
                </a:lnTo>
                <a:cubicBezTo>
                  <a:pt x="80429" y="89328"/>
                  <a:pt x="79902" y="89297"/>
                  <a:pt x="79375" y="89297"/>
                </a:cubicBezTo>
                <a:cubicBezTo>
                  <a:pt x="68430" y="89297"/>
                  <a:pt x="59531" y="98196"/>
                  <a:pt x="59531" y="109141"/>
                </a:cubicBezTo>
                <a:cubicBezTo>
                  <a:pt x="59531" y="120086"/>
                  <a:pt x="68430" y="128984"/>
                  <a:pt x="79375" y="128984"/>
                </a:cubicBezTo>
                <a:close/>
                <a:moveTo>
                  <a:pt x="54570" y="44648"/>
                </a:moveTo>
                <a:cubicBezTo>
                  <a:pt x="54570" y="39172"/>
                  <a:pt x="50124" y="34727"/>
                  <a:pt x="44648" y="34727"/>
                </a:cubicBezTo>
                <a:cubicBezTo>
                  <a:pt x="39172" y="34727"/>
                  <a:pt x="34727" y="39172"/>
                  <a:pt x="34727" y="44648"/>
                </a:cubicBezTo>
                <a:cubicBezTo>
                  <a:pt x="34727" y="50124"/>
                  <a:pt x="39172" y="54570"/>
                  <a:pt x="44648" y="54570"/>
                </a:cubicBezTo>
                <a:cubicBezTo>
                  <a:pt x="50124" y="54570"/>
                  <a:pt x="54570" y="50124"/>
                  <a:pt x="54570" y="44648"/>
                </a:cubicBezTo>
                <a:close/>
                <a:moveTo>
                  <a:pt x="29766" y="89297"/>
                </a:moveTo>
                <a:cubicBezTo>
                  <a:pt x="35242" y="89297"/>
                  <a:pt x="39688" y="84851"/>
                  <a:pt x="39688" y="79375"/>
                </a:cubicBezTo>
                <a:cubicBezTo>
                  <a:pt x="39688" y="73899"/>
                  <a:pt x="35242" y="69453"/>
                  <a:pt x="29766" y="69453"/>
                </a:cubicBezTo>
                <a:cubicBezTo>
                  <a:pt x="24290" y="69453"/>
                  <a:pt x="19844" y="73899"/>
                  <a:pt x="19844" y="79375"/>
                </a:cubicBezTo>
                <a:cubicBezTo>
                  <a:pt x="19844" y="84851"/>
                  <a:pt x="24290" y="89297"/>
                  <a:pt x="29766" y="89297"/>
                </a:cubicBezTo>
                <a:close/>
                <a:moveTo>
                  <a:pt x="138906" y="79375"/>
                </a:moveTo>
                <a:cubicBezTo>
                  <a:pt x="138906" y="73899"/>
                  <a:pt x="134460" y="69453"/>
                  <a:pt x="128984" y="69453"/>
                </a:cubicBezTo>
                <a:cubicBezTo>
                  <a:pt x="123508" y="69453"/>
                  <a:pt x="119062" y="73899"/>
                  <a:pt x="119062" y="79375"/>
                </a:cubicBezTo>
                <a:cubicBezTo>
                  <a:pt x="119062" y="84851"/>
                  <a:pt x="123508" y="89297"/>
                  <a:pt x="128984" y="89297"/>
                </a:cubicBezTo>
                <a:cubicBezTo>
                  <a:pt x="134460" y="89297"/>
                  <a:pt x="138906" y="84851"/>
                  <a:pt x="138906" y="793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Text 36"/>
          <p:cNvSpPr/>
          <p:nvPr/>
        </p:nvSpPr>
        <p:spPr>
          <a:xfrm>
            <a:off x="8949631" y="3422103"/>
            <a:ext cx="1722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Efficiency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8473381" y="3818978"/>
            <a:ext cx="3333750" cy="9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IT and computing resources efficiently to meet system requirements and maintain efficiency as demand changes. </a:t>
            </a: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Right-size resources, use serverless, and leverage caching</a:t>
            </a:r>
            <a:r>
              <a:rPr lang="en-US" sz="10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4679554" y="5093743"/>
            <a:ext cx="3540125" cy="1531937"/>
          </a:xfrm>
          <a:custGeom>
            <a:avLst/>
            <a:gdLst/>
            <a:ahLst/>
            <a:cxnLst/>
            <a:rect l="l" t="t" r="r" b="b"/>
            <a:pathLst>
              <a:path w="3540125" h="2278063">
                <a:moveTo>
                  <a:pt x="31750" y="0"/>
                </a:moveTo>
                <a:lnTo>
                  <a:pt x="3444879" y="0"/>
                </a:lnTo>
                <a:cubicBezTo>
                  <a:pt x="3497482" y="0"/>
                  <a:pt x="3540125" y="42643"/>
                  <a:pt x="3540125" y="95246"/>
                </a:cubicBezTo>
                <a:lnTo>
                  <a:pt x="3540125" y="2182817"/>
                </a:lnTo>
                <a:cubicBezTo>
                  <a:pt x="3540125" y="2235420"/>
                  <a:pt x="3497482" y="2278063"/>
                  <a:pt x="3444879" y="2278063"/>
                </a:cubicBezTo>
                <a:lnTo>
                  <a:pt x="31750" y="2278063"/>
                </a:lnTo>
                <a:cubicBezTo>
                  <a:pt x="14215" y="2278063"/>
                  <a:pt x="0" y="2263848"/>
                  <a:pt x="0" y="22463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44" name="Shape 41"/>
          <p:cNvSpPr/>
          <p:nvPr/>
        </p:nvSpPr>
        <p:spPr>
          <a:xfrm>
            <a:off x="4679553" y="5093744"/>
            <a:ext cx="45719" cy="1531938"/>
          </a:xfrm>
          <a:custGeom>
            <a:avLst/>
            <a:gdLst/>
            <a:ahLst/>
            <a:cxnLst/>
            <a:rect l="l" t="t" r="r" b="b"/>
            <a:pathLst>
              <a:path w="31750" h="2278063">
                <a:moveTo>
                  <a:pt x="31750" y="0"/>
                </a:moveTo>
                <a:lnTo>
                  <a:pt x="31750" y="0"/>
                </a:lnTo>
                <a:lnTo>
                  <a:pt x="31750" y="2278063"/>
                </a:lnTo>
                <a:lnTo>
                  <a:pt x="31750" y="2278063"/>
                </a:lnTo>
                <a:cubicBezTo>
                  <a:pt x="14227" y="2278063"/>
                  <a:pt x="0" y="2263836"/>
                  <a:pt x="0" y="22463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5" name="Shape 42"/>
          <p:cNvSpPr/>
          <p:nvPr/>
        </p:nvSpPr>
        <p:spPr>
          <a:xfrm>
            <a:off x="4822429" y="522074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6" name="Shape 43"/>
          <p:cNvSpPr/>
          <p:nvPr/>
        </p:nvSpPr>
        <p:spPr>
          <a:xfrm>
            <a:off x="4963320" y="5331868"/>
            <a:ext cx="99219" cy="158750"/>
          </a:xfrm>
          <a:custGeom>
            <a:avLst/>
            <a:gdLst/>
            <a:ahLst/>
            <a:cxnLst/>
            <a:rect l="l" t="t" r="r" b="b"/>
            <a:pathLst>
              <a:path w="99219" h="158750">
                <a:moveTo>
                  <a:pt x="42168" y="7441"/>
                </a:moveTo>
                <a:cubicBezTo>
                  <a:pt x="42168" y="3318"/>
                  <a:pt x="45486" y="0"/>
                  <a:pt x="49609" y="0"/>
                </a:cubicBezTo>
                <a:cubicBezTo>
                  <a:pt x="53733" y="0"/>
                  <a:pt x="57051" y="3318"/>
                  <a:pt x="57051" y="7441"/>
                </a:cubicBezTo>
                <a:lnTo>
                  <a:pt x="57051" y="19844"/>
                </a:lnTo>
                <a:lnTo>
                  <a:pt x="74414" y="19844"/>
                </a:lnTo>
                <a:cubicBezTo>
                  <a:pt x="79902" y="19844"/>
                  <a:pt x="84336" y="24278"/>
                  <a:pt x="84336" y="29766"/>
                </a:cubicBezTo>
                <a:cubicBezTo>
                  <a:pt x="84336" y="35254"/>
                  <a:pt x="79902" y="39688"/>
                  <a:pt x="74414" y="39688"/>
                </a:cubicBezTo>
                <a:lnTo>
                  <a:pt x="38788" y="39688"/>
                </a:lnTo>
                <a:cubicBezTo>
                  <a:pt x="31068" y="39688"/>
                  <a:pt x="24805" y="45951"/>
                  <a:pt x="24805" y="53671"/>
                </a:cubicBezTo>
                <a:cubicBezTo>
                  <a:pt x="24805" y="60647"/>
                  <a:pt x="29921" y="66539"/>
                  <a:pt x="36804" y="67531"/>
                </a:cubicBezTo>
                <a:lnTo>
                  <a:pt x="65205" y="71593"/>
                </a:lnTo>
                <a:cubicBezTo>
                  <a:pt x="81886" y="73980"/>
                  <a:pt x="94258" y="88243"/>
                  <a:pt x="94258" y="105079"/>
                </a:cubicBezTo>
                <a:cubicBezTo>
                  <a:pt x="94258" y="123775"/>
                  <a:pt x="79096" y="138906"/>
                  <a:pt x="60430" y="138906"/>
                </a:cubicBezTo>
                <a:lnTo>
                  <a:pt x="57051" y="138906"/>
                </a:lnTo>
                <a:lnTo>
                  <a:pt x="57051" y="151309"/>
                </a:lnTo>
                <a:cubicBezTo>
                  <a:pt x="57051" y="155432"/>
                  <a:pt x="53733" y="158750"/>
                  <a:pt x="49609" y="158750"/>
                </a:cubicBezTo>
                <a:cubicBezTo>
                  <a:pt x="45486" y="158750"/>
                  <a:pt x="42168" y="155432"/>
                  <a:pt x="42168" y="151309"/>
                </a:cubicBezTo>
                <a:lnTo>
                  <a:pt x="42168" y="138906"/>
                </a:lnTo>
                <a:lnTo>
                  <a:pt x="19844" y="138906"/>
                </a:lnTo>
                <a:cubicBezTo>
                  <a:pt x="14356" y="138906"/>
                  <a:pt x="9922" y="134472"/>
                  <a:pt x="9922" y="128984"/>
                </a:cubicBezTo>
                <a:cubicBezTo>
                  <a:pt x="9922" y="123496"/>
                  <a:pt x="14356" y="119062"/>
                  <a:pt x="19844" y="119062"/>
                </a:cubicBezTo>
                <a:lnTo>
                  <a:pt x="60430" y="119062"/>
                </a:lnTo>
                <a:cubicBezTo>
                  <a:pt x="68151" y="119062"/>
                  <a:pt x="74414" y="112799"/>
                  <a:pt x="74414" y="105079"/>
                </a:cubicBezTo>
                <a:cubicBezTo>
                  <a:pt x="74414" y="98103"/>
                  <a:pt x="69298" y="92211"/>
                  <a:pt x="62415" y="91219"/>
                </a:cubicBezTo>
                <a:lnTo>
                  <a:pt x="34013" y="87157"/>
                </a:lnTo>
                <a:cubicBezTo>
                  <a:pt x="17332" y="84801"/>
                  <a:pt x="4961" y="70507"/>
                  <a:pt x="4961" y="53671"/>
                </a:cubicBezTo>
                <a:cubicBezTo>
                  <a:pt x="4961" y="35006"/>
                  <a:pt x="20123" y="19844"/>
                  <a:pt x="38788" y="19844"/>
                </a:cubicBezTo>
                <a:lnTo>
                  <a:pt x="42168" y="19844"/>
                </a:lnTo>
                <a:lnTo>
                  <a:pt x="42168" y="744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7" name="Text 44"/>
          <p:cNvSpPr/>
          <p:nvPr/>
        </p:nvSpPr>
        <p:spPr>
          <a:xfrm>
            <a:off x="5298679" y="5300118"/>
            <a:ext cx="1333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Cost Optimization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4822429" y="5696993"/>
            <a:ext cx="3333750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Run systems to deliver business value at the lowest price point. Implement </a:t>
            </a: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right-sizing, Reserved Instances, Spot Instances, and continuous cost monitoring</a:t>
            </a:r>
            <a:r>
              <a:rPr lang="en-US" sz="10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8330506" y="5103766"/>
            <a:ext cx="3540125" cy="1531938"/>
          </a:xfrm>
          <a:custGeom>
            <a:avLst/>
            <a:gdLst/>
            <a:ahLst/>
            <a:cxnLst/>
            <a:rect l="l" t="t" r="r" b="b"/>
            <a:pathLst>
              <a:path w="3540125" h="2278063">
                <a:moveTo>
                  <a:pt x="31750" y="0"/>
                </a:moveTo>
                <a:lnTo>
                  <a:pt x="3444879" y="0"/>
                </a:lnTo>
                <a:cubicBezTo>
                  <a:pt x="3497482" y="0"/>
                  <a:pt x="3540125" y="42643"/>
                  <a:pt x="3540125" y="95246"/>
                </a:cubicBezTo>
                <a:lnTo>
                  <a:pt x="3540125" y="2182817"/>
                </a:lnTo>
                <a:cubicBezTo>
                  <a:pt x="3540125" y="2235420"/>
                  <a:pt x="3497482" y="2278063"/>
                  <a:pt x="3444879" y="2278063"/>
                </a:cubicBezTo>
                <a:lnTo>
                  <a:pt x="31750" y="2278063"/>
                </a:lnTo>
                <a:cubicBezTo>
                  <a:pt x="14215" y="2278063"/>
                  <a:pt x="0" y="2263848"/>
                  <a:pt x="0" y="22463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52" name="Shape 49"/>
          <p:cNvSpPr/>
          <p:nvPr/>
        </p:nvSpPr>
        <p:spPr>
          <a:xfrm>
            <a:off x="8330506" y="5103766"/>
            <a:ext cx="31750" cy="1531938"/>
          </a:xfrm>
          <a:custGeom>
            <a:avLst/>
            <a:gdLst/>
            <a:ahLst/>
            <a:cxnLst/>
            <a:rect l="l" t="t" r="r" b="b"/>
            <a:pathLst>
              <a:path w="31750" h="2278063">
                <a:moveTo>
                  <a:pt x="31750" y="0"/>
                </a:moveTo>
                <a:lnTo>
                  <a:pt x="31750" y="0"/>
                </a:lnTo>
                <a:lnTo>
                  <a:pt x="31750" y="2278063"/>
                </a:lnTo>
                <a:lnTo>
                  <a:pt x="31750" y="2278063"/>
                </a:lnTo>
                <a:cubicBezTo>
                  <a:pt x="14227" y="2278063"/>
                  <a:pt x="0" y="2263836"/>
                  <a:pt x="0" y="22463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3" name="Shape 50"/>
          <p:cNvSpPr/>
          <p:nvPr/>
        </p:nvSpPr>
        <p:spPr>
          <a:xfrm>
            <a:off x="8473381" y="523076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4" name="Shape 51"/>
          <p:cNvSpPr/>
          <p:nvPr/>
        </p:nvSpPr>
        <p:spPr>
          <a:xfrm>
            <a:off x="8584506" y="534189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46131" y="2077"/>
                </a:moveTo>
                <a:cubicBezTo>
                  <a:pt x="148115" y="186"/>
                  <a:pt x="150999" y="-496"/>
                  <a:pt x="153665" y="372"/>
                </a:cubicBezTo>
                <a:cubicBezTo>
                  <a:pt x="156704" y="1395"/>
                  <a:pt x="158750" y="4248"/>
                  <a:pt x="158750" y="7441"/>
                </a:cubicBezTo>
                <a:lnTo>
                  <a:pt x="158750" y="65391"/>
                </a:lnTo>
                <a:cubicBezTo>
                  <a:pt x="158750" y="106071"/>
                  <a:pt x="125233" y="138906"/>
                  <a:pt x="84708" y="138906"/>
                </a:cubicBezTo>
                <a:cubicBezTo>
                  <a:pt x="60833" y="138906"/>
                  <a:pt x="40246" y="123558"/>
                  <a:pt x="32773" y="102102"/>
                </a:cubicBezTo>
                <a:cubicBezTo>
                  <a:pt x="21797" y="111652"/>
                  <a:pt x="14883" y="125698"/>
                  <a:pt x="14883" y="141387"/>
                </a:cubicBezTo>
                <a:cubicBezTo>
                  <a:pt x="14883" y="145510"/>
                  <a:pt x="11565" y="148828"/>
                  <a:pt x="7441" y="148828"/>
                </a:cubicBezTo>
                <a:cubicBezTo>
                  <a:pt x="3318" y="148828"/>
                  <a:pt x="0" y="145510"/>
                  <a:pt x="0" y="141387"/>
                </a:cubicBezTo>
                <a:cubicBezTo>
                  <a:pt x="0" y="118163"/>
                  <a:pt x="11844" y="97699"/>
                  <a:pt x="29797" y="85669"/>
                </a:cubicBezTo>
                <a:cubicBezTo>
                  <a:pt x="40742" y="78352"/>
                  <a:pt x="53795" y="74414"/>
                  <a:pt x="66973" y="74414"/>
                </a:cubicBezTo>
                <a:lnTo>
                  <a:pt x="91777" y="74414"/>
                </a:lnTo>
                <a:cubicBezTo>
                  <a:pt x="95901" y="74414"/>
                  <a:pt x="99219" y="71096"/>
                  <a:pt x="99219" y="66973"/>
                </a:cubicBezTo>
                <a:cubicBezTo>
                  <a:pt x="99219" y="62849"/>
                  <a:pt x="95901" y="59531"/>
                  <a:pt x="91777" y="59531"/>
                </a:cubicBezTo>
                <a:lnTo>
                  <a:pt x="66973" y="59531"/>
                </a:lnTo>
                <a:cubicBezTo>
                  <a:pt x="54663" y="59531"/>
                  <a:pt x="43005" y="62260"/>
                  <a:pt x="32556" y="67128"/>
                </a:cubicBezTo>
                <a:cubicBezTo>
                  <a:pt x="39781" y="45424"/>
                  <a:pt x="60213" y="29766"/>
                  <a:pt x="84336" y="29766"/>
                </a:cubicBezTo>
                <a:cubicBezTo>
                  <a:pt x="104924" y="29766"/>
                  <a:pt x="120241" y="22913"/>
                  <a:pt x="130442" y="16123"/>
                </a:cubicBezTo>
                <a:cubicBezTo>
                  <a:pt x="136395" y="12154"/>
                  <a:pt x="141449" y="7410"/>
                  <a:pt x="146162" y="207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5" name="Text 52"/>
          <p:cNvSpPr/>
          <p:nvPr/>
        </p:nvSpPr>
        <p:spPr>
          <a:xfrm>
            <a:off x="8949631" y="5310140"/>
            <a:ext cx="1023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Sustainability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8473381" y="5707015"/>
            <a:ext cx="3333750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Minimize the environmental impact of running cloud workloads. Understand impact, establish sustainability goals, </a:t>
            </a: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maximize utilization, and adopt efficient hardware</a:t>
            </a:r>
            <a:r>
              <a:rPr lang="en-US" sz="10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2528</Words>
  <Application>Microsoft Office PowerPoint</Application>
  <PresentationFormat>Widescreen</PresentationFormat>
  <Paragraphs>288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Liter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Cloud Practitioner Essentials</dc:title>
  <dc:subject>AWS Cloud Practitioner Essentials</dc:subject>
  <dc:creator>Kimi</dc:creator>
  <cp:lastModifiedBy>Atom Code</cp:lastModifiedBy>
  <cp:revision>7</cp:revision>
  <dcterms:created xsi:type="dcterms:W3CDTF">2026-02-22T17:35:00Z</dcterms:created>
  <dcterms:modified xsi:type="dcterms:W3CDTF">2026-02-22T18:21:39Z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{"Label":"AWS Cloud Practitioner Essentials","ContentProducer":"001191110108MACG2KBH8F10000","ProduceID":"19c86646-a412-8f52-8000-0000784a4c4d","ReservedCode1":"","ContentPropagator":"001191110108MACG2KBH8F20000","PropagateID":"19c86646-a412-8f52-8000-0000784a4c4d","ReservedCode2":""}</vt:lpwstr>
  </property>
</Properties>
</file>