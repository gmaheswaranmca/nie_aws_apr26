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Liter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3203" autoAdjust="0"/>
  </p:normalViewPr>
  <p:slideViewPr>
    <p:cSldViewPr snapToGrid="0" snapToObjects="1">
      <p:cViewPr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091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3f2046984fa439b5b273601192d259a8d35d5e18.jpg"/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384810"/>
            <a:ext cx="2712720" cy="388620"/>
          </a:xfrm>
          <a:custGeom>
            <a:avLst/>
            <a:gdLst/>
            <a:ahLst/>
            <a:cxnLst/>
            <a:rect l="l" t="t" r="r" b="b"/>
            <a:pathLst>
              <a:path w="2712720" h="388620">
                <a:moveTo>
                  <a:pt x="194310" y="0"/>
                </a:moveTo>
                <a:lnTo>
                  <a:pt x="2518410" y="0"/>
                </a:lnTo>
                <a:cubicBezTo>
                  <a:pt x="2625724" y="0"/>
                  <a:pt x="2712720" y="86996"/>
                  <a:pt x="2712720" y="194310"/>
                </a:cubicBezTo>
                <a:lnTo>
                  <a:pt x="2712720" y="194310"/>
                </a:lnTo>
                <a:cubicBezTo>
                  <a:pt x="2712720" y="301624"/>
                  <a:pt x="2625724" y="388620"/>
                  <a:pt x="251841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9120" y="53149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47625" y="0"/>
                </a:moveTo>
                <a:lnTo>
                  <a:pt x="47625" y="0"/>
                </a:lnTo>
                <a:cubicBezTo>
                  <a:pt x="73910" y="0"/>
                  <a:pt x="95250" y="21340"/>
                  <a:pt x="95250" y="47625"/>
                </a:cubicBezTo>
                <a:lnTo>
                  <a:pt x="95250" y="47625"/>
                </a:lnTo>
                <a:cubicBezTo>
                  <a:pt x="95250" y="73910"/>
                  <a:pt x="73910" y="95250"/>
                  <a:pt x="47625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788670" y="483870"/>
            <a:ext cx="2181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Cloud Infrastructure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31962" y="381000"/>
            <a:ext cx="8763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80000"/>
              </a:lnSpc>
            </a:pPr>
            <a:r>
              <a:rPr lang="en-US" sz="4500" b="1" dirty="0">
                <a:solidFill>
                  <a:srgbClr val="6366F1">
                    <a:alpha val="3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1640681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Infrastructure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659981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381000" y="4021931"/>
            <a:ext cx="74580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Scaling, Load Balancing &amp; API Gateway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Components Overview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09575" y="61341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32831" y="0"/>
                  <a:pt x="28575" y="4256"/>
                  <a:pt x="28575" y="9525"/>
                </a:cubicBezTo>
                <a:lnTo>
                  <a:pt x="28575" y="19050"/>
                </a:ln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lnTo>
                  <a:pt x="0" y="52388"/>
                </a:lnTo>
                <a:lnTo>
                  <a:pt x="133350" y="52388"/>
                </a:lnTo>
                <a:lnTo>
                  <a:pt x="133350" y="38100"/>
                </a:lnTo>
                <a:cubicBezTo>
                  <a:pt x="133350" y="27593"/>
                  <a:pt x="124807" y="19050"/>
                  <a:pt x="114300" y="19050"/>
                </a:cubicBezTo>
                <a:lnTo>
                  <a:pt x="104775" y="19050"/>
                </a:lnTo>
                <a:lnTo>
                  <a:pt x="104775" y="9525"/>
                </a:lnTo>
                <a:cubicBezTo>
                  <a:pt x="104775" y="4256"/>
                  <a:pt x="100519" y="0"/>
                  <a:pt x="95250" y="0"/>
                </a:cubicBezTo>
                <a:cubicBezTo>
                  <a:pt x="89981" y="0"/>
                  <a:pt x="85725" y="4256"/>
                  <a:pt x="85725" y="9525"/>
                </a:cubicBezTo>
                <a:lnTo>
                  <a:pt x="85725" y="19050"/>
                </a:lnTo>
                <a:lnTo>
                  <a:pt x="47625" y="19050"/>
                </a:lnTo>
                <a:lnTo>
                  <a:pt x="47625" y="9525"/>
                </a:lnTo>
                <a:cubicBezTo>
                  <a:pt x="47625" y="4256"/>
                  <a:pt x="43369" y="0"/>
                  <a:pt x="38100" y="0"/>
                </a:cubicBezTo>
                <a:close/>
                <a:moveTo>
                  <a:pt x="0" y="66675"/>
                </a:move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66675"/>
                </a:lnTo>
                <a:lnTo>
                  <a:pt x="0" y="666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9"/>
          <p:cNvSpPr/>
          <p:nvPr/>
        </p:nvSpPr>
        <p:spPr>
          <a:xfrm>
            <a:off x="666750" y="6096000"/>
            <a:ext cx="904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817132" y="6134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1"/>
          <p:cNvSpPr/>
          <p:nvPr/>
        </p:nvSpPr>
        <p:spPr>
          <a:xfrm>
            <a:off x="2083832" y="6096000"/>
            <a:ext cx="66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 Pages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909810" y="594741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072688" y="6096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71438"/>
                </a:lnTo>
                <a:cubicBezTo>
                  <a:pt x="0" y="87198"/>
                  <a:pt x="12814" y="100013"/>
                  <a:pt x="28575" y="100013"/>
                </a:cubicBezTo>
                <a:lnTo>
                  <a:pt x="171450" y="100013"/>
                </a:lnTo>
                <a:cubicBezTo>
                  <a:pt x="187211" y="100013"/>
                  <a:pt x="200025" y="87198"/>
                  <a:pt x="200025" y="71438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125016" y="46434"/>
                </a:moveTo>
                <a:cubicBezTo>
                  <a:pt x="130930" y="46434"/>
                  <a:pt x="135731" y="51236"/>
                  <a:pt x="135731" y="57150"/>
                </a:cubicBezTo>
                <a:cubicBezTo>
                  <a:pt x="135731" y="63064"/>
                  <a:pt x="130930" y="67866"/>
                  <a:pt x="125016" y="67866"/>
                </a:cubicBezTo>
                <a:cubicBezTo>
                  <a:pt x="119102" y="67866"/>
                  <a:pt x="114300" y="63064"/>
                  <a:pt x="114300" y="57150"/>
                </a:cubicBezTo>
                <a:cubicBezTo>
                  <a:pt x="114300" y="51236"/>
                  <a:pt x="119102" y="46434"/>
                  <a:pt x="125016" y="46434"/>
                </a:cubicBezTo>
                <a:close/>
                <a:moveTo>
                  <a:pt x="150019" y="57150"/>
                </a:moveTo>
                <a:cubicBezTo>
                  <a:pt x="150019" y="51236"/>
                  <a:pt x="154820" y="46434"/>
                  <a:pt x="160734" y="46434"/>
                </a:cubicBezTo>
                <a:cubicBezTo>
                  <a:pt x="166648" y="46434"/>
                  <a:pt x="171450" y="51236"/>
                  <a:pt x="171450" y="57150"/>
                </a:cubicBezTo>
                <a:cubicBezTo>
                  <a:pt x="171450" y="63064"/>
                  <a:pt x="166648" y="67866"/>
                  <a:pt x="160734" y="67866"/>
                </a:cubicBezTo>
                <a:cubicBezTo>
                  <a:pt x="154820" y="67866"/>
                  <a:pt x="150019" y="63064"/>
                  <a:pt x="150019" y="57150"/>
                </a:cubicBezTo>
                <a:close/>
                <a:moveTo>
                  <a:pt x="28575" y="128588"/>
                </a:move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lose/>
                <a:moveTo>
                  <a:pt x="125016" y="160734"/>
                </a:moveTo>
                <a:cubicBezTo>
                  <a:pt x="130930" y="160734"/>
                  <a:pt x="135731" y="165536"/>
                  <a:pt x="135731" y="171450"/>
                </a:cubicBezTo>
                <a:cubicBezTo>
                  <a:pt x="135731" y="177364"/>
                  <a:pt x="130930" y="182166"/>
                  <a:pt x="125016" y="182166"/>
                </a:cubicBezTo>
                <a:cubicBezTo>
                  <a:pt x="119102" y="182166"/>
                  <a:pt x="114300" y="177364"/>
                  <a:pt x="114300" y="171450"/>
                </a:cubicBezTo>
                <a:cubicBezTo>
                  <a:pt x="114300" y="165536"/>
                  <a:pt x="119102" y="160734"/>
                  <a:pt x="125016" y="160734"/>
                </a:cubicBezTo>
                <a:close/>
                <a:moveTo>
                  <a:pt x="150019" y="171450"/>
                </a:moveTo>
                <a:cubicBezTo>
                  <a:pt x="150019" y="165536"/>
                  <a:pt x="154820" y="160734"/>
                  <a:pt x="160734" y="160734"/>
                </a:cubicBezTo>
                <a:cubicBezTo>
                  <a:pt x="166648" y="160734"/>
                  <a:pt x="171450" y="165536"/>
                  <a:pt x="171450" y="171450"/>
                </a:cubicBezTo>
                <a:cubicBezTo>
                  <a:pt x="171450" y="177364"/>
                  <a:pt x="166648" y="182166"/>
                  <a:pt x="160734" y="182166"/>
                </a:cubicBezTo>
                <a:cubicBezTo>
                  <a:pt x="154820" y="182166"/>
                  <a:pt x="150019" y="177364"/>
                  <a:pt x="150019" y="1714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Shape 14"/>
          <p:cNvSpPr/>
          <p:nvPr/>
        </p:nvSpPr>
        <p:spPr>
          <a:xfrm>
            <a:off x="10595610" y="594741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729913" y="6096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10728" y="39291"/>
                </a:moveTo>
                <a:lnTo>
                  <a:pt x="146447" y="39291"/>
                </a:lnTo>
                <a:lnTo>
                  <a:pt x="146447" y="60722"/>
                </a:lnTo>
                <a:lnTo>
                  <a:pt x="110728" y="60722"/>
                </a:lnTo>
                <a:lnTo>
                  <a:pt x="110728" y="39291"/>
                </a:lnTo>
                <a:close/>
                <a:moveTo>
                  <a:pt x="107156" y="14288"/>
                </a:moveTo>
                <a:cubicBezTo>
                  <a:pt x="95324" y="14288"/>
                  <a:pt x="85725" y="23887"/>
                  <a:pt x="85725" y="35719"/>
                </a:cubicBezTo>
                <a:lnTo>
                  <a:pt x="85725" y="64294"/>
                </a:lnTo>
                <a:cubicBezTo>
                  <a:pt x="85725" y="76126"/>
                  <a:pt x="95324" y="85725"/>
                  <a:pt x="107156" y="85725"/>
                </a:cubicBezTo>
                <a:lnTo>
                  <a:pt x="114300" y="85725"/>
                </a:lnTo>
                <a:lnTo>
                  <a:pt x="114300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57150" y="128588"/>
                </a:lnTo>
                <a:lnTo>
                  <a:pt x="57150" y="142875"/>
                </a:lnTo>
                <a:lnTo>
                  <a:pt x="50006" y="142875"/>
                </a:lnTo>
                <a:cubicBezTo>
                  <a:pt x="38174" y="142875"/>
                  <a:pt x="28575" y="152474"/>
                  <a:pt x="28575" y="164306"/>
                </a:cubicBezTo>
                <a:lnTo>
                  <a:pt x="28575" y="192881"/>
                </a:lnTo>
                <a:cubicBezTo>
                  <a:pt x="28575" y="204713"/>
                  <a:pt x="38174" y="214313"/>
                  <a:pt x="50006" y="214313"/>
                </a:cubicBezTo>
                <a:lnTo>
                  <a:pt x="92869" y="214313"/>
                </a:lnTo>
                <a:cubicBezTo>
                  <a:pt x="104701" y="214313"/>
                  <a:pt x="114300" y="204713"/>
                  <a:pt x="114300" y="192881"/>
                </a:cubicBezTo>
                <a:lnTo>
                  <a:pt x="114300" y="164306"/>
                </a:lnTo>
                <a:cubicBezTo>
                  <a:pt x="114300" y="152474"/>
                  <a:pt x="104701" y="142875"/>
                  <a:pt x="92869" y="142875"/>
                </a:cubicBezTo>
                <a:lnTo>
                  <a:pt x="85725" y="142875"/>
                </a:lnTo>
                <a:lnTo>
                  <a:pt x="85725" y="128588"/>
                </a:lnTo>
                <a:lnTo>
                  <a:pt x="171450" y="128588"/>
                </a:lnTo>
                <a:lnTo>
                  <a:pt x="171450" y="142875"/>
                </a:lnTo>
                <a:lnTo>
                  <a:pt x="164306" y="142875"/>
                </a:lnTo>
                <a:cubicBezTo>
                  <a:pt x="152474" y="142875"/>
                  <a:pt x="142875" y="152474"/>
                  <a:pt x="142875" y="164306"/>
                </a:cubicBezTo>
                <a:lnTo>
                  <a:pt x="142875" y="192881"/>
                </a:lnTo>
                <a:cubicBezTo>
                  <a:pt x="142875" y="204713"/>
                  <a:pt x="152474" y="214313"/>
                  <a:pt x="164306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164306"/>
                </a:lnTo>
                <a:cubicBezTo>
                  <a:pt x="228600" y="152474"/>
                  <a:pt x="219001" y="142875"/>
                  <a:pt x="207169" y="142875"/>
                </a:cubicBezTo>
                <a:lnTo>
                  <a:pt x="200025" y="142875"/>
                </a:lnTo>
                <a:lnTo>
                  <a:pt x="200025" y="128588"/>
                </a:lnTo>
                <a:lnTo>
                  <a:pt x="242888" y="128588"/>
                </a:lnTo>
                <a:cubicBezTo>
                  <a:pt x="250790" y="128588"/>
                  <a:pt x="257175" y="122203"/>
                  <a:pt x="257175" y="114300"/>
                </a:cubicBezTo>
                <a:cubicBezTo>
                  <a:pt x="257175" y="106397"/>
                  <a:pt x="250790" y="100013"/>
                  <a:pt x="242888" y="100013"/>
                </a:cubicBezTo>
                <a:lnTo>
                  <a:pt x="142875" y="100013"/>
                </a:lnTo>
                <a:lnTo>
                  <a:pt x="142875" y="85725"/>
                </a:lnTo>
                <a:lnTo>
                  <a:pt x="150019" y="85725"/>
                </a:lnTo>
                <a:cubicBezTo>
                  <a:pt x="161851" y="85725"/>
                  <a:pt x="171450" y="76126"/>
                  <a:pt x="171450" y="64294"/>
                </a:cubicBezTo>
                <a:lnTo>
                  <a:pt x="171450" y="35719"/>
                </a:lnTo>
                <a:cubicBezTo>
                  <a:pt x="171450" y="23887"/>
                  <a:pt x="161851" y="14288"/>
                  <a:pt x="150019" y="14288"/>
                </a:cubicBezTo>
                <a:lnTo>
                  <a:pt x="107156" y="14288"/>
                </a:lnTo>
                <a:close/>
                <a:moveTo>
                  <a:pt x="200025" y="167878"/>
                </a:moveTo>
                <a:lnTo>
                  <a:pt x="203597" y="167878"/>
                </a:lnTo>
                <a:lnTo>
                  <a:pt x="203597" y="189309"/>
                </a:lnTo>
                <a:lnTo>
                  <a:pt x="167878" y="189309"/>
                </a:lnTo>
                <a:lnTo>
                  <a:pt x="167878" y="167878"/>
                </a:lnTo>
                <a:lnTo>
                  <a:pt x="200025" y="167878"/>
                </a:lnTo>
                <a:close/>
                <a:moveTo>
                  <a:pt x="85725" y="167878"/>
                </a:moveTo>
                <a:lnTo>
                  <a:pt x="89297" y="167878"/>
                </a:lnTo>
                <a:lnTo>
                  <a:pt x="89297" y="189309"/>
                </a:lnTo>
                <a:lnTo>
                  <a:pt x="53578" y="189309"/>
                </a:lnTo>
                <a:lnTo>
                  <a:pt x="53578" y="167878"/>
                </a:lnTo>
                <a:lnTo>
                  <a:pt x="85725" y="16787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Shape 16"/>
          <p:cNvSpPr/>
          <p:nvPr/>
        </p:nvSpPr>
        <p:spPr>
          <a:xfrm>
            <a:off x="11281410" y="594741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415713" y="6096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150019"/>
                </a:moveTo>
                <a:cubicBezTo>
                  <a:pt x="0" y="185514"/>
                  <a:pt x="28798" y="214313"/>
                  <a:pt x="64294" y="214313"/>
                </a:cubicBezTo>
                <a:lnTo>
                  <a:pt x="200025" y="214313"/>
                </a:lnTo>
                <a:cubicBezTo>
                  <a:pt x="231591" y="214313"/>
                  <a:pt x="257175" y="188729"/>
                  <a:pt x="257175" y="157163"/>
                </a:cubicBezTo>
                <a:cubicBezTo>
                  <a:pt x="257175" y="134124"/>
                  <a:pt x="243557" y="114255"/>
                  <a:pt x="223912" y="105236"/>
                </a:cubicBezTo>
                <a:cubicBezTo>
                  <a:pt x="226903" y="99387"/>
                  <a:pt x="228600" y="92735"/>
                  <a:pt x="228600" y="85725"/>
                </a:cubicBezTo>
                <a:cubicBezTo>
                  <a:pt x="228600" y="62061"/>
                  <a:pt x="209401" y="42863"/>
                  <a:pt x="185738" y="42863"/>
                </a:cubicBezTo>
                <a:cubicBezTo>
                  <a:pt x="177835" y="42863"/>
                  <a:pt x="170468" y="45006"/>
                  <a:pt x="164128" y="48711"/>
                </a:cubicBezTo>
                <a:cubicBezTo>
                  <a:pt x="153367" y="28262"/>
                  <a:pt x="131891" y="14288"/>
                  <a:pt x="107156" y="14288"/>
                </a:cubicBezTo>
                <a:cubicBezTo>
                  <a:pt x="71661" y="14288"/>
                  <a:pt x="42863" y="43086"/>
                  <a:pt x="42863" y="78581"/>
                </a:cubicBezTo>
                <a:cubicBezTo>
                  <a:pt x="42863" y="82153"/>
                  <a:pt x="43175" y="85680"/>
                  <a:pt x="43711" y="89074"/>
                </a:cubicBezTo>
                <a:cubicBezTo>
                  <a:pt x="18306" y="97646"/>
                  <a:pt x="0" y="121712"/>
                  <a:pt x="0" y="150019"/>
                </a:cubicBezTo>
                <a:close/>
              </a:path>
            </a:pathLst>
          </a:custGeom>
          <a:solidFill>
            <a:srgbClr val="6366F1"/>
          </a:solidFill>
          <a:ln/>
        </p:spPr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675" y="320675"/>
            <a:ext cx="1189038" cy="292100"/>
          </a:xfrm>
          <a:custGeom>
            <a:avLst/>
            <a:gdLst/>
            <a:ahLst/>
            <a:cxnLst/>
            <a:rect l="l" t="t" r="r" b="b"/>
            <a:pathLst>
              <a:path w="1189038" h="292100">
                <a:moveTo>
                  <a:pt x="146050" y="0"/>
                </a:moveTo>
                <a:lnTo>
                  <a:pt x="1042988" y="0"/>
                </a:lnTo>
                <a:cubicBezTo>
                  <a:pt x="1123595" y="0"/>
                  <a:pt x="1189038" y="65443"/>
                  <a:pt x="1189038" y="146050"/>
                </a:cubicBezTo>
                <a:lnTo>
                  <a:pt x="1189038" y="146050"/>
                </a:lnTo>
                <a:cubicBezTo>
                  <a:pt x="1189038" y="226657"/>
                  <a:pt x="1123595" y="292100"/>
                  <a:pt x="1042988" y="292100"/>
                </a:cubicBezTo>
                <a:lnTo>
                  <a:pt x="146050" y="292100"/>
                </a:lnTo>
                <a:cubicBezTo>
                  <a:pt x="65443" y="292100"/>
                  <a:pt x="0" y="226657"/>
                  <a:pt x="0" y="146050"/>
                </a:cubicBezTo>
                <a:lnTo>
                  <a:pt x="0" y="146050"/>
                </a:lnTo>
                <a:cubicBezTo>
                  <a:pt x="0" y="65443"/>
                  <a:pt x="65443" y="0"/>
                  <a:pt x="14605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725" y="41116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418" y="31254"/>
                </a:moveTo>
                <a:cubicBezTo>
                  <a:pt x="16168" y="31254"/>
                  <a:pt x="20836" y="26586"/>
                  <a:pt x="20836" y="20836"/>
                </a:cubicBezTo>
                <a:cubicBezTo>
                  <a:pt x="20836" y="15086"/>
                  <a:pt x="16168" y="10418"/>
                  <a:pt x="10418" y="10418"/>
                </a:cubicBezTo>
                <a:cubicBezTo>
                  <a:pt x="4668" y="10418"/>
                  <a:pt x="0" y="15086"/>
                  <a:pt x="0" y="20836"/>
                </a:cubicBezTo>
                <a:cubicBezTo>
                  <a:pt x="0" y="26586"/>
                  <a:pt x="4668" y="31254"/>
                  <a:pt x="10418" y="31254"/>
                </a:cubicBezTo>
                <a:close/>
                <a:moveTo>
                  <a:pt x="41672" y="13891"/>
                </a:moveTo>
                <a:cubicBezTo>
                  <a:pt x="37830" y="13891"/>
                  <a:pt x="34727" y="16994"/>
                  <a:pt x="34727" y="20836"/>
                </a:cubicBezTo>
                <a:cubicBezTo>
                  <a:pt x="34727" y="24678"/>
                  <a:pt x="37830" y="27781"/>
                  <a:pt x="41672" y="27781"/>
                </a:cubicBezTo>
                <a:lnTo>
                  <a:pt x="104180" y="27781"/>
                </a:lnTo>
                <a:cubicBezTo>
                  <a:pt x="108021" y="27781"/>
                  <a:pt x="111125" y="24678"/>
                  <a:pt x="111125" y="20836"/>
                </a:cubicBezTo>
                <a:cubicBezTo>
                  <a:pt x="111125" y="16994"/>
                  <a:pt x="108021" y="13891"/>
                  <a:pt x="104180" y="13891"/>
                </a:cubicBezTo>
                <a:lnTo>
                  <a:pt x="41672" y="13891"/>
                </a:lnTo>
                <a:close/>
                <a:moveTo>
                  <a:pt x="41672" y="48617"/>
                </a:moveTo>
                <a:cubicBezTo>
                  <a:pt x="37830" y="48617"/>
                  <a:pt x="34727" y="51721"/>
                  <a:pt x="34727" y="55563"/>
                </a:cubicBezTo>
                <a:cubicBezTo>
                  <a:pt x="34727" y="59404"/>
                  <a:pt x="37830" y="62508"/>
                  <a:pt x="41672" y="62508"/>
                </a:cubicBezTo>
                <a:lnTo>
                  <a:pt x="104180" y="62508"/>
                </a:lnTo>
                <a:cubicBezTo>
                  <a:pt x="108021" y="62508"/>
                  <a:pt x="111125" y="59404"/>
                  <a:pt x="111125" y="55563"/>
                </a:cubicBezTo>
                <a:cubicBezTo>
                  <a:pt x="111125" y="51721"/>
                  <a:pt x="108021" y="48617"/>
                  <a:pt x="104180" y="48617"/>
                </a:cubicBezTo>
                <a:lnTo>
                  <a:pt x="41672" y="48617"/>
                </a:lnTo>
                <a:close/>
                <a:moveTo>
                  <a:pt x="41672" y="83344"/>
                </a:moveTo>
                <a:cubicBezTo>
                  <a:pt x="37830" y="83344"/>
                  <a:pt x="34727" y="86447"/>
                  <a:pt x="34727" y="90289"/>
                </a:cubicBezTo>
                <a:cubicBezTo>
                  <a:pt x="34727" y="94131"/>
                  <a:pt x="37830" y="97234"/>
                  <a:pt x="41672" y="97234"/>
                </a:cubicBezTo>
                <a:lnTo>
                  <a:pt x="104180" y="97234"/>
                </a:lnTo>
                <a:cubicBezTo>
                  <a:pt x="108021" y="97234"/>
                  <a:pt x="111125" y="94131"/>
                  <a:pt x="111125" y="90289"/>
                </a:cubicBezTo>
                <a:cubicBezTo>
                  <a:pt x="111125" y="86447"/>
                  <a:pt x="108021" y="83344"/>
                  <a:pt x="104180" y="83344"/>
                </a:cubicBezTo>
                <a:lnTo>
                  <a:pt x="41672" y="83344"/>
                </a:lnTo>
                <a:close/>
                <a:moveTo>
                  <a:pt x="10418" y="100707"/>
                </a:moveTo>
                <a:cubicBezTo>
                  <a:pt x="16168" y="100707"/>
                  <a:pt x="20836" y="96039"/>
                  <a:pt x="20836" y="90289"/>
                </a:cubicBezTo>
                <a:cubicBezTo>
                  <a:pt x="20836" y="84539"/>
                  <a:pt x="16168" y="79871"/>
                  <a:pt x="10418" y="79871"/>
                </a:cubicBezTo>
                <a:cubicBezTo>
                  <a:pt x="4668" y="79871"/>
                  <a:pt x="0" y="84539"/>
                  <a:pt x="0" y="90289"/>
                </a:cubicBezTo>
                <a:cubicBezTo>
                  <a:pt x="0" y="96039"/>
                  <a:pt x="4668" y="100707"/>
                  <a:pt x="10418" y="100707"/>
                </a:cubicBezTo>
                <a:close/>
                <a:moveTo>
                  <a:pt x="20836" y="55563"/>
                </a:moveTo>
                <a:cubicBezTo>
                  <a:pt x="20836" y="49813"/>
                  <a:pt x="16168" y="45145"/>
                  <a:pt x="10418" y="45145"/>
                </a:cubicBezTo>
                <a:cubicBezTo>
                  <a:pt x="4668" y="45145"/>
                  <a:pt x="0" y="49813"/>
                  <a:pt x="0" y="55563"/>
                </a:cubicBezTo>
                <a:cubicBezTo>
                  <a:pt x="0" y="61312"/>
                  <a:pt x="4668" y="65980"/>
                  <a:pt x="10418" y="65980"/>
                </a:cubicBezTo>
                <a:cubicBezTo>
                  <a:pt x="16168" y="65980"/>
                  <a:pt x="20836" y="61312"/>
                  <a:pt x="20836" y="555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53256" y="387350"/>
            <a:ext cx="77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429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12509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20675" y="1476375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2600" y="163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90649" y="1717675"/>
            <a:ext cx="24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90600" y="1638300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AWS Infrastructure Services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90600" y="1908175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services overview and architecture foundation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6175" y="1476375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8100" y="163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81763" y="1717675"/>
            <a:ext cx="26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96100" y="1638300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Auto Scaling - Overview &amp; Components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96100" y="1908175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templates, ASGs, and scaling mechanisms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675" y="2363171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2600" y="252509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5568" y="2604470"/>
            <a:ext cx="27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0600" y="2525095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 - Scaling Policies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0600" y="2794970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tracking, step scaling, and scheduled scaling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6175" y="2363171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8100" y="252509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81167" y="2604470"/>
            <a:ext cx="27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96100" y="2525095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Elastic Load Balancing - Overview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96100" y="2794970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ALB, NLB, CLB, and GWLB comparison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0675" y="3249965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600" y="34118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576659" y="3491265"/>
            <a:ext cx="26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0600" y="3411890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Load Balancer (ALB) Deep Dive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90600" y="3681765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7 routing, path-based and host-based routing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26175" y="3249965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88100" y="34118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480473" y="3491265"/>
            <a:ext cx="27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96100" y="3411890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Load Balancer (NLB) Deep Dive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96100" y="3681765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4, ultra-low latency, and static IP features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0675" y="4136760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2600" y="429868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81819" y="4378061"/>
            <a:ext cx="26193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90600" y="4298686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Balancer Advanced Features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90600" y="4568561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SSL termination, sticky sessions, health checks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26175" y="4136760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88100" y="429868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79183" y="4378061"/>
            <a:ext cx="27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96100" y="4298686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API Gateway - Overview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96100" y="4568561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managed API service and core concepts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20675" y="5023555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2600" y="51854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74973" y="5264855"/>
            <a:ext cx="277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90600" y="5185480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 - API Types &amp; Core Features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90600" y="5455355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REST, HTTP, WebSocket APIs and caching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26175" y="5023555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88100" y="518548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496150" y="5264855"/>
            <a:ext cx="24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96100" y="5185480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 - Security &amp; Throttling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96100" y="5455355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Authentication, authorization, and rate limiting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320675" y="5910350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2600" y="6072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609600" y="6151650"/>
            <a:ext cx="206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90600" y="6072275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 - WebSocket APIs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90600" y="6342150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bidirectional communication architecture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226175" y="5910350"/>
            <a:ext cx="5641975" cy="800100"/>
          </a:xfrm>
          <a:custGeom>
            <a:avLst/>
            <a:gdLst/>
            <a:ahLst/>
            <a:cxnLst/>
            <a:rect l="l" t="t" r="r" b="b"/>
            <a:pathLst>
              <a:path w="5641975" h="800100">
                <a:moveTo>
                  <a:pt x="127000" y="0"/>
                </a:moveTo>
                <a:lnTo>
                  <a:pt x="5514975" y="0"/>
                </a:lnTo>
                <a:cubicBezTo>
                  <a:pt x="5585115" y="0"/>
                  <a:pt x="5641975" y="56860"/>
                  <a:pt x="5641975" y="127000"/>
                </a:cubicBezTo>
                <a:lnTo>
                  <a:pt x="5641975" y="673100"/>
                </a:lnTo>
                <a:cubicBezTo>
                  <a:pt x="5641975" y="743240"/>
                  <a:pt x="5585115" y="800100"/>
                  <a:pt x="5514975" y="800100"/>
                </a:cubicBezTo>
                <a:lnTo>
                  <a:pt x="127000" y="800100"/>
                </a:lnTo>
                <a:cubicBezTo>
                  <a:pt x="56860" y="800100"/>
                  <a:pt x="0" y="743240"/>
                  <a:pt x="0" y="673100"/>
                </a:cubicBezTo>
                <a:lnTo>
                  <a:pt x="0" y="127000"/>
                </a:lnTo>
                <a:cubicBezTo>
                  <a:pt x="0" y="56860"/>
                  <a:pt x="56860" y="0"/>
                  <a:pt x="127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88100" y="60722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6500713" y="6151650"/>
            <a:ext cx="23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96100" y="6072275"/>
            <a:ext cx="4889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&amp; Best Practices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896100" y="6342150"/>
            <a:ext cx="487362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integration patterns and optimization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963" y="357963"/>
            <a:ext cx="1371600" cy="326065"/>
          </a:xfrm>
          <a:custGeom>
            <a:avLst/>
            <a:gdLst/>
            <a:ahLst/>
            <a:cxnLst/>
            <a:rect l="l" t="t" r="r" b="b"/>
            <a:pathLst>
              <a:path w="1371600" h="326065">
                <a:moveTo>
                  <a:pt x="163033" y="0"/>
                </a:moveTo>
                <a:lnTo>
                  <a:pt x="1208567" y="0"/>
                </a:lnTo>
                <a:cubicBezTo>
                  <a:pt x="1298608" y="0"/>
                  <a:pt x="1371600" y="72992"/>
                  <a:pt x="1371600" y="163033"/>
                </a:cubicBezTo>
                <a:lnTo>
                  <a:pt x="1371600" y="163033"/>
                </a:lnTo>
                <a:cubicBezTo>
                  <a:pt x="1371600" y="253073"/>
                  <a:pt x="1298608" y="326065"/>
                  <a:pt x="1208567" y="326065"/>
                </a:cubicBezTo>
                <a:lnTo>
                  <a:pt x="163033" y="326065"/>
                </a:lnTo>
                <a:cubicBezTo>
                  <a:pt x="73052" y="326065"/>
                  <a:pt x="0" y="253013"/>
                  <a:pt x="0" y="163033"/>
                </a:cubicBezTo>
                <a:lnTo>
                  <a:pt x="0" y="163033"/>
                </a:lnTo>
                <a:cubicBezTo>
                  <a:pt x="0" y="73052"/>
                  <a:pt x="73052" y="0"/>
                  <a:pt x="16303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0995" y="458973"/>
            <a:ext cx="124047" cy="124047"/>
          </a:xfrm>
          <a:custGeom>
            <a:avLst/>
            <a:gdLst/>
            <a:ahLst/>
            <a:cxnLst/>
            <a:rect l="l" t="t" r="r" b="b"/>
            <a:pathLst>
              <a:path w="124047" h="124047">
                <a:moveTo>
                  <a:pt x="56330" y="1260"/>
                </a:moveTo>
                <a:cubicBezTo>
                  <a:pt x="59940" y="-412"/>
                  <a:pt x="64107" y="-412"/>
                  <a:pt x="67717" y="1260"/>
                </a:cubicBezTo>
                <a:lnTo>
                  <a:pt x="120679" y="25730"/>
                </a:lnTo>
                <a:cubicBezTo>
                  <a:pt x="122738" y="26675"/>
                  <a:pt x="124047" y="28734"/>
                  <a:pt x="124047" y="31012"/>
                </a:cubicBezTo>
                <a:cubicBezTo>
                  <a:pt x="124047" y="33289"/>
                  <a:pt x="122738" y="35348"/>
                  <a:pt x="120679" y="36293"/>
                </a:cubicBezTo>
                <a:lnTo>
                  <a:pt x="67717" y="60763"/>
                </a:lnTo>
                <a:cubicBezTo>
                  <a:pt x="64107" y="62435"/>
                  <a:pt x="59940" y="62435"/>
                  <a:pt x="56330" y="60763"/>
                </a:cubicBezTo>
                <a:lnTo>
                  <a:pt x="3368" y="36293"/>
                </a:lnTo>
                <a:cubicBezTo>
                  <a:pt x="1308" y="35324"/>
                  <a:pt x="0" y="33265"/>
                  <a:pt x="0" y="31012"/>
                </a:cubicBezTo>
                <a:cubicBezTo>
                  <a:pt x="0" y="28758"/>
                  <a:pt x="1308" y="26675"/>
                  <a:pt x="3368" y="25730"/>
                </a:cubicBezTo>
                <a:lnTo>
                  <a:pt x="56330" y="1260"/>
                </a:lnTo>
                <a:close/>
                <a:moveTo>
                  <a:pt x="11654" y="52914"/>
                </a:moveTo>
                <a:lnTo>
                  <a:pt x="51460" y="71303"/>
                </a:lnTo>
                <a:cubicBezTo>
                  <a:pt x="58171" y="74404"/>
                  <a:pt x="65900" y="74404"/>
                  <a:pt x="72611" y="71303"/>
                </a:cubicBezTo>
                <a:lnTo>
                  <a:pt x="112417" y="52914"/>
                </a:lnTo>
                <a:lnTo>
                  <a:pt x="120679" y="56742"/>
                </a:lnTo>
                <a:cubicBezTo>
                  <a:pt x="122738" y="57686"/>
                  <a:pt x="124047" y="59746"/>
                  <a:pt x="124047" y="62023"/>
                </a:cubicBezTo>
                <a:cubicBezTo>
                  <a:pt x="124047" y="64301"/>
                  <a:pt x="122738" y="66360"/>
                  <a:pt x="120679" y="67305"/>
                </a:cubicBezTo>
                <a:lnTo>
                  <a:pt x="67717" y="91775"/>
                </a:lnTo>
                <a:cubicBezTo>
                  <a:pt x="64107" y="93447"/>
                  <a:pt x="59940" y="93447"/>
                  <a:pt x="56330" y="91775"/>
                </a:cubicBezTo>
                <a:lnTo>
                  <a:pt x="3368" y="67305"/>
                </a:lnTo>
                <a:cubicBezTo>
                  <a:pt x="1308" y="66336"/>
                  <a:pt x="0" y="64276"/>
                  <a:pt x="0" y="62023"/>
                </a:cubicBezTo>
                <a:cubicBezTo>
                  <a:pt x="0" y="59770"/>
                  <a:pt x="1308" y="57686"/>
                  <a:pt x="3368" y="56742"/>
                </a:cubicBezTo>
                <a:lnTo>
                  <a:pt x="11629" y="52914"/>
                </a:lnTo>
                <a:close/>
                <a:moveTo>
                  <a:pt x="3368" y="87753"/>
                </a:moveTo>
                <a:lnTo>
                  <a:pt x="11629" y="83925"/>
                </a:lnTo>
                <a:lnTo>
                  <a:pt x="51436" y="102314"/>
                </a:lnTo>
                <a:cubicBezTo>
                  <a:pt x="58147" y="105415"/>
                  <a:pt x="65875" y="105415"/>
                  <a:pt x="72587" y="102314"/>
                </a:cubicBezTo>
                <a:lnTo>
                  <a:pt x="112393" y="83925"/>
                </a:lnTo>
                <a:lnTo>
                  <a:pt x="120655" y="87753"/>
                </a:lnTo>
                <a:cubicBezTo>
                  <a:pt x="122714" y="88698"/>
                  <a:pt x="124022" y="90757"/>
                  <a:pt x="124022" y="93035"/>
                </a:cubicBezTo>
                <a:cubicBezTo>
                  <a:pt x="124022" y="95312"/>
                  <a:pt x="122714" y="97372"/>
                  <a:pt x="120655" y="98317"/>
                </a:cubicBezTo>
                <a:lnTo>
                  <a:pt x="67693" y="122787"/>
                </a:lnTo>
                <a:cubicBezTo>
                  <a:pt x="64083" y="124458"/>
                  <a:pt x="59915" y="124458"/>
                  <a:pt x="56305" y="122787"/>
                </a:cubicBezTo>
                <a:lnTo>
                  <a:pt x="3368" y="98317"/>
                </a:lnTo>
                <a:cubicBezTo>
                  <a:pt x="1308" y="97347"/>
                  <a:pt x="0" y="95288"/>
                  <a:pt x="0" y="93035"/>
                </a:cubicBezTo>
                <a:cubicBezTo>
                  <a:pt x="0" y="90782"/>
                  <a:pt x="1308" y="88698"/>
                  <a:pt x="3368" y="8775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29216" y="432391"/>
            <a:ext cx="921488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kern="0" spc="4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4419" y="793897"/>
            <a:ext cx="1164265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AWS Infrastructure Services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4419" y="1254642"/>
            <a:ext cx="850605" cy="35442"/>
          </a:xfrm>
          <a:custGeom>
            <a:avLst/>
            <a:gdLst/>
            <a:ahLst/>
            <a:cxnLst/>
            <a:rect l="l" t="t" r="r" b="b"/>
            <a:pathLst>
              <a:path w="850605" h="35442">
                <a:moveTo>
                  <a:pt x="0" y="0"/>
                </a:moveTo>
                <a:lnTo>
                  <a:pt x="850605" y="0"/>
                </a:lnTo>
                <a:lnTo>
                  <a:pt x="850605" y="35442"/>
                </a:lnTo>
                <a:lnTo>
                  <a:pt x="0" y="35442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57963" y="1435395"/>
            <a:ext cx="6191693" cy="3276600"/>
          </a:xfrm>
          <a:custGeom>
            <a:avLst/>
            <a:gdLst/>
            <a:ahLst/>
            <a:cxnLst/>
            <a:rect l="l" t="t" r="r" b="b"/>
            <a:pathLst>
              <a:path w="6191693" h="3276600">
                <a:moveTo>
                  <a:pt x="141778" y="0"/>
                </a:moveTo>
                <a:lnTo>
                  <a:pt x="6049915" y="0"/>
                </a:lnTo>
                <a:cubicBezTo>
                  <a:pt x="6128217" y="0"/>
                  <a:pt x="6191693" y="63476"/>
                  <a:pt x="6191693" y="141778"/>
                </a:cubicBezTo>
                <a:lnTo>
                  <a:pt x="6191693" y="3134822"/>
                </a:lnTo>
                <a:cubicBezTo>
                  <a:pt x="6191693" y="3213124"/>
                  <a:pt x="6128217" y="3276600"/>
                  <a:pt x="6049915" y="3276600"/>
                </a:cubicBezTo>
                <a:lnTo>
                  <a:pt x="141778" y="3276600"/>
                </a:lnTo>
                <a:cubicBezTo>
                  <a:pt x="63476" y="3276600"/>
                  <a:pt x="0" y="3213124"/>
                  <a:pt x="0" y="3134822"/>
                </a:cubicBezTo>
                <a:lnTo>
                  <a:pt x="0" y="141778"/>
                </a:lnTo>
                <a:cubicBezTo>
                  <a:pt x="0" y="63476"/>
                  <a:pt x="63476" y="0"/>
                  <a:pt x="14177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8716" y="1616149"/>
            <a:ext cx="5909930" cy="779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5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Infrastructure Services</a:t>
            </a:r>
            <a:r>
              <a:rPr lang="en-US" sz="125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form the backbone of modern cloud architectures, enabling organizations to build </a:t>
            </a:r>
            <a:r>
              <a:rPr lang="en-US" sz="1256" dirty="0">
                <a:solidFill>
                  <a:srgbClr val="EFEFEF"/>
                </a:solidFill>
                <a:highlight>
                  <a:srgbClr val="6366F1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scalable, highly available, and cost-efficient applications </a:t>
            </a:r>
            <a:r>
              <a:rPr lang="en-US" sz="125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8716" y="2535422"/>
            <a:ext cx="5901070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core services work together seamlessly to provide automatic resource management, intelligent traffic distribution, and robust API management capabilities.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2260" y="3141479"/>
            <a:ext cx="1867786" cy="1389321"/>
          </a:xfrm>
          <a:custGeom>
            <a:avLst/>
            <a:gdLst/>
            <a:ahLst/>
            <a:cxnLst/>
            <a:rect l="l" t="t" r="r" b="b"/>
            <a:pathLst>
              <a:path w="1867786" h="1389321">
                <a:moveTo>
                  <a:pt x="106325" y="0"/>
                </a:moveTo>
                <a:lnTo>
                  <a:pt x="1761461" y="0"/>
                </a:lnTo>
                <a:cubicBezTo>
                  <a:pt x="1820183" y="0"/>
                  <a:pt x="1867786" y="47603"/>
                  <a:pt x="1867786" y="106325"/>
                </a:cubicBezTo>
                <a:lnTo>
                  <a:pt x="1867786" y="1282996"/>
                </a:lnTo>
                <a:cubicBezTo>
                  <a:pt x="1867786" y="1341718"/>
                  <a:pt x="1820183" y="1389321"/>
                  <a:pt x="1761461" y="1389321"/>
                </a:cubicBezTo>
                <a:lnTo>
                  <a:pt x="106325" y="1389321"/>
                </a:lnTo>
                <a:cubicBezTo>
                  <a:pt x="47603" y="1389321"/>
                  <a:pt x="0" y="1341718"/>
                  <a:pt x="0" y="1282996"/>
                </a:cubicBezTo>
                <a:lnTo>
                  <a:pt x="0" y="106325"/>
                </a:lnTo>
                <a:cubicBezTo>
                  <a:pt x="0" y="47643"/>
                  <a:pt x="47643" y="0"/>
                  <a:pt x="10632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2284" y="3286789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106326" y="0"/>
                </a:moveTo>
                <a:lnTo>
                  <a:pt x="318977" y="0"/>
                </a:lnTo>
                <a:cubicBezTo>
                  <a:pt x="377659" y="0"/>
                  <a:pt x="425302" y="47643"/>
                  <a:pt x="425302" y="106326"/>
                </a:cubicBezTo>
                <a:lnTo>
                  <a:pt x="425302" y="318977"/>
                </a:lnTo>
                <a:cubicBezTo>
                  <a:pt x="425302" y="377659"/>
                  <a:pt x="377659" y="425302"/>
                  <a:pt x="318977" y="425302"/>
                </a:cubicBezTo>
                <a:lnTo>
                  <a:pt x="106326" y="425302"/>
                </a:lnTo>
                <a:cubicBezTo>
                  <a:pt x="47643" y="425302"/>
                  <a:pt x="0" y="377659"/>
                  <a:pt x="0" y="318977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97406" y="3410836"/>
            <a:ext cx="155058" cy="177209"/>
          </a:xfrm>
          <a:custGeom>
            <a:avLst/>
            <a:gdLst/>
            <a:ahLst/>
            <a:cxnLst/>
            <a:rect l="l" t="t" r="r" b="b"/>
            <a:pathLst>
              <a:path w="155058" h="177209">
                <a:moveTo>
                  <a:pt x="58147" y="11076"/>
                </a:moveTo>
                <a:lnTo>
                  <a:pt x="8307" y="11076"/>
                </a:lnTo>
                <a:cubicBezTo>
                  <a:pt x="3703" y="11076"/>
                  <a:pt x="0" y="14779"/>
                  <a:pt x="0" y="19382"/>
                </a:cubicBezTo>
                <a:lnTo>
                  <a:pt x="0" y="69222"/>
                </a:lnTo>
                <a:cubicBezTo>
                  <a:pt x="0" y="72580"/>
                  <a:pt x="2007" y="75625"/>
                  <a:pt x="5122" y="76906"/>
                </a:cubicBezTo>
                <a:cubicBezTo>
                  <a:pt x="8237" y="78187"/>
                  <a:pt x="11802" y="77460"/>
                  <a:pt x="14191" y="75106"/>
                </a:cubicBezTo>
                <a:lnTo>
                  <a:pt x="28035" y="61262"/>
                </a:lnTo>
                <a:lnTo>
                  <a:pt x="55378" y="88605"/>
                </a:lnTo>
                <a:lnTo>
                  <a:pt x="28035" y="115947"/>
                </a:lnTo>
                <a:lnTo>
                  <a:pt x="14191" y="102103"/>
                </a:lnTo>
                <a:cubicBezTo>
                  <a:pt x="11802" y="99715"/>
                  <a:pt x="8237" y="99023"/>
                  <a:pt x="5122" y="100303"/>
                </a:cubicBezTo>
                <a:cubicBezTo>
                  <a:pt x="2007" y="101584"/>
                  <a:pt x="0" y="104630"/>
                  <a:pt x="0" y="107987"/>
                </a:cubicBezTo>
                <a:lnTo>
                  <a:pt x="0" y="157827"/>
                </a:lnTo>
                <a:cubicBezTo>
                  <a:pt x="0" y="162430"/>
                  <a:pt x="3703" y="166134"/>
                  <a:pt x="8307" y="166134"/>
                </a:cubicBezTo>
                <a:lnTo>
                  <a:pt x="58147" y="166134"/>
                </a:lnTo>
                <a:cubicBezTo>
                  <a:pt x="61504" y="166134"/>
                  <a:pt x="64550" y="164126"/>
                  <a:pt x="65830" y="161011"/>
                </a:cubicBezTo>
                <a:cubicBezTo>
                  <a:pt x="67111" y="157896"/>
                  <a:pt x="66419" y="154331"/>
                  <a:pt x="64031" y="151943"/>
                </a:cubicBezTo>
                <a:lnTo>
                  <a:pt x="50186" y="138099"/>
                </a:lnTo>
                <a:lnTo>
                  <a:pt x="77529" y="110756"/>
                </a:lnTo>
                <a:lnTo>
                  <a:pt x="104872" y="138099"/>
                </a:lnTo>
                <a:lnTo>
                  <a:pt x="91027" y="151943"/>
                </a:lnTo>
                <a:cubicBezTo>
                  <a:pt x="88639" y="154331"/>
                  <a:pt x="87947" y="157896"/>
                  <a:pt x="89228" y="161011"/>
                </a:cubicBezTo>
                <a:cubicBezTo>
                  <a:pt x="90508" y="164126"/>
                  <a:pt x="93554" y="166134"/>
                  <a:pt x="96911" y="166134"/>
                </a:cubicBezTo>
                <a:lnTo>
                  <a:pt x="146751" y="166134"/>
                </a:lnTo>
                <a:cubicBezTo>
                  <a:pt x="151355" y="166134"/>
                  <a:pt x="155058" y="162430"/>
                  <a:pt x="155058" y="157827"/>
                </a:cubicBezTo>
                <a:lnTo>
                  <a:pt x="155058" y="107987"/>
                </a:lnTo>
                <a:cubicBezTo>
                  <a:pt x="155058" y="104630"/>
                  <a:pt x="153051" y="101584"/>
                  <a:pt x="149936" y="100303"/>
                </a:cubicBezTo>
                <a:cubicBezTo>
                  <a:pt x="146821" y="99023"/>
                  <a:pt x="143256" y="99715"/>
                  <a:pt x="140868" y="102103"/>
                </a:cubicBezTo>
                <a:lnTo>
                  <a:pt x="127023" y="115947"/>
                </a:lnTo>
                <a:lnTo>
                  <a:pt x="99680" y="88605"/>
                </a:lnTo>
                <a:lnTo>
                  <a:pt x="127023" y="61262"/>
                </a:lnTo>
                <a:lnTo>
                  <a:pt x="140868" y="75106"/>
                </a:lnTo>
                <a:cubicBezTo>
                  <a:pt x="143256" y="77494"/>
                  <a:pt x="146821" y="78187"/>
                  <a:pt x="149936" y="76906"/>
                </a:cubicBezTo>
                <a:cubicBezTo>
                  <a:pt x="153051" y="75625"/>
                  <a:pt x="155058" y="72580"/>
                  <a:pt x="155058" y="69222"/>
                </a:cubicBezTo>
                <a:lnTo>
                  <a:pt x="155058" y="19382"/>
                </a:lnTo>
                <a:cubicBezTo>
                  <a:pt x="155058" y="14779"/>
                  <a:pt x="151355" y="11076"/>
                  <a:pt x="146751" y="11076"/>
                </a:cubicBezTo>
                <a:lnTo>
                  <a:pt x="96911" y="11076"/>
                </a:lnTo>
                <a:cubicBezTo>
                  <a:pt x="93554" y="11076"/>
                  <a:pt x="90508" y="13083"/>
                  <a:pt x="89228" y="16198"/>
                </a:cubicBezTo>
                <a:cubicBezTo>
                  <a:pt x="87947" y="19313"/>
                  <a:pt x="88674" y="22878"/>
                  <a:pt x="91027" y="25266"/>
                </a:cubicBezTo>
                <a:lnTo>
                  <a:pt x="104872" y="39111"/>
                </a:lnTo>
                <a:lnTo>
                  <a:pt x="77529" y="66453"/>
                </a:lnTo>
                <a:lnTo>
                  <a:pt x="50186" y="39111"/>
                </a:lnTo>
                <a:lnTo>
                  <a:pt x="64031" y="25266"/>
                </a:lnTo>
                <a:cubicBezTo>
                  <a:pt x="66419" y="22878"/>
                  <a:pt x="67111" y="19313"/>
                  <a:pt x="65830" y="16198"/>
                </a:cubicBezTo>
                <a:cubicBezTo>
                  <a:pt x="64550" y="13083"/>
                  <a:pt x="61504" y="11076"/>
                  <a:pt x="58147" y="1107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652130" y="3782975"/>
            <a:ext cx="1648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60" y="4031068"/>
            <a:ext cx="1639186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capacity adjustment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21024" y="3141479"/>
            <a:ext cx="1867786" cy="1389321"/>
          </a:xfrm>
          <a:custGeom>
            <a:avLst/>
            <a:gdLst/>
            <a:ahLst/>
            <a:cxnLst/>
            <a:rect l="l" t="t" r="r" b="b"/>
            <a:pathLst>
              <a:path w="1867786" h="1389321">
                <a:moveTo>
                  <a:pt x="106325" y="0"/>
                </a:moveTo>
                <a:lnTo>
                  <a:pt x="1761461" y="0"/>
                </a:lnTo>
                <a:cubicBezTo>
                  <a:pt x="1820183" y="0"/>
                  <a:pt x="1867786" y="47603"/>
                  <a:pt x="1867786" y="106325"/>
                </a:cubicBezTo>
                <a:lnTo>
                  <a:pt x="1867786" y="1282996"/>
                </a:lnTo>
                <a:cubicBezTo>
                  <a:pt x="1867786" y="1341718"/>
                  <a:pt x="1820183" y="1389321"/>
                  <a:pt x="1761461" y="1389321"/>
                </a:cubicBezTo>
                <a:lnTo>
                  <a:pt x="106325" y="1389321"/>
                </a:lnTo>
                <a:cubicBezTo>
                  <a:pt x="47603" y="1389321"/>
                  <a:pt x="0" y="1341718"/>
                  <a:pt x="0" y="1282996"/>
                </a:cubicBezTo>
                <a:lnTo>
                  <a:pt x="0" y="106325"/>
                </a:lnTo>
                <a:cubicBezTo>
                  <a:pt x="0" y="47643"/>
                  <a:pt x="47643" y="0"/>
                  <a:pt x="10632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1047" y="3286789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106326" y="0"/>
                </a:moveTo>
                <a:lnTo>
                  <a:pt x="318977" y="0"/>
                </a:lnTo>
                <a:cubicBezTo>
                  <a:pt x="377659" y="0"/>
                  <a:pt x="425302" y="47643"/>
                  <a:pt x="425302" y="106326"/>
                </a:cubicBezTo>
                <a:lnTo>
                  <a:pt x="425302" y="318977"/>
                </a:lnTo>
                <a:cubicBezTo>
                  <a:pt x="425302" y="377659"/>
                  <a:pt x="377659" y="425302"/>
                  <a:pt x="318977" y="425302"/>
                </a:cubicBezTo>
                <a:lnTo>
                  <a:pt x="106326" y="425302"/>
                </a:lnTo>
                <a:cubicBezTo>
                  <a:pt x="47643" y="425302"/>
                  <a:pt x="0" y="377659"/>
                  <a:pt x="0" y="318977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365094" y="3410836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139760" y="11906"/>
                </a:moveTo>
                <a:cubicBezTo>
                  <a:pt x="143913" y="10176"/>
                  <a:pt x="148655" y="11145"/>
                  <a:pt x="151839" y="14294"/>
                </a:cubicBezTo>
                <a:lnTo>
                  <a:pt x="173990" y="36446"/>
                </a:lnTo>
                <a:cubicBezTo>
                  <a:pt x="176067" y="38522"/>
                  <a:pt x="177244" y="41326"/>
                  <a:pt x="177244" y="44268"/>
                </a:cubicBezTo>
                <a:cubicBezTo>
                  <a:pt x="177244" y="47210"/>
                  <a:pt x="176067" y="50013"/>
                  <a:pt x="173990" y="52090"/>
                </a:cubicBezTo>
                <a:lnTo>
                  <a:pt x="151839" y="74241"/>
                </a:lnTo>
                <a:cubicBezTo>
                  <a:pt x="148655" y="77425"/>
                  <a:pt x="143913" y="78360"/>
                  <a:pt x="139760" y="76629"/>
                </a:cubicBezTo>
                <a:cubicBezTo>
                  <a:pt x="135607" y="74899"/>
                  <a:pt x="132907" y="70918"/>
                  <a:pt x="132907" y="66453"/>
                </a:cubicBezTo>
                <a:lnTo>
                  <a:pt x="132907" y="55378"/>
                </a:lnTo>
                <a:lnTo>
                  <a:pt x="121831" y="55378"/>
                </a:lnTo>
                <a:cubicBezTo>
                  <a:pt x="118336" y="55378"/>
                  <a:pt x="115048" y="57005"/>
                  <a:pt x="112971" y="59808"/>
                </a:cubicBezTo>
                <a:lnTo>
                  <a:pt x="101757" y="74760"/>
                </a:lnTo>
                <a:lnTo>
                  <a:pt x="87912" y="56312"/>
                </a:lnTo>
                <a:lnTo>
                  <a:pt x="95250" y="46517"/>
                </a:lnTo>
                <a:cubicBezTo>
                  <a:pt x="101515" y="38142"/>
                  <a:pt x="111379" y="33227"/>
                  <a:pt x="121831" y="33227"/>
                </a:cubicBezTo>
                <a:lnTo>
                  <a:pt x="132907" y="33227"/>
                </a:lnTo>
                <a:lnTo>
                  <a:pt x="132907" y="22151"/>
                </a:lnTo>
                <a:cubicBezTo>
                  <a:pt x="132907" y="17686"/>
                  <a:pt x="135607" y="13637"/>
                  <a:pt x="139760" y="11906"/>
                </a:cubicBezTo>
                <a:close/>
                <a:moveTo>
                  <a:pt x="53301" y="102449"/>
                </a:moveTo>
                <a:lnTo>
                  <a:pt x="67146" y="120897"/>
                </a:lnTo>
                <a:lnTo>
                  <a:pt x="59808" y="130692"/>
                </a:lnTo>
                <a:cubicBezTo>
                  <a:pt x="53544" y="139068"/>
                  <a:pt x="43679" y="143983"/>
                  <a:pt x="33227" y="143983"/>
                </a:cubicBezTo>
                <a:lnTo>
                  <a:pt x="11076" y="143983"/>
                </a:lnTo>
                <a:cubicBezTo>
                  <a:pt x="4949" y="143983"/>
                  <a:pt x="0" y="139033"/>
                  <a:pt x="0" y="132907"/>
                </a:cubicBezTo>
                <a:cubicBezTo>
                  <a:pt x="0" y="126781"/>
                  <a:pt x="4949" y="121831"/>
                  <a:pt x="11076" y="121831"/>
                </a:cubicBezTo>
                <a:lnTo>
                  <a:pt x="33227" y="121831"/>
                </a:lnTo>
                <a:cubicBezTo>
                  <a:pt x="36722" y="121831"/>
                  <a:pt x="40011" y="120205"/>
                  <a:pt x="42087" y="117401"/>
                </a:cubicBezTo>
                <a:lnTo>
                  <a:pt x="53301" y="102449"/>
                </a:lnTo>
                <a:close/>
                <a:moveTo>
                  <a:pt x="151805" y="162880"/>
                </a:moveTo>
                <a:cubicBezTo>
                  <a:pt x="148620" y="166064"/>
                  <a:pt x="143879" y="166999"/>
                  <a:pt x="139725" y="165268"/>
                </a:cubicBezTo>
                <a:cubicBezTo>
                  <a:pt x="135572" y="163538"/>
                  <a:pt x="132907" y="159523"/>
                  <a:pt x="132907" y="155058"/>
                </a:cubicBezTo>
                <a:lnTo>
                  <a:pt x="132907" y="143983"/>
                </a:lnTo>
                <a:lnTo>
                  <a:pt x="121831" y="143983"/>
                </a:lnTo>
                <a:cubicBezTo>
                  <a:pt x="111379" y="143983"/>
                  <a:pt x="101515" y="139068"/>
                  <a:pt x="95250" y="130692"/>
                </a:cubicBezTo>
                <a:lnTo>
                  <a:pt x="42087" y="59808"/>
                </a:lnTo>
                <a:cubicBezTo>
                  <a:pt x="40011" y="57005"/>
                  <a:pt x="36722" y="55378"/>
                  <a:pt x="33227" y="55378"/>
                </a:cubicBezTo>
                <a:lnTo>
                  <a:pt x="11076" y="55378"/>
                </a:lnTo>
                <a:cubicBezTo>
                  <a:pt x="4949" y="55378"/>
                  <a:pt x="0" y="50429"/>
                  <a:pt x="0" y="44302"/>
                </a:cubicBezTo>
                <a:cubicBezTo>
                  <a:pt x="0" y="38176"/>
                  <a:pt x="4949" y="33227"/>
                  <a:pt x="11076" y="33227"/>
                </a:cubicBezTo>
                <a:lnTo>
                  <a:pt x="33227" y="33227"/>
                </a:lnTo>
                <a:cubicBezTo>
                  <a:pt x="43679" y="33227"/>
                  <a:pt x="53544" y="38142"/>
                  <a:pt x="59808" y="46517"/>
                </a:cubicBezTo>
                <a:lnTo>
                  <a:pt x="112971" y="117401"/>
                </a:lnTo>
                <a:cubicBezTo>
                  <a:pt x="115048" y="120205"/>
                  <a:pt x="118336" y="121831"/>
                  <a:pt x="121831" y="121831"/>
                </a:cubicBezTo>
                <a:lnTo>
                  <a:pt x="132907" y="121831"/>
                </a:lnTo>
                <a:lnTo>
                  <a:pt x="132907" y="110756"/>
                </a:lnTo>
                <a:cubicBezTo>
                  <a:pt x="132907" y="106291"/>
                  <a:pt x="135607" y="102241"/>
                  <a:pt x="139760" y="100511"/>
                </a:cubicBezTo>
                <a:cubicBezTo>
                  <a:pt x="143913" y="98780"/>
                  <a:pt x="148655" y="99749"/>
                  <a:pt x="151839" y="102899"/>
                </a:cubicBezTo>
                <a:lnTo>
                  <a:pt x="173990" y="125050"/>
                </a:lnTo>
                <a:cubicBezTo>
                  <a:pt x="176067" y="127127"/>
                  <a:pt x="177244" y="129930"/>
                  <a:pt x="177244" y="132872"/>
                </a:cubicBezTo>
                <a:cubicBezTo>
                  <a:pt x="177244" y="135814"/>
                  <a:pt x="176067" y="138618"/>
                  <a:pt x="173990" y="140694"/>
                </a:cubicBezTo>
                <a:lnTo>
                  <a:pt x="151839" y="16284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2630894" y="3782975"/>
            <a:ext cx="1648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Balancing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35324" y="4031068"/>
            <a:ext cx="163918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traffic distribution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99898" y="3141479"/>
            <a:ext cx="1867786" cy="1389321"/>
          </a:xfrm>
          <a:custGeom>
            <a:avLst/>
            <a:gdLst/>
            <a:ahLst/>
            <a:cxnLst/>
            <a:rect l="l" t="t" r="r" b="b"/>
            <a:pathLst>
              <a:path w="1867786" h="1389321">
                <a:moveTo>
                  <a:pt x="106325" y="0"/>
                </a:moveTo>
                <a:lnTo>
                  <a:pt x="1761461" y="0"/>
                </a:lnTo>
                <a:cubicBezTo>
                  <a:pt x="1820183" y="0"/>
                  <a:pt x="1867786" y="47603"/>
                  <a:pt x="1867786" y="106325"/>
                </a:cubicBezTo>
                <a:lnTo>
                  <a:pt x="1867786" y="1282996"/>
                </a:lnTo>
                <a:cubicBezTo>
                  <a:pt x="1867786" y="1341718"/>
                  <a:pt x="1820183" y="1389321"/>
                  <a:pt x="1761461" y="1389321"/>
                </a:cubicBezTo>
                <a:lnTo>
                  <a:pt x="106325" y="1389321"/>
                </a:lnTo>
                <a:cubicBezTo>
                  <a:pt x="47603" y="1389321"/>
                  <a:pt x="0" y="1341718"/>
                  <a:pt x="0" y="1282996"/>
                </a:cubicBezTo>
                <a:lnTo>
                  <a:pt x="0" y="106325"/>
                </a:lnTo>
                <a:cubicBezTo>
                  <a:pt x="0" y="47643"/>
                  <a:pt x="47643" y="0"/>
                  <a:pt x="10632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19922" y="3286789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106326" y="0"/>
                </a:moveTo>
                <a:lnTo>
                  <a:pt x="318977" y="0"/>
                </a:lnTo>
                <a:cubicBezTo>
                  <a:pt x="377659" y="0"/>
                  <a:pt x="425302" y="47643"/>
                  <a:pt x="425302" y="106326"/>
                </a:cubicBezTo>
                <a:lnTo>
                  <a:pt x="425302" y="318977"/>
                </a:lnTo>
                <a:cubicBezTo>
                  <a:pt x="425302" y="377659"/>
                  <a:pt x="377659" y="425302"/>
                  <a:pt x="318977" y="425302"/>
                </a:cubicBezTo>
                <a:lnTo>
                  <a:pt x="106326" y="425302"/>
                </a:lnTo>
                <a:cubicBezTo>
                  <a:pt x="47643" y="425302"/>
                  <a:pt x="0" y="377659"/>
                  <a:pt x="0" y="318977"/>
                </a:cubicBezTo>
                <a:lnTo>
                  <a:pt x="0" y="106326"/>
                </a:lnTo>
                <a:cubicBezTo>
                  <a:pt x="0" y="47643"/>
                  <a:pt x="47643" y="0"/>
                  <a:pt x="106326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355044" y="3410836"/>
            <a:ext cx="155058" cy="177209"/>
          </a:xfrm>
          <a:custGeom>
            <a:avLst/>
            <a:gdLst/>
            <a:ahLst/>
            <a:cxnLst/>
            <a:rect l="l" t="t" r="r" b="b"/>
            <a:pathLst>
              <a:path w="155058" h="177209">
                <a:moveTo>
                  <a:pt x="99680" y="22151"/>
                </a:moveTo>
                <a:lnTo>
                  <a:pt x="121831" y="22151"/>
                </a:lnTo>
                <a:lnTo>
                  <a:pt x="121831" y="166134"/>
                </a:lnTo>
                <a:cubicBezTo>
                  <a:pt x="121831" y="172260"/>
                  <a:pt x="126781" y="177209"/>
                  <a:pt x="132907" y="177209"/>
                </a:cubicBezTo>
                <a:lnTo>
                  <a:pt x="143983" y="177209"/>
                </a:lnTo>
                <a:cubicBezTo>
                  <a:pt x="150109" y="177209"/>
                  <a:pt x="155058" y="172260"/>
                  <a:pt x="155058" y="166134"/>
                </a:cubicBezTo>
                <a:cubicBezTo>
                  <a:pt x="155058" y="160008"/>
                  <a:pt x="150109" y="155058"/>
                  <a:pt x="143983" y="155058"/>
                </a:cubicBezTo>
                <a:lnTo>
                  <a:pt x="143983" y="22151"/>
                </a:lnTo>
                <a:cubicBezTo>
                  <a:pt x="143983" y="9933"/>
                  <a:pt x="134049" y="0"/>
                  <a:pt x="121831" y="0"/>
                </a:cubicBezTo>
                <a:lnTo>
                  <a:pt x="88605" y="0"/>
                </a:lnTo>
                <a:lnTo>
                  <a:pt x="88605" y="0"/>
                </a:lnTo>
                <a:lnTo>
                  <a:pt x="33227" y="0"/>
                </a:lnTo>
                <a:cubicBezTo>
                  <a:pt x="21009" y="0"/>
                  <a:pt x="11076" y="9933"/>
                  <a:pt x="11076" y="22151"/>
                </a:cubicBezTo>
                <a:lnTo>
                  <a:pt x="11076" y="155058"/>
                </a:lnTo>
                <a:cubicBezTo>
                  <a:pt x="4949" y="155058"/>
                  <a:pt x="0" y="160008"/>
                  <a:pt x="0" y="166134"/>
                </a:cubicBezTo>
                <a:cubicBezTo>
                  <a:pt x="0" y="172260"/>
                  <a:pt x="4949" y="177209"/>
                  <a:pt x="11076" y="177209"/>
                </a:cubicBezTo>
                <a:lnTo>
                  <a:pt x="88605" y="177209"/>
                </a:lnTo>
                <a:cubicBezTo>
                  <a:pt x="94731" y="177209"/>
                  <a:pt x="99680" y="172260"/>
                  <a:pt x="99680" y="166134"/>
                </a:cubicBezTo>
                <a:lnTo>
                  <a:pt x="99680" y="22151"/>
                </a:lnTo>
                <a:close/>
                <a:moveTo>
                  <a:pt x="55378" y="88605"/>
                </a:moveTo>
                <a:cubicBezTo>
                  <a:pt x="55378" y="82492"/>
                  <a:pt x="60341" y="77529"/>
                  <a:pt x="66453" y="77529"/>
                </a:cubicBezTo>
                <a:cubicBezTo>
                  <a:pt x="72566" y="77529"/>
                  <a:pt x="77529" y="82492"/>
                  <a:pt x="77529" y="88605"/>
                </a:cubicBezTo>
                <a:cubicBezTo>
                  <a:pt x="77529" y="94717"/>
                  <a:pt x="72566" y="99680"/>
                  <a:pt x="66453" y="99680"/>
                </a:cubicBezTo>
                <a:cubicBezTo>
                  <a:pt x="60341" y="99680"/>
                  <a:pt x="55378" y="94717"/>
                  <a:pt x="55378" y="886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4609768" y="3782975"/>
            <a:ext cx="1648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14198" y="4031068"/>
            <a:ext cx="163918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API front door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7963" y="4798636"/>
            <a:ext cx="6191693" cy="1991833"/>
          </a:xfrm>
          <a:custGeom>
            <a:avLst/>
            <a:gdLst/>
            <a:ahLst/>
            <a:cxnLst/>
            <a:rect l="l" t="t" r="r" b="b"/>
            <a:pathLst>
              <a:path w="6191693" h="1991833">
                <a:moveTo>
                  <a:pt x="141759" y="0"/>
                </a:moveTo>
                <a:lnTo>
                  <a:pt x="6049934" y="0"/>
                </a:lnTo>
                <a:cubicBezTo>
                  <a:pt x="6128225" y="0"/>
                  <a:pt x="6191693" y="63468"/>
                  <a:pt x="6191693" y="141759"/>
                </a:cubicBezTo>
                <a:lnTo>
                  <a:pt x="6191693" y="1850074"/>
                </a:lnTo>
                <a:cubicBezTo>
                  <a:pt x="6191693" y="1928365"/>
                  <a:pt x="6128225" y="1991833"/>
                  <a:pt x="6049934" y="1991833"/>
                </a:cubicBezTo>
                <a:lnTo>
                  <a:pt x="141759" y="1991833"/>
                </a:lnTo>
                <a:cubicBezTo>
                  <a:pt x="63468" y="1991833"/>
                  <a:pt x="0" y="1928365"/>
                  <a:pt x="0" y="1850074"/>
                </a:cubicBezTo>
                <a:lnTo>
                  <a:pt x="0" y="141759"/>
                </a:lnTo>
                <a:cubicBezTo>
                  <a:pt x="0" y="63520"/>
                  <a:pt x="63520" y="0"/>
                  <a:pt x="14175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0867" y="5014832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66453" y="22151"/>
                </a:moveTo>
                <a:cubicBezTo>
                  <a:pt x="66453" y="16025"/>
                  <a:pt x="71403" y="11076"/>
                  <a:pt x="77529" y="11076"/>
                </a:cubicBezTo>
                <a:lnTo>
                  <a:pt x="99680" y="11076"/>
                </a:lnTo>
                <a:cubicBezTo>
                  <a:pt x="105806" y="11076"/>
                  <a:pt x="110756" y="16025"/>
                  <a:pt x="110756" y="22151"/>
                </a:cubicBezTo>
                <a:lnTo>
                  <a:pt x="110756" y="44302"/>
                </a:lnTo>
                <a:cubicBezTo>
                  <a:pt x="110756" y="50429"/>
                  <a:pt x="105806" y="55378"/>
                  <a:pt x="99680" y="55378"/>
                </a:cubicBezTo>
                <a:lnTo>
                  <a:pt x="96911" y="55378"/>
                </a:lnTo>
                <a:lnTo>
                  <a:pt x="96911" y="77529"/>
                </a:lnTo>
                <a:lnTo>
                  <a:pt x="138445" y="77529"/>
                </a:lnTo>
                <a:cubicBezTo>
                  <a:pt x="152220" y="77529"/>
                  <a:pt x="163365" y="88674"/>
                  <a:pt x="163365" y="102449"/>
                </a:cubicBezTo>
                <a:lnTo>
                  <a:pt x="163365" y="121831"/>
                </a:lnTo>
                <a:lnTo>
                  <a:pt x="166134" y="121831"/>
                </a:lnTo>
                <a:cubicBezTo>
                  <a:pt x="172260" y="121831"/>
                  <a:pt x="177209" y="126781"/>
                  <a:pt x="177209" y="132907"/>
                </a:cubicBezTo>
                <a:lnTo>
                  <a:pt x="177209" y="155058"/>
                </a:lnTo>
                <a:cubicBezTo>
                  <a:pt x="177209" y="161184"/>
                  <a:pt x="172260" y="166134"/>
                  <a:pt x="166134" y="166134"/>
                </a:cubicBezTo>
                <a:lnTo>
                  <a:pt x="143983" y="166134"/>
                </a:lnTo>
                <a:cubicBezTo>
                  <a:pt x="137856" y="166134"/>
                  <a:pt x="132907" y="161184"/>
                  <a:pt x="132907" y="155058"/>
                </a:cubicBezTo>
                <a:lnTo>
                  <a:pt x="132907" y="132907"/>
                </a:lnTo>
                <a:cubicBezTo>
                  <a:pt x="132907" y="126781"/>
                  <a:pt x="137856" y="121831"/>
                  <a:pt x="143983" y="121831"/>
                </a:cubicBezTo>
                <a:lnTo>
                  <a:pt x="146751" y="121831"/>
                </a:lnTo>
                <a:lnTo>
                  <a:pt x="146751" y="102449"/>
                </a:lnTo>
                <a:cubicBezTo>
                  <a:pt x="146751" y="97846"/>
                  <a:pt x="143048" y="94142"/>
                  <a:pt x="138445" y="94142"/>
                </a:cubicBezTo>
                <a:lnTo>
                  <a:pt x="96911" y="94142"/>
                </a:lnTo>
                <a:lnTo>
                  <a:pt x="96911" y="121831"/>
                </a:lnTo>
                <a:lnTo>
                  <a:pt x="99680" y="121831"/>
                </a:lnTo>
                <a:cubicBezTo>
                  <a:pt x="105806" y="121831"/>
                  <a:pt x="110756" y="126781"/>
                  <a:pt x="110756" y="132907"/>
                </a:cubicBezTo>
                <a:lnTo>
                  <a:pt x="110756" y="155058"/>
                </a:lnTo>
                <a:cubicBezTo>
                  <a:pt x="110756" y="161184"/>
                  <a:pt x="105806" y="166134"/>
                  <a:pt x="99680" y="166134"/>
                </a:cubicBezTo>
                <a:lnTo>
                  <a:pt x="77529" y="166134"/>
                </a:lnTo>
                <a:cubicBezTo>
                  <a:pt x="71403" y="166134"/>
                  <a:pt x="66453" y="161184"/>
                  <a:pt x="66453" y="155058"/>
                </a:cubicBezTo>
                <a:lnTo>
                  <a:pt x="66453" y="132907"/>
                </a:lnTo>
                <a:cubicBezTo>
                  <a:pt x="66453" y="126781"/>
                  <a:pt x="71403" y="121831"/>
                  <a:pt x="77529" y="121831"/>
                </a:cubicBezTo>
                <a:lnTo>
                  <a:pt x="80298" y="121831"/>
                </a:lnTo>
                <a:lnTo>
                  <a:pt x="80298" y="94142"/>
                </a:lnTo>
                <a:lnTo>
                  <a:pt x="38765" y="94142"/>
                </a:lnTo>
                <a:cubicBezTo>
                  <a:pt x="34161" y="94142"/>
                  <a:pt x="30458" y="97846"/>
                  <a:pt x="30458" y="102449"/>
                </a:cubicBezTo>
                <a:lnTo>
                  <a:pt x="30458" y="121831"/>
                </a:lnTo>
                <a:lnTo>
                  <a:pt x="33227" y="121831"/>
                </a:lnTo>
                <a:cubicBezTo>
                  <a:pt x="39353" y="121831"/>
                  <a:pt x="44302" y="126781"/>
                  <a:pt x="44302" y="132907"/>
                </a:cubicBezTo>
                <a:lnTo>
                  <a:pt x="44302" y="155058"/>
                </a:lnTo>
                <a:cubicBezTo>
                  <a:pt x="44302" y="161184"/>
                  <a:pt x="39353" y="166134"/>
                  <a:pt x="33227" y="166134"/>
                </a:cubicBezTo>
                <a:lnTo>
                  <a:pt x="11076" y="166134"/>
                </a:lnTo>
                <a:cubicBezTo>
                  <a:pt x="4949" y="166134"/>
                  <a:pt x="0" y="161184"/>
                  <a:pt x="0" y="155058"/>
                </a:cubicBezTo>
                <a:lnTo>
                  <a:pt x="0" y="132907"/>
                </a:lnTo>
                <a:cubicBezTo>
                  <a:pt x="0" y="126781"/>
                  <a:pt x="4949" y="121831"/>
                  <a:pt x="11076" y="121831"/>
                </a:cubicBezTo>
                <a:lnTo>
                  <a:pt x="13844" y="121831"/>
                </a:lnTo>
                <a:lnTo>
                  <a:pt x="13844" y="102449"/>
                </a:lnTo>
                <a:cubicBezTo>
                  <a:pt x="13844" y="88674"/>
                  <a:pt x="24989" y="77529"/>
                  <a:pt x="38765" y="77529"/>
                </a:cubicBezTo>
                <a:lnTo>
                  <a:pt x="80298" y="77529"/>
                </a:lnTo>
                <a:lnTo>
                  <a:pt x="80298" y="55378"/>
                </a:lnTo>
                <a:lnTo>
                  <a:pt x="77529" y="55378"/>
                </a:lnTo>
                <a:cubicBezTo>
                  <a:pt x="71403" y="55378"/>
                  <a:pt x="66453" y="50429"/>
                  <a:pt x="66453" y="44302"/>
                </a:cubicBezTo>
                <a:lnTo>
                  <a:pt x="66453" y="2215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760228" y="4979390"/>
            <a:ext cx="5697279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Integration Architecture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8716" y="5333808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4028" y="5386971"/>
            <a:ext cx="14176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99460" y="5404692"/>
            <a:ext cx="544032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</a:t>
            </a: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receives client requests and routes to backend services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8716" y="5794552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69519" y="5847715"/>
            <a:ext cx="168349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9460" y="5865436"/>
            <a:ext cx="544032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Balancer</a:t>
            </a: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distributes traffic across multiple targets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8716" y="6255297"/>
            <a:ext cx="354419" cy="354419"/>
          </a:xfrm>
          <a:custGeom>
            <a:avLst/>
            <a:gdLst/>
            <a:ahLst/>
            <a:cxnLst/>
            <a:rect l="l" t="t" r="r" b="b"/>
            <a:pathLst>
              <a:path w="354419" h="354419">
                <a:moveTo>
                  <a:pt x="70884" y="0"/>
                </a:moveTo>
                <a:lnTo>
                  <a:pt x="283535" y="0"/>
                </a:lnTo>
                <a:cubicBezTo>
                  <a:pt x="322657" y="0"/>
                  <a:pt x="354419" y="31762"/>
                  <a:pt x="354419" y="70884"/>
                </a:cubicBezTo>
                <a:lnTo>
                  <a:pt x="354419" y="283535"/>
                </a:lnTo>
                <a:cubicBezTo>
                  <a:pt x="354419" y="322657"/>
                  <a:pt x="322657" y="354419"/>
                  <a:pt x="283535" y="354419"/>
                </a:cubicBezTo>
                <a:lnTo>
                  <a:pt x="70884" y="354419"/>
                </a:lnTo>
                <a:cubicBezTo>
                  <a:pt x="31762" y="354419"/>
                  <a:pt x="0" y="322657"/>
                  <a:pt x="0" y="283535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68854" y="6308459"/>
            <a:ext cx="177209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99460" y="6326180"/>
            <a:ext cx="544032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</a:t>
            </a:r>
            <a:r>
              <a:rPr lang="en-US" sz="111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automatically adjusts capacity based on demand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769396" y="1435395"/>
            <a:ext cx="5066414" cy="4187014"/>
          </a:xfrm>
          <a:custGeom>
            <a:avLst/>
            <a:gdLst/>
            <a:ahLst/>
            <a:cxnLst/>
            <a:rect l="l" t="t" r="r" b="b"/>
            <a:pathLst>
              <a:path w="5066414" h="4375298">
                <a:moveTo>
                  <a:pt x="141760" y="0"/>
                </a:moveTo>
                <a:lnTo>
                  <a:pt x="4924654" y="0"/>
                </a:lnTo>
                <a:cubicBezTo>
                  <a:pt x="5002946" y="0"/>
                  <a:pt x="5066414" y="63468"/>
                  <a:pt x="5066414" y="141760"/>
                </a:cubicBezTo>
                <a:lnTo>
                  <a:pt x="5066414" y="4233538"/>
                </a:lnTo>
                <a:cubicBezTo>
                  <a:pt x="5066414" y="4311830"/>
                  <a:pt x="5002946" y="4375298"/>
                  <a:pt x="4924654" y="4375298"/>
                </a:cubicBezTo>
                <a:lnTo>
                  <a:pt x="141760" y="4375298"/>
                </a:lnTo>
                <a:cubicBezTo>
                  <a:pt x="63468" y="4375298"/>
                  <a:pt x="0" y="4311830"/>
                  <a:pt x="0" y="4233538"/>
                </a:cubicBezTo>
                <a:lnTo>
                  <a:pt x="0" y="141760"/>
                </a:lnTo>
                <a:cubicBezTo>
                  <a:pt x="0" y="63520"/>
                  <a:pt x="63520" y="0"/>
                  <a:pt x="14176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72300" y="1651591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22151" y="22151"/>
                </a:moveTo>
                <a:cubicBezTo>
                  <a:pt x="22151" y="16025"/>
                  <a:pt x="17202" y="11076"/>
                  <a:pt x="11076" y="11076"/>
                </a:cubicBezTo>
                <a:cubicBezTo>
                  <a:pt x="4949" y="11076"/>
                  <a:pt x="0" y="16025"/>
                  <a:pt x="0" y="22151"/>
                </a:cubicBezTo>
                <a:lnTo>
                  <a:pt x="0" y="138445"/>
                </a:lnTo>
                <a:cubicBezTo>
                  <a:pt x="0" y="153743"/>
                  <a:pt x="12391" y="166134"/>
                  <a:pt x="27689" y="166134"/>
                </a:cubicBezTo>
                <a:lnTo>
                  <a:pt x="166134" y="166134"/>
                </a:lnTo>
                <a:cubicBezTo>
                  <a:pt x="172260" y="166134"/>
                  <a:pt x="177209" y="161184"/>
                  <a:pt x="177209" y="155058"/>
                </a:cubicBezTo>
                <a:cubicBezTo>
                  <a:pt x="177209" y="148932"/>
                  <a:pt x="172260" y="143983"/>
                  <a:pt x="166134" y="143983"/>
                </a:cubicBezTo>
                <a:lnTo>
                  <a:pt x="27689" y="143983"/>
                </a:lnTo>
                <a:cubicBezTo>
                  <a:pt x="24643" y="143983"/>
                  <a:pt x="22151" y="141491"/>
                  <a:pt x="22151" y="138445"/>
                </a:cubicBezTo>
                <a:lnTo>
                  <a:pt x="22151" y="22151"/>
                </a:lnTo>
                <a:close/>
                <a:moveTo>
                  <a:pt x="162880" y="52124"/>
                </a:moveTo>
                <a:cubicBezTo>
                  <a:pt x="167207" y="47798"/>
                  <a:pt x="167207" y="40772"/>
                  <a:pt x="162880" y="36446"/>
                </a:cubicBezTo>
                <a:cubicBezTo>
                  <a:pt x="158554" y="32119"/>
                  <a:pt x="151528" y="32119"/>
                  <a:pt x="147201" y="36446"/>
                </a:cubicBezTo>
                <a:lnTo>
                  <a:pt x="110756" y="72926"/>
                </a:lnTo>
                <a:lnTo>
                  <a:pt x="90889" y="53094"/>
                </a:lnTo>
                <a:cubicBezTo>
                  <a:pt x="86563" y="48767"/>
                  <a:pt x="79537" y="48767"/>
                  <a:pt x="75210" y="53094"/>
                </a:cubicBezTo>
                <a:lnTo>
                  <a:pt x="41983" y="86320"/>
                </a:lnTo>
                <a:cubicBezTo>
                  <a:pt x="37657" y="90647"/>
                  <a:pt x="37657" y="97673"/>
                  <a:pt x="41983" y="101999"/>
                </a:cubicBezTo>
                <a:cubicBezTo>
                  <a:pt x="46310" y="106326"/>
                  <a:pt x="53336" y="106326"/>
                  <a:pt x="57662" y="101999"/>
                </a:cubicBezTo>
                <a:lnTo>
                  <a:pt x="83067" y="76595"/>
                </a:lnTo>
                <a:lnTo>
                  <a:pt x="102934" y="96461"/>
                </a:lnTo>
                <a:cubicBezTo>
                  <a:pt x="107260" y="100788"/>
                  <a:pt x="114286" y="100788"/>
                  <a:pt x="118613" y="96461"/>
                </a:cubicBezTo>
                <a:lnTo>
                  <a:pt x="162915" y="5215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Text 37"/>
          <p:cNvSpPr/>
          <p:nvPr/>
        </p:nvSpPr>
        <p:spPr>
          <a:xfrm>
            <a:off x="7171661" y="1616149"/>
            <a:ext cx="4572000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Benefits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72300" y="2023730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79744" y="159488"/>
                </a:moveTo>
                <a:cubicBezTo>
                  <a:pt x="123756" y="159488"/>
                  <a:pt x="159488" y="123756"/>
                  <a:pt x="159488" y="79744"/>
                </a:cubicBezTo>
                <a:cubicBezTo>
                  <a:pt x="159488" y="35732"/>
                  <a:pt x="123756" y="0"/>
                  <a:pt x="79744" y="0"/>
                </a:cubicBezTo>
                <a:cubicBezTo>
                  <a:pt x="35732" y="0"/>
                  <a:pt x="0" y="35732"/>
                  <a:pt x="0" y="79744"/>
                </a:cubicBezTo>
                <a:cubicBezTo>
                  <a:pt x="0" y="123756"/>
                  <a:pt x="35732" y="159488"/>
                  <a:pt x="79744" y="159488"/>
                </a:cubicBezTo>
                <a:close/>
                <a:moveTo>
                  <a:pt x="106035" y="66256"/>
                </a:moveTo>
                <a:lnTo>
                  <a:pt x="81115" y="106128"/>
                </a:lnTo>
                <a:cubicBezTo>
                  <a:pt x="79806" y="108215"/>
                  <a:pt x="77564" y="109524"/>
                  <a:pt x="75103" y="109648"/>
                </a:cubicBezTo>
                <a:cubicBezTo>
                  <a:pt x="72642" y="109773"/>
                  <a:pt x="70275" y="108651"/>
                  <a:pt x="68811" y="106658"/>
                </a:cubicBezTo>
                <a:lnTo>
                  <a:pt x="53858" y="86722"/>
                </a:lnTo>
                <a:cubicBezTo>
                  <a:pt x="51366" y="83420"/>
                  <a:pt x="52052" y="78747"/>
                  <a:pt x="55354" y="76255"/>
                </a:cubicBezTo>
                <a:cubicBezTo>
                  <a:pt x="58656" y="73763"/>
                  <a:pt x="63328" y="74449"/>
                  <a:pt x="65820" y="77751"/>
                </a:cubicBezTo>
                <a:lnTo>
                  <a:pt x="74231" y="88965"/>
                </a:lnTo>
                <a:lnTo>
                  <a:pt x="93357" y="58344"/>
                </a:lnTo>
                <a:cubicBezTo>
                  <a:pt x="95537" y="54855"/>
                  <a:pt x="100147" y="53765"/>
                  <a:pt x="103667" y="55977"/>
                </a:cubicBezTo>
                <a:cubicBezTo>
                  <a:pt x="107187" y="58188"/>
                  <a:pt x="108247" y="62767"/>
                  <a:pt x="106035" y="6628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7255835" y="2006010"/>
            <a:ext cx="355304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55835" y="2254103"/>
            <a:ext cx="354418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 workloads across multiple AZs with automatic failover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72300" y="2555358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79744" y="159488"/>
                </a:moveTo>
                <a:cubicBezTo>
                  <a:pt x="123756" y="159488"/>
                  <a:pt x="159488" y="123756"/>
                  <a:pt x="159488" y="79744"/>
                </a:cubicBezTo>
                <a:cubicBezTo>
                  <a:pt x="159488" y="35732"/>
                  <a:pt x="123756" y="0"/>
                  <a:pt x="79744" y="0"/>
                </a:cubicBezTo>
                <a:cubicBezTo>
                  <a:pt x="35732" y="0"/>
                  <a:pt x="0" y="35732"/>
                  <a:pt x="0" y="79744"/>
                </a:cubicBezTo>
                <a:cubicBezTo>
                  <a:pt x="0" y="123756"/>
                  <a:pt x="35732" y="159488"/>
                  <a:pt x="79744" y="159488"/>
                </a:cubicBezTo>
                <a:close/>
                <a:moveTo>
                  <a:pt x="106035" y="66256"/>
                </a:moveTo>
                <a:lnTo>
                  <a:pt x="81115" y="106128"/>
                </a:lnTo>
                <a:cubicBezTo>
                  <a:pt x="79806" y="108215"/>
                  <a:pt x="77564" y="109524"/>
                  <a:pt x="75103" y="109648"/>
                </a:cubicBezTo>
                <a:cubicBezTo>
                  <a:pt x="72642" y="109773"/>
                  <a:pt x="70275" y="108651"/>
                  <a:pt x="68811" y="106658"/>
                </a:cubicBezTo>
                <a:lnTo>
                  <a:pt x="53858" y="86722"/>
                </a:lnTo>
                <a:cubicBezTo>
                  <a:pt x="51366" y="83420"/>
                  <a:pt x="52052" y="78747"/>
                  <a:pt x="55354" y="76255"/>
                </a:cubicBezTo>
                <a:cubicBezTo>
                  <a:pt x="58656" y="73763"/>
                  <a:pt x="63328" y="74449"/>
                  <a:pt x="65820" y="77751"/>
                </a:cubicBezTo>
                <a:lnTo>
                  <a:pt x="74231" y="88965"/>
                </a:lnTo>
                <a:lnTo>
                  <a:pt x="93357" y="58344"/>
                </a:lnTo>
                <a:cubicBezTo>
                  <a:pt x="95537" y="54855"/>
                  <a:pt x="100147" y="53765"/>
                  <a:pt x="103667" y="55977"/>
                </a:cubicBezTo>
                <a:cubicBezTo>
                  <a:pt x="107187" y="58188"/>
                  <a:pt x="108247" y="62767"/>
                  <a:pt x="106035" y="6628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7255835" y="2537637"/>
            <a:ext cx="2968256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Optimization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55835" y="2785730"/>
            <a:ext cx="2959395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 only for resources you use with automatic scaling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72300" y="3086986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79744" y="159488"/>
                </a:moveTo>
                <a:cubicBezTo>
                  <a:pt x="123756" y="159488"/>
                  <a:pt x="159488" y="123756"/>
                  <a:pt x="159488" y="79744"/>
                </a:cubicBezTo>
                <a:cubicBezTo>
                  <a:pt x="159488" y="35732"/>
                  <a:pt x="123756" y="0"/>
                  <a:pt x="79744" y="0"/>
                </a:cubicBezTo>
                <a:cubicBezTo>
                  <a:pt x="35732" y="0"/>
                  <a:pt x="0" y="35732"/>
                  <a:pt x="0" y="79744"/>
                </a:cubicBezTo>
                <a:cubicBezTo>
                  <a:pt x="0" y="123756"/>
                  <a:pt x="35732" y="159488"/>
                  <a:pt x="79744" y="159488"/>
                </a:cubicBezTo>
                <a:close/>
                <a:moveTo>
                  <a:pt x="106035" y="66256"/>
                </a:moveTo>
                <a:lnTo>
                  <a:pt x="81115" y="106128"/>
                </a:lnTo>
                <a:cubicBezTo>
                  <a:pt x="79806" y="108215"/>
                  <a:pt x="77564" y="109524"/>
                  <a:pt x="75103" y="109648"/>
                </a:cubicBezTo>
                <a:cubicBezTo>
                  <a:pt x="72642" y="109773"/>
                  <a:pt x="70275" y="108651"/>
                  <a:pt x="68811" y="106658"/>
                </a:cubicBezTo>
                <a:lnTo>
                  <a:pt x="53858" y="86722"/>
                </a:lnTo>
                <a:cubicBezTo>
                  <a:pt x="51366" y="83420"/>
                  <a:pt x="52052" y="78747"/>
                  <a:pt x="55354" y="76255"/>
                </a:cubicBezTo>
                <a:cubicBezTo>
                  <a:pt x="58656" y="73763"/>
                  <a:pt x="63328" y="74449"/>
                  <a:pt x="65820" y="77751"/>
                </a:cubicBezTo>
                <a:lnTo>
                  <a:pt x="74231" y="88965"/>
                </a:lnTo>
                <a:lnTo>
                  <a:pt x="93357" y="58344"/>
                </a:lnTo>
                <a:cubicBezTo>
                  <a:pt x="95537" y="54855"/>
                  <a:pt x="100147" y="53765"/>
                  <a:pt x="103667" y="55977"/>
                </a:cubicBezTo>
                <a:cubicBezTo>
                  <a:pt x="107187" y="58188"/>
                  <a:pt x="108247" y="62767"/>
                  <a:pt x="106035" y="6628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7255835" y="3069265"/>
            <a:ext cx="3234070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Excellence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55835" y="3317359"/>
            <a:ext cx="3225209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manual intervention with automated health checks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972300" y="3618615"/>
            <a:ext cx="159488" cy="159488"/>
          </a:xfrm>
          <a:custGeom>
            <a:avLst/>
            <a:gdLst/>
            <a:ahLst/>
            <a:cxnLst/>
            <a:rect l="l" t="t" r="r" b="b"/>
            <a:pathLst>
              <a:path w="159488" h="159488">
                <a:moveTo>
                  <a:pt x="79744" y="159488"/>
                </a:moveTo>
                <a:cubicBezTo>
                  <a:pt x="123756" y="159488"/>
                  <a:pt x="159488" y="123756"/>
                  <a:pt x="159488" y="79744"/>
                </a:cubicBezTo>
                <a:cubicBezTo>
                  <a:pt x="159488" y="35732"/>
                  <a:pt x="123756" y="0"/>
                  <a:pt x="79744" y="0"/>
                </a:cubicBezTo>
                <a:cubicBezTo>
                  <a:pt x="35732" y="0"/>
                  <a:pt x="0" y="35732"/>
                  <a:pt x="0" y="79744"/>
                </a:cubicBezTo>
                <a:cubicBezTo>
                  <a:pt x="0" y="123756"/>
                  <a:pt x="35732" y="159488"/>
                  <a:pt x="79744" y="159488"/>
                </a:cubicBezTo>
                <a:close/>
                <a:moveTo>
                  <a:pt x="106035" y="66256"/>
                </a:moveTo>
                <a:lnTo>
                  <a:pt x="81115" y="106128"/>
                </a:lnTo>
                <a:cubicBezTo>
                  <a:pt x="79806" y="108215"/>
                  <a:pt x="77564" y="109524"/>
                  <a:pt x="75103" y="109648"/>
                </a:cubicBezTo>
                <a:cubicBezTo>
                  <a:pt x="72642" y="109773"/>
                  <a:pt x="70275" y="108651"/>
                  <a:pt x="68811" y="106658"/>
                </a:cubicBezTo>
                <a:lnTo>
                  <a:pt x="53858" y="86722"/>
                </a:lnTo>
                <a:cubicBezTo>
                  <a:pt x="51366" y="83420"/>
                  <a:pt x="52052" y="78747"/>
                  <a:pt x="55354" y="76255"/>
                </a:cubicBezTo>
                <a:cubicBezTo>
                  <a:pt x="58656" y="73763"/>
                  <a:pt x="63328" y="74449"/>
                  <a:pt x="65820" y="77751"/>
                </a:cubicBezTo>
                <a:lnTo>
                  <a:pt x="74231" y="88965"/>
                </a:lnTo>
                <a:lnTo>
                  <a:pt x="93357" y="58344"/>
                </a:lnTo>
                <a:cubicBezTo>
                  <a:pt x="95537" y="54855"/>
                  <a:pt x="100147" y="53765"/>
                  <a:pt x="103667" y="55977"/>
                </a:cubicBezTo>
                <a:cubicBezTo>
                  <a:pt x="107187" y="58188"/>
                  <a:pt x="108247" y="62767"/>
                  <a:pt x="106035" y="6628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7255835" y="3600894"/>
            <a:ext cx="3685953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Compliance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255835" y="3848987"/>
            <a:ext cx="3677093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Built-in DDoS protection, SSL/TLS encryption, and access controls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769396" y="5766699"/>
            <a:ext cx="5066414" cy="893135"/>
          </a:xfrm>
          <a:custGeom>
            <a:avLst/>
            <a:gdLst/>
            <a:ahLst/>
            <a:cxnLst/>
            <a:rect l="l" t="t" r="r" b="b"/>
            <a:pathLst>
              <a:path w="5066414" h="893135">
                <a:moveTo>
                  <a:pt x="141767" y="0"/>
                </a:moveTo>
                <a:lnTo>
                  <a:pt x="4924647" y="0"/>
                </a:lnTo>
                <a:cubicBezTo>
                  <a:pt x="5002943" y="0"/>
                  <a:pt x="5066414" y="63471"/>
                  <a:pt x="5066414" y="141767"/>
                </a:cubicBezTo>
                <a:lnTo>
                  <a:pt x="5066414" y="751368"/>
                </a:lnTo>
                <a:cubicBezTo>
                  <a:pt x="5066414" y="829664"/>
                  <a:pt x="5002943" y="893135"/>
                  <a:pt x="4924647" y="893135"/>
                </a:cubicBezTo>
                <a:lnTo>
                  <a:pt x="141767" y="893135"/>
                </a:lnTo>
                <a:cubicBezTo>
                  <a:pt x="63471" y="893135"/>
                  <a:pt x="0" y="829664"/>
                  <a:pt x="0" y="751368"/>
                </a:cubicBezTo>
                <a:lnTo>
                  <a:pt x="0" y="141767"/>
                </a:lnTo>
                <a:cubicBezTo>
                  <a:pt x="0" y="63524"/>
                  <a:pt x="63524" y="0"/>
                  <a:pt x="141767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45719" y="6106942"/>
            <a:ext cx="159488" cy="212651"/>
          </a:xfrm>
          <a:custGeom>
            <a:avLst/>
            <a:gdLst/>
            <a:ahLst/>
            <a:cxnLst/>
            <a:rect l="l" t="t" r="r" b="b"/>
            <a:pathLst>
              <a:path w="159488" h="212651">
                <a:moveTo>
                  <a:pt x="121651" y="159488"/>
                </a:moveTo>
                <a:cubicBezTo>
                  <a:pt x="124683" y="150226"/>
                  <a:pt x="130747" y="141837"/>
                  <a:pt x="137600" y="134610"/>
                </a:cubicBezTo>
                <a:cubicBezTo>
                  <a:pt x="151182" y="120322"/>
                  <a:pt x="159488" y="101009"/>
                  <a:pt x="159488" y="79744"/>
                </a:cubicBezTo>
                <a:cubicBezTo>
                  <a:pt x="159488" y="35719"/>
                  <a:pt x="123770" y="0"/>
                  <a:pt x="79744" y="0"/>
                </a:cubicBezTo>
                <a:cubicBezTo>
                  <a:pt x="35719" y="0"/>
                  <a:pt x="0" y="35719"/>
                  <a:pt x="0" y="79744"/>
                </a:cubicBezTo>
                <a:cubicBezTo>
                  <a:pt x="0" y="101009"/>
                  <a:pt x="8307" y="120322"/>
                  <a:pt x="21888" y="134610"/>
                </a:cubicBezTo>
                <a:cubicBezTo>
                  <a:pt x="28741" y="141837"/>
                  <a:pt x="34847" y="150226"/>
                  <a:pt x="37837" y="159488"/>
                </a:cubicBezTo>
                <a:lnTo>
                  <a:pt x="121610" y="159488"/>
                </a:lnTo>
                <a:close/>
                <a:moveTo>
                  <a:pt x="119616" y="179424"/>
                </a:moveTo>
                <a:lnTo>
                  <a:pt x="39872" y="179424"/>
                </a:lnTo>
                <a:lnTo>
                  <a:pt x="39872" y="186070"/>
                </a:lnTo>
                <a:cubicBezTo>
                  <a:pt x="39872" y="204428"/>
                  <a:pt x="54741" y="219297"/>
                  <a:pt x="73099" y="219297"/>
                </a:cubicBezTo>
                <a:lnTo>
                  <a:pt x="86390" y="219297"/>
                </a:lnTo>
                <a:cubicBezTo>
                  <a:pt x="104747" y="219297"/>
                  <a:pt x="119616" y="204428"/>
                  <a:pt x="119616" y="186070"/>
                </a:cubicBezTo>
                <a:lnTo>
                  <a:pt x="119616" y="179424"/>
                </a:lnTo>
                <a:close/>
                <a:moveTo>
                  <a:pt x="76422" y="46517"/>
                </a:moveTo>
                <a:cubicBezTo>
                  <a:pt x="59891" y="46517"/>
                  <a:pt x="46517" y="59891"/>
                  <a:pt x="46517" y="76422"/>
                </a:cubicBezTo>
                <a:cubicBezTo>
                  <a:pt x="46517" y="81945"/>
                  <a:pt x="42073" y="86390"/>
                  <a:pt x="36549" y="86390"/>
                </a:cubicBezTo>
                <a:cubicBezTo>
                  <a:pt x="31025" y="86390"/>
                  <a:pt x="26581" y="81945"/>
                  <a:pt x="26581" y="76422"/>
                </a:cubicBezTo>
                <a:cubicBezTo>
                  <a:pt x="26581" y="48885"/>
                  <a:pt x="48885" y="26581"/>
                  <a:pt x="76422" y="26581"/>
                </a:cubicBezTo>
                <a:cubicBezTo>
                  <a:pt x="81945" y="26581"/>
                  <a:pt x="86390" y="31025"/>
                  <a:pt x="86390" y="36549"/>
                </a:cubicBezTo>
                <a:cubicBezTo>
                  <a:pt x="86390" y="42073"/>
                  <a:pt x="81945" y="46517"/>
                  <a:pt x="76422" y="4651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2"/>
          <p:cNvSpPr/>
          <p:nvPr/>
        </p:nvSpPr>
        <p:spPr>
          <a:xfrm>
            <a:off x="7240550" y="5912011"/>
            <a:ext cx="4518837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Impact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240550" y="6160105"/>
            <a:ext cx="4509977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Businesses using AWS Auto Scaling experience up to </a:t>
            </a:r>
            <a:r>
              <a:rPr lang="en-US" sz="97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70% reduction</a:t>
            </a: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availability-related incidents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708" y="362708"/>
            <a:ext cx="1497515" cy="330387"/>
          </a:xfrm>
          <a:custGeom>
            <a:avLst/>
            <a:gdLst/>
            <a:ahLst/>
            <a:cxnLst/>
            <a:rect l="l" t="t" r="r" b="b"/>
            <a:pathLst>
              <a:path w="1497515" h="330387">
                <a:moveTo>
                  <a:pt x="165194" y="0"/>
                </a:moveTo>
                <a:lnTo>
                  <a:pt x="1332322" y="0"/>
                </a:lnTo>
                <a:cubicBezTo>
                  <a:pt x="1423556" y="0"/>
                  <a:pt x="1497515" y="73960"/>
                  <a:pt x="1497515" y="165194"/>
                </a:cubicBezTo>
                <a:lnTo>
                  <a:pt x="1497515" y="165194"/>
                </a:lnTo>
                <a:cubicBezTo>
                  <a:pt x="1497515" y="256427"/>
                  <a:pt x="1423556" y="330387"/>
                  <a:pt x="1332322" y="330387"/>
                </a:cubicBezTo>
                <a:lnTo>
                  <a:pt x="165194" y="330387"/>
                </a:lnTo>
                <a:cubicBezTo>
                  <a:pt x="74021" y="330387"/>
                  <a:pt x="0" y="256366"/>
                  <a:pt x="0" y="165194"/>
                </a:cubicBezTo>
                <a:lnTo>
                  <a:pt x="0" y="165194"/>
                </a:lnTo>
                <a:cubicBezTo>
                  <a:pt x="0" y="74021"/>
                  <a:pt x="74021" y="0"/>
                  <a:pt x="16519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5757" y="465056"/>
            <a:ext cx="109979" cy="125691"/>
          </a:xfrm>
          <a:custGeom>
            <a:avLst/>
            <a:gdLst/>
            <a:ahLst/>
            <a:cxnLst/>
            <a:rect l="l" t="t" r="r" b="b"/>
            <a:pathLst>
              <a:path w="109979" h="125691">
                <a:moveTo>
                  <a:pt x="41242" y="7856"/>
                </a:moveTo>
                <a:lnTo>
                  <a:pt x="5892" y="7856"/>
                </a:lnTo>
                <a:cubicBezTo>
                  <a:pt x="2627" y="7856"/>
                  <a:pt x="0" y="10482"/>
                  <a:pt x="0" y="13747"/>
                </a:cubicBezTo>
                <a:lnTo>
                  <a:pt x="0" y="49098"/>
                </a:lnTo>
                <a:cubicBezTo>
                  <a:pt x="0" y="51479"/>
                  <a:pt x="1424" y="53639"/>
                  <a:pt x="3633" y="54548"/>
                </a:cubicBezTo>
                <a:cubicBezTo>
                  <a:pt x="5843" y="55456"/>
                  <a:pt x="8371" y="54941"/>
                  <a:pt x="10065" y="53271"/>
                </a:cubicBezTo>
                <a:lnTo>
                  <a:pt x="19885" y="43452"/>
                </a:lnTo>
                <a:lnTo>
                  <a:pt x="39278" y="62845"/>
                </a:lnTo>
                <a:lnTo>
                  <a:pt x="19885" y="82239"/>
                </a:lnTo>
                <a:lnTo>
                  <a:pt x="10065" y="72419"/>
                </a:lnTo>
                <a:cubicBezTo>
                  <a:pt x="8371" y="70726"/>
                  <a:pt x="5843" y="70235"/>
                  <a:pt x="3633" y="71143"/>
                </a:cubicBezTo>
                <a:cubicBezTo>
                  <a:pt x="1424" y="72051"/>
                  <a:pt x="0" y="74212"/>
                  <a:pt x="0" y="76593"/>
                </a:cubicBezTo>
                <a:lnTo>
                  <a:pt x="0" y="111943"/>
                </a:lnTo>
                <a:cubicBezTo>
                  <a:pt x="0" y="115208"/>
                  <a:pt x="2627" y="117835"/>
                  <a:pt x="5892" y="117835"/>
                </a:cubicBezTo>
                <a:lnTo>
                  <a:pt x="41242" y="117835"/>
                </a:lnTo>
                <a:cubicBezTo>
                  <a:pt x="43624" y="117835"/>
                  <a:pt x="45784" y="116411"/>
                  <a:pt x="46692" y="114202"/>
                </a:cubicBezTo>
                <a:cubicBezTo>
                  <a:pt x="47600" y="111992"/>
                  <a:pt x="47109" y="109464"/>
                  <a:pt x="45416" y="107770"/>
                </a:cubicBezTo>
                <a:lnTo>
                  <a:pt x="35596" y="97950"/>
                </a:lnTo>
                <a:lnTo>
                  <a:pt x="54990" y="78557"/>
                </a:lnTo>
                <a:lnTo>
                  <a:pt x="74383" y="97950"/>
                </a:lnTo>
                <a:lnTo>
                  <a:pt x="64564" y="107770"/>
                </a:lnTo>
                <a:cubicBezTo>
                  <a:pt x="62870" y="109464"/>
                  <a:pt x="62379" y="111992"/>
                  <a:pt x="63287" y="114202"/>
                </a:cubicBezTo>
                <a:cubicBezTo>
                  <a:pt x="64196" y="116411"/>
                  <a:pt x="66356" y="117835"/>
                  <a:pt x="68737" y="117835"/>
                </a:cubicBezTo>
                <a:lnTo>
                  <a:pt x="104088" y="117835"/>
                </a:lnTo>
                <a:cubicBezTo>
                  <a:pt x="107353" y="117835"/>
                  <a:pt x="109979" y="115208"/>
                  <a:pt x="109979" y="111943"/>
                </a:cubicBezTo>
                <a:lnTo>
                  <a:pt x="109979" y="76593"/>
                </a:lnTo>
                <a:cubicBezTo>
                  <a:pt x="109979" y="74212"/>
                  <a:pt x="108556" y="72051"/>
                  <a:pt x="106346" y="71143"/>
                </a:cubicBezTo>
                <a:cubicBezTo>
                  <a:pt x="104137" y="70235"/>
                  <a:pt x="101608" y="70726"/>
                  <a:pt x="99914" y="72419"/>
                </a:cubicBezTo>
                <a:lnTo>
                  <a:pt x="90095" y="82239"/>
                </a:lnTo>
                <a:lnTo>
                  <a:pt x="70701" y="62845"/>
                </a:lnTo>
                <a:lnTo>
                  <a:pt x="90095" y="43452"/>
                </a:lnTo>
                <a:lnTo>
                  <a:pt x="99914" y="53271"/>
                </a:lnTo>
                <a:cubicBezTo>
                  <a:pt x="101608" y="54965"/>
                  <a:pt x="104137" y="55456"/>
                  <a:pt x="106346" y="54548"/>
                </a:cubicBezTo>
                <a:cubicBezTo>
                  <a:pt x="108556" y="53639"/>
                  <a:pt x="109979" y="51479"/>
                  <a:pt x="109979" y="49098"/>
                </a:cubicBezTo>
                <a:lnTo>
                  <a:pt x="109979" y="13747"/>
                </a:lnTo>
                <a:cubicBezTo>
                  <a:pt x="109979" y="10482"/>
                  <a:pt x="107353" y="7856"/>
                  <a:pt x="104088" y="7856"/>
                </a:cubicBezTo>
                <a:lnTo>
                  <a:pt x="68737" y="7856"/>
                </a:lnTo>
                <a:cubicBezTo>
                  <a:pt x="66356" y="7856"/>
                  <a:pt x="64196" y="9280"/>
                  <a:pt x="63287" y="11489"/>
                </a:cubicBezTo>
                <a:cubicBezTo>
                  <a:pt x="62379" y="13698"/>
                  <a:pt x="62894" y="16227"/>
                  <a:pt x="64564" y="17921"/>
                </a:cubicBezTo>
                <a:lnTo>
                  <a:pt x="74383" y="27740"/>
                </a:lnTo>
                <a:lnTo>
                  <a:pt x="54990" y="47134"/>
                </a:lnTo>
                <a:lnTo>
                  <a:pt x="35596" y="27740"/>
                </a:lnTo>
                <a:lnTo>
                  <a:pt x="45416" y="17921"/>
                </a:lnTo>
                <a:cubicBezTo>
                  <a:pt x="47109" y="16227"/>
                  <a:pt x="47600" y="13698"/>
                  <a:pt x="46692" y="11489"/>
                </a:cubicBezTo>
                <a:cubicBezTo>
                  <a:pt x="45784" y="9280"/>
                  <a:pt x="43624" y="7856"/>
                  <a:pt x="41242" y="785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8882" y="438122"/>
            <a:ext cx="103245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kern="0" spc="4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9116" y="804421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Auto Scaling -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9116" y="1271273"/>
            <a:ext cx="861879" cy="35912"/>
          </a:xfrm>
          <a:custGeom>
            <a:avLst/>
            <a:gdLst/>
            <a:ahLst/>
            <a:cxnLst/>
            <a:rect l="l" t="t" r="r" b="b"/>
            <a:pathLst>
              <a:path w="861879" h="35912">
                <a:moveTo>
                  <a:pt x="0" y="0"/>
                </a:moveTo>
                <a:lnTo>
                  <a:pt x="861879" y="0"/>
                </a:lnTo>
                <a:lnTo>
                  <a:pt x="861879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62708" y="1454422"/>
            <a:ext cx="6749592" cy="2485085"/>
          </a:xfrm>
          <a:custGeom>
            <a:avLst/>
            <a:gdLst/>
            <a:ahLst/>
            <a:cxnLst/>
            <a:rect l="l" t="t" r="r" b="b"/>
            <a:pathLst>
              <a:path w="6749592" h="2485085">
                <a:moveTo>
                  <a:pt x="143638" y="0"/>
                </a:moveTo>
                <a:lnTo>
                  <a:pt x="6605954" y="0"/>
                </a:lnTo>
                <a:cubicBezTo>
                  <a:pt x="6685283" y="0"/>
                  <a:pt x="6749592" y="64309"/>
                  <a:pt x="6749592" y="143638"/>
                </a:cubicBezTo>
                <a:lnTo>
                  <a:pt x="6749592" y="2341447"/>
                </a:lnTo>
                <a:cubicBezTo>
                  <a:pt x="6749592" y="2420776"/>
                  <a:pt x="6685283" y="2485085"/>
                  <a:pt x="6605954" y="2485085"/>
                </a:cubicBezTo>
                <a:lnTo>
                  <a:pt x="143638" y="2485085"/>
                </a:lnTo>
                <a:cubicBezTo>
                  <a:pt x="64309" y="2485085"/>
                  <a:pt x="0" y="2420776"/>
                  <a:pt x="0" y="2341447"/>
                </a:cubicBezTo>
                <a:lnTo>
                  <a:pt x="0" y="143638"/>
                </a:lnTo>
                <a:cubicBezTo>
                  <a:pt x="0" y="64362"/>
                  <a:pt x="64362" y="0"/>
                  <a:pt x="14363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857" y="1637572"/>
            <a:ext cx="6473072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AWS Auto Scaling?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5857" y="1996688"/>
            <a:ext cx="6455116" cy="70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Auto Scaling</a:t>
            </a:r>
            <a:r>
              <a:rPr lang="en-US" sz="11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automatically adjusts the number of EC2 instances in your application according to real-time demand. It monitors key metrics such as </a:t>
            </a:r>
            <a:r>
              <a:rPr lang="en-US" sz="1131" dirty="0">
                <a:solidFill>
                  <a:srgbClr val="EFEFEF"/>
                </a:solidFill>
                <a:highlight>
                  <a:srgbClr val="6366F1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CPU usage, network traffic, and request count </a:t>
            </a:r>
            <a:r>
              <a:rPr lang="en-US" sz="11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dynamically scale capacity.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9448" y="2844203"/>
            <a:ext cx="6372520" cy="904973"/>
          </a:xfrm>
          <a:custGeom>
            <a:avLst/>
            <a:gdLst/>
            <a:ahLst/>
            <a:cxnLst/>
            <a:rect l="l" t="t" r="r" b="b"/>
            <a:pathLst>
              <a:path w="6372520" h="904973">
                <a:moveTo>
                  <a:pt x="107737" y="0"/>
                </a:moveTo>
                <a:lnTo>
                  <a:pt x="6264783" y="0"/>
                </a:lnTo>
                <a:cubicBezTo>
                  <a:pt x="6324284" y="0"/>
                  <a:pt x="6372520" y="48236"/>
                  <a:pt x="6372520" y="107737"/>
                </a:cubicBezTo>
                <a:lnTo>
                  <a:pt x="6372520" y="797236"/>
                </a:lnTo>
                <a:cubicBezTo>
                  <a:pt x="6372520" y="856738"/>
                  <a:pt x="6324284" y="904973"/>
                  <a:pt x="6264783" y="904973"/>
                </a:cubicBezTo>
                <a:lnTo>
                  <a:pt x="107737" y="904973"/>
                </a:lnTo>
                <a:cubicBezTo>
                  <a:pt x="48236" y="904973"/>
                  <a:pt x="0" y="856738"/>
                  <a:pt x="0" y="79723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686" y="2991439"/>
            <a:ext cx="6140890" cy="53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</a:t>
            </a: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Zoom runs on EC2 servers handling hundreds of meetings simultaneously. A single instance might support 100 meetings. When weekend demand increases to 400 meetings, Auto Scaling automatically adds instances to prevent server crashes.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2708" y="4040089"/>
            <a:ext cx="6749592" cy="2763400"/>
          </a:xfrm>
          <a:custGeom>
            <a:avLst/>
            <a:gdLst/>
            <a:ahLst/>
            <a:cxnLst/>
            <a:rect l="l" t="t" r="r" b="b"/>
            <a:pathLst>
              <a:path w="6749592" h="2763400">
                <a:moveTo>
                  <a:pt x="143642" y="0"/>
                </a:moveTo>
                <a:lnTo>
                  <a:pt x="6605950" y="0"/>
                </a:lnTo>
                <a:cubicBezTo>
                  <a:pt x="6685281" y="0"/>
                  <a:pt x="6749592" y="64311"/>
                  <a:pt x="6749592" y="143642"/>
                </a:cubicBezTo>
                <a:lnTo>
                  <a:pt x="6749592" y="2619759"/>
                </a:lnTo>
                <a:cubicBezTo>
                  <a:pt x="6749592" y="2699090"/>
                  <a:pt x="6685281" y="2763400"/>
                  <a:pt x="6605950" y="2763400"/>
                </a:cubicBezTo>
                <a:lnTo>
                  <a:pt x="143642" y="2763400"/>
                </a:lnTo>
                <a:cubicBezTo>
                  <a:pt x="64311" y="2763400"/>
                  <a:pt x="0" y="2699090"/>
                  <a:pt x="0" y="2619759"/>
                </a:cubicBezTo>
                <a:lnTo>
                  <a:pt x="0" y="143642"/>
                </a:lnTo>
                <a:cubicBezTo>
                  <a:pt x="0" y="64364"/>
                  <a:pt x="64364" y="0"/>
                  <a:pt x="14364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5857" y="4223239"/>
            <a:ext cx="6473072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Benefits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9448" y="4621858"/>
            <a:ext cx="3131495" cy="940885"/>
          </a:xfrm>
          <a:custGeom>
            <a:avLst/>
            <a:gdLst/>
            <a:ahLst/>
            <a:cxnLst/>
            <a:rect l="l" t="t" r="r" b="b"/>
            <a:pathLst>
              <a:path w="3131495" h="940885">
                <a:moveTo>
                  <a:pt x="107731" y="0"/>
                </a:moveTo>
                <a:lnTo>
                  <a:pt x="3023763" y="0"/>
                </a:lnTo>
                <a:cubicBezTo>
                  <a:pt x="3083262" y="0"/>
                  <a:pt x="3131495" y="48233"/>
                  <a:pt x="3131495" y="107731"/>
                </a:cubicBezTo>
                <a:lnTo>
                  <a:pt x="3131495" y="833154"/>
                </a:lnTo>
                <a:cubicBezTo>
                  <a:pt x="3131495" y="892652"/>
                  <a:pt x="3083262" y="940885"/>
                  <a:pt x="3023763" y="940885"/>
                </a:cubicBezTo>
                <a:lnTo>
                  <a:pt x="107731" y="940885"/>
                </a:lnTo>
                <a:cubicBezTo>
                  <a:pt x="48233" y="940885"/>
                  <a:pt x="0" y="892652"/>
                  <a:pt x="0" y="833154"/>
                </a:cubicBezTo>
                <a:lnTo>
                  <a:pt x="0" y="107731"/>
                </a:lnTo>
                <a:cubicBezTo>
                  <a:pt x="0" y="48273"/>
                  <a:pt x="48273" y="0"/>
                  <a:pt x="10773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9130" y="4796030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151534" y="60601"/>
                </a:moveTo>
                <a:lnTo>
                  <a:pt x="154027" y="60601"/>
                </a:lnTo>
                <a:cubicBezTo>
                  <a:pt x="158225" y="60601"/>
                  <a:pt x="161602" y="57224"/>
                  <a:pt x="161602" y="53026"/>
                </a:cubicBezTo>
                <a:lnTo>
                  <a:pt x="161602" y="7575"/>
                </a:lnTo>
                <a:cubicBezTo>
                  <a:pt x="161602" y="4514"/>
                  <a:pt x="159772" y="1736"/>
                  <a:pt x="156931" y="568"/>
                </a:cubicBezTo>
                <a:cubicBezTo>
                  <a:pt x="154090" y="-600"/>
                  <a:pt x="150839" y="63"/>
                  <a:pt x="148662" y="2209"/>
                </a:cubicBezTo>
                <a:lnTo>
                  <a:pt x="132343" y="18559"/>
                </a:lnTo>
                <a:cubicBezTo>
                  <a:pt x="118361" y="6975"/>
                  <a:pt x="100370" y="0"/>
                  <a:pt x="80801" y="0"/>
                </a:cubicBezTo>
                <a:cubicBezTo>
                  <a:pt x="40085" y="0"/>
                  <a:pt x="6407" y="30111"/>
                  <a:pt x="821" y="69281"/>
                </a:cubicBezTo>
                <a:cubicBezTo>
                  <a:pt x="32" y="74804"/>
                  <a:pt x="3851" y="79917"/>
                  <a:pt x="9374" y="80706"/>
                </a:cubicBezTo>
                <a:cubicBezTo>
                  <a:pt x="14898" y="81496"/>
                  <a:pt x="20011" y="77645"/>
                  <a:pt x="20800" y="72153"/>
                </a:cubicBezTo>
                <a:cubicBezTo>
                  <a:pt x="24998" y="42768"/>
                  <a:pt x="50280" y="20200"/>
                  <a:pt x="80801" y="20200"/>
                </a:cubicBezTo>
                <a:cubicBezTo>
                  <a:pt x="94815" y="20200"/>
                  <a:pt x="107693" y="24935"/>
                  <a:pt x="117951" y="32920"/>
                </a:cubicBezTo>
                <a:lnTo>
                  <a:pt x="103211" y="47660"/>
                </a:lnTo>
                <a:cubicBezTo>
                  <a:pt x="101033" y="49838"/>
                  <a:pt x="100402" y="53089"/>
                  <a:pt x="101570" y="55930"/>
                </a:cubicBezTo>
                <a:cubicBezTo>
                  <a:pt x="102737" y="58770"/>
                  <a:pt x="105515" y="60601"/>
                  <a:pt x="108577" y="60601"/>
                </a:cubicBezTo>
                <a:lnTo>
                  <a:pt x="151534" y="60601"/>
                </a:lnTo>
                <a:close/>
                <a:moveTo>
                  <a:pt x="160813" y="92322"/>
                </a:moveTo>
                <a:cubicBezTo>
                  <a:pt x="161602" y="86798"/>
                  <a:pt x="157752" y="81685"/>
                  <a:pt x="152260" y="80896"/>
                </a:cubicBezTo>
                <a:cubicBezTo>
                  <a:pt x="146768" y="80107"/>
                  <a:pt x="141623" y="83957"/>
                  <a:pt x="140834" y="89449"/>
                </a:cubicBezTo>
                <a:cubicBezTo>
                  <a:pt x="136636" y="118803"/>
                  <a:pt x="111354" y="141370"/>
                  <a:pt x="80833" y="141370"/>
                </a:cubicBezTo>
                <a:cubicBezTo>
                  <a:pt x="66819" y="141370"/>
                  <a:pt x="53941" y="136636"/>
                  <a:pt x="43683" y="128651"/>
                </a:cubicBezTo>
                <a:lnTo>
                  <a:pt x="58391" y="113942"/>
                </a:lnTo>
                <a:cubicBezTo>
                  <a:pt x="60569" y="111764"/>
                  <a:pt x="61201" y="108513"/>
                  <a:pt x="60033" y="105673"/>
                </a:cubicBezTo>
                <a:cubicBezTo>
                  <a:pt x="58865" y="102832"/>
                  <a:pt x="56087" y="101001"/>
                  <a:pt x="53026" y="101001"/>
                </a:cubicBezTo>
                <a:lnTo>
                  <a:pt x="7575" y="101001"/>
                </a:lnTo>
                <a:cubicBezTo>
                  <a:pt x="3377" y="101001"/>
                  <a:pt x="0" y="104379"/>
                  <a:pt x="0" y="108577"/>
                </a:cubicBezTo>
                <a:lnTo>
                  <a:pt x="0" y="154027"/>
                </a:lnTo>
                <a:cubicBezTo>
                  <a:pt x="0" y="157089"/>
                  <a:pt x="1831" y="159866"/>
                  <a:pt x="4671" y="161034"/>
                </a:cubicBezTo>
                <a:cubicBezTo>
                  <a:pt x="7512" y="162202"/>
                  <a:pt x="10763" y="161539"/>
                  <a:pt x="12941" y="159393"/>
                </a:cubicBezTo>
                <a:lnTo>
                  <a:pt x="29290" y="143043"/>
                </a:lnTo>
                <a:cubicBezTo>
                  <a:pt x="43241" y="154627"/>
                  <a:pt x="61232" y="161602"/>
                  <a:pt x="80801" y="161602"/>
                </a:cubicBezTo>
                <a:cubicBezTo>
                  <a:pt x="121517" y="161602"/>
                  <a:pt x="155195" y="131491"/>
                  <a:pt x="160782" y="9232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970512" y="4769097"/>
            <a:ext cx="122997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Scaling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6686" y="5056390"/>
            <a:ext cx="2899865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instances when traffic increases, remove when it decreases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94625" y="4621858"/>
            <a:ext cx="3131495" cy="940885"/>
          </a:xfrm>
          <a:custGeom>
            <a:avLst/>
            <a:gdLst/>
            <a:ahLst/>
            <a:cxnLst/>
            <a:rect l="l" t="t" r="r" b="b"/>
            <a:pathLst>
              <a:path w="3131495" h="940885">
                <a:moveTo>
                  <a:pt x="107731" y="0"/>
                </a:moveTo>
                <a:lnTo>
                  <a:pt x="3023763" y="0"/>
                </a:lnTo>
                <a:cubicBezTo>
                  <a:pt x="3083262" y="0"/>
                  <a:pt x="3131495" y="48233"/>
                  <a:pt x="3131495" y="107731"/>
                </a:cubicBezTo>
                <a:lnTo>
                  <a:pt x="3131495" y="833154"/>
                </a:lnTo>
                <a:cubicBezTo>
                  <a:pt x="3131495" y="892652"/>
                  <a:pt x="3083262" y="940885"/>
                  <a:pt x="3023763" y="940885"/>
                </a:cubicBezTo>
                <a:lnTo>
                  <a:pt x="107731" y="940885"/>
                </a:lnTo>
                <a:cubicBezTo>
                  <a:pt x="48233" y="940885"/>
                  <a:pt x="0" y="892652"/>
                  <a:pt x="0" y="833154"/>
                </a:cubicBezTo>
                <a:lnTo>
                  <a:pt x="0" y="107731"/>
                </a:lnTo>
                <a:cubicBezTo>
                  <a:pt x="0" y="48273"/>
                  <a:pt x="48273" y="0"/>
                  <a:pt x="10773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94608" y="4796030"/>
            <a:ext cx="101001" cy="161602"/>
          </a:xfrm>
          <a:custGeom>
            <a:avLst/>
            <a:gdLst/>
            <a:ahLst/>
            <a:cxnLst/>
            <a:rect l="l" t="t" r="r" b="b"/>
            <a:pathLst>
              <a:path w="101001" h="161602">
                <a:moveTo>
                  <a:pt x="42926" y="7575"/>
                </a:moveTo>
                <a:cubicBezTo>
                  <a:pt x="42926" y="3377"/>
                  <a:pt x="46303" y="0"/>
                  <a:pt x="50501" y="0"/>
                </a:cubicBezTo>
                <a:cubicBezTo>
                  <a:pt x="54699" y="0"/>
                  <a:pt x="58076" y="3377"/>
                  <a:pt x="58076" y="7575"/>
                </a:cubicBezTo>
                <a:lnTo>
                  <a:pt x="58076" y="20200"/>
                </a:lnTo>
                <a:lnTo>
                  <a:pt x="75751" y="20200"/>
                </a:lnTo>
                <a:cubicBezTo>
                  <a:pt x="81338" y="20200"/>
                  <a:pt x="85851" y="24714"/>
                  <a:pt x="85851" y="30300"/>
                </a:cubicBezTo>
                <a:cubicBezTo>
                  <a:pt x="85851" y="35887"/>
                  <a:pt x="81338" y="40401"/>
                  <a:pt x="75751" y="40401"/>
                </a:cubicBezTo>
                <a:lnTo>
                  <a:pt x="39485" y="40401"/>
                </a:lnTo>
                <a:cubicBezTo>
                  <a:pt x="31626" y="40401"/>
                  <a:pt x="25250" y="46776"/>
                  <a:pt x="25250" y="54635"/>
                </a:cubicBezTo>
                <a:cubicBezTo>
                  <a:pt x="25250" y="61737"/>
                  <a:pt x="30458" y="67734"/>
                  <a:pt x="37465" y="68744"/>
                </a:cubicBezTo>
                <a:lnTo>
                  <a:pt x="66377" y="72879"/>
                </a:lnTo>
                <a:cubicBezTo>
                  <a:pt x="83358" y="75309"/>
                  <a:pt x="95951" y="89828"/>
                  <a:pt x="95951" y="106967"/>
                </a:cubicBezTo>
                <a:cubicBezTo>
                  <a:pt x="95951" y="125999"/>
                  <a:pt x="80517" y="141402"/>
                  <a:pt x="61516" y="141402"/>
                </a:cubicBezTo>
                <a:lnTo>
                  <a:pt x="58076" y="141402"/>
                </a:lnTo>
                <a:lnTo>
                  <a:pt x="58076" y="154027"/>
                </a:lnTo>
                <a:cubicBezTo>
                  <a:pt x="58076" y="158225"/>
                  <a:pt x="54699" y="161602"/>
                  <a:pt x="50501" y="161602"/>
                </a:cubicBezTo>
                <a:cubicBezTo>
                  <a:pt x="46303" y="161602"/>
                  <a:pt x="42926" y="158225"/>
                  <a:pt x="42926" y="154027"/>
                </a:cubicBezTo>
                <a:lnTo>
                  <a:pt x="42926" y="141402"/>
                </a:lnTo>
                <a:lnTo>
                  <a:pt x="20200" y="141402"/>
                </a:lnTo>
                <a:cubicBezTo>
                  <a:pt x="14614" y="141402"/>
                  <a:pt x="10100" y="136889"/>
                  <a:pt x="10100" y="131302"/>
                </a:cubicBezTo>
                <a:cubicBezTo>
                  <a:pt x="10100" y="125715"/>
                  <a:pt x="14614" y="121202"/>
                  <a:pt x="20200" y="121202"/>
                </a:cubicBezTo>
                <a:lnTo>
                  <a:pt x="61516" y="121202"/>
                </a:lnTo>
                <a:cubicBezTo>
                  <a:pt x="69375" y="121202"/>
                  <a:pt x="75751" y="114826"/>
                  <a:pt x="75751" y="106967"/>
                </a:cubicBezTo>
                <a:cubicBezTo>
                  <a:pt x="75751" y="99865"/>
                  <a:pt x="70543" y="93868"/>
                  <a:pt x="63536" y="92858"/>
                </a:cubicBezTo>
                <a:lnTo>
                  <a:pt x="34625" y="88723"/>
                </a:lnTo>
                <a:cubicBezTo>
                  <a:pt x="17644" y="86325"/>
                  <a:pt x="5050" y="71774"/>
                  <a:pt x="5050" y="54635"/>
                </a:cubicBezTo>
                <a:cubicBezTo>
                  <a:pt x="5050" y="35635"/>
                  <a:pt x="20484" y="20200"/>
                  <a:pt x="39485" y="20200"/>
                </a:cubicBezTo>
                <a:lnTo>
                  <a:pt x="42926" y="20200"/>
                </a:lnTo>
                <a:lnTo>
                  <a:pt x="42926" y="75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4215689" y="4769097"/>
            <a:ext cx="121201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Optimization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41863" y="5056390"/>
            <a:ext cx="2899865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 only for what you need, eliminate over-provisioning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9448" y="5677659"/>
            <a:ext cx="3131495" cy="940885"/>
          </a:xfrm>
          <a:custGeom>
            <a:avLst/>
            <a:gdLst/>
            <a:ahLst/>
            <a:cxnLst/>
            <a:rect l="l" t="t" r="r" b="b"/>
            <a:pathLst>
              <a:path w="3131495" h="940885">
                <a:moveTo>
                  <a:pt x="107731" y="0"/>
                </a:moveTo>
                <a:lnTo>
                  <a:pt x="3023763" y="0"/>
                </a:lnTo>
                <a:cubicBezTo>
                  <a:pt x="3083262" y="0"/>
                  <a:pt x="3131495" y="48233"/>
                  <a:pt x="3131495" y="107731"/>
                </a:cubicBezTo>
                <a:lnTo>
                  <a:pt x="3131495" y="833154"/>
                </a:lnTo>
                <a:cubicBezTo>
                  <a:pt x="3131495" y="892652"/>
                  <a:pt x="3083262" y="940885"/>
                  <a:pt x="3023763" y="940885"/>
                </a:cubicBezTo>
                <a:lnTo>
                  <a:pt x="107731" y="940885"/>
                </a:lnTo>
                <a:cubicBezTo>
                  <a:pt x="48233" y="940885"/>
                  <a:pt x="0" y="892652"/>
                  <a:pt x="0" y="833154"/>
                </a:cubicBezTo>
                <a:lnTo>
                  <a:pt x="0" y="107731"/>
                </a:lnTo>
                <a:cubicBezTo>
                  <a:pt x="0" y="48273"/>
                  <a:pt x="48273" y="0"/>
                  <a:pt x="10773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9130" y="5851831"/>
            <a:ext cx="161602" cy="161602"/>
          </a:xfrm>
          <a:custGeom>
            <a:avLst/>
            <a:gdLst/>
            <a:ahLst/>
            <a:cxnLst/>
            <a:rect l="l" t="t" r="r" b="b"/>
            <a:pathLst>
              <a:path w="161602" h="161602">
                <a:moveTo>
                  <a:pt x="80801" y="34056"/>
                </a:moveTo>
                <a:lnTo>
                  <a:pt x="76067" y="27491"/>
                </a:lnTo>
                <a:cubicBezTo>
                  <a:pt x="68176" y="16571"/>
                  <a:pt x="55519" y="10100"/>
                  <a:pt x="42010" y="10100"/>
                </a:cubicBezTo>
                <a:cubicBezTo>
                  <a:pt x="18812" y="10100"/>
                  <a:pt x="0" y="28912"/>
                  <a:pt x="0" y="52110"/>
                </a:cubicBezTo>
                <a:lnTo>
                  <a:pt x="0" y="52931"/>
                </a:lnTo>
                <a:cubicBezTo>
                  <a:pt x="0" y="60380"/>
                  <a:pt x="1957" y="68081"/>
                  <a:pt x="5239" y="75751"/>
                </a:cubicBezTo>
                <a:lnTo>
                  <a:pt x="38696" y="75751"/>
                </a:lnTo>
                <a:cubicBezTo>
                  <a:pt x="39706" y="75751"/>
                  <a:pt x="40622" y="75151"/>
                  <a:pt x="41032" y="74205"/>
                </a:cubicBezTo>
                <a:lnTo>
                  <a:pt x="51069" y="50122"/>
                </a:lnTo>
                <a:cubicBezTo>
                  <a:pt x="52237" y="47344"/>
                  <a:pt x="54951" y="45514"/>
                  <a:pt x="57950" y="45451"/>
                </a:cubicBezTo>
                <a:cubicBezTo>
                  <a:pt x="60948" y="45388"/>
                  <a:pt x="63726" y="47155"/>
                  <a:pt x="64957" y="49901"/>
                </a:cubicBezTo>
                <a:lnTo>
                  <a:pt x="81148" y="85851"/>
                </a:lnTo>
                <a:lnTo>
                  <a:pt x="94215" y="59717"/>
                </a:lnTo>
                <a:cubicBezTo>
                  <a:pt x="95510" y="57161"/>
                  <a:pt x="98129" y="55519"/>
                  <a:pt x="101001" y="55519"/>
                </a:cubicBezTo>
                <a:cubicBezTo>
                  <a:pt x="103874" y="55519"/>
                  <a:pt x="106493" y="57129"/>
                  <a:pt x="107788" y="59717"/>
                </a:cubicBezTo>
                <a:lnTo>
                  <a:pt x="115110" y="74331"/>
                </a:lnTo>
                <a:cubicBezTo>
                  <a:pt x="115552" y="75183"/>
                  <a:pt x="116404" y="75720"/>
                  <a:pt x="117383" y="75720"/>
                </a:cubicBezTo>
                <a:lnTo>
                  <a:pt x="156394" y="75720"/>
                </a:lnTo>
                <a:cubicBezTo>
                  <a:pt x="159709" y="68050"/>
                  <a:pt x="161634" y="60348"/>
                  <a:pt x="161634" y="52900"/>
                </a:cubicBezTo>
                <a:lnTo>
                  <a:pt x="161634" y="52079"/>
                </a:lnTo>
                <a:cubicBezTo>
                  <a:pt x="161602" y="28912"/>
                  <a:pt x="142791" y="10100"/>
                  <a:pt x="119592" y="10100"/>
                </a:cubicBezTo>
                <a:cubicBezTo>
                  <a:pt x="106115" y="10100"/>
                  <a:pt x="93426" y="16571"/>
                  <a:pt x="85536" y="27491"/>
                </a:cubicBezTo>
                <a:lnTo>
                  <a:pt x="80801" y="34025"/>
                </a:lnTo>
                <a:close/>
                <a:moveTo>
                  <a:pt x="148220" y="90901"/>
                </a:moveTo>
                <a:lnTo>
                  <a:pt x="117351" y="90901"/>
                </a:lnTo>
                <a:cubicBezTo>
                  <a:pt x="110660" y="90901"/>
                  <a:pt x="104537" y="87114"/>
                  <a:pt x="101538" y="81117"/>
                </a:cubicBezTo>
                <a:lnTo>
                  <a:pt x="101001" y="80044"/>
                </a:lnTo>
                <a:lnTo>
                  <a:pt x="87587" y="106904"/>
                </a:lnTo>
                <a:cubicBezTo>
                  <a:pt x="86293" y="109523"/>
                  <a:pt x="83579" y="111165"/>
                  <a:pt x="80643" y="111102"/>
                </a:cubicBezTo>
                <a:cubicBezTo>
                  <a:pt x="77708" y="111038"/>
                  <a:pt x="75088" y="109303"/>
                  <a:pt x="73889" y="106651"/>
                </a:cubicBezTo>
                <a:lnTo>
                  <a:pt x="58328" y="72090"/>
                </a:lnTo>
                <a:lnTo>
                  <a:pt x="55014" y="80044"/>
                </a:lnTo>
                <a:cubicBezTo>
                  <a:pt x="52268" y="86640"/>
                  <a:pt x="45829" y="90933"/>
                  <a:pt x="38696" y="90933"/>
                </a:cubicBezTo>
                <a:lnTo>
                  <a:pt x="13383" y="90933"/>
                </a:lnTo>
                <a:cubicBezTo>
                  <a:pt x="28280" y="114226"/>
                  <a:pt x="52205" y="135658"/>
                  <a:pt x="67166" y="147083"/>
                </a:cubicBezTo>
                <a:cubicBezTo>
                  <a:pt x="71080" y="150050"/>
                  <a:pt x="75877" y="151534"/>
                  <a:pt x="80770" y="151534"/>
                </a:cubicBezTo>
                <a:cubicBezTo>
                  <a:pt x="85662" y="151534"/>
                  <a:pt x="90491" y="150082"/>
                  <a:pt x="94373" y="147083"/>
                </a:cubicBezTo>
                <a:cubicBezTo>
                  <a:pt x="109397" y="135626"/>
                  <a:pt x="133322" y="114195"/>
                  <a:pt x="148220" y="9090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970512" y="5824897"/>
            <a:ext cx="109530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Availability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6686" y="6112190"/>
            <a:ext cx="2899865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Replace unhealthy instances automatically across multiple AZs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94625" y="5677659"/>
            <a:ext cx="3131495" cy="940885"/>
          </a:xfrm>
          <a:custGeom>
            <a:avLst/>
            <a:gdLst/>
            <a:ahLst/>
            <a:cxnLst/>
            <a:rect l="l" t="t" r="r" b="b"/>
            <a:pathLst>
              <a:path w="3131495" h="940885">
                <a:moveTo>
                  <a:pt x="107731" y="0"/>
                </a:moveTo>
                <a:lnTo>
                  <a:pt x="3023763" y="0"/>
                </a:lnTo>
                <a:cubicBezTo>
                  <a:pt x="3083262" y="0"/>
                  <a:pt x="3131495" y="48233"/>
                  <a:pt x="3131495" y="107731"/>
                </a:cubicBezTo>
                <a:lnTo>
                  <a:pt x="3131495" y="833154"/>
                </a:lnTo>
                <a:cubicBezTo>
                  <a:pt x="3131495" y="892652"/>
                  <a:pt x="3083262" y="940885"/>
                  <a:pt x="3023763" y="940885"/>
                </a:cubicBezTo>
                <a:lnTo>
                  <a:pt x="107731" y="940885"/>
                </a:lnTo>
                <a:cubicBezTo>
                  <a:pt x="48233" y="940885"/>
                  <a:pt x="0" y="892652"/>
                  <a:pt x="0" y="833154"/>
                </a:cubicBezTo>
                <a:lnTo>
                  <a:pt x="0" y="107731"/>
                </a:lnTo>
                <a:cubicBezTo>
                  <a:pt x="0" y="48273"/>
                  <a:pt x="48273" y="0"/>
                  <a:pt x="10773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44108" y="5851831"/>
            <a:ext cx="202003" cy="161602"/>
          </a:xfrm>
          <a:custGeom>
            <a:avLst/>
            <a:gdLst/>
            <a:ahLst/>
            <a:cxnLst/>
            <a:rect l="l" t="t" r="r" b="b"/>
            <a:pathLst>
              <a:path w="202003" h="161602">
                <a:moveTo>
                  <a:pt x="121202" y="10100"/>
                </a:moveTo>
                <a:lnTo>
                  <a:pt x="161602" y="10100"/>
                </a:lnTo>
                <a:cubicBezTo>
                  <a:pt x="167189" y="10100"/>
                  <a:pt x="171703" y="14614"/>
                  <a:pt x="171703" y="20200"/>
                </a:cubicBezTo>
                <a:cubicBezTo>
                  <a:pt x="171703" y="25787"/>
                  <a:pt x="167189" y="30300"/>
                  <a:pt x="161602" y="30300"/>
                </a:cubicBezTo>
                <a:lnTo>
                  <a:pt x="125747" y="30300"/>
                </a:lnTo>
                <a:cubicBezTo>
                  <a:pt x="124106" y="38444"/>
                  <a:pt x="118519" y="45167"/>
                  <a:pt x="111102" y="48386"/>
                </a:cubicBezTo>
                <a:lnTo>
                  <a:pt x="111102" y="141402"/>
                </a:lnTo>
                <a:lnTo>
                  <a:pt x="161602" y="141402"/>
                </a:lnTo>
                <a:cubicBezTo>
                  <a:pt x="167189" y="141402"/>
                  <a:pt x="171703" y="145916"/>
                  <a:pt x="171703" y="151502"/>
                </a:cubicBezTo>
                <a:cubicBezTo>
                  <a:pt x="171703" y="157089"/>
                  <a:pt x="167189" y="161602"/>
                  <a:pt x="161602" y="161602"/>
                </a:cubicBezTo>
                <a:lnTo>
                  <a:pt x="40401" y="161602"/>
                </a:lnTo>
                <a:cubicBezTo>
                  <a:pt x="34814" y="161602"/>
                  <a:pt x="30300" y="157089"/>
                  <a:pt x="30300" y="151502"/>
                </a:cubicBezTo>
                <a:cubicBezTo>
                  <a:pt x="30300" y="145916"/>
                  <a:pt x="34814" y="141402"/>
                  <a:pt x="40401" y="141402"/>
                </a:cubicBezTo>
                <a:lnTo>
                  <a:pt x="90901" y="141402"/>
                </a:lnTo>
                <a:lnTo>
                  <a:pt x="90901" y="48386"/>
                </a:lnTo>
                <a:cubicBezTo>
                  <a:pt x="83484" y="45135"/>
                  <a:pt x="77897" y="38412"/>
                  <a:pt x="76256" y="30300"/>
                </a:cubicBezTo>
                <a:lnTo>
                  <a:pt x="40401" y="30300"/>
                </a:lnTo>
                <a:cubicBezTo>
                  <a:pt x="34814" y="30300"/>
                  <a:pt x="30300" y="25787"/>
                  <a:pt x="30300" y="20200"/>
                </a:cubicBezTo>
                <a:cubicBezTo>
                  <a:pt x="30300" y="14614"/>
                  <a:pt x="34814" y="10100"/>
                  <a:pt x="40401" y="10100"/>
                </a:cubicBezTo>
                <a:lnTo>
                  <a:pt x="80801" y="10100"/>
                </a:lnTo>
                <a:cubicBezTo>
                  <a:pt x="85409" y="3977"/>
                  <a:pt x="92732" y="0"/>
                  <a:pt x="101001" y="0"/>
                </a:cubicBezTo>
                <a:cubicBezTo>
                  <a:pt x="109271" y="0"/>
                  <a:pt x="116594" y="3977"/>
                  <a:pt x="121202" y="10100"/>
                </a:cubicBezTo>
                <a:close/>
                <a:moveTo>
                  <a:pt x="138751" y="101001"/>
                </a:moveTo>
                <a:lnTo>
                  <a:pt x="184454" y="101001"/>
                </a:lnTo>
                <a:lnTo>
                  <a:pt x="161602" y="61800"/>
                </a:lnTo>
                <a:lnTo>
                  <a:pt x="138751" y="101001"/>
                </a:lnTo>
                <a:close/>
                <a:moveTo>
                  <a:pt x="161602" y="131302"/>
                </a:moveTo>
                <a:cubicBezTo>
                  <a:pt x="141749" y="131302"/>
                  <a:pt x="125242" y="120571"/>
                  <a:pt x="121833" y="106399"/>
                </a:cubicBezTo>
                <a:cubicBezTo>
                  <a:pt x="121012" y="102927"/>
                  <a:pt x="122149" y="99360"/>
                  <a:pt x="123948" y="96267"/>
                </a:cubicBezTo>
                <a:lnTo>
                  <a:pt x="153996" y="44756"/>
                </a:lnTo>
                <a:cubicBezTo>
                  <a:pt x="155574" y="42042"/>
                  <a:pt x="158478" y="40401"/>
                  <a:pt x="161602" y="40401"/>
                </a:cubicBezTo>
                <a:cubicBezTo>
                  <a:pt x="164727" y="40401"/>
                  <a:pt x="167631" y="42073"/>
                  <a:pt x="169209" y="44756"/>
                </a:cubicBezTo>
                <a:lnTo>
                  <a:pt x="199257" y="96267"/>
                </a:lnTo>
                <a:cubicBezTo>
                  <a:pt x="201056" y="99360"/>
                  <a:pt x="202192" y="102927"/>
                  <a:pt x="201372" y="106399"/>
                </a:cubicBezTo>
                <a:cubicBezTo>
                  <a:pt x="197963" y="120539"/>
                  <a:pt x="181455" y="131302"/>
                  <a:pt x="161602" y="131302"/>
                </a:cubicBezTo>
                <a:close/>
                <a:moveTo>
                  <a:pt x="40022" y="61800"/>
                </a:moveTo>
                <a:lnTo>
                  <a:pt x="17170" y="101001"/>
                </a:lnTo>
                <a:lnTo>
                  <a:pt x="62905" y="101001"/>
                </a:lnTo>
                <a:lnTo>
                  <a:pt x="40022" y="61800"/>
                </a:lnTo>
                <a:close/>
                <a:moveTo>
                  <a:pt x="284" y="106399"/>
                </a:moveTo>
                <a:cubicBezTo>
                  <a:pt x="-537" y="102927"/>
                  <a:pt x="600" y="99360"/>
                  <a:pt x="2399" y="96267"/>
                </a:cubicBezTo>
                <a:lnTo>
                  <a:pt x="32447" y="44756"/>
                </a:lnTo>
                <a:cubicBezTo>
                  <a:pt x="34025" y="42042"/>
                  <a:pt x="36929" y="40401"/>
                  <a:pt x="40053" y="40401"/>
                </a:cubicBezTo>
                <a:cubicBezTo>
                  <a:pt x="43178" y="40401"/>
                  <a:pt x="46082" y="42073"/>
                  <a:pt x="47660" y="44756"/>
                </a:cubicBezTo>
                <a:lnTo>
                  <a:pt x="77708" y="96267"/>
                </a:lnTo>
                <a:cubicBezTo>
                  <a:pt x="79507" y="99360"/>
                  <a:pt x="80643" y="102927"/>
                  <a:pt x="79823" y="106399"/>
                </a:cubicBezTo>
                <a:cubicBezTo>
                  <a:pt x="76414" y="120539"/>
                  <a:pt x="59906" y="131302"/>
                  <a:pt x="40053" y="131302"/>
                </a:cubicBezTo>
                <a:cubicBezTo>
                  <a:pt x="20200" y="131302"/>
                  <a:pt x="3693" y="120571"/>
                  <a:pt x="284" y="10639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215689" y="5824897"/>
            <a:ext cx="115815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Distribution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941863" y="6112190"/>
            <a:ext cx="2899865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Works with load balancers for even traffic distribution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34278" y="1454423"/>
            <a:ext cx="4496137" cy="3447516"/>
          </a:xfrm>
          <a:custGeom>
            <a:avLst/>
            <a:gdLst/>
            <a:ahLst/>
            <a:cxnLst/>
            <a:rect l="l" t="t" r="r" b="b"/>
            <a:pathLst>
              <a:path w="4496137" h="3697103">
                <a:moveTo>
                  <a:pt x="143632" y="0"/>
                </a:moveTo>
                <a:lnTo>
                  <a:pt x="4352504" y="0"/>
                </a:lnTo>
                <a:cubicBezTo>
                  <a:pt x="4431777" y="0"/>
                  <a:pt x="4496137" y="64360"/>
                  <a:pt x="4496137" y="143632"/>
                </a:cubicBezTo>
                <a:lnTo>
                  <a:pt x="4496137" y="3553470"/>
                </a:lnTo>
                <a:cubicBezTo>
                  <a:pt x="4496137" y="3632796"/>
                  <a:pt x="4431830" y="3697103"/>
                  <a:pt x="4352504" y="3697103"/>
                </a:cubicBezTo>
                <a:lnTo>
                  <a:pt x="143632" y="3697103"/>
                </a:lnTo>
                <a:cubicBezTo>
                  <a:pt x="64360" y="3697103"/>
                  <a:pt x="0" y="3632743"/>
                  <a:pt x="0" y="3553470"/>
                </a:cubicBezTo>
                <a:lnTo>
                  <a:pt x="0" y="143632"/>
                </a:lnTo>
                <a:cubicBezTo>
                  <a:pt x="0" y="64360"/>
                  <a:pt x="64360" y="0"/>
                  <a:pt x="14363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7428" y="1637572"/>
            <a:ext cx="421961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17428" y="2032600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7664665" y="2086467"/>
            <a:ext cx="143647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984279" y="2068511"/>
            <a:ext cx="373481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984279" y="2319893"/>
            <a:ext cx="37258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tracks metrics like CPU, memory, and request count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17428" y="2607186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7649964" y="2661053"/>
            <a:ext cx="170580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984279" y="2643098"/>
            <a:ext cx="373481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984279" y="2894479"/>
            <a:ext cx="37258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policies compare metrics against thresholds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17428" y="3181772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7649291" y="3235640"/>
            <a:ext cx="17955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984279" y="3217684"/>
            <a:ext cx="373481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984279" y="3469065"/>
            <a:ext cx="37258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ASG launches or terminates instances automatically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517428" y="3756358"/>
            <a:ext cx="359116" cy="359116"/>
          </a:xfrm>
          <a:custGeom>
            <a:avLst/>
            <a:gdLst/>
            <a:ahLst/>
            <a:cxnLst/>
            <a:rect l="l" t="t" r="r" b="b"/>
            <a:pathLst>
              <a:path w="359116" h="359116">
                <a:moveTo>
                  <a:pt x="71823" y="0"/>
                </a:moveTo>
                <a:lnTo>
                  <a:pt x="287293" y="0"/>
                </a:lnTo>
                <a:cubicBezTo>
                  <a:pt x="326960" y="0"/>
                  <a:pt x="359116" y="32156"/>
                  <a:pt x="359116" y="71823"/>
                </a:cubicBezTo>
                <a:lnTo>
                  <a:pt x="359116" y="287293"/>
                </a:lnTo>
                <a:cubicBezTo>
                  <a:pt x="359116" y="326960"/>
                  <a:pt x="326960" y="359116"/>
                  <a:pt x="287293" y="359116"/>
                </a:cubicBezTo>
                <a:lnTo>
                  <a:pt x="71823" y="359116"/>
                </a:lnTo>
                <a:cubicBezTo>
                  <a:pt x="32156" y="359116"/>
                  <a:pt x="0" y="326960"/>
                  <a:pt x="0" y="287293"/>
                </a:cubicBezTo>
                <a:lnTo>
                  <a:pt x="0" y="71823"/>
                </a:lnTo>
                <a:cubicBezTo>
                  <a:pt x="0" y="32156"/>
                  <a:pt x="32156" y="0"/>
                  <a:pt x="71823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7649291" y="3810226"/>
            <a:ext cx="17955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984279" y="3792270"/>
            <a:ext cx="373481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984279" y="4043651"/>
            <a:ext cx="37258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 instances automatically join load balancer target groups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334278" y="5104614"/>
            <a:ext cx="4496137" cy="1551383"/>
          </a:xfrm>
          <a:custGeom>
            <a:avLst/>
            <a:gdLst/>
            <a:ahLst/>
            <a:cxnLst/>
            <a:rect l="l" t="t" r="r" b="b"/>
            <a:pathLst>
              <a:path w="4496137" h="1551383">
                <a:moveTo>
                  <a:pt x="143643" y="0"/>
                </a:moveTo>
                <a:lnTo>
                  <a:pt x="4352494" y="0"/>
                </a:lnTo>
                <a:cubicBezTo>
                  <a:pt x="4431826" y="0"/>
                  <a:pt x="4496137" y="64311"/>
                  <a:pt x="4496137" y="143643"/>
                </a:cubicBezTo>
                <a:lnTo>
                  <a:pt x="4496137" y="1407740"/>
                </a:lnTo>
                <a:cubicBezTo>
                  <a:pt x="4496137" y="1487072"/>
                  <a:pt x="4431826" y="1551383"/>
                  <a:pt x="4352494" y="1551383"/>
                </a:cubicBezTo>
                <a:lnTo>
                  <a:pt x="143643" y="1551383"/>
                </a:lnTo>
                <a:cubicBezTo>
                  <a:pt x="64311" y="1551383"/>
                  <a:pt x="0" y="1487072"/>
                  <a:pt x="0" y="1407740"/>
                </a:cubicBezTo>
                <a:lnTo>
                  <a:pt x="0" y="143643"/>
                </a:lnTo>
                <a:cubicBezTo>
                  <a:pt x="0" y="64364"/>
                  <a:pt x="64364" y="0"/>
                  <a:pt x="14364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81516" y="5251852"/>
            <a:ext cx="4273485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Monitored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81516" y="5575057"/>
            <a:ext cx="138259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CPU Utilization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254706" y="5575057"/>
            <a:ext cx="49378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481516" y="5826439"/>
            <a:ext cx="149033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Count Per Target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065385" y="5826439"/>
            <a:ext cx="68232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ALB Metric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481516" y="6077820"/>
            <a:ext cx="91574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In/Out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089176" y="6077820"/>
            <a:ext cx="655387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7481516" y="6329201"/>
            <a:ext cx="122099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CloudWatch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254594" y="6329201"/>
            <a:ext cx="493785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Flexible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708" y="362708"/>
            <a:ext cx="1452626" cy="330387"/>
          </a:xfrm>
          <a:custGeom>
            <a:avLst/>
            <a:gdLst/>
            <a:ahLst/>
            <a:cxnLst/>
            <a:rect l="l" t="t" r="r" b="b"/>
            <a:pathLst>
              <a:path w="1452626" h="330387">
                <a:moveTo>
                  <a:pt x="165194" y="0"/>
                </a:moveTo>
                <a:lnTo>
                  <a:pt x="1287432" y="0"/>
                </a:lnTo>
                <a:cubicBezTo>
                  <a:pt x="1378666" y="0"/>
                  <a:pt x="1452626" y="73960"/>
                  <a:pt x="1452626" y="165194"/>
                </a:cubicBezTo>
                <a:lnTo>
                  <a:pt x="1452626" y="165194"/>
                </a:lnTo>
                <a:cubicBezTo>
                  <a:pt x="1452626" y="256427"/>
                  <a:pt x="1378666" y="330387"/>
                  <a:pt x="1287432" y="330387"/>
                </a:cubicBezTo>
                <a:lnTo>
                  <a:pt x="165194" y="330387"/>
                </a:lnTo>
                <a:cubicBezTo>
                  <a:pt x="74021" y="330387"/>
                  <a:pt x="0" y="256366"/>
                  <a:pt x="0" y="165194"/>
                </a:cubicBezTo>
                <a:lnTo>
                  <a:pt x="0" y="165194"/>
                </a:lnTo>
                <a:cubicBezTo>
                  <a:pt x="0" y="74021"/>
                  <a:pt x="74021" y="0"/>
                  <a:pt x="16519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7901" y="465056"/>
            <a:ext cx="125691" cy="125691"/>
          </a:xfrm>
          <a:custGeom>
            <a:avLst/>
            <a:gdLst/>
            <a:ahLst/>
            <a:cxnLst/>
            <a:rect l="l" t="t" r="r" b="b"/>
            <a:pathLst>
              <a:path w="125691" h="125691">
                <a:moveTo>
                  <a:pt x="69719" y="-319"/>
                </a:moveTo>
                <a:cubicBezTo>
                  <a:pt x="65472" y="-2774"/>
                  <a:pt x="60219" y="-2774"/>
                  <a:pt x="55972" y="-319"/>
                </a:cubicBezTo>
                <a:lnTo>
                  <a:pt x="35301" y="11612"/>
                </a:lnTo>
                <a:cubicBezTo>
                  <a:pt x="31054" y="14067"/>
                  <a:pt x="28428" y="18608"/>
                  <a:pt x="28428" y="23518"/>
                </a:cubicBezTo>
                <a:lnTo>
                  <a:pt x="28428" y="48533"/>
                </a:lnTo>
                <a:lnTo>
                  <a:pt x="6751" y="61053"/>
                </a:lnTo>
                <a:cubicBezTo>
                  <a:pt x="2504" y="63508"/>
                  <a:pt x="-123" y="68050"/>
                  <a:pt x="-123" y="72960"/>
                </a:cubicBezTo>
                <a:lnTo>
                  <a:pt x="-123" y="96846"/>
                </a:lnTo>
                <a:cubicBezTo>
                  <a:pt x="-123" y="101755"/>
                  <a:pt x="2504" y="106297"/>
                  <a:pt x="6751" y="108752"/>
                </a:cubicBezTo>
                <a:lnTo>
                  <a:pt x="27446" y="120683"/>
                </a:lnTo>
                <a:cubicBezTo>
                  <a:pt x="31693" y="123138"/>
                  <a:pt x="36946" y="123138"/>
                  <a:pt x="41193" y="120683"/>
                </a:cubicBezTo>
                <a:lnTo>
                  <a:pt x="62870" y="108163"/>
                </a:lnTo>
                <a:lnTo>
                  <a:pt x="84547" y="120683"/>
                </a:lnTo>
                <a:cubicBezTo>
                  <a:pt x="88794" y="123138"/>
                  <a:pt x="94047" y="123138"/>
                  <a:pt x="98294" y="120683"/>
                </a:cubicBezTo>
                <a:lnTo>
                  <a:pt x="118940" y="108752"/>
                </a:lnTo>
                <a:cubicBezTo>
                  <a:pt x="123187" y="106297"/>
                  <a:pt x="125813" y="101755"/>
                  <a:pt x="125813" y="96846"/>
                </a:cubicBezTo>
                <a:lnTo>
                  <a:pt x="125813" y="72960"/>
                </a:lnTo>
                <a:cubicBezTo>
                  <a:pt x="125813" y="68050"/>
                  <a:pt x="123187" y="63508"/>
                  <a:pt x="118940" y="61053"/>
                </a:cubicBezTo>
                <a:lnTo>
                  <a:pt x="97263" y="48533"/>
                </a:lnTo>
                <a:lnTo>
                  <a:pt x="97263" y="23518"/>
                </a:lnTo>
                <a:cubicBezTo>
                  <a:pt x="97263" y="18608"/>
                  <a:pt x="94636" y="14067"/>
                  <a:pt x="90389" y="11612"/>
                </a:cubicBezTo>
                <a:lnTo>
                  <a:pt x="69719" y="-319"/>
                </a:lnTo>
                <a:close/>
                <a:moveTo>
                  <a:pt x="56954" y="71830"/>
                </a:moveTo>
                <a:lnTo>
                  <a:pt x="56954" y="97975"/>
                </a:lnTo>
                <a:lnTo>
                  <a:pt x="35277" y="110495"/>
                </a:lnTo>
                <a:cubicBezTo>
                  <a:pt x="34982" y="110667"/>
                  <a:pt x="34639" y="110765"/>
                  <a:pt x="34295" y="110765"/>
                </a:cubicBezTo>
                <a:lnTo>
                  <a:pt x="34295" y="84915"/>
                </a:lnTo>
                <a:lnTo>
                  <a:pt x="56954" y="71830"/>
                </a:lnTo>
                <a:close/>
                <a:moveTo>
                  <a:pt x="113760" y="71978"/>
                </a:moveTo>
                <a:cubicBezTo>
                  <a:pt x="113932" y="72272"/>
                  <a:pt x="114030" y="72616"/>
                  <a:pt x="114030" y="72960"/>
                </a:cubicBezTo>
                <a:lnTo>
                  <a:pt x="114030" y="96846"/>
                </a:lnTo>
                <a:cubicBezTo>
                  <a:pt x="114030" y="97558"/>
                  <a:pt x="113662" y="98196"/>
                  <a:pt x="113048" y="98540"/>
                </a:cubicBezTo>
                <a:lnTo>
                  <a:pt x="92353" y="110470"/>
                </a:lnTo>
                <a:cubicBezTo>
                  <a:pt x="92059" y="110642"/>
                  <a:pt x="91715" y="110740"/>
                  <a:pt x="91371" y="110740"/>
                </a:cubicBezTo>
                <a:lnTo>
                  <a:pt x="91371" y="84890"/>
                </a:lnTo>
                <a:lnTo>
                  <a:pt x="113760" y="71978"/>
                </a:lnTo>
                <a:close/>
                <a:moveTo>
                  <a:pt x="85504" y="23518"/>
                </a:moveTo>
                <a:lnTo>
                  <a:pt x="85504" y="48533"/>
                </a:lnTo>
                <a:lnTo>
                  <a:pt x="62845" y="61618"/>
                </a:lnTo>
                <a:lnTo>
                  <a:pt x="62845" y="35473"/>
                </a:lnTo>
                <a:lnTo>
                  <a:pt x="85234" y="22561"/>
                </a:lnTo>
                <a:cubicBezTo>
                  <a:pt x="85406" y="22855"/>
                  <a:pt x="85504" y="23199"/>
                  <a:pt x="85504" y="2354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8882" y="438122"/>
            <a:ext cx="99654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kern="0" spc="4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9116" y="804421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 - Key Components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9116" y="1271273"/>
            <a:ext cx="861879" cy="35912"/>
          </a:xfrm>
          <a:custGeom>
            <a:avLst/>
            <a:gdLst/>
            <a:ahLst/>
            <a:cxnLst/>
            <a:rect l="l" t="t" r="r" b="b"/>
            <a:pathLst>
              <a:path w="861879" h="35912">
                <a:moveTo>
                  <a:pt x="0" y="0"/>
                </a:moveTo>
                <a:lnTo>
                  <a:pt x="861879" y="0"/>
                </a:lnTo>
                <a:lnTo>
                  <a:pt x="861879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62708" y="1454422"/>
            <a:ext cx="3697103" cy="5295169"/>
          </a:xfrm>
          <a:custGeom>
            <a:avLst/>
            <a:gdLst/>
            <a:ahLst/>
            <a:cxnLst/>
            <a:rect l="l" t="t" r="r" b="b"/>
            <a:pathLst>
              <a:path w="3697103" h="5402905">
                <a:moveTo>
                  <a:pt x="143632" y="0"/>
                </a:moveTo>
                <a:lnTo>
                  <a:pt x="3553470" y="0"/>
                </a:lnTo>
                <a:cubicBezTo>
                  <a:pt x="3632743" y="0"/>
                  <a:pt x="3697103" y="64360"/>
                  <a:pt x="3697103" y="143632"/>
                </a:cubicBezTo>
                <a:lnTo>
                  <a:pt x="3697103" y="5259273"/>
                </a:lnTo>
                <a:cubicBezTo>
                  <a:pt x="3697103" y="5338599"/>
                  <a:pt x="3632796" y="5402905"/>
                  <a:pt x="3553470" y="5402905"/>
                </a:cubicBezTo>
                <a:lnTo>
                  <a:pt x="143632" y="5402905"/>
                </a:lnTo>
                <a:cubicBezTo>
                  <a:pt x="64360" y="5402905"/>
                  <a:pt x="0" y="5338546"/>
                  <a:pt x="0" y="5259273"/>
                </a:cubicBezTo>
                <a:lnTo>
                  <a:pt x="0" y="143632"/>
                </a:lnTo>
                <a:cubicBezTo>
                  <a:pt x="0" y="64360"/>
                  <a:pt x="64360" y="0"/>
                  <a:pt x="14363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5857" y="1637572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107737" y="0"/>
                </a:moveTo>
                <a:lnTo>
                  <a:pt x="395026" y="0"/>
                </a:lnTo>
                <a:cubicBezTo>
                  <a:pt x="454527" y="0"/>
                  <a:pt x="502763" y="48236"/>
                  <a:pt x="502763" y="107737"/>
                </a:cubicBezTo>
                <a:lnTo>
                  <a:pt x="502763" y="395026"/>
                </a:lnTo>
                <a:cubicBezTo>
                  <a:pt x="502763" y="454527"/>
                  <a:pt x="454527" y="502763"/>
                  <a:pt x="395026" y="502763"/>
                </a:cubicBezTo>
                <a:lnTo>
                  <a:pt x="107737" y="502763"/>
                </a:lnTo>
                <a:cubicBezTo>
                  <a:pt x="48236" y="502763"/>
                  <a:pt x="0" y="454527"/>
                  <a:pt x="0" y="39502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89503" y="1781218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53867" y="134669"/>
                </a:moveTo>
                <a:lnTo>
                  <a:pt x="10311" y="134669"/>
                </a:lnTo>
                <a:cubicBezTo>
                  <a:pt x="-168" y="134669"/>
                  <a:pt x="-6607" y="123264"/>
                  <a:pt x="-1220" y="114258"/>
                </a:cubicBezTo>
                <a:lnTo>
                  <a:pt x="21042" y="77140"/>
                </a:lnTo>
                <a:cubicBezTo>
                  <a:pt x="24703" y="71038"/>
                  <a:pt x="31268" y="67334"/>
                  <a:pt x="38381" y="67334"/>
                </a:cubicBezTo>
                <a:lnTo>
                  <a:pt x="78360" y="67334"/>
                </a:lnTo>
                <a:cubicBezTo>
                  <a:pt x="110386" y="13088"/>
                  <a:pt x="158151" y="10353"/>
                  <a:pt x="190093" y="15024"/>
                </a:cubicBezTo>
                <a:cubicBezTo>
                  <a:pt x="195480" y="15824"/>
                  <a:pt x="199688" y="20032"/>
                  <a:pt x="200446" y="25377"/>
                </a:cubicBezTo>
                <a:cubicBezTo>
                  <a:pt x="205117" y="57318"/>
                  <a:pt x="202382" y="105084"/>
                  <a:pt x="148135" y="137109"/>
                </a:cubicBezTo>
                <a:lnTo>
                  <a:pt x="148135" y="177089"/>
                </a:lnTo>
                <a:cubicBezTo>
                  <a:pt x="148135" y="184201"/>
                  <a:pt x="144432" y="190767"/>
                  <a:pt x="138330" y="194428"/>
                </a:cubicBezTo>
                <a:lnTo>
                  <a:pt x="101212" y="216690"/>
                </a:lnTo>
                <a:cubicBezTo>
                  <a:pt x="92248" y="222077"/>
                  <a:pt x="80801" y="215596"/>
                  <a:pt x="80801" y="205159"/>
                </a:cubicBezTo>
                <a:lnTo>
                  <a:pt x="80801" y="161602"/>
                </a:lnTo>
                <a:cubicBezTo>
                  <a:pt x="80801" y="146747"/>
                  <a:pt x="68723" y="134669"/>
                  <a:pt x="53867" y="134669"/>
                </a:cubicBezTo>
                <a:lnTo>
                  <a:pt x="53825" y="134669"/>
                </a:lnTo>
                <a:close/>
                <a:moveTo>
                  <a:pt x="168336" y="67334"/>
                </a:moveTo>
                <a:cubicBezTo>
                  <a:pt x="168336" y="56185"/>
                  <a:pt x="159284" y="47134"/>
                  <a:pt x="148135" y="47134"/>
                </a:cubicBezTo>
                <a:cubicBezTo>
                  <a:pt x="136987" y="47134"/>
                  <a:pt x="127935" y="56185"/>
                  <a:pt x="127935" y="67334"/>
                </a:cubicBezTo>
                <a:cubicBezTo>
                  <a:pt x="127935" y="78483"/>
                  <a:pt x="136987" y="87535"/>
                  <a:pt x="148135" y="87535"/>
                </a:cubicBezTo>
                <a:cubicBezTo>
                  <a:pt x="159284" y="87535"/>
                  <a:pt x="168336" y="78483"/>
                  <a:pt x="168336" y="6733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156355" y="1655528"/>
            <a:ext cx="1750692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Template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6355" y="1942707"/>
            <a:ext cx="17058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 Definition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5857" y="2283981"/>
            <a:ext cx="3402627" cy="70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r>
              <a:rPr lang="en-US" sz="113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Template</a:t>
            </a:r>
            <a:r>
              <a:rPr lang="en-US" sz="11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blueprint for creating EC2 instances. It defines all configuration parameters needed to launch instances automatically.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9448" y="3131496"/>
            <a:ext cx="3329009" cy="2660715"/>
          </a:xfrm>
          <a:custGeom>
            <a:avLst/>
            <a:gdLst/>
            <a:ahLst/>
            <a:cxnLst/>
            <a:rect l="l" t="t" r="r" b="b"/>
            <a:pathLst>
              <a:path w="3329009" h="2808290">
                <a:moveTo>
                  <a:pt x="107726" y="0"/>
                </a:moveTo>
                <a:lnTo>
                  <a:pt x="3221283" y="0"/>
                </a:lnTo>
                <a:cubicBezTo>
                  <a:pt x="3280778" y="0"/>
                  <a:pt x="3329009" y="48231"/>
                  <a:pt x="3329009" y="107726"/>
                </a:cubicBezTo>
                <a:lnTo>
                  <a:pt x="3329009" y="2700564"/>
                </a:lnTo>
                <a:cubicBezTo>
                  <a:pt x="3329009" y="2760059"/>
                  <a:pt x="3280778" y="2808290"/>
                  <a:pt x="3221283" y="2808290"/>
                </a:cubicBezTo>
                <a:lnTo>
                  <a:pt x="107726" y="2808290"/>
                </a:lnTo>
                <a:cubicBezTo>
                  <a:pt x="48231" y="2808290"/>
                  <a:pt x="0" y="2760059"/>
                  <a:pt x="0" y="2700564"/>
                </a:cubicBezTo>
                <a:lnTo>
                  <a:pt x="0" y="107726"/>
                </a:lnTo>
                <a:cubicBezTo>
                  <a:pt x="0" y="48270"/>
                  <a:pt x="48270" y="0"/>
                  <a:pt x="10772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6686" y="3278732"/>
            <a:ext cx="309737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Includes: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46064" y="3601937"/>
            <a:ext cx="62845" cy="125691"/>
          </a:xfrm>
          <a:custGeom>
            <a:avLst/>
            <a:gdLst/>
            <a:ahLst/>
            <a:cxnLst/>
            <a:rect l="l" t="t" r="r" b="b"/>
            <a:pathLst>
              <a:path w="62845" h="125691">
                <a:moveTo>
                  <a:pt x="60661" y="57297"/>
                </a:moveTo>
                <a:cubicBezTo>
                  <a:pt x="63729" y="60366"/>
                  <a:pt x="63729" y="65349"/>
                  <a:pt x="60661" y="68418"/>
                </a:cubicBezTo>
                <a:lnTo>
                  <a:pt x="21382" y="107696"/>
                </a:lnTo>
                <a:cubicBezTo>
                  <a:pt x="18314" y="110765"/>
                  <a:pt x="13330" y="110765"/>
                  <a:pt x="10261" y="107696"/>
                </a:cubicBezTo>
                <a:cubicBezTo>
                  <a:pt x="7193" y="104628"/>
                  <a:pt x="7193" y="99644"/>
                  <a:pt x="10261" y="96576"/>
                </a:cubicBezTo>
                <a:lnTo>
                  <a:pt x="43992" y="62845"/>
                </a:lnTo>
                <a:lnTo>
                  <a:pt x="10286" y="29115"/>
                </a:lnTo>
                <a:cubicBezTo>
                  <a:pt x="7217" y="26046"/>
                  <a:pt x="7217" y="21063"/>
                  <a:pt x="10286" y="17994"/>
                </a:cubicBezTo>
                <a:cubicBezTo>
                  <a:pt x="13355" y="14926"/>
                  <a:pt x="18338" y="14926"/>
                  <a:pt x="21407" y="17994"/>
                </a:cubicBezTo>
                <a:lnTo>
                  <a:pt x="60685" y="5727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925622" y="3566025"/>
            <a:ext cx="173273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Machine Image (AMI)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46064" y="3853318"/>
            <a:ext cx="62845" cy="125691"/>
          </a:xfrm>
          <a:custGeom>
            <a:avLst/>
            <a:gdLst/>
            <a:ahLst/>
            <a:cxnLst/>
            <a:rect l="l" t="t" r="r" b="b"/>
            <a:pathLst>
              <a:path w="62845" h="125691">
                <a:moveTo>
                  <a:pt x="60661" y="57297"/>
                </a:moveTo>
                <a:cubicBezTo>
                  <a:pt x="63729" y="60366"/>
                  <a:pt x="63729" y="65349"/>
                  <a:pt x="60661" y="68418"/>
                </a:cubicBezTo>
                <a:lnTo>
                  <a:pt x="21382" y="107696"/>
                </a:lnTo>
                <a:cubicBezTo>
                  <a:pt x="18314" y="110765"/>
                  <a:pt x="13330" y="110765"/>
                  <a:pt x="10261" y="107696"/>
                </a:cubicBezTo>
                <a:cubicBezTo>
                  <a:pt x="7193" y="104628"/>
                  <a:pt x="7193" y="99644"/>
                  <a:pt x="10261" y="96576"/>
                </a:cubicBezTo>
                <a:lnTo>
                  <a:pt x="43992" y="62845"/>
                </a:lnTo>
                <a:lnTo>
                  <a:pt x="10286" y="29115"/>
                </a:lnTo>
                <a:cubicBezTo>
                  <a:pt x="7217" y="26046"/>
                  <a:pt x="7217" y="21063"/>
                  <a:pt x="10286" y="17994"/>
                </a:cubicBezTo>
                <a:cubicBezTo>
                  <a:pt x="13355" y="14926"/>
                  <a:pt x="18338" y="14926"/>
                  <a:pt x="21407" y="17994"/>
                </a:cubicBezTo>
                <a:lnTo>
                  <a:pt x="60685" y="5727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925622" y="3817406"/>
            <a:ext cx="219061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 type (t3.micro, m5.large, etc.)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6064" y="4104699"/>
            <a:ext cx="62845" cy="125691"/>
          </a:xfrm>
          <a:custGeom>
            <a:avLst/>
            <a:gdLst/>
            <a:ahLst/>
            <a:cxnLst/>
            <a:rect l="l" t="t" r="r" b="b"/>
            <a:pathLst>
              <a:path w="62845" h="125691">
                <a:moveTo>
                  <a:pt x="60661" y="57297"/>
                </a:moveTo>
                <a:cubicBezTo>
                  <a:pt x="63729" y="60366"/>
                  <a:pt x="63729" y="65349"/>
                  <a:pt x="60661" y="68418"/>
                </a:cubicBezTo>
                <a:lnTo>
                  <a:pt x="21382" y="107696"/>
                </a:lnTo>
                <a:cubicBezTo>
                  <a:pt x="18314" y="110765"/>
                  <a:pt x="13330" y="110765"/>
                  <a:pt x="10261" y="107696"/>
                </a:cubicBezTo>
                <a:cubicBezTo>
                  <a:pt x="7193" y="104628"/>
                  <a:pt x="7193" y="99644"/>
                  <a:pt x="10261" y="96576"/>
                </a:cubicBezTo>
                <a:lnTo>
                  <a:pt x="43992" y="62845"/>
                </a:lnTo>
                <a:lnTo>
                  <a:pt x="10286" y="29115"/>
                </a:lnTo>
                <a:cubicBezTo>
                  <a:pt x="7217" y="26046"/>
                  <a:pt x="7217" y="21063"/>
                  <a:pt x="10286" y="17994"/>
                </a:cubicBezTo>
                <a:cubicBezTo>
                  <a:pt x="13355" y="14926"/>
                  <a:pt x="18338" y="14926"/>
                  <a:pt x="21407" y="17994"/>
                </a:cubicBezTo>
                <a:lnTo>
                  <a:pt x="60685" y="5727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925622" y="4068788"/>
            <a:ext cx="137362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pair for SSH access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6064" y="4356081"/>
            <a:ext cx="62845" cy="125691"/>
          </a:xfrm>
          <a:custGeom>
            <a:avLst/>
            <a:gdLst/>
            <a:ahLst/>
            <a:cxnLst/>
            <a:rect l="l" t="t" r="r" b="b"/>
            <a:pathLst>
              <a:path w="62845" h="125691">
                <a:moveTo>
                  <a:pt x="60661" y="57297"/>
                </a:moveTo>
                <a:cubicBezTo>
                  <a:pt x="63729" y="60366"/>
                  <a:pt x="63729" y="65349"/>
                  <a:pt x="60661" y="68418"/>
                </a:cubicBezTo>
                <a:lnTo>
                  <a:pt x="21382" y="107696"/>
                </a:lnTo>
                <a:cubicBezTo>
                  <a:pt x="18314" y="110765"/>
                  <a:pt x="13330" y="110765"/>
                  <a:pt x="10261" y="107696"/>
                </a:cubicBezTo>
                <a:cubicBezTo>
                  <a:pt x="7193" y="104628"/>
                  <a:pt x="7193" y="99644"/>
                  <a:pt x="10261" y="96576"/>
                </a:cubicBezTo>
                <a:lnTo>
                  <a:pt x="43992" y="62845"/>
                </a:lnTo>
                <a:lnTo>
                  <a:pt x="10286" y="29115"/>
                </a:lnTo>
                <a:cubicBezTo>
                  <a:pt x="7217" y="26046"/>
                  <a:pt x="7217" y="21063"/>
                  <a:pt x="10286" y="17994"/>
                </a:cubicBezTo>
                <a:cubicBezTo>
                  <a:pt x="13355" y="14926"/>
                  <a:pt x="18338" y="14926"/>
                  <a:pt x="21407" y="17994"/>
                </a:cubicBezTo>
                <a:lnTo>
                  <a:pt x="60685" y="5727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925622" y="4320169"/>
            <a:ext cx="93370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groups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6064" y="4607462"/>
            <a:ext cx="62845" cy="125691"/>
          </a:xfrm>
          <a:custGeom>
            <a:avLst/>
            <a:gdLst/>
            <a:ahLst/>
            <a:cxnLst/>
            <a:rect l="l" t="t" r="r" b="b"/>
            <a:pathLst>
              <a:path w="62845" h="125691">
                <a:moveTo>
                  <a:pt x="60661" y="57297"/>
                </a:moveTo>
                <a:cubicBezTo>
                  <a:pt x="63729" y="60366"/>
                  <a:pt x="63729" y="65349"/>
                  <a:pt x="60661" y="68418"/>
                </a:cubicBezTo>
                <a:lnTo>
                  <a:pt x="21382" y="107696"/>
                </a:lnTo>
                <a:cubicBezTo>
                  <a:pt x="18314" y="110765"/>
                  <a:pt x="13330" y="110765"/>
                  <a:pt x="10261" y="107696"/>
                </a:cubicBezTo>
                <a:cubicBezTo>
                  <a:pt x="7193" y="104628"/>
                  <a:pt x="7193" y="99644"/>
                  <a:pt x="10261" y="96576"/>
                </a:cubicBezTo>
                <a:lnTo>
                  <a:pt x="43992" y="62845"/>
                </a:lnTo>
                <a:lnTo>
                  <a:pt x="10286" y="29115"/>
                </a:lnTo>
                <a:cubicBezTo>
                  <a:pt x="7217" y="26046"/>
                  <a:pt x="7217" y="21063"/>
                  <a:pt x="10286" y="17994"/>
                </a:cubicBezTo>
                <a:cubicBezTo>
                  <a:pt x="13355" y="14926"/>
                  <a:pt x="18338" y="14926"/>
                  <a:pt x="21407" y="17994"/>
                </a:cubicBezTo>
                <a:lnTo>
                  <a:pt x="60685" y="5727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925622" y="4571551"/>
            <a:ext cx="99654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data scripts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6064" y="4858844"/>
            <a:ext cx="62845" cy="125691"/>
          </a:xfrm>
          <a:custGeom>
            <a:avLst/>
            <a:gdLst/>
            <a:ahLst/>
            <a:cxnLst/>
            <a:rect l="l" t="t" r="r" b="b"/>
            <a:pathLst>
              <a:path w="62845" h="125691">
                <a:moveTo>
                  <a:pt x="60661" y="57297"/>
                </a:moveTo>
                <a:cubicBezTo>
                  <a:pt x="63729" y="60366"/>
                  <a:pt x="63729" y="65349"/>
                  <a:pt x="60661" y="68418"/>
                </a:cubicBezTo>
                <a:lnTo>
                  <a:pt x="21382" y="107696"/>
                </a:lnTo>
                <a:cubicBezTo>
                  <a:pt x="18314" y="110765"/>
                  <a:pt x="13330" y="110765"/>
                  <a:pt x="10261" y="107696"/>
                </a:cubicBezTo>
                <a:cubicBezTo>
                  <a:pt x="7193" y="104628"/>
                  <a:pt x="7193" y="99644"/>
                  <a:pt x="10261" y="96576"/>
                </a:cubicBezTo>
                <a:lnTo>
                  <a:pt x="43992" y="62845"/>
                </a:lnTo>
                <a:lnTo>
                  <a:pt x="10286" y="29115"/>
                </a:lnTo>
                <a:cubicBezTo>
                  <a:pt x="7217" y="26046"/>
                  <a:pt x="7217" y="21063"/>
                  <a:pt x="10286" y="17994"/>
                </a:cubicBezTo>
                <a:cubicBezTo>
                  <a:pt x="13355" y="14926"/>
                  <a:pt x="18338" y="14926"/>
                  <a:pt x="21407" y="17994"/>
                </a:cubicBezTo>
                <a:lnTo>
                  <a:pt x="60685" y="5727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925622" y="4822932"/>
            <a:ext cx="116712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IAM instance profile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6064" y="5110225"/>
            <a:ext cx="62845" cy="125691"/>
          </a:xfrm>
          <a:custGeom>
            <a:avLst/>
            <a:gdLst/>
            <a:ahLst/>
            <a:cxnLst/>
            <a:rect l="l" t="t" r="r" b="b"/>
            <a:pathLst>
              <a:path w="62845" h="125691">
                <a:moveTo>
                  <a:pt x="60661" y="57297"/>
                </a:moveTo>
                <a:cubicBezTo>
                  <a:pt x="63729" y="60366"/>
                  <a:pt x="63729" y="65349"/>
                  <a:pt x="60661" y="68418"/>
                </a:cubicBezTo>
                <a:lnTo>
                  <a:pt x="21382" y="107696"/>
                </a:lnTo>
                <a:cubicBezTo>
                  <a:pt x="18314" y="110765"/>
                  <a:pt x="13330" y="110765"/>
                  <a:pt x="10261" y="107696"/>
                </a:cubicBezTo>
                <a:cubicBezTo>
                  <a:pt x="7193" y="104628"/>
                  <a:pt x="7193" y="99644"/>
                  <a:pt x="10261" y="96576"/>
                </a:cubicBezTo>
                <a:lnTo>
                  <a:pt x="43992" y="62845"/>
                </a:lnTo>
                <a:lnTo>
                  <a:pt x="10286" y="29115"/>
                </a:lnTo>
                <a:cubicBezTo>
                  <a:pt x="7217" y="26046"/>
                  <a:pt x="7217" y="21063"/>
                  <a:pt x="10286" y="17994"/>
                </a:cubicBezTo>
                <a:cubicBezTo>
                  <a:pt x="13355" y="14926"/>
                  <a:pt x="18338" y="14926"/>
                  <a:pt x="21407" y="17994"/>
                </a:cubicBezTo>
                <a:lnTo>
                  <a:pt x="60685" y="5727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925622" y="5074314"/>
            <a:ext cx="133770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Block device mappings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9448" y="5996854"/>
            <a:ext cx="3329009" cy="581768"/>
          </a:xfrm>
          <a:custGeom>
            <a:avLst/>
            <a:gdLst/>
            <a:ahLst/>
            <a:cxnLst/>
            <a:rect l="l" t="t" r="r" b="b"/>
            <a:pathLst>
              <a:path w="3329009" h="581768">
                <a:moveTo>
                  <a:pt x="107738" y="0"/>
                </a:moveTo>
                <a:lnTo>
                  <a:pt x="3221271" y="0"/>
                </a:lnTo>
                <a:cubicBezTo>
                  <a:pt x="3280773" y="0"/>
                  <a:pt x="3329009" y="48236"/>
                  <a:pt x="3329009" y="107738"/>
                </a:cubicBezTo>
                <a:lnTo>
                  <a:pt x="3329009" y="474031"/>
                </a:lnTo>
                <a:cubicBezTo>
                  <a:pt x="3329009" y="533533"/>
                  <a:pt x="3280773" y="581768"/>
                  <a:pt x="3221271" y="581768"/>
                </a:cubicBezTo>
                <a:lnTo>
                  <a:pt x="107738" y="581768"/>
                </a:lnTo>
                <a:cubicBezTo>
                  <a:pt x="48276" y="581768"/>
                  <a:pt x="0" y="533493"/>
                  <a:pt x="0" y="474031"/>
                </a:cubicBezTo>
                <a:lnTo>
                  <a:pt x="0" y="107738"/>
                </a:lnTo>
                <a:cubicBezTo>
                  <a:pt x="0" y="48276"/>
                  <a:pt x="48276" y="0"/>
                  <a:pt x="10773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774" y="6108180"/>
            <a:ext cx="3169202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Feature:</a:t>
            </a:r>
            <a:r>
              <a:rPr lang="en-US" sz="9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Version control support - create multiple versions with different configurations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47785" y="1454422"/>
            <a:ext cx="3697103" cy="5295169"/>
          </a:xfrm>
          <a:custGeom>
            <a:avLst/>
            <a:gdLst/>
            <a:ahLst/>
            <a:cxnLst/>
            <a:rect l="l" t="t" r="r" b="b"/>
            <a:pathLst>
              <a:path w="3697103" h="5402905">
                <a:moveTo>
                  <a:pt x="143632" y="0"/>
                </a:moveTo>
                <a:lnTo>
                  <a:pt x="3553470" y="0"/>
                </a:lnTo>
                <a:cubicBezTo>
                  <a:pt x="3632743" y="0"/>
                  <a:pt x="3697103" y="64360"/>
                  <a:pt x="3697103" y="143632"/>
                </a:cubicBezTo>
                <a:lnTo>
                  <a:pt x="3697103" y="5259273"/>
                </a:lnTo>
                <a:cubicBezTo>
                  <a:pt x="3697103" y="5338599"/>
                  <a:pt x="3632796" y="5402905"/>
                  <a:pt x="3553470" y="5402905"/>
                </a:cubicBezTo>
                <a:lnTo>
                  <a:pt x="143632" y="5402905"/>
                </a:lnTo>
                <a:cubicBezTo>
                  <a:pt x="64360" y="5402905"/>
                  <a:pt x="0" y="5338546"/>
                  <a:pt x="0" y="5259273"/>
                </a:cubicBezTo>
                <a:lnTo>
                  <a:pt x="0" y="143632"/>
                </a:lnTo>
                <a:cubicBezTo>
                  <a:pt x="0" y="64360"/>
                  <a:pt x="64360" y="0"/>
                  <a:pt x="14363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0935" y="1637572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107737" y="0"/>
                </a:moveTo>
                <a:lnTo>
                  <a:pt x="395026" y="0"/>
                </a:lnTo>
                <a:cubicBezTo>
                  <a:pt x="454527" y="0"/>
                  <a:pt x="502763" y="48236"/>
                  <a:pt x="502763" y="107737"/>
                </a:cubicBezTo>
                <a:lnTo>
                  <a:pt x="502763" y="395026"/>
                </a:lnTo>
                <a:cubicBezTo>
                  <a:pt x="502763" y="454527"/>
                  <a:pt x="454527" y="502763"/>
                  <a:pt x="395026" y="502763"/>
                </a:cubicBezTo>
                <a:lnTo>
                  <a:pt x="107737" y="502763"/>
                </a:lnTo>
                <a:cubicBezTo>
                  <a:pt x="48236" y="502763"/>
                  <a:pt x="0" y="454527"/>
                  <a:pt x="0" y="39502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4581" y="1781218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97845" y="2188"/>
                </a:moveTo>
                <a:cubicBezTo>
                  <a:pt x="104116" y="-715"/>
                  <a:pt x="111354" y="-715"/>
                  <a:pt x="117625" y="2188"/>
                </a:cubicBezTo>
                <a:lnTo>
                  <a:pt x="209620" y="44693"/>
                </a:lnTo>
                <a:cubicBezTo>
                  <a:pt x="213197" y="46334"/>
                  <a:pt x="215470" y="49912"/>
                  <a:pt x="215470" y="53867"/>
                </a:cubicBezTo>
                <a:cubicBezTo>
                  <a:pt x="215470" y="57823"/>
                  <a:pt x="213197" y="61400"/>
                  <a:pt x="209620" y="63042"/>
                </a:cubicBezTo>
                <a:lnTo>
                  <a:pt x="117625" y="105547"/>
                </a:lnTo>
                <a:cubicBezTo>
                  <a:pt x="111354" y="108450"/>
                  <a:pt x="104116" y="108450"/>
                  <a:pt x="97845" y="105547"/>
                </a:cubicBezTo>
                <a:lnTo>
                  <a:pt x="5850" y="63042"/>
                </a:lnTo>
                <a:cubicBezTo>
                  <a:pt x="2273" y="61358"/>
                  <a:pt x="0" y="57781"/>
                  <a:pt x="0" y="53867"/>
                </a:cubicBezTo>
                <a:cubicBezTo>
                  <a:pt x="0" y="49954"/>
                  <a:pt x="2273" y="46334"/>
                  <a:pt x="5850" y="44693"/>
                </a:cubicBezTo>
                <a:lnTo>
                  <a:pt x="97845" y="2188"/>
                </a:lnTo>
                <a:close/>
                <a:moveTo>
                  <a:pt x="20242" y="91911"/>
                </a:moveTo>
                <a:lnTo>
                  <a:pt x="89386" y="123853"/>
                </a:lnTo>
                <a:cubicBezTo>
                  <a:pt x="101044" y="129240"/>
                  <a:pt x="114468" y="129240"/>
                  <a:pt x="126126" y="123853"/>
                </a:cubicBezTo>
                <a:lnTo>
                  <a:pt x="195270" y="91911"/>
                </a:lnTo>
                <a:lnTo>
                  <a:pt x="209620" y="98561"/>
                </a:lnTo>
                <a:cubicBezTo>
                  <a:pt x="213197" y="100202"/>
                  <a:pt x="215470" y="103779"/>
                  <a:pt x="215470" y="107735"/>
                </a:cubicBezTo>
                <a:cubicBezTo>
                  <a:pt x="215470" y="111691"/>
                  <a:pt x="213197" y="115268"/>
                  <a:pt x="209620" y="116909"/>
                </a:cubicBezTo>
                <a:lnTo>
                  <a:pt x="117625" y="159414"/>
                </a:lnTo>
                <a:cubicBezTo>
                  <a:pt x="111354" y="162318"/>
                  <a:pt x="104116" y="162318"/>
                  <a:pt x="97845" y="159414"/>
                </a:cubicBezTo>
                <a:lnTo>
                  <a:pt x="5850" y="116909"/>
                </a:lnTo>
                <a:cubicBezTo>
                  <a:pt x="2273" y="115226"/>
                  <a:pt x="0" y="111649"/>
                  <a:pt x="0" y="107735"/>
                </a:cubicBezTo>
                <a:cubicBezTo>
                  <a:pt x="0" y="103821"/>
                  <a:pt x="2273" y="100202"/>
                  <a:pt x="5850" y="98561"/>
                </a:cubicBezTo>
                <a:lnTo>
                  <a:pt x="20200" y="91911"/>
                </a:lnTo>
                <a:close/>
                <a:moveTo>
                  <a:pt x="5850" y="152428"/>
                </a:moveTo>
                <a:lnTo>
                  <a:pt x="20200" y="145779"/>
                </a:lnTo>
                <a:lnTo>
                  <a:pt x="89344" y="177721"/>
                </a:lnTo>
                <a:cubicBezTo>
                  <a:pt x="101001" y="183107"/>
                  <a:pt x="114426" y="183107"/>
                  <a:pt x="126084" y="177721"/>
                </a:cubicBezTo>
                <a:lnTo>
                  <a:pt x="195227" y="145779"/>
                </a:lnTo>
                <a:lnTo>
                  <a:pt x="209578" y="152428"/>
                </a:lnTo>
                <a:cubicBezTo>
                  <a:pt x="213155" y="154069"/>
                  <a:pt x="215428" y="157646"/>
                  <a:pt x="215428" y="161602"/>
                </a:cubicBezTo>
                <a:cubicBezTo>
                  <a:pt x="215428" y="165558"/>
                  <a:pt x="213155" y="169135"/>
                  <a:pt x="209578" y="170777"/>
                </a:cubicBezTo>
                <a:lnTo>
                  <a:pt x="117583" y="213281"/>
                </a:lnTo>
                <a:cubicBezTo>
                  <a:pt x="111312" y="216185"/>
                  <a:pt x="104074" y="216185"/>
                  <a:pt x="97803" y="213281"/>
                </a:cubicBezTo>
                <a:lnTo>
                  <a:pt x="5850" y="170777"/>
                </a:lnTo>
                <a:cubicBezTo>
                  <a:pt x="2273" y="169093"/>
                  <a:pt x="0" y="165516"/>
                  <a:pt x="0" y="161602"/>
                </a:cubicBezTo>
                <a:cubicBezTo>
                  <a:pt x="0" y="157689"/>
                  <a:pt x="2273" y="154069"/>
                  <a:pt x="5850" y="15242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5041433" y="1655528"/>
            <a:ext cx="1939228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 Group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41433" y="1942707"/>
            <a:ext cx="189433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 Management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30935" y="2283981"/>
            <a:ext cx="3402627" cy="70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</a:t>
            </a:r>
            <a:r>
              <a:rPr lang="en-US" sz="113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 Group (ASG)</a:t>
            </a:r>
            <a:r>
              <a:rPr lang="en-US" sz="11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manages a collection of EC2 instances as a logical group, ensuring the right number of instances are running at all times.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34526" y="3131496"/>
            <a:ext cx="3329009" cy="2660715"/>
          </a:xfrm>
          <a:custGeom>
            <a:avLst/>
            <a:gdLst/>
            <a:ahLst/>
            <a:cxnLst/>
            <a:rect l="l" t="t" r="r" b="b"/>
            <a:pathLst>
              <a:path w="3329009" h="2808290">
                <a:moveTo>
                  <a:pt x="107726" y="0"/>
                </a:moveTo>
                <a:lnTo>
                  <a:pt x="3221283" y="0"/>
                </a:lnTo>
                <a:cubicBezTo>
                  <a:pt x="3280778" y="0"/>
                  <a:pt x="3329009" y="48231"/>
                  <a:pt x="3329009" y="107726"/>
                </a:cubicBezTo>
                <a:lnTo>
                  <a:pt x="3329009" y="2700564"/>
                </a:lnTo>
                <a:cubicBezTo>
                  <a:pt x="3329009" y="2760059"/>
                  <a:pt x="3280778" y="2808290"/>
                  <a:pt x="3221283" y="2808290"/>
                </a:cubicBezTo>
                <a:lnTo>
                  <a:pt x="107726" y="2808290"/>
                </a:lnTo>
                <a:cubicBezTo>
                  <a:pt x="48231" y="2808290"/>
                  <a:pt x="0" y="2760059"/>
                  <a:pt x="0" y="2700564"/>
                </a:cubicBezTo>
                <a:lnTo>
                  <a:pt x="0" y="107726"/>
                </a:lnTo>
                <a:cubicBezTo>
                  <a:pt x="0" y="48270"/>
                  <a:pt x="48270" y="0"/>
                  <a:pt x="10772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763" y="3278732"/>
            <a:ext cx="309737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Capacity Settings: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81763" y="3566025"/>
            <a:ext cx="110428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Minimum Capacity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61868" y="3566025"/>
            <a:ext cx="116713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81763" y="3781495"/>
            <a:ext cx="3088401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scale below this number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81763" y="4032764"/>
            <a:ext cx="100552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Desired Capacity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39086" y="4032764"/>
            <a:ext cx="134669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81763" y="4248234"/>
            <a:ext cx="3088401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running instances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81763" y="4499504"/>
            <a:ext cx="1131216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Maximum Capacity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481628" y="4499504"/>
            <a:ext cx="197514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81763" y="4714974"/>
            <a:ext cx="3088401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exceed this limit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434526" y="5996854"/>
            <a:ext cx="3329009" cy="581768"/>
          </a:xfrm>
          <a:custGeom>
            <a:avLst/>
            <a:gdLst/>
            <a:ahLst/>
            <a:cxnLst/>
            <a:rect l="l" t="t" r="r" b="b"/>
            <a:pathLst>
              <a:path w="3329009" h="581768">
                <a:moveTo>
                  <a:pt x="107738" y="0"/>
                </a:moveTo>
                <a:lnTo>
                  <a:pt x="3221271" y="0"/>
                </a:lnTo>
                <a:cubicBezTo>
                  <a:pt x="3280773" y="0"/>
                  <a:pt x="3329009" y="48236"/>
                  <a:pt x="3329009" y="107738"/>
                </a:cubicBezTo>
                <a:lnTo>
                  <a:pt x="3329009" y="474031"/>
                </a:lnTo>
                <a:cubicBezTo>
                  <a:pt x="3329009" y="533533"/>
                  <a:pt x="3280773" y="581768"/>
                  <a:pt x="3221271" y="581768"/>
                </a:cubicBezTo>
                <a:lnTo>
                  <a:pt x="107738" y="581768"/>
                </a:lnTo>
                <a:cubicBezTo>
                  <a:pt x="48276" y="581768"/>
                  <a:pt x="0" y="533493"/>
                  <a:pt x="0" y="474031"/>
                </a:cubicBezTo>
                <a:lnTo>
                  <a:pt x="0" y="107738"/>
                </a:lnTo>
                <a:cubicBezTo>
                  <a:pt x="0" y="48276"/>
                  <a:pt x="48276" y="0"/>
                  <a:pt x="10773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45852" y="6108180"/>
            <a:ext cx="3169202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Feature:</a:t>
            </a:r>
            <a:r>
              <a:rPr lang="en-US" sz="9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Multi-AZ deployment for high availability and fault tolerance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132863" y="1454422"/>
            <a:ext cx="3697103" cy="5295169"/>
          </a:xfrm>
          <a:custGeom>
            <a:avLst/>
            <a:gdLst/>
            <a:ahLst/>
            <a:cxnLst/>
            <a:rect l="l" t="t" r="r" b="b"/>
            <a:pathLst>
              <a:path w="3697103" h="5402905">
                <a:moveTo>
                  <a:pt x="143632" y="0"/>
                </a:moveTo>
                <a:lnTo>
                  <a:pt x="3553470" y="0"/>
                </a:lnTo>
                <a:cubicBezTo>
                  <a:pt x="3632743" y="0"/>
                  <a:pt x="3697103" y="64360"/>
                  <a:pt x="3697103" y="143632"/>
                </a:cubicBezTo>
                <a:lnTo>
                  <a:pt x="3697103" y="5259273"/>
                </a:lnTo>
                <a:cubicBezTo>
                  <a:pt x="3697103" y="5338599"/>
                  <a:pt x="3632796" y="5402905"/>
                  <a:pt x="3553470" y="5402905"/>
                </a:cubicBezTo>
                <a:lnTo>
                  <a:pt x="143632" y="5402905"/>
                </a:lnTo>
                <a:cubicBezTo>
                  <a:pt x="64360" y="5402905"/>
                  <a:pt x="0" y="5338546"/>
                  <a:pt x="0" y="5259273"/>
                </a:cubicBezTo>
                <a:lnTo>
                  <a:pt x="0" y="143632"/>
                </a:lnTo>
                <a:cubicBezTo>
                  <a:pt x="0" y="64360"/>
                  <a:pt x="64360" y="0"/>
                  <a:pt x="14363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16013" y="1637572"/>
            <a:ext cx="502763" cy="502763"/>
          </a:xfrm>
          <a:custGeom>
            <a:avLst/>
            <a:gdLst/>
            <a:ahLst/>
            <a:cxnLst/>
            <a:rect l="l" t="t" r="r" b="b"/>
            <a:pathLst>
              <a:path w="502763" h="502763">
                <a:moveTo>
                  <a:pt x="107737" y="0"/>
                </a:moveTo>
                <a:lnTo>
                  <a:pt x="395026" y="0"/>
                </a:lnTo>
                <a:cubicBezTo>
                  <a:pt x="454527" y="0"/>
                  <a:pt x="502763" y="48236"/>
                  <a:pt x="502763" y="107737"/>
                </a:cubicBezTo>
                <a:lnTo>
                  <a:pt x="502763" y="395026"/>
                </a:lnTo>
                <a:cubicBezTo>
                  <a:pt x="502763" y="454527"/>
                  <a:pt x="454527" y="502763"/>
                  <a:pt x="395026" y="502763"/>
                </a:cubicBezTo>
                <a:lnTo>
                  <a:pt x="107737" y="502763"/>
                </a:lnTo>
                <a:cubicBezTo>
                  <a:pt x="48236" y="502763"/>
                  <a:pt x="0" y="454527"/>
                  <a:pt x="0" y="395026"/>
                </a:cubicBezTo>
                <a:lnTo>
                  <a:pt x="0" y="107737"/>
                </a:lnTo>
                <a:cubicBezTo>
                  <a:pt x="0" y="48236"/>
                  <a:pt x="48236" y="0"/>
                  <a:pt x="107737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459659" y="1781218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13467" y="26934"/>
                </a:moveTo>
                <a:cubicBezTo>
                  <a:pt x="6018" y="26934"/>
                  <a:pt x="0" y="32952"/>
                  <a:pt x="0" y="40401"/>
                </a:cubicBezTo>
                <a:cubicBezTo>
                  <a:pt x="0" y="47849"/>
                  <a:pt x="6018" y="53867"/>
                  <a:pt x="13467" y="53867"/>
                </a:cubicBezTo>
                <a:lnTo>
                  <a:pt x="49954" y="53867"/>
                </a:lnTo>
                <a:cubicBezTo>
                  <a:pt x="55130" y="65777"/>
                  <a:pt x="66998" y="74068"/>
                  <a:pt x="80801" y="74068"/>
                </a:cubicBezTo>
                <a:cubicBezTo>
                  <a:pt x="94605" y="74068"/>
                  <a:pt x="106472" y="65777"/>
                  <a:pt x="111649" y="53867"/>
                </a:cubicBezTo>
                <a:lnTo>
                  <a:pt x="202003" y="53867"/>
                </a:lnTo>
                <a:cubicBezTo>
                  <a:pt x="209452" y="53867"/>
                  <a:pt x="215470" y="47849"/>
                  <a:pt x="215470" y="40401"/>
                </a:cubicBezTo>
                <a:cubicBezTo>
                  <a:pt x="215470" y="32952"/>
                  <a:pt x="209452" y="26934"/>
                  <a:pt x="202003" y="26934"/>
                </a:cubicBezTo>
                <a:lnTo>
                  <a:pt x="111649" y="26934"/>
                </a:lnTo>
                <a:cubicBezTo>
                  <a:pt x="106472" y="15024"/>
                  <a:pt x="94605" y="6733"/>
                  <a:pt x="80801" y="6733"/>
                </a:cubicBezTo>
                <a:cubicBezTo>
                  <a:pt x="66998" y="6733"/>
                  <a:pt x="55130" y="15024"/>
                  <a:pt x="49954" y="26934"/>
                </a:cubicBezTo>
                <a:lnTo>
                  <a:pt x="13467" y="26934"/>
                </a:lnTo>
                <a:close/>
                <a:moveTo>
                  <a:pt x="13467" y="94268"/>
                </a:moveTo>
                <a:cubicBezTo>
                  <a:pt x="6018" y="94268"/>
                  <a:pt x="0" y="100286"/>
                  <a:pt x="0" y="107735"/>
                </a:cubicBezTo>
                <a:cubicBezTo>
                  <a:pt x="0" y="115184"/>
                  <a:pt x="6018" y="121202"/>
                  <a:pt x="13467" y="121202"/>
                </a:cubicBezTo>
                <a:lnTo>
                  <a:pt x="117288" y="121202"/>
                </a:lnTo>
                <a:cubicBezTo>
                  <a:pt x="122464" y="133112"/>
                  <a:pt x="134332" y="141402"/>
                  <a:pt x="148135" y="141402"/>
                </a:cubicBezTo>
                <a:cubicBezTo>
                  <a:pt x="161939" y="141402"/>
                  <a:pt x="173807" y="133112"/>
                  <a:pt x="178983" y="121202"/>
                </a:cubicBezTo>
                <a:lnTo>
                  <a:pt x="202003" y="121202"/>
                </a:lnTo>
                <a:cubicBezTo>
                  <a:pt x="209452" y="121202"/>
                  <a:pt x="215470" y="115184"/>
                  <a:pt x="215470" y="107735"/>
                </a:cubicBezTo>
                <a:cubicBezTo>
                  <a:pt x="215470" y="100286"/>
                  <a:pt x="209452" y="94268"/>
                  <a:pt x="202003" y="94268"/>
                </a:cubicBezTo>
                <a:lnTo>
                  <a:pt x="178983" y="94268"/>
                </a:lnTo>
                <a:cubicBezTo>
                  <a:pt x="173807" y="82358"/>
                  <a:pt x="161939" y="74068"/>
                  <a:pt x="148135" y="74068"/>
                </a:cubicBezTo>
                <a:cubicBezTo>
                  <a:pt x="134332" y="74068"/>
                  <a:pt x="122464" y="82358"/>
                  <a:pt x="117288" y="94268"/>
                </a:cubicBezTo>
                <a:lnTo>
                  <a:pt x="13467" y="94268"/>
                </a:lnTo>
                <a:close/>
                <a:moveTo>
                  <a:pt x="13467" y="161602"/>
                </a:moveTo>
                <a:cubicBezTo>
                  <a:pt x="6018" y="161602"/>
                  <a:pt x="0" y="167620"/>
                  <a:pt x="0" y="175069"/>
                </a:cubicBezTo>
                <a:cubicBezTo>
                  <a:pt x="0" y="182518"/>
                  <a:pt x="6018" y="188536"/>
                  <a:pt x="13467" y="188536"/>
                </a:cubicBezTo>
                <a:lnTo>
                  <a:pt x="36487" y="188536"/>
                </a:lnTo>
                <a:cubicBezTo>
                  <a:pt x="41663" y="200446"/>
                  <a:pt x="53531" y="208736"/>
                  <a:pt x="67334" y="208736"/>
                </a:cubicBezTo>
                <a:cubicBezTo>
                  <a:pt x="81138" y="208736"/>
                  <a:pt x="93006" y="200446"/>
                  <a:pt x="98182" y="188536"/>
                </a:cubicBezTo>
                <a:lnTo>
                  <a:pt x="202003" y="188536"/>
                </a:lnTo>
                <a:cubicBezTo>
                  <a:pt x="209452" y="188536"/>
                  <a:pt x="215470" y="182518"/>
                  <a:pt x="215470" y="175069"/>
                </a:cubicBezTo>
                <a:cubicBezTo>
                  <a:pt x="215470" y="167620"/>
                  <a:pt x="209452" y="161602"/>
                  <a:pt x="202003" y="161602"/>
                </a:cubicBezTo>
                <a:lnTo>
                  <a:pt x="98182" y="161602"/>
                </a:lnTo>
                <a:cubicBezTo>
                  <a:pt x="93006" y="149693"/>
                  <a:pt x="81138" y="141402"/>
                  <a:pt x="67334" y="141402"/>
                </a:cubicBezTo>
                <a:cubicBezTo>
                  <a:pt x="53531" y="141402"/>
                  <a:pt x="41663" y="149693"/>
                  <a:pt x="36487" y="161602"/>
                </a:cubicBezTo>
                <a:lnTo>
                  <a:pt x="13467" y="16160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1"/>
          <p:cNvSpPr/>
          <p:nvPr/>
        </p:nvSpPr>
        <p:spPr>
          <a:xfrm>
            <a:off x="8926510" y="1655528"/>
            <a:ext cx="1589090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Policies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926510" y="1942707"/>
            <a:ext cx="1544200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Rules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316013" y="2283981"/>
            <a:ext cx="3402627" cy="700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Policies</a:t>
            </a:r>
            <a:r>
              <a:rPr lang="en-US" sz="11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define when and how to scale. They use CloudWatch alarms to trigger scaling actions based on metric thresholds.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19604" y="3084841"/>
            <a:ext cx="3329009" cy="2808290"/>
          </a:xfrm>
          <a:custGeom>
            <a:avLst/>
            <a:gdLst/>
            <a:ahLst/>
            <a:cxnLst/>
            <a:rect l="l" t="t" r="r" b="b"/>
            <a:pathLst>
              <a:path w="3329009" h="2808290">
                <a:moveTo>
                  <a:pt x="107726" y="0"/>
                </a:moveTo>
                <a:lnTo>
                  <a:pt x="3221283" y="0"/>
                </a:lnTo>
                <a:cubicBezTo>
                  <a:pt x="3280778" y="0"/>
                  <a:pt x="3329009" y="48231"/>
                  <a:pt x="3329009" y="107726"/>
                </a:cubicBezTo>
                <a:lnTo>
                  <a:pt x="3329009" y="2700564"/>
                </a:lnTo>
                <a:cubicBezTo>
                  <a:pt x="3329009" y="2760059"/>
                  <a:pt x="3280778" y="2808290"/>
                  <a:pt x="3221283" y="2808290"/>
                </a:cubicBezTo>
                <a:lnTo>
                  <a:pt x="107726" y="2808290"/>
                </a:lnTo>
                <a:cubicBezTo>
                  <a:pt x="48231" y="2808290"/>
                  <a:pt x="0" y="2760059"/>
                  <a:pt x="0" y="2700564"/>
                </a:cubicBezTo>
                <a:lnTo>
                  <a:pt x="0" y="107726"/>
                </a:lnTo>
                <a:cubicBezTo>
                  <a:pt x="0" y="48270"/>
                  <a:pt x="48270" y="0"/>
                  <a:pt x="10772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66841" y="3232077"/>
            <a:ext cx="3097378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Policy Types: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66841" y="3519370"/>
            <a:ext cx="3034533" cy="502763"/>
          </a:xfrm>
          <a:custGeom>
            <a:avLst/>
            <a:gdLst/>
            <a:ahLst/>
            <a:cxnLst/>
            <a:rect l="l" t="t" r="r" b="b"/>
            <a:pathLst>
              <a:path w="3034533" h="502763">
                <a:moveTo>
                  <a:pt x="71825" y="0"/>
                </a:moveTo>
                <a:lnTo>
                  <a:pt x="2962708" y="0"/>
                </a:lnTo>
                <a:cubicBezTo>
                  <a:pt x="3002376" y="0"/>
                  <a:pt x="3034533" y="32157"/>
                  <a:pt x="3034533" y="71825"/>
                </a:cubicBezTo>
                <a:lnTo>
                  <a:pt x="3034533" y="430938"/>
                </a:lnTo>
                <a:cubicBezTo>
                  <a:pt x="3034533" y="470606"/>
                  <a:pt x="3002376" y="502763"/>
                  <a:pt x="2962708" y="502763"/>
                </a:cubicBezTo>
                <a:lnTo>
                  <a:pt x="71825" y="502763"/>
                </a:lnTo>
                <a:cubicBezTo>
                  <a:pt x="32157" y="502763"/>
                  <a:pt x="0" y="470606"/>
                  <a:pt x="0" y="430938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9" name="Text 57"/>
          <p:cNvSpPr/>
          <p:nvPr/>
        </p:nvSpPr>
        <p:spPr>
          <a:xfrm>
            <a:off x="8538665" y="3591193"/>
            <a:ext cx="29537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Tracking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538665" y="3806663"/>
            <a:ext cx="2944754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metric at target value (e.g., CPU 50%)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466841" y="4093844"/>
            <a:ext cx="3034533" cy="502763"/>
          </a:xfrm>
          <a:custGeom>
            <a:avLst/>
            <a:gdLst/>
            <a:ahLst/>
            <a:cxnLst/>
            <a:rect l="l" t="t" r="r" b="b"/>
            <a:pathLst>
              <a:path w="3034533" h="502763">
                <a:moveTo>
                  <a:pt x="71825" y="0"/>
                </a:moveTo>
                <a:lnTo>
                  <a:pt x="2962708" y="0"/>
                </a:lnTo>
                <a:cubicBezTo>
                  <a:pt x="3002376" y="0"/>
                  <a:pt x="3034533" y="32157"/>
                  <a:pt x="3034533" y="71825"/>
                </a:cubicBezTo>
                <a:lnTo>
                  <a:pt x="3034533" y="430938"/>
                </a:lnTo>
                <a:cubicBezTo>
                  <a:pt x="3034533" y="470606"/>
                  <a:pt x="3002376" y="502763"/>
                  <a:pt x="2962708" y="502763"/>
                </a:cubicBezTo>
                <a:lnTo>
                  <a:pt x="71825" y="502763"/>
                </a:lnTo>
                <a:cubicBezTo>
                  <a:pt x="32157" y="502763"/>
                  <a:pt x="0" y="470606"/>
                  <a:pt x="0" y="430938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2" name="Text 60"/>
          <p:cNvSpPr/>
          <p:nvPr/>
        </p:nvSpPr>
        <p:spPr>
          <a:xfrm>
            <a:off x="8538665" y="4165668"/>
            <a:ext cx="29537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Scaling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538665" y="4381137"/>
            <a:ext cx="2944754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Add/remove instances based on alarm breaches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466841" y="4668319"/>
            <a:ext cx="3034533" cy="502763"/>
          </a:xfrm>
          <a:custGeom>
            <a:avLst/>
            <a:gdLst/>
            <a:ahLst/>
            <a:cxnLst/>
            <a:rect l="l" t="t" r="r" b="b"/>
            <a:pathLst>
              <a:path w="3034533" h="502763">
                <a:moveTo>
                  <a:pt x="71825" y="0"/>
                </a:moveTo>
                <a:lnTo>
                  <a:pt x="2962708" y="0"/>
                </a:lnTo>
                <a:cubicBezTo>
                  <a:pt x="3002376" y="0"/>
                  <a:pt x="3034533" y="32157"/>
                  <a:pt x="3034533" y="71825"/>
                </a:cubicBezTo>
                <a:lnTo>
                  <a:pt x="3034533" y="430938"/>
                </a:lnTo>
                <a:cubicBezTo>
                  <a:pt x="3034533" y="470606"/>
                  <a:pt x="3002376" y="502763"/>
                  <a:pt x="2962708" y="502763"/>
                </a:cubicBezTo>
                <a:lnTo>
                  <a:pt x="71825" y="502763"/>
                </a:lnTo>
                <a:cubicBezTo>
                  <a:pt x="32157" y="502763"/>
                  <a:pt x="0" y="470606"/>
                  <a:pt x="0" y="430938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5" name="Text 63"/>
          <p:cNvSpPr/>
          <p:nvPr/>
        </p:nvSpPr>
        <p:spPr>
          <a:xfrm>
            <a:off x="8538665" y="4740142"/>
            <a:ext cx="29537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Scheduled Scaling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538665" y="4955612"/>
            <a:ext cx="2944754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at specific times (e.g., business hours)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466841" y="5242793"/>
            <a:ext cx="3034533" cy="502763"/>
          </a:xfrm>
          <a:custGeom>
            <a:avLst/>
            <a:gdLst/>
            <a:ahLst/>
            <a:cxnLst/>
            <a:rect l="l" t="t" r="r" b="b"/>
            <a:pathLst>
              <a:path w="3034533" h="502763">
                <a:moveTo>
                  <a:pt x="71825" y="0"/>
                </a:moveTo>
                <a:lnTo>
                  <a:pt x="2962708" y="0"/>
                </a:lnTo>
                <a:cubicBezTo>
                  <a:pt x="3002376" y="0"/>
                  <a:pt x="3034533" y="32157"/>
                  <a:pt x="3034533" y="71825"/>
                </a:cubicBezTo>
                <a:lnTo>
                  <a:pt x="3034533" y="430938"/>
                </a:lnTo>
                <a:cubicBezTo>
                  <a:pt x="3034533" y="470606"/>
                  <a:pt x="3002376" y="502763"/>
                  <a:pt x="2962708" y="502763"/>
                </a:cubicBezTo>
                <a:lnTo>
                  <a:pt x="71825" y="502763"/>
                </a:lnTo>
                <a:cubicBezTo>
                  <a:pt x="32157" y="502763"/>
                  <a:pt x="0" y="470606"/>
                  <a:pt x="0" y="430938"/>
                </a:cubicBezTo>
                <a:lnTo>
                  <a:pt x="0" y="71825"/>
                </a:lnTo>
                <a:cubicBezTo>
                  <a:pt x="0" y="32184"/>
                  <a:pt x="32184" y="0"/>
                  <a:pt x="71825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8" name="Text 66"/>
          <p:cNvSpPr/>
          <p:nvPr/>
        </p:nvSpPr>
        <p:spPr>
          <a:xfrm>
            <a:off x="8538665" y="5314616"/>
            <a:ext cx="2953732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Scaling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538665" y="5530086"/>
            <a:ext cx="2944754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ML-based forecasting for proactive scaling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319604" y="6015516"/>
            <a:ext cx="3329009" cy="581768"/>
          </a:xfrm>
          <a:custGeom>
            <a:avLst/>
            <a:gdLst/>
            <a:ahLst/>
            <a:cxnLst/>
            <a:rect l="l" t="t" r="r" b="b"/>
            <a:pathLst>
              <a:path w="3329009" h="581768">
                <a:moveTo>
                  <a:pt x="107738" y="0"/>
                </a:moveTo>
                <a:lnTo>
                  <a:pt x="3221271" y="0"/>
                </a:lnTo>
                <a:cubicBezTo>
                  <a:pt x="3280773" y="0"/>
                  <a:pt x="3329009" y="48236"/>
                  <a:pt x="3329009" y="107738"/>
                </a:cubicBezTo>
                <a:lnTo>
                  <a:pt x="3329009" y="474031"/>
                </a:lnTo>
                <a:cubicBezTo>
                  <a:pt x="3329009" y="533533"/>
                  <a:pt x="3280773" y="581768"/>
                  <a:pt x="3221271" y="581768"/>
                </a:cubicBezTo>
                <a:lnTo>
                  <a:pt x="107738" y="581768"/>
                </a:lnTo>
                <a:cubicBezTo>
                  <a:pt x="48276" y="581768"/>
                  <a:pt x="0" y="533493"/>
                  <a:pt x="0" y="474031"/>
                </a:cubicBezTo>
                <a:lnTo>
                  <a:pt x="0" y="107738"/>
                </a:lnTo>
                <a:cubicBezTo>
                  <a:pt x="0" y="48276"/>
                  <a:pt x="48276" y="0"/>
                  <a:pt x="10773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30930" y="6126842"/>
            <a:ext cx="3169202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Feature:</a:t>
            </a:r>
            <a:r>
              <a:rPr lang="en-US" sz="99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Cooldown periods prevent rapid scaling oscillations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826895" cy="350520"/>
          </a:xfrm>
          <a:custGeom>
            <a:avLst/>
            <a:gdLst/>
            <a:ahLst/>
            <a:cxnLst/>
            <a:rect l="l" t="t" r="r" b="b"/>
            <a:pathLst>
              <a:path w="1826895" h="350520">
                <a:moveTo>
                  <a:pt x="175260" y="0"/>
                </a:moveTo>
                <a:lnTo>
                  <a:pt x="1651635" y="0"/>
                </a:lnTo>
                <a:cubicBezTo>
                  <a:pt x="1748428" y="0"/>
                  <a:pt x="1826895" y="78467"/>
                  <a:pt x="1826895" y="175260"/>
                </a:cubicBezTo>
                <a:lnTo>
                  <a:pt x="1826895" y="175260"/>
                </a:lnTo>
                <a:cubicBezTo>
                  <a:pt x="1826895" y="272053"/>
                  <a:pt x="1748428" y="350520"/>
                  <a:pt x="1651635" y="350520"/>
                </a:cubicBezTo>
                <a:lnTo>
                  <a:pt x="175260" y="350520"/>
                </a:lnTo>
                <a:cubicBezTo>
                  <a:pt x="78531" y="350520"/>
                  <a:pt x="0" y="271989"/>
                  <a:pt x="0" y="175260"/>
                </a:cubicBezTo>
                <a:lnTo>
                  <a:pt x="0" y="175260"/>
                </a:lnTo>
                <a:cubicBezTo>
                  <a:pt x="0" y="78531"/>
                  <a:pt x="78531" y="0"/>
                  <a:pt x="17526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0070" y="49339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8334"/>
                </a:moveTo>
                <a:cubicBezTo>
                  <a:pt x="12944" y="8334"/>
                  <a:pt x="16669" y="12059"/>
                  <a:pt x="16669" y="16669"/>
                </a:cubicBezTo>
                <a:lnTo>
                  <a:pt x="16669" y="104180"/>
                </a:lnTo>
                <a:cubicBezTo>
                  <a:pt x="16669" y="106472"/>
                  <a:pt x="18544" y="108347"/>
                  <a:pt x="20836" y="108347"/>
                </a:cubicBezTo>
                <a:lnTo>
                  <a:pt x="125016" y="108347"/>
                </a:lnTo>
                <a:cubicBezTo>
                  <a:pt x="129626" y="108347"/>
                  <a:pt x="133350" y="112071"/>
                  <a:pt x="133350" y="116681"/>
                </a:cubicBezTo>
                <a:cubicBezTo>
                  <a:pt x="133350" y="121291"/>
                  <a:pt x="129626" y="125016"/>
                  <a:pt x="125016" y="125016"/>
                </a:cubicBezTo>
                <a:lnTo>
                  <a:pt x="20836" y="125016"/>
                </a:lnTo>
                <a:cubicBezTo>
                  <a:pt x="9324" y="125016"/>
                  <a:pt x="0" y="115692"/>
                  <a:pt x="0" y="104180"/>
                </a:cubicBezTo>
                <a:lnTo>
                  <a:pt x="0" y="16669"/>
                </a:lnTo>
                <a:cubicBezTo>
                  <a:pt x="0" y="12059"/>
                  <a:pt x="3724" y="8334"/>
                  <a:pt x="8334" y="8334"/>
                </a:cubicBezTo>
                <a:close/>
                <a:moveTo>
                  <a:pt x="33337" y="25003"/>
                </a:moveTo>
                <a:cubicBezTo>
                  <a:pt x="33337" y="20393"/>
                  <a:pt x="37062" y="16669"/>
                  <a:pt x="41672" y="16669"/>
                </a:cubicBezTo>
                <a:lnTo>
                  <a:pt x="91678" y="16669"/>
                </a:lnTo>
                <a:cubicBezTo>
                  <a:pt x="96288" y="16669"/>
                  <a:pt x="100013" y="20393"/>
                  <a:pt x="100013" y="25003"/>
                </a:cubicBezTo>
                <a:cubicBezTo>
                  <a:pt x="100013" y="29613"/>
                  <a:pt x="96288" y="33337"/>
                  <a:pt x="91678" y="33337"/>
                </a:cubicBezTo>
                <a:lnTo>
                  <a:pt x="41672" y="33337"/>
                </a:lnTo>
                <a:cubicBezTo>
                  <a:pt x="37062" y="33337"/>
                  <a:pt x="33337" y="29613"/>
                  <a:pt x="33337" y="25003"/>
                </a:cubicBezTo>
                <a:close/>
                <a:moveTo>
                  <a:pt x="41672" y="45839"/>
                </a:moveTo>
                <a:lnTo>
                  <a:pt x="75009" y="45839"/>
                </a:lnTo>
                <a:cubicBezTo>
                  <a:pt x="79619" y="45839"/>
                  <a:pt x="83344" y="49563"/>
                  <a:pt x="83344" y="54173"/>
                </a:cubicBezTo>
                <a:cubicBezTo>
                  <a:pt x="83344" y="58783"/>
                  <a:pt x="79619" y="62508"/>
                  <a:pt x="75009" y="62508"/>
                </a:cubicBezTo>
                <a:lnTo>
                  <a:pt x="41672" y="62508"/>
                </a:lnTo>
                <a:cubicBezTo>
                  <a:pt x="37062" y="62508"/>
                  <a:pt x="33337" y="58783"/>
                  <a:pt x="33337" y="54173"/>
                </a:cubicBezTo>
                <a:cubicBezTo>
                  <a:pt x="33337" y="49563"/>
                  <a:pt x="37062" y="45839"/>
                  <a:pt x="41672" y="45839"/>
                </a:cubicBezTo>
                <a:close/>
                <a:moveTo>
                  <a:pt x="41672" y="75009"/>
                </a:moveTo>
                <a:lnTo>
                  <a:pt x="108347" y="75009"/>
                </a:lnTo>
                <a:cubicBezTo>
                  <a:pt x="112957" y="75009"/>
                  <a:pt x="116681" y="78734"/>
                  <a:pt x="116681" y="83344"/>
                </a:cubicBezTo>
                <a:cubicBezTo>
                  <a:pt x="116681" y="87954"/>
                  <a:pt x="112957" y="91678"/>
                  <a:pt x="108347" y="91678"/>
                </a:cubicBezTo>
                <a:lnTo>
                  <a:pt x="41672" y="91678"/>
                </a:lnTo>
                <a:cubicBezTo>
                  <a:pt x="37062" y="91678"/>
                  <a:pt x="33337" y="87954"/>
                  <a:pt x="33337" y="83344"/>
                </a:cubicBezTo>
                <a:cubicBezTo>
                  <a:pt x="33337" y="78734"/>
                  <a:pt x="37062" y="75009"/>
                  <a:pt x="41672" y="750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83908" y="464823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Policies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5344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 - Scaling Policies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48741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84810" y="1543051"/>
            <a:ext cx="3674745" cy="5174991"/>
          </a:xfrm>
          <a:custGeom>
            <a:avLst/>
            <a:gdLst/>
            <a:ahLst/>
            <a:cxnLst/>
            <a:rect l="l" t="t" r="r" b="b"/>
            <a:pathLst>
              <a:path w="3674745" h="5313045">
                <a:moveTo>
                  <a:pt x="152392" y="0"/>
                </a:moveTo>
                <a:lnTo>
                  <a:pt x="3522353" y="0"/>
                </a:lnTo>
                <a:cubicBezTo>
                  <a:pt x="3606517" y="0"/>
                  <a:pt x="3674745" y="68228"/>
                  <a:pt x="3674745" y="152392"/>
                </a:cubicBezTo>
                <a:lnTo>
                  <a:pt x="3674745" y="5160653"/>
                </a:lnTo>
                <a:cubicBezTo>
                  <a:pt x="3674745" y="5244817"/>
                  <a:pt x="3606517" y="5313045"/>
                  <a:pt x="3522353" y="5313045"/>
                </a:cubicBezTo>
                <a:lnTo>
                  <a:pt x="152392" y="5313045"/>
                </a:lnTo>
                <a:cubicBezTo>
                  <a:pt x="68228" y="5313045"/>
                  <a:pt x="0" y="5244817"/>
                  <a:pt x="0" y="5160653"/>
                </a:cubicBezTo>
                <a:lnTo>
                  <a:pt x="0" y="152392"/>
                </a:lnTo>
                <a:cubicBezTo>
                  <a:pt x="0" y="68284"/>
                  <a:pt x="68284" y="0"/>
                  <a:pt x="15239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9120" y="17562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12470" y="188964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150620" y="1737359"/>
            <a:ext cx="2495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Tracking Scaling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0620" y="2042043"/>
            <a:ext cx="2447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Approach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9120" y="2384943"/>
            <a:ext cx="3362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Automatically scales to keep a specific metric at a target value. ASG calculates the required capacity based on the metric and target.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2930" y="3284103"/>
            <a:ext cx="3274695" cy="2598420"/>
          </a:xfrm>
          <a:custGeom>
            <a:avLst/>
            <a:gdLst/>
            <a:ahLst/>
            <a:cxnLst/>
            <a:rect l="l" t="t" r="r" b="b"/>
            <a:pathLst>
              <a:path w="3274695" h="2598420">
                <a:moveTo>
                  <a:pt x="114304" y="0"/>
                </a:moveTo>
                <a:lnTo>
                  <a:pt x="3160391" y="0"/>
                </a:lnTo>
                <a:cubicBezTo>
                  <a:pt x="3223519" y="0"/>
                  <a:pt x="3274695" y="51176"/>
                  <a:pt x="3274695" y="114304"/>
                </a:cubicBezTo>
                <a:lnTo>
                  <a:pt x="3274695" y="2484116"/>
                </a:lnTo>
                <a:cubicBezTo>
                  <a:pt x="3274695" y="2547244"/>
                  <a:pt x="3223519" y="2598420"/>
                  <a:pt x="3160391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9140" y="3440311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Configuration: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9140" y="3745111"/>
            <a:ext cx="2962275" cy="685800"/>
          </a:xfrm>
          <a:custGeom>
            <a:avLst/>
            <a:gdLst/>
            <a:ahLst/>
            <a:cxnLst/>
            <a:rect l="l" t="t" r="r" b="b"/>
            <a:pathLst>
              <a:path w="2962275" h="685800">
                <a:moveTo>
                  <a:pt x="76199" y="0"/>
                </a:moveTo>
                <a:lnTo>
                  <a:pt x="2886076" y="0"/>
                </a:lnTo>
                <a:cubicBezTo>
                  <a:pt x="2928159" y="0"/>
                  <a:pt x="2962275" y="34116"/>
                  <a:pt x="2962275" y="76199"/>
                </a:cubicBezTo>
                <a:lnTo>
                  <a:pt x="2962275" y="609601"/>
                </a:lnTo>
                <a:cubicBezTo>
                  <a:pt x="2962275" y="651684"/>
                  <a:pt x="2928159" y="685800"/>
                  <a:pt x="2886076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853440" y="3859411"/>
            <a:ext cx="447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Metric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91464" y="3859411"/>
            <a:ext cx="1466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CPU Utilization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3440" y="4126111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Value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23868" y="4126111"/>
            <a:ext cx="333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9140" y="4545211"/>
            <a:ext cx="2962275" cy="1143000"/>
          </a:xfrm>
          <a:custGeom>
            <a:avLst/>
            <a:gdLst/>
            <a:ahLst/>
            <a:cxnLst/>
            <a:rect l="l" t="t" r="r" b="b"/>
            <a:pathLst>
              <a:path w="2962275" h="1143000">
                <a:moveTo>
                  <a:pt x="76204" y="0"/>
                </a:moveTo>
                <a:lnTo>
                  <a:pt x="2886071" y="0"/>
                </a:lnTo>
                <a:cubicBezTo>
                  <a:pt x="2928157" y="0"/>
                  <a:pt x="2962275" y="34118"/>
                  <a:pt x="2962275" y="76204"/>
                </a:cubicBezTo>
                <a:lnTo>
                  <a:pt x="2962275" y="1066796"/>
                </a:lnTo>
                <a:cubicBezTo>
                  <a:pt x="2962275" y="1108882"/>
                  <a:pt x="2928157" y="1143000"/>
                  <a:pt x="2886071" y="1143000"/>
                </a:cubicBezTo>
                <a:lnTo>
                  <a:pt x="76204" y="1143000"/>
                </a:lnTo>
                <a:cubicBezTo>
                  <a:pt x="34118" y="1143000"/>
                  <a:pt x="0" y="1108882"/>
                  <a:pt x="0" y="106679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853440" y="4659511"/>
            <a:ext cx="85546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3440" y="4926211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If CPU &gt; 50% → Add instances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3440" y="5154811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If CPU &lt; 50% → Remove instances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3440" y="5383411"/>
            <a:ext cx="2800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If CPU = 50% → No change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2930" y="5995531"/>
            <a:ext cx="3274695" cy="617220"/>
          </a:xfrm>
          <a:custGeom>
            <a:avLst/>
            <a:gdLst/>
            <a:ahLst/>
            <a:cxnLst/>
            <a:rect l="l" t="t" r="r" b="b"/>
            <a:pathLst>
              <a:path w="3274695" h="617220">
                <a:moveTo>
                  <a:pt x="114303" y="0"/>
                </a:moveTo>
                <a:lnTo>
                  <a:pt x="3160392" y="0"/>
                </a:lnTo>
                <a:cubicBezTo>
                  <a:pt x="3223520" y="0"/>
                  <a:pt x="3274695" y="51175"/>
                  <a:pt x="3274695" y="114303"/>
                </a:cubicBezTo>
                <a:lnTo>
                  <a:pt x="3274695" y="502917"/>
                </a:lnTo>
                <a:cubicBezTo>
                  <a:pt x="3274695" y="566045"/>
                  <a:pt x="3223520" y="617220"/>
                  <a:pt x="3160392" y="617220"/>
                </a:cubicBezTo>
                <a:lnTo>
                  <a:pt x="114303" y="617220"/>
                </a:lnTo>
                <a:cubicBezTo>
                  <a:pt x="51175" y="617220"/>
                  <a:pt x="0" y="566045"/>
                  <a:pt x="0" y="5029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1040" y="6113639"/>
            <a:ext cx="3105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Most workloads, simple to configure, automatically handles metric aggregation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58270" y="1543052"/>
            <a:ext cx="3674745" cy="5174990"/>
          </a:xfrm>
          <a:custGeom>
            <a:avLst/>
            <a:gdLst/>
            <a:ahLst/>
            <a:cxnLst/>
            <a:rect l="l" t="t" r="r" b="b"/>
            <a:pathLst>
              <a:path w="3674745" h="5313045">
                <a:moveTo>
                  <a:pt x="152392" y="0"/>
                </a:moveTo>
                <a:lnTo>
                  <a:pt x="3522353" y="0"/>
                </a:lnTo>
                <a:cubicBezTo>
                  <a:pt x="3606517" y="0"/>
                  <a:pt x="3674745" y="68228"/>
                  <a:pt x="3674745" y="152392"/>
                </a:cubicBezTo>
                <a:lnTo>
                  <a:pt x="3674745" y="5160653"/>
                </a:lnTo>
                <a:cubicBezTo>
                  <a:pt x="3674745" y="5244817"/>
                  <a:pt x="3606517" y="5313045"/>
                  <a:pt x="3522353" y="5313045"/>
                </a:cubicBezTo>
                <a:lnTo>
                  <a:pt x="152392" y="5313045"/>
                </a:lnTo>
                <a:cubicBezTo>
                  <a:pt x="68228" y="5313045"/>
                  <a:pt x="0" y="5244817"/>
                  <a:pt x="0" y="5160653"/>
                </a:cubicBezTo>
                <a:lnTo>
                  <a:pt x="0" y="152392"/>
                </a:lnTo>
                <a:cubicBezTo>
                  <a:pt x="0" y="68284"/>
                  <a:pt x="68284" y="0"/>
                  <a:pt x="15239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52580" y="17562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85930" y="188964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5024081" y="1737359"/>
            <a:ext cx="1381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Scaling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4081" y="2042043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Granular Control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52580" y="2384943"/>
            <a:ext cx="3362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Scales based on CloudWatch alarms with different scaling adjustments for different metric ranges.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56390" y="3284103"/>
            <a:ext cx="3274695" cy="2598420"/>
          </a:xfrm>
          <a:custGeom>
            <a:avLst/>
            <a:gdLst/>
            <a:ahLst/>
            <a:cxnLst/>
            <a:rect l="l" t="t" r="r" b="b"/>
            <a:pathLst>
              <a:path w="3274695" h="2598420">
                <a:moveTo>
                  <a:pt x="114304" y="0"/>
                </a:moveTo>
                <a:lnTo>
                  <a:pt x="3160391" y="0"/>
                </a:lnTo>
                <a:cubicBezTo>
                  <a:pt x="3223519" y="0"/>
                  <a:pt x="3274695" y="51176"/>
                  <a:pt x="3274695" y="114304"/>
                </a:cubicBezTo>
                <a:lnTo>
                  <a:pt x="3274695" y="2484116"/>
                </a:lnTo>
                <a:cubicBezTo>
                  <a:pt x="3274695" y="2547244"/>
                  <a:pt x="3223519" y="2598420"/>
                  <a:pt x="3160391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2600" y="3440311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Configuration: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612600" y="3745111"/>
            <a:ext cx="2962275" cy="342900"/>
          </a:xfrm>
          <a:custGeom>
            <a:avLst/>
            <a:gdLst/>
            <a:ahLst/>
            <a:cxnLst/>
            <a:rect l="l" t="t" r="r" b="b"/>
            <a:pathLst>
              <a:path w="2962275" h="342900">
                <a:moveTo>
                  <a:pt x="76199" y="0"/>
                </a:moveTo>
                <a:lnTo>
                  <a:pt x="2886076" y="0"/>
                </a:lnTo>
                <a:cubicBezTo>
                  <a:pt x="2928159" y="0"/>
                  <a:pt x="2962275" y="34116"/>
                  <a:pt x="2962275" y="76199"/>
                </a:cubicBezTo>
                <a:lnTo>
                  <a:pt x="2962275" y="266701"/>
                </a:lnTo>
                <a:cubicBezTo>
                  <a:pt x="2962275" y="308784"/>
                  <a:pt x="2928159" y="342900"/>
                  <a:pt x="28860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4688800" y="3821311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&gt; 70%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65582" y="3821311"/>
            <a:ext cx="100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2 instances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612600" y="4164211"/>
            <a:ext cx="2962275" cy="342900"/>
          </a:xfrm>
          <a:custGeom>
            <a:avLst/>
            <a:gdLst/>
            <a:ahLst/>
            <a:cxnLst/>
            <a:rect l="l" t="t" r="r" b="b"/>
            <a:pathLst>
              <a:path w="2962275" h="342900">
                <a:moveTo>
                  <a:pt x="76199" y="0"/>
                </a:moveTo>
                <a:lnTo>
                  <a:pt x="2886076" y="0"/>
                </a:lnTo>
                <a:cubicBezTo>
                  <a:pt x="2928159" y="0"/>
                  <a:pt x="2962275" y="34116"/>
                  <a:pt x="2962275" y="76199"/>
                </a:cubicBezTo>
                <a:lnTo>
                  <a:pt x="2962275" y="266701"/>
                </a:lnTo>
                <a:cubicBezTo>
                  <a:pt x="2962275" y="308784"/>
                  <a:pt x="2928159" y="342900"/>
                  <a:pt x="28860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4688800" y="4240411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&gt; 90%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64511" y="4240411"/>
            <a:ext cx="1009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4 instances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612600" y="4583311"/>
            <a:ext cx="2962275" cy="342900"/>
          </a:xfrm>
          <a:custGeom>
            <a:avLst/>
            <a:gdLst/>
            <a:ahLst/>
            <a:cxnLst/>
            <a:rect l="l" t="t" r="r" b="b"/>
            <a:pathLst>
              <a:path w="2962275" h="342900">
                <a:moveTo>
                  <a:pt x="76199" y="0"/>
                </a:moveTo>
                <a:lnTo>
                  <a:pt x="2886076" y="0"/>
                </a:lnTo>
                <a:cubicBezTo>
                  <a:pt x="2928159" y="0"/>
                  <a:pt x="2962275" y="34116"/>
                  <a:pt x="2962275" y="76199"/>
                </a:cubicBezTo>
                <a:lnTo>
                  <a:pt x="2962275" y="266701"/>
                </a:lnTo>
                <a:cubicBezTo>
                  <a:pt x="2962275" y="308784"/>
                  <a:pt x="2928159" y="342900"/>
                  <a:pt x="28860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4688800" y="4659511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CPU &lt; 30%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17945" y="4659511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 1 instance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56390" y="5995531"/>
            <a:ext cx="3274695" cy="617220"/>
          </a:xfrm>
          <a:custGeom>
            <a:avLst/>
            <a:gdLst/>
            <a:ahLst/>
            <a:cxnLst/>
            <a:rect l="l" t="t" r="r" b="b"/>
            <a:pathLst>
              <a:path w="3274695" h="617220">
                <a:moveTo>
                  <a:pt x="114303" y="0"/>
                </a:moveTo>
                <a:lnTo>
                  <a:pt x="3160392" y="0"/>
                </a:lnTo>
                <a:cubicBezTo>
                  <a:pt x="3223520" y="0"/>
                  <a:pt x="3274695" y="51175"/>
                  <a:pt x="3274695" y="114303"/>
                </a:cubicBezTo>
                <a:lnTo>
                  <a:pt x="3274695" y="502917"/>
                </a:lnTo>
                <a:cubicBezTo>
                  <a:pt x="3274695" y="566045"/>
                  <a:pt x="3223520" y="617220"/>
                  <a:pt x="3160392" y="617220"/>
                </a:cubicBezTo>
                <a:lnTo>
                  <a:pt x="114303" y="617220"/>
                </a:lnTo>
                <a:cubicBezTo>
                  <a:pt x="51175" y="617220"/>
                  <a:pt x="0" y="566045"/>
                  <a:pt x="0" y="5029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4500" y="6113639"/>
            <a:ext cx="3105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Complex scaling scenarios requiring different responses to different metric values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31850" y="1543052"/>
            <a:ext cx="3674745" cy="5174990"/>
          </a:xfrm>
          <a:custGeom>
            <a:avLst/>
            <a:gdLst/>
            <a:ahLst/>
            <a:cxnLst/>
            <a:rect l="l" t="t" r="r" b="b"/>
            <a:pathLst>
              <a:path w="3674745" h="5313045">
                <a:moveTo>
                  <a:pt x="152392" y="0"/>
                </a:moveTo>
                <a:lnTo>
                  <a:pt x="3522353" y="0"/>
                </a:lnTo>
                <a:cubicBezTo>
                  <a:pt x="3606517" y="0"/>
                  <a:pt x="3674745" y="68228"/>
                  <a:pt x="3674745" y="152392"/>
                </a:cubicBezTo>
                <a:lnTo>
                  <a:pt x="3674745" y="5160653"/>
                </a:lnTo>
                <a:cubicBezTo>
                  <a:pt x="3674745" y="5244817"/>
                  <a:pt x="3606517" y="5313045"/>
                  <a:pt x="3522353" y="5313045"/>
                </a:cubicBezTo>
                <a:lnTo>
                  <a:pt x="152392" y="5313045"/>
                </a:lnTo>
                <a:cubicBezTo>
                  <a:pt x="68228" y="5313045"/>
                  <a:pt x="0" y="5244817"/>
                  <a:pt x="0" y="5160653"/>
                </a:cubicBezTo>
                <a:lnTo>
                  <a:pt x="0" y="152392"/>
                </a:lnTo>
                <a:cubicBezTo>
                  <a:pt x="0" y="68284"/>
                  <a:pt x="68284" y="0"/>
                  <a:pt x="15239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26160" y="175629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471416" y="188964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23812" y="89297"/>
                </a:moveTo>
                <a:lnTo>
                  <a:pt x="23812" y="101203"/>
                </a:lnTo>
                <a:cubicBezTo>
                  <a:pt x="23812" y="104477"/>
                  <a:pt x="26491" y="107156"/>
                  <a:pt x="29766" y="107156"/>
                </a:cubicBezTo>
                <a:lnTo>
                  <a:pt x="41672" y="107156"/>
                </a:lnTo>
                <a:cubicBezTo>
                  <a:pt x="44946" y="107156"/>
                  <a:pt x="47625" y="104477"/>
                  <a:pt x="47625" y="101203"/>
                </a:cubicBezTo>
                <a:lnTo>
                  <a:pt x="47625" y="89297"/>
                </a:lnTo>
                <a:cubicBezTo>
                  <a:pt x="47625" y="86023"/>
                  <a:pt x="44946" y="83344"/>
                  <a:pt x="41672" y="83344"/>
                </a:cubicBezTo>
                <a:lnTo>
                  <a:pt x="29766" y="83344"/>
                </a:lnTo>
                <a:cubicBezTo>
                  <a:pt x="26491" y="83344"/>
                  <a:pt x="23812" y="86023"/>
                  <a:pt x="23812" y="89297"/>
                </a:cubicBezTo>
                <a:close/>
                <a:moveTo>
                  <a:pt x="71438" y="89297"/>
                </a:moveTo>
                <a:lnTo>
                  <a:pt x="71438" y="101203"/>
                </a:lnTo>
                <a:cubicBezTo>
                  <a:pt x="71438" y="104477"/>
                  <a:pt x="74116" y="107156"/>
                  <a:pt x="77391" y="107156"/>
                </a:cubicBezTo>
                <a:lnTo>
                  <a:pt x="89297" y="107156"/>
                </a:lnTo>
                <a:cubicBezTo>
                  <a:pt x="92571" y="107156"/>
                  <a:pt x="95250" y="104477"/>
                  <a:pt x="95250" y="101203"/>
                </a:cubicBezTo>
                <a:lnTo>
                  <a:pt x="95250" y="89297"/>
                </a:lnTo>
                <a:cubicBezTo>
                  <a:pt x="95250" y="86023"/>
                  <a:pt x="92571" y="83344"/>
                  <a:pt x="89297" y="83344"/>
                </a:cubicBezTo>
                <a:lnTo>
                  <a:pt x="77391" y="83344"/>
                </a:lnTo>
                <a:cubicBezTo>
                  <a:pt x="74116" y="83344"/>
                  <a:pt x="71438" y="86023"/>
                  <a:pt x="71438" y="89297"/>
                </a:cubicBezTo>
                <a:close/>
                <a:moveTo>
                  <a:pt x="125016" y="83344"/>
                </a:moveTo>
                <a:cubicBezTo>
                  <a:pt x="121741" y="83344"/>
                  <a:pt x="119063" y="86023"/>
                  <a:pt x="119063" y="89297"/>
                </a:cubicBezTo>
                <a:lnTo>
                  <a:pt x="119063" y="101203"/>
                </a:lnTo>
                <a:cubicBezTo>
                  <a:pt x="119063" y="104477"/>
                  <a:pt x="121741" y="107156"/>
                  <a:pt x="125016" y="107156"/>
                </a:cubicBezTo>
                <a:lnTo>
                  <a:pt x="136922" y="107156"/>
                </a:lnTo>
                <a:cubicBezTo>
                  <a:pt x="140196" y="107156"/>
                  <a:pt x="142875" y="104477"/>
                  <a:pt x="142875" y="101203"/>
                </a:cubicBezTo>
                <a:lnTo>
                  <a:pt x="142875" y="89297"/>
                </a:lnTo>
                <a:cubicBezTo>
                  <a:pt x="142875" y="86023"/>
                  <a:pt x="140196" y="83344"/>
                  <a:pt x="136922" y="83344"/>
                </a:cubicBezTo>
                <a:lnTo>
                  <a:pt x="125016" y="83344"/>
                </a:lnTo>
                <a:close/>
                <a:moveTo>
                  <a:pt x="23812" y="136922"/>
                </a:move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41672" y="154781"/>
                </a:lnTo>
                <a:cubicBezTo>
                  <a:pt x="44946" y="154781"/>
                  <a:pt x="47625" y="152102"/>
                  <a:pt x="47625" y="148828"/>
                </a:cubicBezTo>
                <a:lnTo>
                  <a:pt x="47625" y="136922"/>
                </a:lnTo>
                <a:cubicBezTo>
                  <a:pt x="47625" y="133648"/>
                  <a:pt x="44946" y="130969"/>
                  <a:pt x="41672" y="130969"/>
                </a:cubicBezTo>
                <a:lnTo>
                  <a:pt x="29766" y="130969"/>
                </a:lnTo>
                <a:cubicBezTo>
                  <a:pt x="26491" y="130969"/>
                  <a:pt x="23812" y="133648"/>
                  <a:pt x="23812" y="136922"/>
                </a:cubicBezTo>
                <a:close/>
                <a:moveTo>
                  <a:pt x="77391" y="130969"/>
                </a:moveTo>
                <a:cubicBezTo>
                  <a:pt x="74116" y="130969"/>
                  <a:pt x="71438" y="133648"/>
                  <a:pt x="71438" y="136922"/>
                </a:cubicBezTo>
                <a:lnTo>
                  <a:pt x="71438" y="148828"/>
                </a:lnTo>
                <a:cubicBezTo>
                  <a:pt x="71438" y="152102"/>
                  <a:pt x="74116" y="154781"/>
                  <a:pt x="77391" y="154781"/>
                </a:cubicBezTo>
                <a:lnTo>
                  <a:pt x="89297" y="154781"/>
                </a:lnTo>
                <a:cubicBezTo>
                  <a:pt x="92571" y="154781"/>
                  <a:pt x="95250" y="152102"/>
                  <a:pt x="95250" y="148828"/>
                </a:cubicBezTo>
                <a:lnTo>
                  <a:pt x="95250" y="136922"/>
                </a:lnTo>
                <a:cubicBezTo>
                  <a:pt x="95250" y="133648"/>
                  <a:pt x="92571" y="130969"/>
                  <a:pt x="89297" y="130969"/>
                </a:cubicBezTo>
                <a:lnTo>
                  <a:pt x="77391" y="130969"/>
                </a:lnTo>
                <a:close/>
                <a:moveTo>
                  <a:pt x="119063" y="136922"/>
                </a:moveTo>
                <a:lnTo>
                  <a:pt x="119063" y="148828"/>
                </a:lnTo>
                <a:cubicBezTo>
                  <a:pt x="119063" y="152102"/>
                  <a:pt x="121741" y="154781"/>
                  <a:pt x="125016" y="154781"/>
                </a:cubicBezTo>
                <a:lnTo>
                  <a:pt x="136922" y="154781"/>
                </a:lnTo>
                <a:cubicBezTo>
                  <a:pt x="140196" y="154781"/>
                  <a:pt x="142875" y="152102"/>
                  <a:pt x="142875" y="148828"/>
                </a:cubicBezTo>
                <a:lnTo>
                  <a:pt x="142875" y="136922"/>
                </a:lnTo>
                <a:cubicBezTo>
                  <a:pt x="142875" y="133648"/>
                  <a:pt x="140196" y="130969"/>
                  <a:pt x="136922" y="130969"/>
                </a:cubicBezTo>
                <a:lnTo>
                  <a:pt x="125016" y="130969"/>
                </a:lnTo>
                <a:cubicBezTo>
                  <a:pt x="121741" y="130969"/>
                  <a:pt x="119063" y="133648"/>
                  <a:pt x="119063" y="13692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8897660" y="1737359"/>
            <a:ext cx="198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Scheduled Scaling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897660" y="2042043"/>
            <a:ext cx="1933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Time-Based Scaling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326160" y="2384943"/>
            <a:ext cx="33623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Scales at specific dates and times based on predictable traffic patterns, regardless of current metrics.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29970" y="3284103"/>
            <a:ext cx="3274695" cy="2598420"/>
          </a:xfrm>
          <a:custGeom>
            <a:avLst/>
            <a:gdLst/>
            <a:ahLst/>
            <a:cxnLst/>
            <a:rect l="l" t="t" r="r" b="b"/>
            <a:pathLst>
              <a:path w="3274695" h="2598420">
                <a:moveTo>
                  <a:pt x="114304" y="0"/>
                </a:moveTo>
                <a:lnTo>
                  <a:pt x="3160391" y="0"/>
                </a:lnTo>
                <a:cubicBezTo>
                  <a:pt x="3223519" y="0"/>
                  <a:pt x="3274695" y="51176"/>
                  <a:pt x="3274695" y="114304"/>
                </a:cubicBezTo>
                <a:lnTo>
                  <a:pt x="3274695" y="2484116"/>
                </a:lnTo>
                <a:cubicBezTo>
                  <a:pt x="3274695" y="2547244"/>
                  <a:pt x="3223519" y="2598420"/>
                  <a:pt x="3160391" y="2598420"/>
                </a:cubicBezTo>
                <a:lnTo>
                  <a:pt x="114304" y="2598420"/>
                </a:lnTo>
                <a:cubicBezTo>
                  <a:pt x="51176" y="2598420"/>
                  <a:pt x="0" y="2547244"/>
                  <a:pt x="0" y="2484116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486180" y="3440311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Configuration: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86180" y="3745111"/>
            <a:ext cx="2962275" cy="609600"/>
          </a:xfrm>
          <a:custGeom>
            <a:avLst/>
            <a:gdLst/>
            <a:ahLst/>
            <a:cxnLst/>
            <a:rect l="l" t="t" r="r" b="b"/>
            <a:pathLst>
              <a:path w="2962275" h="609600">
                <a:moveTo>
                  <a:pt x="76200" y="0"/>
                </a:moveTo>
                <a:lnTo>
                  <a:pt x="2886075" y="0"/>
                </a:lnTo>
                <a:cubicBezTo>
                  <a:pt x="2928131" y="0"/>
                  <a:pt x="2962275" y="34144"/>
                  <a:pt x="2962275" y="76200"/>
                </a:cubicBezTo>
                <a:lnTo>
                  <a:pt x="2962275" y="533400"/>
                </a:lnTo>
                <a:cubicBezTo>
                  <a:pt x="2962275" y="575456"/>
                  <a:pt x="2928131" y="609600"/>
                  <a:pt x="28860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5" name="Text 53"/>
          <p:cNvSpPr/>
          <p:nvPr/>
        </p:nvSpPr>
        <p:spPr>
          <a:xfrm>
            <a:off x="8600480" y="3859411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weekday 9 AM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703719" y="3859411"/>
            <a:ext cx="704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to 10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00480" y="4088011"/>
            <a:ext cx="2790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hours start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486180" y="4430795"/>
            <a:ext cx="2962275" cy="609600"/>
          </a:xfrm>
          <a:custGeom>
            <a:avLst/>
            <a:gdLst/>
            <a:ahLst/>
            <a:cxnLst/>
            <a:rect l="l" t="t" r="r" b="b"/>
            <a:pathLst>
              <a:path w="2962275" h="609600">
                <a:moveTo>
                  <a:pt x="76200" y="0"/>
                </a:moveTo>
                <a:lnTo>
                  <a:pt x="2886075" y="0"/>
                </a:lnTo>
                <a:cubicBezTo>
                  <a:pt x="2928131" y="0"/>
                  <a:pt x="2962275" y="34144"/>
                  <a:pt x="2962275" y="76200"/>
                </a:cubicBezTo>
                <a:lnTo>
                  <a:pt x="2962275" y="533400"/>
                </a:lnTo>
                <a:cubicBezTo>
                  <a:pt x="2962275" y="575456"/>
                  <a:pt x="2928131" y="609600"/>
                  <a:pt x="28860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9" name="Text 57"/>
          <p:cNvSpPr/>
          <p:nvPr/>
        </p:nvSpPr>
        <p:spPr>
          <a:xfrm>
            <a:off x="8600480" y="454509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weekday 6 PM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764679" y="4545095"/>
            <a:ext cx="638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to 2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600480" y="4773695"/>
            <a:ext cx="2790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hours end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486180" y="5116474"/>
            <a:ext cx="2962275" cy="609600"/>
          </a:xfrm>
          <a:custGeom>
            <a:avLst/>
            <a:gdLst/>
            <a:ahLst/>
            <a:cxnLst/>
            <a:rect l="l" t="t" r="r" b="b"/>
            <a:pathLst>
              <a:path w="2962275" h="609600">
                <a:moveTo>
                  <a:pt x="76200" y="0"/>
                </a:moveTo>
                <a:lnTo>
                  <a:pt x="2886075" y="0"/>
                </a:lnTo>
                <a:cubicBezTo>
                  <a:pt x="2928131" y="0"/>
                  <a:pt x="2962275" y="34144"/>
                  <a:pt x="2962275" y="76200"/>
                </a:cubicBezTo>
                <a:lnTo>
                  <a:pt x="2962275" y="533400"/>
                </a:lnTo>
                <a:cubicBezTo>
                  <a:pt x="2962275" y="575456"/>
                  <a:pt x="2928131" y="609600"/>
                  <a:pt x="288607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3" name="Text 61"/>
          <p:cNvSpPr/>
          <p:nvPr/>
        </p:nvSpPr>
        <p:spPr>
          <a:xfrm>
            <a:off x="8600480" y="5230774"/>
            <a:ext cx="781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Black Friday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679668" y="5230774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to 20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600480" y="5459374"/>
            <a:ext cx="2790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Predictable traffic spike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329970" y="5995531"/>
            <a:ext cx="3274695" cy="617220"/>
          </a:xfrm>
          <a:custGeom>
            <a:avLst/>
            <a:gdLst/>
            <a:ahLst/>
            <a:cxnLst/>
            <a:rect l="l" t="t" r="r" b="b"/>
            <a:pathLst>
              <a:path w="3274695" h="617220">
                <a:moveTo>
                  <a:pt x="114303" y="0"/>
                </a:moveTo>
                <a:lnTo>
                  <a:pt x="3160392" y="0"/>
                </a:lnTo>
                <a:cubicBezTo>
                  <a:pt x="3223520" y="0"/>
                  <a:pt x="3274695" y="51175"/>
                  <a:pt x="3274695" y="114303"/>
                </a:cubicBezTo>
                <a:lnTo>
                  <a:pt x="3274695" y="502917"/>
                </a:lnTo>
                <a:cubicBezTo>
                  <a:pt x="3274695" y="566045"/>
                  <a:pt x="3223520" y="617220"/>
                  <a:pt x="3160392" y="617220"/>
                </a:cubicBezTo>
                <a:lnTo>
                  <a:pt x="114303" y="617220"/>
                </a:lnTo>
                <a:cubicBezTo>
                  <a:pt x="51175" y="617220"/>
                  <a:pt x="0" y="566045"/>
                  <a:pt x="0" y="502917"/>
                </a:cubicBezTo>
                <a:lnTo>
                  <a:pt x="0" y="114303"/>
                </a:lnTo>
                <a:cubicBezTo>
                  <a:pt x="0" y="51175"/>
                  <a:pt x="51175" y="0"/>
                  <a:pt x="11430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448080" y="6113639"/>
            <a:ext cx="3105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Predictable traffic patterns, business hours, seasonal events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1779270" cy="350520"/>
          </a:xfrm>
          <a:custGeom>
            <a:avLst/>
            <a:gdLst/>
            <a:ahLst/>
            <a:cxnLst/>
            <a:rect l="l" t="t" r="r" b="b"/>
            <a:pathLst>
              <a:path w="1779270" h="350520">
                <a:moveTo>
                  <a:pt x="175260" y="0"/>
                </a:moveTo>
                <a:lnTo>
                  <a:pt x="1604010" y="0"/>
                </a:lnTo>
                <a:cubicBezTo>
                  <a:pt x="1700803" y="0"/>
                  <a:pt x="1779270" y="78467"/>
                  <a:pt x="1779270" y="175260"/>
                </a:cubicBezTo>
                <a:lnTo>
                  <a:pt x="1779270" y="175260"/>
                </a:lnTo>
                <a:cubicBezTo>
                  <a:pt x="1779270" y="272053"/>
                  <a:pt x="1700803" y="350520"/>
                  <a:pt x="1604010" y="350520"/>
                </a:cubicBezTo>
                <a:lnTo>
                  <a:pt x="175260" y="350520"/>
                </a:lnTo>
                <a:cubicBezTo>
                  <a:pt x="78531" y="350520"/>
                  <a:pt x="0" y="271989"/>
                  <a:pt x="0" y="175260"/>
                </a:cubicBezTo>
                <a:lnTo>
                  <a:pt x="0" y="175260"/>
                </a:lnTo>
                <a:cubicBezTo>
                  <a:pt x="0" y="78531"/>
                  <a:pt x="78531" y="0"/>
                  <a:pt x="17526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0070" y="493398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05169" y="8959"/>
                </a:moveTo>
                <a:cubicBezTo>
                  <a:pt x="108295" y="7657"/>
                  <a:pt x="111863" y="8386"/>
                  <a:pt x="114259" y="10757"/>
                </a:cubicBezTo>
                <a:lnTo>
                  <a:pt x="130928" y="27425"/>
                </a:lnTo>
                <a:cubicBezTo>
                  <a:pt x="132491" y="28988"/>
                  <a:pt x="133376" y="31098"/>
                  <a:pt x="133376" y="33311"/>
                </a:cubicBezTo>
                <a:cubicBezTo>
                  <a:pt x="133376" y="35525"/>
                  <a:pt x="132491" y="37635"/>
                  <a:pt x="130928" y="39198"/>
                </a:cubicBezTo>
                <a:lnTo>
                  <a:pt x="114259" y="55866"/>
                </a:lnTo>
                <a:cubicBezTo>
                  <a:pt x="111863" y="58262"/>
                  <a:pt x="108295" y="58966"/>
                  <a:pt x="105169" y="57663"/>
                </a:cubicBezTo>
                <a:cubicBezTo>
                  <a:pt x="102044" y="56361"/>
                  <a:pt x="100013" y="53366"/>
                  <a:pt x="100013" y="50006"/>
                </a:cubicBezTo>
                <a:lnTo>
                  <a:pt x="100013" y="41672"/>
                </a:lnTo>
                <a:lnTo>
                  <a:pt x="91678" y="41672"/>
                </a:lnTo>
                <a:cubicBezTo>
                  <a:pt x="89048" y="41672"/>
                  <a:pt x="86573" y="42896"/>
                  <a:pt x="85011" y="45006"/>
                </a:cubicBezTo>
                <a:lnTo>
                  <a:pt x="76572" y="56257"/>
                </a:lnTo>
                <a:lnTo>
                  <a:pt x="66154" y="42375"/>
                </a:lnTo>
                <a:lnTo>
                  <a:pt x="71676" y="35004"/>
                </a:lnTo>
                <a:cubicBezTo>
                  <a:pt x="76390" y="28702"/>
                  <a:pt x="83813" y="25003"/>
                  <a:pt x="91678" y="25003"/>
                </a:cubicBezTo>
                <a:lnTo>
                  <a:pt x="100013" y="25003"/>
                </a:lnTo>
                <a:lnTo>
                  <a:pt x="100013" y="16669"/>
                </a:lnTo>
                <a:cubicBezTo>
                  <a:pt x="100013" y="13309"/>
                  <a:pt x="102044" y="10262"/>
                  <a:pt x="105169" y="8959"/>
                </a:cubicBezTo>
                <a:close/>
                <a:moveTo>
                  <a:pt x="40109" y="77093"/>
                </a:moveTo>
                <a:lnTo>
                  <a:pt x="50527" y="90975"/>
                </a:lnTo>
                <a:lnTo>
                  <a:pt x="45006" y="98346"/>
                </a:lnTo>
                <a:cubicBezTo>
                  <a:pt x="40291" y="104648"/>
                  <a:pt x="32869" y="108347"/>
                  <a:pt x="25003" y="108347"/>
                </a:cubicBezTo>
                <a:lnTo>
                  <a:pt x="8334" y="108347"/>
                </a:lnTo>
                <a:cubicBezTo>
                  <a:pt x="3724" y="108347"/>
                  <a:pt x="0" y="104622"/>
                  <a:pt x="0" y="100013"/>
                </a:cubicBezTo>
                <a:cubicBezTo>
                  <a:pt x="0" y="95403"/>
                  <a:pt x="3724" y="91678"/>
                  <a:pt x="8334" y="91678"/>
                </a:cubicBezTo>
                <a:lnTo>
                  <a:pt x="25003" y="91678"/>
                </a:lnTo>
                <a:cubicBezTo>
                  <a:pt x="27634" y="91678"/>
                  <a:pt x="30108" y="90454"/>
                  <a:pt x="31671" y="88344"/>
                </a:cubicBezTo>
                <a:lnTo>
                  <a:pt x="40109" y="77093"/>
                </a:lnTo>
                <a:close/>
                <a:moveTo>
                  <a:pt x="114233" y="122567"/>
                </a:moveTo>
                <a:cubicBezTo>
                  <a:pt x="111837" y="124964"/>
                  <a:pt x="108269" y="125667"/>
                  <a:pt x="105143" y="124365"/>
                </a:cubicBezTo>
                <a:cubicBezTo>
                  <a:pt x="102018" y="123062"/>
                  <a:pt x="100013" y="120041"/>
                  <a:pt x="100013" y="116681"/>
                </a:cubicBezTo>
                <a:lnTo>
                  <a:pt x="100013" y="108347"/>
                </a:lnTo>
                <a:lnTo>
                  <a:pt x="91678" y="108347"/>
                </a:lnTo>
                <a:cubicBezTo>
                  <a:pt x="83813" y="108347"/>
                  <a:pt x="76390" y="104648"/>
                  <a:pt x="71676" y="98346"/>
                </a:cubicBezTo>
                <a:lnTo>
                  <a:pt x="31671" y="45006"/>
                </a:lnTo>
                <a:cubicBezTo>
                  <a:pt x="30108" y="42896"/>
                  <a:pt x="27634" y="41672"/>
                  <a:pt x="25003" y="41672"/>
                </a:cubicBez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25003" y="25003"/>
                </a:lnTo>
                <a:cubicBezTo>
                  <a:pt x="32869" y="25003"/>
                  <a:pt x="40291" y="28702"/>
                  <a:pt x="45006" y="35004"/>
                </a:cubicBezTo>
                <a:lnTo>
                  <a:pt x="85011" y="88344"/>
                </a:lnTo>
                <a:cubicBezTo>
                  <a:pt x="86573" y="90454"/>
                  <a:pt x="89048" y="91678"/>
                  <a:pt x="91678" y="91678"/>
                </a:cubicBezTo>
                <a:lnTo>
                  <a:pt x="100013" y="91678"/>
                </a:lnTo>
                <a:lnTo>
                  <a:pt x="100013" y="83344"/>
                </a:lnTo>
                <a:cubicBezTo>
                  <a:pt x="100013" y="79984"/>
                  <a:pt x="102044" y="76937"/>
                  <a:pt x="105169" y="75634"/>
                </a:cubicBezTo>
                <a:cubicBezTo>
                  <a:pt x="108295" y="74332"/>
                  <a:pt x="111863" y="75061"/>
                  <a:pt x="114259" y="77432"/>
                </a:cubicBezTo>
                <a:lnTo>
                  <a:pt x="130928" y="94100"/>
                </a:lnTo>
                <a:cubicBezTo>
                  <a:pt x="132491" y="95663"/>
                  <a:pt x="133376" y="97773"/>
                  <a:pt x="133376" y="99986"/>
                </a:cubicBezTo>
                <a:cubicBezTo>
                  <a:pt x="133376" y="102200"/>
                  <a:pt x="132491" y="104310"/>
                  <a:pt x="130928" y="105873"/>
                </a:cubicBezTo>
                <a:lnTo>
                  <a:pt x="114259" y="12254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83908" y="464823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Balancing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53441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Elastic Load Balancing -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348741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84810" y="1543051"/>
            <a:ext cx="6170295" cy="2807970"/>
          </a:xfrm>
          <a:custGeom>
            <a:avLst/>
            <a:gdLst/>
            <a:ahLst/>
            <a:cxnLst/>
            <a:rect l="l" t="t" r="r" b="b"/>
            <a:pathLst>
              <a:path w="6170295" h="2807970">
                <a:moveTo>
                  <a:pt x="152389" y="0"/>
                </a:moveTo>
                <a:lnTo>
                  <a:pt x="6017906" y="0"/>
                </a:lnTo>
                <a:cubicBezTo>
                  <a:pt x="6102068" y="0"/>
                  <a:pt x="6170295" y="68227"/>
                  <a:pt x="6170295" y="152389"/>
                </a:cubicBezTo>
                <a:lnTo>
                  <a:pt x="6170295" y="2655581"/>
                </a:lnTo>
                <a:cubicBezTo>
                  <a:pt x="6170295" y="2739743"/>
                  <a:pt x="6102068" y="2807970"/>
                  <a:pt x="6017906" y="2807970"/>
                </a:cubicBezTo>
                <a:lnTo>
                  <a:pt x="152389" y="2807970"/>
                </a:lnTo>
                <a:cubicBezTo>
                  <a:pt x="68227" y="2807970"/>
                  <a:pt x="0" y="2739743"/>
                  <a:pt x="0" y="265558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9120" y="1737359"/>
            <a:ext cx="587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Elastic Load Balancing?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9120" y="2118359"/>
            <a:ext cx="58578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Elastic Load Balancing (ELB)</a:t>
            </a: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automatically distributes incoming application traffic across multiple targets, such as EC2 instances, containers, and IP addresses. It improves application availability and fault tolerance by routing traffic only to healthy targets.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2930" y="3265169"/>
            <a:ext cx="5779770" cy="883920"/>
          </a:xfrm>
          <a:custGeom>
            <a:avLst/>
            <a:gdLst/>
            <a:ahLst/>
            <a:cxnLst/>
            <a:rect l="l" t="t" r="r" b="b"/>
            <a:pathLst>
              <a:path w="5779770" h="883920">
                <a:moveTo>
                  <a:pt x="114300" y="0"/>
                </a:moveTo>
                <a:lnTo>
                  <a:pt x="5665470" y="0"/>
                </a:lnTo>
                <a:cubicBezTo>
                  <a:pt x="5728596" y="0"/>
                  <a:pt x="5779770" y="51174"/>
                  <a:pt x="5779770" y="114300"/>
                </a:cubicBezTo>
                <a:lnTo>
                  <a:pt x="5779770" y="769620"/>
                </a:lnTo>
                <a:cubicBezTo>
                  <a:pt x="5779770" y="832746"/>
                  <a:pt x="5728596" y="883920"/>
                  <a:pt x="5665470" y="883920"/>
                </a:cubicBezTo>
                <a:lnTo>
                  <a:pt x="114300" y="883920"/>
                </a:lnTo>
                <a:cubicBezTo>
                  <a:pt x="51174" y="883920"/>
                  <a:pt x="0" y="832746"/>
                  <a:pt x="0" y="76962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9140" y="3421382"/>
            <a:ext cx="5534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Concept:</a:t>
            </a: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load balancer serves as the </a:t>
            </a:r>
            <a:r>
              <a:rPr lang="en-US" sz="1050" dirty="0">
                <a:solidFill>
                  <a:srgbClr val="8F8F8F"/>
                </a:solidFill>
                <a:highlight>
                  <a:srgbClr val="6366F1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single point of contact </a:t>
            </a: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clients. All requests go to the load balancer, which then distributes them to backend targets based on configured rules.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810" y="4507233"/>
            <a:ext cx="6170295" cy="2207895"/>
          </a:xfrm>
          <a:custGeom>
            <a:avLst/>
            <a:gdLst/>
            <a:ahLst/>
            <a:cxnLst/>
            <a:rect l="l" t="t" r="r" b="b"/>
            <a:pathLst>
              <a:path w="6170295" h="2207895">
                <a:moveTo>
                  <a:pt x="152411" y="0"/>
                </a:moveTo>
                <a:lnTo>
                  <a:pt x="6017884" y="0"/>
                </a:lnTo>
                <a:cubicBezTo>
                  <a:pt x="6102058" y="0"/>
                  <a:pt x="6170295" y="68237"/>
                  <a:pt x="6170295" y="152411"/>
                </a:cubicBezTo>
                <a:lnTo>
                  <a:pt x="6170295" y="2055484"/>
                </a:lnTo>
                <a:cubicBezTo>
                  <a:pt x="6170295" y="2139658"/>
                  <a:pt x="6102058" y="2207895"/>
                  <a:pt x="6017884" y="2207895"/>
                </a:cubicBezTo>
                <a:lnTo>
                  <a:pt x="152411" y="2207895"/>
                </a:lnTo>
                <a:cubicBezTo>
                  <a:pt x="68237" y="2207895"/>
                  <a:pt x="0" y="2139658"/>
                  <a:pt x="0" y="2055484"/>
                </a:cubicBezTo>
                <a:lnTo>
                  <a:pt x="0" y="152411"/>
                </a:lnTo>
                <a:cubicBezTo>
                  <a:pt x="0" y="68293"/>
                  <a:pt x="68293" y="0"/>
                  <a:pt x="15241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120" y="4701541"/>
            <a:ext cx="587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2930" y="5124451"/>
            <a:ext cx="1845945" cy="1188720"/>
          </a:xfrm>
          <a:custGeom>
            <a:avLst/>
            <a:gdLst/>
            <a:ahLst/>
            <a:cxnLst/>
            <a:rect l="l" t="t" r="r" b="b"/>
            <a:pathLst>
              <a:path w="1845945" h="1188720">
                <a:moveTo>
                  <a:pt x="114295" y="0"/>
                </a:moveTo>
                <a:lnTo>
                  <a:pt x="1731650" y="0"/>
                </a:lnTo>
                <a:cubicBezTo>
                  <a:pt x="1794731" y="0"/>
                  <a:pt x="1845945" y="51214"/>
                  <a:pt x="1845945" y="114295"/>
                </a:cubicBezTo>
                <a:lnTo>
                  <a:pt x="1845945" y="1074425"/>
                </a:lnTo>
                <a:cubicBezTo>
                  <a:pt x="1845945" y="1137548"/>
                  <a:pt x="1794773" y="1188720"/>
                  <a:pt x="1731650" y="1188720"/>
                </a:cubicBezTo>
                <a:lnTo>
                  <a:pt x="114295" y="1188720"/>
                </a:lnTo>
                <a:cubicBezTo>
                  <a:pt x="51214" y="1188720"/>
                  <a:pt x="0" y="1137506"/>
                  <a:pt x="0" y="107442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952" y="530923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27114" y="100"/>
                </a:moveTo>
                <a:cubicBezTo>
                  <a:pt x="124134" y="502"/>
                  <a:pt x="121354" y="2177"/>
                  <a:pt x="119613" y="4822"/>
                </a:cubicBezTo>
                <a:cubicBezTo>
                  <a:pt x="117336" y="8305"/>
                  <a:pt x="117269" y="12892"/>
                  <a:pt x="119479" y="16408"/>
                </a:cubicBezTo>
                <a:cubicBezTo>
                  <a:pt x="121354" y="19389"/>
                  <a:pt x="124670" y="20661"/>
                  <a:pt x="127449" y="22603"/>
                </a:cubicBezTo>
                <a:cubicBezTo>
                  <a:pt x="129960" y="24345"/>
                  <a:pt x="133343" y="27023"/>
                  <a:pt x="136725" y="30707"/>
                </a:cubicBezTo>
                <a:cubicBezTo>
                  <a:pt x="143422" y="37973"/>
                  <a:pt x="149952" y="48890"/>
                  <a:pt x="149952" y="64294"/>
                </a:cubicBezTo>
                <a:cubicBezTo>
                  <a:pt x="149952" y="70221"/>
                  <a:pt x="154740" y="75009"/>
                  <a:pt x="160667" y="75009"/>
                </a:cubicBezTo>
                <a:cubicBezTo>
                  <a:pt x="166594" y="75009"/>
                  <a:pt x="171383" y="70221"/>
                  <a:pt x="171383" y="64294"/>
                </a:cubicBezTo>
                <a:cubicBezTo>
                  <a:pt x="171383" y="42193"/>
                  <a:pt x="161839" y="26320"/>
                  <a:pt x="152463" y="16174"/>
                </a:cubicBezTo>
                <a:cubicBezTo>
                  <a:pt x="147809" y="11117"/>
                  <a:pt x="143154" y="7434"/>
                  <a:pt x="139638" y="5023"/>
                </a:cubicBezTo>
                <a:cubicBezTo>
                  <a:pt x="135954" y="2478"/>
                  <a:pt x="131769" y="-536"/>
                  <a:pt x="127047" y="100"/>
                </a:cubicBezTo>
                <a:close/>
                <a:moveTo>
                  <a:pt x="80367" y="42863"/>
                </a:moveTo>
                <a:cubicBezTo>
                  <a:pt x="61079" y="42863"/>
                  <a:pt x="45173" y="57463"/>
                  <a:pt x="43097" y="76181"/>
                </a:cubicBezTo>
                <a:cubicBezTo>
                  <a:pt x="42461" y="82075"/>
                  <a:pt x="37136" y="86294"/>
                  <a:pt x="31276" y="85658"/>
                </a:cubicBezTo>
                <a:cubicBezTo>
                  <a:pt x="25416" y="85022"/>
                  <a:pt x="21163" y="79697"/>
                  <a:pt x="21800" y="73837"/>
                </a:cubicBezTo>
                <a:cubicBezTo>
                  <a:pt x="25048" y="44369"/>
                  <a:pt x="50029" y="21431"/>
                  <a:pt x="80367" y="21431"/>
                </a:cubicBezTo>
                <a:cubicBezTo>
                  <a:pt x="112916" y="21431"/>
                  <a:pt x="139303" y="47818"/>
                  <a:pt x="139303" y="80367"/>
                </a:cubicBezTo>
                <a:cubicBezTo>
                  <a:pt x="139303" y="95771"/>
                  <a:pt x="133376" y="109802"/>
                  <a:pt x="123698" y="120316"/>
                </a:cubicBezTo>
                <a:cubicBezTo>
                  <a:pt x="119680" y="124670"/>
                  <a:pt x="117872" y="128621"/>
                  <a:pt x="117872" y="131936"/>
                </a:cubicBezTo>
                <a:lnTo>
                  <a:pt x="117872" y="133979"/>
                </a:lnTo>
                <a:cubicBezTo>
                  <a:pt x="117872" y="154707"/>
                  <a:pt x="101095" y="171483"/>
                  <a:pt x="80367" y="171483"/>
                </a:cubicBezTo>
                <a:cubicBezTo>
                  <a:pt x="74440" y="171483"/>
                  <a:pt x="69652" y="166695"/>
                  <a:pt x="69652" y="160768"/>
                </a:cubicBezTo>
                <a:cubicBezTo>
                  <a:pt x="69652" y="154841"/>
                  <a:pt x="74440" y="150052"/>
                  <a:pt x="80367" y="150052"/>
                </a:cubicBezTo>
                <a:cubicBezTo>
                  <a:pt x="89241" y="150052"/>
                  <a:pt x="96441" y="142853"/>
                  <a:pt x="96441" y="133979"/>
                </a:cubicBezTo>
                <a:lnTo>
                  <a:pt x="96441" y="131936"/>
                </a:lnTo>
                <a:cubicBezTo>
                  <a:pt x="96441" y="120919"/>
                  <a:pt x="102267" y="111978"/>
                  <a:pt x="107960" y="105817"/>
                </a:cubicBezTo>
                <a:cubicBezTo>
                  <a:pt x="114121" y="99120"/>
                  <a:pt x="117872" y="90212"/>
                  <a:pt x="117872" y="80401"/>
                </a:cubicBezTo>
                <a:cubicBezTo>
                  <a:pt x="117872" y="59673"/>
                  <a:pt x="101095" y="42896"/>
                  <a:pt x="80367" y="42896"/>
                </a:cubicBezTo>
                <a:close/>
                <a:moveTo>
                  <a:pt x="0" y="160734"/>
                </a:moveTo>
                <a:cubicBezTo>
                  <a:pt x="0" y="154820"/>
                  <a:pt x="4802" y="150019"/>
                  <a:pt x="10716" y="150019"/>
                </a:cubicBezTo>
                <a:cubicBezTo>
                  <a:pt x="16630" y="150019"/>
                  <a:pt x="21431" y="154820"/>
                  <a:pt x="21431" y="160734"/>
                </a:cubicBezTo>
                <a:cubicBezTo>
                  <a:pt x="21431" y="166648"/>
                  <a:pt x="16630" y="171450"/>
                  <a:pt x="10716" y="171450"/>
                </a:cubicBezTo>
                <a:cubicBezTo>
                  <a:pt x="4802" y="171450"/>
                  <a:pt x="0" y="166648"/>
                  <a:pt x="0" y="160734"/>
                </a:cubicBezTo>
                <a:close/>
                <a:moveTo>
                  <a:pt x="53578" y="128588"/>
                </a:moveTo>
                <a:cubicBezTo>
                  <a:pt x="59492" y="128588"/>
                  <a:pt x="64294" y="123786"/>
                  <a:pt x="64294" y="117872"/>
                </a:cubicBezTo>
                <a:cubicBezTo>
                  <a:pt x="64294" y="111958"/>
                  <a:pt x="59492" y="107156"/>
                  <a:pt x="53578" y="107156"/>
                </a:cubicBezTo>
                <a:cubicBezTo>
                  <a:pt x="47664" y="107156"/>
                  <a:pt x="42863" y="111958"/>
                  <a:pt x="42863" y="117872"/>
                </a:cubicBezTo>
                <a:cubicBezTo>
                  <a:pt x="42863" y="123786"/>
                  <a:pt x="47664" y="128588"/>
                  <a:pt x="53578" y="128588"/>
                </a:cubicBezTo>
                <a:close/>
                <a:moveTo>
                  <a:pt x="28999" y="121020"/>
                </a:moveTo>
                <a:cubicBezTo>
                  <a:pt x="24813" y="116834"/>
                  <a:pt x="18016" y="116834"/>
                  <a:pt x="13830" y="121020"/>
                </a:cubicBezTo>
                <a:cubicBezTo>
                  <a:pt x="9644" y="125205"/>
                  <a:pt x="9644" y="132003"/>
                  <a:pt x="13830" y="136189"/>
                </a:cubicBezTo>
                <a:lnTo>
                  <a:pt x="35261" y="157620"/>
                </a:lnTo>
                <a:cubicBezTo>
                  <a:pt x="39447" y="161806"/>
                  <a:pt x="46245" y="161806"/>
                  <a:pt x="50430" y="157620"/>
                </a:cubicBezTo>
                <a:cubicBezTo>
                  <a:pt x="54616" y="153434"/>
                  <a:pt x="54616" y="146637"/>
                  <a:pt x="50430" y="142451"/>
                </a:cubicBezTo>
                <a:lnTo>
                  <a:pt x="28999" y="121020"/>
                </a:lnTo>
                <a:close/>
                <a:moveTo>
                  <a:pt x="80367" y="69652"/>
                </a:moveTo>
                <a:cubicBezTo>
                  <a:pt x="74440" y="69652"/>
                  <a:pt x="69652" y="74440"/>
                  <a:pt x="69652" y="80367"/>
                </a:cubicBezTo>
                <a:cubicBezTo>
                  <a:pt x="69652" y="84821"/>
                  <a:pt x="66069" y="88404"/>
                  <a:pt x="61615" y="88404"/>
                </a:cubicBezTo>
                <a:cubicBezTo>
                  <a:pt x="57161" y="88404"/>
                  <a:pt x="53578" y="84821"/>
                  <a:pt x="53578" y="80367"/>
                </a:cubicBezTo>
                <a:cubicBezTo>
                  <a:pt x="53578" y="65566"/>
                  <a:pt x="65566" y="53578"/>
                  <a:pt x="80367" y="53578"/>
                </a:cubicBezTo>
                <a:cubicBezTo>
                  <a:pt x="95168" y="53578"/>
                  <a:pt x="107156" y="65566"/>
                  <a:pt x="107156" y="80367"/>
                </a:cubicBezTo>
                <a:cubicBezTo>
                  <a:pt x="107156" y="84821"/>
                  <a:pt x="103573" y="88404"/>
                  <a:pt x="99120" y="88404"/>
                </a:cubicBezTo>
                <a:cubicBezTo>
                  <a:pt x="94666" y="88404"/>
                  <a:pt x="91083" y="84821"/>
                  <a:pt x="91083" y="80367"/>
                </a:cubicBezTo>
                <a:cubicBezTo>
                  <a:pt x="91083" y="74440"/>
                  <a:pt x="86294" y="69652"/>
                  <a:pt x="80367" y="6965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1029652" y="5280659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Listeners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9140" y="5585459"/>
            <a:ext cx="1600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for connection requests on configured protocol and port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49485" y="5124451"/>
            <a:ext cx="1845945" cy="1188720"/>
          </a:xfrm>
          <a:custGeom>
            <a:avLst/>
            <a:gdLst/>
            <a:ahLst/>
            <a:cxnLst/>
            <a:rect l="l" t="t" r="r" b="b"/>
            <a:pathLst>
              <a:path w="1845945" h="1188720">
                <a:moveTo>
                  <a:pt x="114295" y="0"/>
                </a:moveTo>
                <a:lnTo>
                  <a:pt x="1731650" y="0"/>
                </a:lnTo>
                <a:cubicBezTo>
                  <a:pt x="1794731" y="0"/>
                  <a:pt x="1845945" y="51214"/>
                  <a:pt x="1845945" y="114295"/>
                </a:cubicBezTo>
                <a:lnTo>
                  <a:pt x="1845945" y="1074425"/>
                </a:lnTo>
                <a:cubicBezTo>
                  <a:pt x="1845945" y="1137548"/>
                  <a:pt x="1794773" y="1188720"/>
                  <a:pt x="1731650" y="1188720"/>
                </a:cubicBezTo>
                <a:lnTo>
                  <a:pt x="114295" y="1188720"/>
                </a:lnTo>
                <a:cubicBezTo>
                  <a:pt x="51214" y="1188720"/>
                  <a:pt x="0" y="1137506"/>
                  <a:pt x="0" y="107442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29508" y="530923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2996208" y="5280659"/>
            <a:ext cx="1038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Groups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05695" y="5585459"/>
            <a:ext cx="1600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Logical grouping of targets that receive traffic from the load balancer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16041" y="5124451"/>
            <a:ext cx="1845945" cy="1188720"/>
          </a:xfrm>
          <a:custGeom>
            <a:avLst/>
            <a:gdLst/>
            <a:ahLst/>
            <a:cxnLst/>
            <a:rect l="l" t="t" r="r" b="b"/>
            <a:pathLst>
              <a:path w="1845945" h="1188720">
                <a:moveTo>
                  <a:pt x="114295" y="0"/>
                </a:moveTo>
                <a:lnTo>
                  <a:pt x="1731650" y="0"/>
                </a:lnTo>
                <a:cubicBezTo>
                  <a:pt x="1794731" y="0"/>
                  <a:pt x="1845945" y="51214"/>
                  <a:pt x="1845945" y="114295"/>
                </a:cubicBezTo>
                <a:lnTo>
                  <a:pt x="1845945" y="1074425"/>
                </a:lnTo>
                <a:cubicBezTo>
                  <a:pt x="1845945" y="1137548"/>
                  <a:pt x="1794773" y="1188720"/>
                  <a:pt x="1731650" y="1188720"/>
                </a:cubicBezTo>
                <a:lnTo>
                  <a:pt x="114295" y="1188720"/>
                </a:lnTo>
                <a:cubicBezTo>
                  <a:pt x="51214" y="1188720"/>
                  <a:pt x="0" y="1137506"/>
                  <a:pt x="0" y="107442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96063" y="530923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36132"/>
                </a:moveTo>
                <a:lnTo>
                  <a:pt x="80702" y="29167"/>
                </a:lnTo>
                <a:cubicBezTo>
                  <a:pt x="72330" y="17580"/>
                  <a:pt x="58902" y="10716"/>
                  <a:pt x="44570" y="10716"/>
                </a:cubicBezTo>
                <a:cubicBezTo>
                  <a:pt x="19958" y="10716"/>
                  <a:pt x="0" y="30673"/>
                  <a:pt x="0" y="55286"/>
                </a:cubicBezTo>
                <a:lnTo>
                  <a:pt x="0" y="56157"/>
                </a:lnTo>
                <a:cubicBezTo>
                  <a:pt x="0" y="64059"/>
                  <a:pt x="2076" y="72230"/>
                  <a:pt x="5559" y="80367"/>
                </a:cubicBezTo>
                <a:lnTo>
                  <a:pt x="41054" y="80367"/>
                </a:lnTo>
                <a:cubicBezTo>
                  <a:pt x="42126" y="80367"/>
                  <a:pt x="43097" y="79731"/>
                  <a:pt x="43532" y="78726"/>
                </a:cubicBezTo>
                <a:lnTo>
                  <a:pt x="54181" y="53176"/>
                </a:lnTo>
                <a:cubicBezTo>
                  <a:pt x="55420" y="50229"/>
                  <a:pt x="58300" y="48287"/>
                  <a:pt x="61481" y="48220"/>
                </a:cubicBezTo>
                <a:cubicBezTo>
                  <a:pt x="64662" y="48153"/>
                  <a:pt x="67609" y="50029"/>
                  <a:pt x="68915" y="52942"/>
                </a:cubicBezTo>
                <a:lnTo>
                  <a:pt x="86093" y="91083"/>
                </a:lnTo>
                <a:lnTo>
                  <a:pt x="99957" y="63356"/>
                </a:lnTo>
                <a:cubicBezTo>
                  <a:pt x="101330" y="60644"/>
                  <a:pt x="104109" y="58902"/>
                  <a:pt x="107156" y="58902"/>
                </a:cubicBezTo>
                <a:cubicBezTo>
                  <a:pt x="110204" y="58902"/>
                  <a:pt x="112983" y="60610"/>
                  <a:pt x="114356" y="63356"/>
                </a:cubicBezTo>
                <a:lnTo>
                  <a:pt x="122125" y="78860"/>
                </a:lnTo>
                <a:cubicBezTo>
                  <a:pt x="122593" y="79764"/>
                  <a:pt x="123498" y="80334"/>
                  <a:pt x="124536" y="80334"/>
                </a:cubicBezTo>
                <a:lnTo>
                  <a:pt x="165925" y="80334"/>
                </a:lnTo>
                <a:cubicBezTo>
                  <a:pt x="169441" y="72197"/>
                  <a:pt x="171483" y="64026"/>
                  <a:pt x="171483" y="56123"/>
                </a:cubicBezTo>
                <a:lnTo>
                  <a:pt x="171483" y="55252"/>
                </a:lnTo>
                <a:cubicBezTo>
                  <a:pt x="171450" y="30673"/>
                  <a:pt x="151492" y="10716"/>
                  <a:pt x="126880" y="10716"/>
                </a:cubicBezTo>
                <a:cubicBezTo>
                  <a:pt x="112581" y="10716"/>
                  <a:pt x="99120" y="17580"/>
                  <a:pt x="90748" y="29167"/>
                </a:cubicBezTo>
                <a:lnTo>
                  <a:pt x="85725" y="36098"/>
                </a:lnTo>
                <a:close/>
                <a:moveTo>
                  <a:pt x="157252" y="96441"/>
                </a:moveTo>
                <a:lnTo>
                  <a:pt x="124502" y="96441"/>
                </a:lnTo>
                <a:cubicBezTo>
                  <a:pt x="117403" y="96441"/>
                  <a:pt x="110907" y="92422"/>
                  <a:pt x="107726" y="86060"/>
                </a:cubicBezTo>
                <a:lnTo>
                  <a:pt x="107156" y="84921"/>
                </a:lnTo>
                <a:lnTo>
                  <a:pt x="92925" y="113418"/>
                </a:lnTo>
                <a:cubicBezTo>
                  <a:pt x="91552" y="116198"/>
                  <a:pt x="88672" y="117939"/>
                  <a:pt x="85558" y="117872"/>
                </a:cubicBezTo>
                <a:cubicBezTo>
                  <a:pt x="82443" y="117805"/>
                  <a:pt x="79664" y="115963"/>
                  <a:pt x="78391" y="113150"/>
                </a:cubicBezTo>
                <a:lnTo>
                  <a:pt x="61883" y="76483"/>
                </a:lnTo>
                <a:lnTo>
                  <a:pt x="58367" y="84921"/>
                </a:lnTo>
                <a:cubicBezTo>
                  <a:pt x="55453" y="91920"/>
                  <a:pt x="48622" y="96474"/>
                  <a:pt x="41054" y="96474"/>
                </a:cubicBezTo>
                <a:lnTo>
                  <a:pt x="14198" y="96474"/>
                </a:lnTo>
                <a:cubicBezTo>
                  <a:pt x="30004" y="121187"/>
                  <a:pt x="55386" y="143924"/>
                  <a:pt x="71259" y="156046"/>
                </a:cubicBezTo>
                <a:cubicBezTo>
                  <a:pt x="75411" y="159194"/>
                  <a:pt x="80501" y="160768"/>
                  <a:pt x="85692" y="160768"/>
                </a:cubicBezTo>
                <a:cubicBezTo>
                  <a:pt x="90882" y="160768"/>
                  <a:pt x="96005" y="159227"/>
                  <a:pt x="100124" y="156046"/>
                </a:cubicBezTo>
                <a:cubicBezTo>
                  <a:pt x="116064" y="143891"/>
                  <a:pt x="141446" y="121154"/>
                  <a:pt x="157252" y="9644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962763" y="5280659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Checks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72251" y="5585459"/>
            <a:ext cx="1600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target health and route traffic only to healthy instances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757035" y="1543051"/>
            <a:ext cx="5046345" cy="5170170"/>
          </a:xfrm>
          <a:custGeom>
            <a:avLst/>
            <a:gdLst/>
            <a:ahLst/>
            <a:cxnLst/>
            <a:rect l="l" t="t" r="r" b="b"/>
            <a:pathLst>
              <a:path w="5046345" h="5170170">
                <a:moveTo>
                  <a:pt x="152400" y="0"/>
                </a:moveTo>
                <a:lnTo>
                  <a:pt x="4893945" y="0"/>
                </a:lnTo>
                <a:cubicBezTo>
                  <a:pt x="4978113" y="0"/>
                  <a:pt x="5046345" y="68232"/>
                  <a:pt x="5046345" y="152400"/>
                </a:cubicBezTo>
                <a:lnTo>
                  <a:pt x="5046345" y="5017770"/>
                </a:lnTo>
                <a:cubicBezTo>
                  <a:pt x="5046345" y="5101938"/>
                  <a:pt x="4978113" y="5170170"/>
                  <a:pt x="4893945" y="5170170"/>
                </a:cubicBezTo>
                <a:lnTo>
                  <a:pt x="152400" y="5170170"/>
                </a:lnTo>
                <a:cubicBezTo>
                  <a:pt x="68232" y="5170170"/>
                  <a:pt x="0" y="5101938"/>
                  <a:pt x="0" y="501777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51345" y="1737359"/>
            <a:ext cx="475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Types of Load Balancers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55155" y="2160269"/>
            <a:ext cx="4655820" cy="998220"/>
          </a:xfrm>
          <a:custGeom>
            <a:avLst/>
            <a:gdLst/>
            <a:ahLst/>
            <a:cxnLst/>
            <a:rect l="l" t="t" r="r" b="b"/>
            <a:pathLst>
              <a:path w="4655820" h="998220">
                <a:moveTo>
                  <a:pt x="114296" y="0"/>
                </a:moveTo>
                <a:lnTo>
                  <a:pt x="4541524" y="0"/>
                </a:lnTo>
                <a:cubicBezTo>
                  <a:pt x="4604648" y="0"/>
                  <a:pt x="4655820" y="51172"/>
                  <a:pt x="4655820" y="114296"/>
                </a:cubicBezTo>
                <a:lnTo>
                  <a:pt x="4655820" y="883924"/>
                </a:lnTo>
                <a:cubicBezTo>
                  <a:pt x="4655820" y="947048"/>
                  <a:pt x="4604648" y="998220"/>
                  <a:pt x="454152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73265" y="2278382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Load Balancer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127701" y="2278382"/>
            <a:ext cx="361950" cy="228600"/>
          </a:xfrm>
          <a:custGeom>
            <a:avLst/>
            <a:gdLst/>
            <a:ahLst/>
            <a:cxnLst/>
            <a:rect l="l" t="t" r="r" b="b"/>
            <a:pathLst>
              <a:path w="361950" h="2286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190499"/>
                </a:lnTo>
                <a:cubicBezTo>
                  <a:pt x="361950" y="211542"/>
                  <a:pt x="344892" y="228600"/>
                  <a:pt x="323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127701" y="2278382"/>
            <a:ext cx="419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73265" y="2583182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7 (HTTP/HTTPS) - Advanced routing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073265" y="2849882"/>
            <a:ext cx="733425" cy="190500"/>
          </a:xfrm>
          <a:custGeom>
            <a:avLst/>
            <a:gdLst/>
            <a:ahLst/>
            <a:cxnLst/>
            <a:rect l="l" t="t" r="r" b="b"/>
            <a:pathLst>
              <a:path w="733425" h="190500">
                <a:moveTo>
                  <a:pt x="38100" y="0"/>
                </a:moveTo>
                <a:lnTo>
                  <a:pt x="695325" y="0"/>
                </a:lnTo>
                <a:cubicBezTo>
                  <a:pt x="716353" y="0"/>
                  <a:pt x="733425" y="17072"/>
                  <a:pt x="733425" y="38100"/>
                </a:cubicBezTo>
                <a:lnTo>
                  <a:pt x="733425" y="152400"/>
                </a:lnTo>
                <a:cubicBezTo>
                  <a:pt x="733425" y="173428"/>
                  <a:pt x="716353" y="190500"/>
                  <a:pt x="69532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7073265" y="2849882"/>
            <a:ext cx="79057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Path-based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846457" y="2849882"/>
            <a:ext cx="742950" cy="190500"/>
          </a:xfrm>
          <a:custGeom>
            <a:avLst/>
            <a:gdLst/>
            <a:ahLst/>
            <a:cxnLst/>
            <a:rect l="l" t="t" r="r" b="b"/>
            <a:pathLst>
              <a:path w="742950" h="190500">
                <a:moveTo>
                  <a:pt x="38100" y="0"/>
                </a:moveTo>
                <a:lnTo>
                  <a:pt x="704850" y="0"/>
                </a:lnTo>
                <a:cubicBezTo>
                  <a:pt x="725878" y="0"/>
                  <a:pt x="742950" y="17072"/>
                  <a:pt x="742950" y="38100"/>
                </a:cubicBezTo>
                <a:lnTo>
                  <a:pt x="742950" y="152400"/>
                </a:lnTo>
                <a:cubicBezTo>
                  <a:pt x="742950" y="173428"/>
                  <a:pt x="725878" y="190500"/>
                  <a:pt x="7048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7846457" y="2849882"/>
            <a:ext cx="8001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Host-based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31912" y="2849882"/>
            <a:ext cx="800100" cy="190500"/>
          </a:xfrm>
          <a:custGeom>
            <a:avLst/>
            <a:gdLst/>
            <a:ahLst/>
            <a:cxnLst/>
            <a:rect l="l" t="t" r="r" b="b"/>
            <a:pathLst>
              <a:path w="800100" h="190500">
                <a:moveTo>
                  <a:pt x="38100" y="0"/>
                </a:moveTo>
                <a:lnTo>
                  <a:pt x="762000" y="0"/>
                </a:lnTo>
                <a:cubicBezTo>
                  <a:pt x="783028" y="0"/>
                  <a:pt x="800100" y="17072"/>
                  <a:pt x="800100" y="38100"/>
                </a:cubicBezTo>
                <a:lnTo>
                  <a:pt x="800100" y="152400"/>
                </a:lnTo>
                <a:cubicBezTo>
                  <a:pt x="800100" y="173428"/>
                  <a:pt x="783028" y="190500"/>
                  <a:pt x="7620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8631912" y="2849882"/>
            <a:ext cx="8572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955155" y="3280294"/>
            <a:ext cx="4655820" cy="998220"/>
          </a:xfrm>
          <a:custGeom>
            <a:avLst/>
            <a:gdLst/>
            <a:ahLst/>
            <a:cxnLst/>
            <a:rect l="l" t="t" r="r" b="b"/>
            <a:pathLst>
              <a:path w="4655820" h="998220">
                <a:moveTo>
                  <a:pt x="114296" y="0"/>
                </a:moveTo>
                <a:lnTo>
                  <a:pt x="4541524" y="0"/>
                </a:lnTo>
                <a:cubicBezTo>
                  <a:pt x="4604648" y="0"/>
                  <a:pt x="4655820" y="51172"/>
                  <a:pt x="4655820" y="114296"/>
                </a:cubicBezTo>
                <a:lnTo>
                  <a:pt x="4655820" y="883924"/>
                </a:lnTo>
                <a:cubicBezTo>
                  <a:pt x="4655820" y="947048"/>
                  <a:pt x="4604648" y="998220"/>
                  <a:pt x="454152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73265" y="3398402"/>
            <a:ext cx="1628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Load Balancer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120557" y="3398402"/>
            <a:ext cx="371475" cy="228600"/>
          </a:xfrm>
          <a:custGeom>
            <a:avLst/>
            <a:gdLst/>
            <a:ahLst/>
            <a:cxnLst/>
            <a:rect l="l" t="t" r="r" b="b"/>
            <a:pathLst>
              <a:path w="371475" h="228600">
                <a:moveTo>
                  <a:pt x="38101" y="0"/>
                </a:moveTo>
                <a:lnTo>
                  <a:pt x="333374" y="0"/>
                </a:lnTo>
                <a:cubicBezTo>
                  <a:pt x="354417" y="0"/>
                  <a:pt x="371475" y="17058"/>
                  <a:pt x="371475" y="38101"/>
                </a:cubicBezTo>
                <a:lnTo>
                  <a:pt x="371475" y="190499"/>
                </a:lnTo>
                <a:cubicBezTo>
                  <a:pt x="371475" y="211542"/>
                  <a:pt x="354417" y="228600"/>
                  <a:pt x="33337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1120557" y="3398402"/>
            <a:ext cx="42862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NLB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073265" y="3703202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4 (TCP/UDP/TLS) - Ultra-low latency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073265" y="3969902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38100" y="0"/>
                </a:moveTo>
                <a:lnTo>
                  <a:pt x="533400" y="0"/>
                </a:lnTo>
                <a:cubicBezTo>
                  <a:pt x="554428" y="0"/>
                  <a:pt x="571500" y="17072"/>
                  <a:pt x="571500" y="38100"/>
                </a:cubicBezTo>
                <a:lnTo>
                  <a:pt x="571500" y="152400"/>
                </a:lnTo>
                <a:cubicBezTo>
                  <a:pt x="571500" y="173428"/>
                  <a:pt x="554428" y="190500"/>
                  <a:pt x="533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7073265" y="3969902"/>
            <a:ext cx="6286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IP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680365" y="3969902"/>
            <a:ext cx="781050" cy="190500"/>
          </a:xfrm>
          <a:custGeom>
            <a:avLst/>
            <a:gdLst/>
            <a:ahLst/>
            <a:cxnLst/>
            <a:rect l="l" t="t" r="r" b="b"/>
            <a:pathLst>
              <a:path w="781050" h="190500">
                <a:moveTo>
                  <a:pt x="38100" y="0"/>
                </a:moveTo>
                <a:lnTo>
                  <a:pt x="742950" y="0"/>
                </a:lnTo>
                <a:cubicBezTo>
                  <a:pt x="763978" y="0"/>
                  <a:pt x="781050" y="17072"/>
                  <a:pt x="781050" y="38100"/>
                </a:cubicBezTo>
                <a:lnTo>
                  <a:pt x="781050" y="152400"/>
                </a:lnTo>
                <a:cubicBezTo>
                  <a:pt x="781050" y="173428"/>
                  <a:pt x="763978" y="190500"/>
                  <a:pt x="7429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7680365" y="3969902"/>
            <a:ext cx="8382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Millions RPS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96776" y="3969902"/>
            <a:ext cx="714375" cy="190500"/>
          </a:xfrm>
          <a:custGeom>
            <a:avLst/>
            <a:gdLst/>
            <a:ahLst/>
            <a:cxnLst/>
            <a:rect l="l" t="t" r="r" b="b"/>
            <a:pathLst>
              <a:path w="714375" h="190500">
                <a:moveTo>
                  <a:pt x="38100" y="0"/>
                </a:moveTo>
                <a:lnTo>
                  <a:pt x="676275" y="0"/>
                </a:lnTo>
                <a:cubicBezTo>
                  <a:pt x="697303" y="0"/>
                  <a:pt x="714375" y="17072"/>
                  <a:pt x="714375" y="38100"/>
                </a:cubicBezTo>
                <a:lnTo>
                  <a:pt x="714375" y="152400"/>
                </a:lnTo>
                <a:cubicBezTo>
                  <a:pt x="714375" y="173428"/>
                  <a:pt x="697303" y="190500"/>
                  <a:pt x="676275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8496776" y="3969902"/>
            <a:ext cx="771525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PrivateLink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955155" y="4400314"/>
            <a:ext cx="4655820" cy="998220"/>
          </a:xfrm>
          <a:custGeom>
            <a:avLst/>
            <a:gdLst/>
            <a:ahLst/>
            <a:cxnLst/>
            <a:rect l="l" t="t" r="r" b="b"/>
            <a:pathLst>
              <a:path w="4655820" h="998220">
                <a:moveTo>
                  <a:pt x="114296" y="0"/>
                </a:moveTo>
                <a:lnTo>
                  <a:pt x="4541524" y="0"/>
                </a:lnTo>
                <a:cubicBezTo>
                  <a:pt x="4604648" y="0"/>
                  <a:pt x="4655820" y="51172"/>
                  <a:pt x="4655820" y="114296"/>
                </a:cubicBezTo>
                <a:lnTo>
                  <a:pt x="4655820" y="883924"/>
                </a:lnTo>
                <a:cubicBezTo>
                  <a:pt x="4655820" y="947048"/>
                  <a:pt x="4604648" y="998220"/>
                  <a:pt x="454152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73265" y="4518422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Gateway Load Balancer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011852" y="4518422"/>
            <a:ext cx="476250" cy="228600"/>
          </a:xfrm>
          <a:custGeom>
            <a:avLst/>
            <a:gdLst/>
            <a:ahLst/>
            <a:cxnLst/>
            <a:rect l="l" t="t" r="r" b="b"/>
            <a:pathLst>
              <a:path w="476250" h="228600">
                <a:moveTo>
                  <a:pt x="38101" y="0"/>
                </a:moveTo>
                <a:lnTo>
                  <a:pt x="438149" y="0"/>
                </a:lnTo>
                <a:cubicBezTo>
                  <a:pt x="459192" y="0"/>
                  <a:pt x="476250" y="17058"/>
                  <a:pt x="476250" y="38101"/>
                </a:cubicBezTo>
                <a:lnTo>
                  <a:pt x="476250" y="190499"/>
                </a:lnTo>
                <a:cubicBezTo>
                  <a:pt x="476250" y="211542"/>
                  <a:pt x="459192" y="228600"/>
                  <a:pt x="4381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1011852" y="4518422"/>
            <a:ext cx="5334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GWLB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073265" y="4823222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appliances - Firewalls, IDS/IPS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073265" y="5089922"/>
            <a:ext cx="590550" cy="190500"/>
          </a:xfrm>
          <a:custGeom>
            <a:avLst/>
            <a:gdLst/>
            <a:ahLst/>
            <a:cxnLst/>
            <a:rect l="l" t="t" r="r" b="b"/>
            <a:pathLst>
              <a:path w="590550" h="190500">
                <a:moveTo>
                  <a:pt x="38100" y="0"/>
                </a:moveTo>
                <a:lnTo>
                  <a:pt x="552450" y="0"/>
                </a:lnTo>
                <a:cubicBezTo>
                  <a:pt x="573478" y="0"/>
                  <a:pt x="590550" y="17072"/>
                  <a:pt x="590550" y="38100"/>
                </a:cubicBezTo>
                <a:lnTo>
                  <a:pt x="590550" y="152400"/>
                </a:lnTo>
                <a:cubicBezTo>
                  <a:pt x="590550" y="173428"/>
                  <a:pt x="573478" y="190500"/>
                  <a:pt x="5524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6" name="Text 54"/>
          <p:cNvSpPr/>
          <p:nvPr/>
        </p:nvSpPr>
        <p:spPr>
          <a:xfrm>
            <a:off x="7073265" y="5089922"/>
            <a:ext cx="6477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GENEVE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706559" y="5089922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38100" y="0"/>
                </a:moveTo>
                <a:lnTo>
                  <a:pt x="533400" y="0"/>
                </a:lnTo>
                <a:cubicBezTo>
                  <a:pt x="554428" y="0"/>
                  <a:pt x="571500" y="17072"/>
                  <a:pt x="571500" y="38100"/>
                </a:cubicBezTo>
                <a:lnTo>
                  <a:pt x="571500" y="152400"/>
                </a:lnTo>
                <a:cubicBezTo>
                  <a:pt x="571500" y="173428"/>
                  <a:pt x="554428" y="190500"/>
                  <a:pt x="53340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8" name="Text 56"/>
          <p:cNvSpPr/>
          <p:nvPr/>
        </p:nvSpPr>
        <p:spPr>
          <a:xfrm>
            <a:off x="7706559" y="5089922"/>
            <a:ext cx="62865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955155" y="5520334"/>
            <a:ext cx="4655820" cy="998220"/>
          </a:xfrm>
          <a:custGeom>
            <a:avLst/>
            <a:gdLst/>
            <a:ahLst/>
            <a:cxnLst/>
            <a:rect l="l" t="t" r="r" b="b"/>
            <a:pathLst>
              <a:path w="4655820" h="998220">
                <a:moveTo>
                  <a:pt x="114296" y="0"/>
                </a:moveTo>
                <a:lnTo>
                  <a:pt x="4541524" y="0"/>
                </a:lnTo>
                <a:cubicBezTo>
                  <a:pt x="4604648" y="0"/>
                  <a:pt x="4655820" y="51172"/>
                  <a:pt x="4655820" y="114296"/>
                </a:cubicBezTo>
                <a:lnTo>
                  <a:pt x="4655820" y="883924"/>
                </a:lnTo>
                <a:cubicBezTo>
                  <a:pt x="4655820" y="947048"/>
                  <a:pt x="4604648" y="998220"/>
                  <a:pt x="4541524" y="998220"/>
                </a:cubicBezTo>
                <a:lnTo>
                  <a:pt x="114296" y="998220"/>
                </a:lnTo>
                <a:cubicBezTo>
                  <a:pt x="51172" y="998220"/>
                  <a:pt x="0" y="947048"/>
                  <a:pt x="0" y="883924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73265" y="5638442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Classic Load Balancer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1124724" y="5638442"/>
            <a:ext cx="361950" cy="228600"/>
          </a:xfrm>
          <a:custGeom>
            <a:avLst/>
            <a:gdLst/>
            <a:ahLst/>
            <a:cxnLst/>
            <a:rect l="l" t="t" r="r" b="b"/>
            <a:pathLst>
              <a:path w="361950" h="228600">
                <a:moveTo>
                  <a:pt x="38101" y="0"/>
                </a:moveTo>
                <a:lnTo>
                  <a:pt x="323849" y="0"/>
                </a:lnTo>
                <a:cubicBezTo>
                  <a:pt x="344892" y="0"/>
                  <a:pt x="361950" y="17058"/>
                  <a:pt x="361950" y="38101"/>
                </a:cubicBezTo>
                <a:lnTo>
                  <a:pt x="361950" y="190499"/>
                </a:lnTo>
                <a:cubicBezTo>
                  <a:pt x="361950" y="211542"/>
                  <a:pt x="344892" y="228600"/>
                  <a:pt x="32384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8F8F8F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1124724" y="5638442"/>
            <a:ext cx="41910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CLB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073265" y="5943242"/>
            <a:ext cx="448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Legacy - Layer 4/7 (Not recommended)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073265" y="6209942"/>
            <a:ext cx="742950" cy="190500"/>
          </a:xfrm>
          <a:custGeom>
            <a:avLst/>
            <a:gdLst/>
            <a:ahLst/>
            <a:cxnLst/>
            <a:rect l="l" t="t" r="r" b="b"/>
            <a:pathLst>
              <a:path w="742950" h="190500">
                <a:moveTo>
                  <a:pt x="38100" y="0"/>
                </a:moveTo>
                <a:lnTo>
                  <a:pt x="704850" y="0"/>
                </a:lnTo>
                <a:cubicBezTo>
                  <a:pt x="725878" y="0"/>
                  <a:pt x="742950" y="17072"/>
                  <a:pt x="742950" y="38100"/>
                </a:cubicBezTo>
                <a:lnTo>
                  <a:pt x="742950" y="152400"/>
                </a:lnTo>
                <a:cubicBezTo>
                  <a:pt x="742950" y="173428"/>
                  <a:pt x="725878" y="190500"/>
                  <a:pt x="704850" y="190500"/>
                </a:cubicBezTo>
                <a:lnTo>
                  <a:pt x="38100" y="190500"/>
                </a:lnTo>
                <a:cubicBezTo>
                  <a:pt x="17072" y="190500"/>
                  <a:pt x="0" y="173428"/>
                  <a:pt x="0" y="152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65" name="Text 63"/>
          <p:cNvSpPr/>
          <p:nvPr/>
        </p:nvSpPr>
        <p:spPr>
          <a:xfrm>
            <a:off x="7073265" y="6209942"/>
            <a:ext cx="800100" cy="190500"/>
          </a:xfrm>
          <a:prstGeom prst="rect">
            <a:avLst/>
          </a:prstGeom>
          <a:noFill/>
          <a:ln/>
        </p:spPr>
        <p:txBody>
          <a:bodyPr wrap="square" lIns="76200" tIns="19050" rIns="76200" bIns="1905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Deprecated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486" y="366486"/>
            <a:ext cx="1050471" cy="333829"/>
          </a:xfrm>
          <a:custGeom>
            <a:avLst/>
            <a:gdLst/>
            <a:ahLst/>
            <a:cxnLst/>
            <a:rect l="l" t="t" r="r" b="b"/>
            <a:pathLst>
              <a:path w="1050471" h="333829">
                <a:moveTo>
                  <a:pt x="166914" y="0"/>
                </a:moveTo>
                <a:lnTo>
                  <a:pt x="883557" y="0"/>
                </a:lnTo>
                <a:cubicBezTo>
                  <a:pt x="975741" y="0"/>
                  <a:pt x="1050471" y="74730"/>
                  <a:pt x="1050471" y="166914"/>
                </a:cubicBezTo>
                <a:lnTo>
                  <a:pt x="1050471" y="166914"/>
                </a:lnTo>
                <a:cubicBezTo>
                  <a:pt x="1050471" y="259099"/>
                  <a:pt x="975741" y="333829"/>
                  <a:pt x="883557" y="333829"/>
                </a:cubicBezTo>
                <a:lnTo>
                  <a:pt x="166914" y="333829"/>
                </a:lnTo>
                <a:cubicBezTo>
                  <a:pt x="74730" y="333829"/>
                  <a:pt x="0" y="259099"/>
                  <a:pt x="0" y="166914"/>
                </a:cubicBezTo>
                <a:lnTo>
                  <a:pt x="0" y="166914"/>
                </a:lnTo>
                <a:cubicBezTo>
                  <a:pt x="0" y="74730"/>
                  <a:pt x="74730" y="0"/>
                  <a:pt x="16691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3400" y="46990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7625" y="15875"/>
                </a:moveTo>
                <a:cubicBezTo>
                  <a:pt x="47625" y="11485"/>
                  <a:pt x="51172" y="7938"/>
                  <a:pt x="55563" y="7938"/>
                </a:cubicBezTo>
                <a:lnTo>
                  <a:pt x="71438" y="7938"/>
                </a:lnTo>
                <a:cubicBezTo>
                  <a:pt x="75828" y="7938"/>
                  <a:pt x="79375" y="11485"/>
                  <a:pt x="79375" y="15875"/>
                </a:cubicBezTo>
                <a:lnTo>
                  <a:pt x="79375" y="31750"/>
                </a:lnTo>
                <a:cubicBezTo>
                  <a:pt x="79375" y="36140"/>
                  <a:pt x="75828" y="39688"/>
                  <a:pt x="71438" y="39688"/>
                </a:cubicBezTo>
                <a:lnTo>
                  <a:pt x="69453" y="39688"/>
                </a:lnTo>
                <a:lnTo>
                  <a:pt x="69453" y="55563"/>
                </a:lnTo>
                <a:lnTo>
                  <a:pt x="99219" y="55563"/>
                </a:lnTo>
                <a:cubicBezTo>
                  <a:pt x="109091" y="55563"/>
                  <a:pt x="117078" y="63550"/>
                  <a:pt x="117078" y="73422"/>
                </a:cubicBezTo>
                <a:lnTo>
                  <a:pt x="117078" y="87313"/>
                </a:lnTo>
                <a:lnTo>
                  <a:pt x="119063" y="87313"/>
                </a:lnTo>
                <a:cubicBezTo>
                  <a:pt x="123453" y="87313"/>
                  <a:pt x="127000" y="90860"/>
                  <a:pt x="127000" y="95250"/>
                </a:cubicBezTo>
                <a:lnTo>
                  <a:pt x="127000" y="111125"/>
                </a:lnTo>
                <a:cubicBezTo>
                  <a:pt x="127000" y="115515"/>
                  <a:pt x="123453" y="119063"/>
                  <a:pt x="119063" y="119063"/>
                </a:cubicBezTo>
                <a:lnTo>
                  <a:pt x="103188" y="119063"/>
                </a:lnTo>
                <a:cubicBezTo>
                  <a:pt x="98797" y="119063"/>
                  <a:pt x="95250" y="115515"/>
                  <a:pt x="95250" y="111125"/>
                </a:cubicBezTo>
                <a:lnTo>
                  <a:pt x="95250" y="95250"/>
                </a:lnTo>
                <a:cubicBezTo>
                  <a:pt x="95250" y="90860"/>
                  <a:pt x="98797" y="87313"/>
                  <a:pt x="103188" y="87313"/>
                </a:cubicBezTo>
                <a:lnTo>
                  <a:pt x="105172" y="87313"/>
                </a:lnTo>
                <a:lnTo>
                  <a:pt x="105172" y="73422"/>
                </a:lnTo>
                <a:cubicBezTo>
                  <a:pt x="105172" y="70123"/>
                  <a:pt x="102518" y="67469"/>
                  <a:pt x="99219" y="67469"/>
                </a:cubicBezTo>
                <a:lnTo>
                  <a:pt x="69453" y="67469"/>
                </a:lnTo>
                <a:lnTo>
                  <a:pt x="69453" y="87313"/>
                </a:lnTo>
                <a:lnTo>
                  <a:pt x="71438" y="87313"/>
                </a:lnTo>
                <a:cubicBezTo>
                  <a:pt x="75828" y="87313"/>
                  <a:pt x="79375" y="90860"/>
                  <a:pt x="79375" y="95250"/>
                </a:cubicBezTo>
                <a:lnTo>
                  <a:pt x="79375" y="111125"/>
                </a:lnTo>
                <a:cubicBezTo>
                  <a:pt x="79375" y="115515"/>
                  <a:pt x="75828" y="119063"/>
                  <a:pt x="71438" y="119063"/>
                </a:cubicBezTo>
                <a:lnTo>
                  <a:pt x="55563" y="119063"/>
                </a:lnTo>
                <a:cubicBezTo>
                  <a:pt x="51172" y="119063"/>
                  <a:pt x="47625" y="115515"/>
                  <a:pt x="47625" y="111125"/>
                </a:cubicBezTo>
                <a:lnTo>
                  <a:pt x="47625" y="95250"/>
                </a:lnTo>
                <a:cubicBezTo>
                  <a:pt x="47625" y="90860"/>
                  <a:pt x="51172" y="87313"/>
                  <a:pt x="55563" y="87313"/>
                </a:cubicBezTo>
                <a:lnTo>
                  <a:pt x="57547" y="87313"/>
                </a:lnTo>
                <a:lnTo>
                  <a:pt x="57547" y="67469"/>
                </a:lnTo>
                <a:lnTo>
                  <a:pt x="27781" y="67469"/>
                </a:lnTo>
                <a:cubicBezTo>
                  <a:pt x="24482" y="67469"/>
                  <a:pt x="21828" y="70123"/>
                  <a:pt x="21828" y="73422"/>
                </a:cubicBezTo>
                <a:lnTo>
                  <a:pt x="21828" y="87313"/>
                </a:lnTo>
                <a:lnTo>
                  <a:pt x="23812" y="87313"/>
                </a:lnTo>
                <a:cubicBezTo>
                  <a:pt x="28203" y="87313"/>
                  <a:pt x="31750" y="90860"/>
                  <a:pt x="31750" y="95250"/>
                </a:cubicBezTo>
                <a:lnTo>
                  <a:pt x="31750" y="111125"/>
                </a:lnTo>
                <a:cubicBezTo>
                  <a:pt x="31750" y="115515"/>
                  <a:pt x="28203" y="119063"/>
                  <a:pt x="23812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95250"/>
                </a:lnTo>
                <a:cubicBezTo>
                  <a:pt x="0" y="90860"/>
                  <a:pt x="3547" y="87313"/>
                  <a:pt x="7938" y="87313"/>
                </a:cubicBezTo>
                <a:lnTo>
                  <a:pt x="9922" y="87313"/>
                </a:lnTo>
                <a:lnTo>
                  <a:pt x="9922" y="73422"/>
                </a:lnTo>
                <a:cubicBezTo>
                  <a:pt x="9922" y="63550"/>
                  <a:pt x="17909" y="55563"/>
                  <a:pt x="27781" y="55563"/>
                </a:cubicBezTo>
                <a:lnTo>
                  <a:pt x="57547" y="55563"/>
                </a:lnTo>
                <a:lnTo>
                  <a:pt x="57547" y="39688"/>
                </a:lnTo>
                <a:lnTo>
                  <a:pt x="55563" y="39688"/>
                </a:lnTo>
                <a:cubicBezTo>
                  <a:pt x="51172" y="39688"/>
                  <a:pt x="47625" y="36140"/>
                  <a:pt x="47625" y="31750"/>
                </a:cubicBezTo>
                <a:lnTo>
                  <a:pt x="47625" y="158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46579" y="442688"/>
            <a:ext cx="5896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kern="0" spc="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7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2857" y="812801"/>
            <a:ext cx="11629571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7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Load Balancer (ALB) Deep Dive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2857" y="1284515"/>
            <a:ext cx="870857" cy="36286"/>
          </a:xfrm>
          <a:custGeom>
            <a:avLst/>
            <a:gdLst/>
            <a:ahLst/>
            <a:cxnLst/>
            <a:rect l="l" t="t" r="r" b="b"/>
            <a:pathLst>
              <a:path w="870857" h="36286">
                <a:moveTo>
                  <a:pt x="0" y="0"/>
                </a:moveTo>
                <a:lnTo>
                  <a:pt x="870857" y="0"/>
                </a:lnTo>
                <a:lnTo>
                  <a:pt x="870857" y="36286"/>
                </a:lnTo>
                <a:lnTo>
                  <a:pt x="0" y="36286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66486" y="1469572"/>
            <a:ext cx="5631543" cy="2438400"/>
          </a:xfrm>
          <a:custGeom>
            <a:avLst/>
            <a:gdLst/>
            <a:ahLst/>
            <a:cxnLst/>
            <a:rect l="l" t="t" r="r" b="b"/>
            <a:pathLst>
              <a:path w="5631543" h="2438400">
                <a:moveTo>
                  <a:pt x="145134" y="0"/>
                </a:moveTo>
                <a:lnTo>
                  <a:pt x="5486409" y="0"/>
                </a:lnTo>
                <a:cubicBezTo>
                  <a:pt x="5566564" y="0"/>
                  <a:pt x="5631543" y="64979"/>
                  <a:pt x="5631543" y="145134"/>
                </a:cubicBezTo>
                <a:lnTo>
                  <a:pt x="5631543" y="2293266"/>
                </a:lnTo>
                <a:cubicBezTo>
                  <a:pt x="5631543" y="2373421"/>
                  <a:pt x="5566564" y="2438400"/>
                  <a:pt x="5486409" y="2438400"/>
                </a:cubicBezTo>
                <a:lnTo>
                  <a:pt x="145134" y="2438400"/>
                </a:lnTo>
                <a:cubicBezTo>
                  <a:pt x="64979" y="2438400"/>
                  <a:pt x="0" y="2373421"/>
                  <a:pt x="0" y="2293266"/>
                </a:cubicBezTo>
                <a:lnTo>
                  <a:pt x="0" y="145134"/>
                </a:lnTo>
                <a:cubicBezTo>
                  <a:pt x="0" y="64979"/>
                  <a:pt x="64979" y="0"/>
                  <a:pt x="14513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1543" y="1654628"/>
            <a:ext cx="53521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at Layer 7 (Application Layer)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1543" y="2017485"/>
            <a:ext cx="5334000" cy="707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3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Load Balancer</a:t>
            </a:r>
            <a:r>
              <a:rPr lang="en-US" sz="1143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functions at the application layer of the OSI model, examining HTTP/HTTPS request headers to make intelligent routing decisions. It supports advanced content-based routing capabilities.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5171" y="2873828"/>
            <a:ext cx="5259614" cy="841829"/>
          </a:xfrm>
          <a:custGeom>
            <a:avLst/>
            <a:gdLst/>
            <a:ahLst/>
            <a:cxnLst/>
            <a:rect l="l" t="t" r="r" b="b"/>
            <a:pathLst>
              <a:path w="5259614" h="841829">
                <a:moveTo>
                  <a:pt x="108857" y="0"/>
                </a:moveTo>
                <a:lnTo>
                  <a:pt x="5150757" y="0"/>
                </a:lnTo>
                <a:cubicBezTo>
                  <a:pt x="5210877" y="0"/>
                  <a:pt x="5259614" y="48737"/>
                  <a:pt x="5259614" y="108857"/>
                </a:cubicBezTo>
                <a:lnTo>
                  <a:pt x="5259614" y="732972"/>
                </a:lnTo>
                <a:cubicBezTo>
                  <a:pt x="5259614" y="793092"/>
                  <a:pt x="5210877" y="841829"/>
                  <a:pt x="5150757" y="841829"/>
                </a:cubicBezTo>
                <a:lnTo>
                  <a:pt x="108857" y="841829"/>
                </a:lnTo>
                <a:cubicBezTo>
                  <a:pt x="48737" y="841829"/>
                  <a:pt x="0" y="793092"/>
                  <a:pt x="0" y="732972"/>
                </a:cubicBezTo>
                <a:lnTo>
                  <a:pt x="0" y="108857"/>
                </a:lnTo>
                <a:cubicBezTo>
                  <a:pt x="0" y="48737"/>
                  <a:pt x="48737" y="0"/>
                  <a:pt x="10885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3943" y="3022602"/>
            <a:ext cx="5025571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Protocols: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3943" y="3276602"/>
            <a:ext cx="544286" cy="290286"/>
          </a:xfrm>
          <a:custGeom>
            <a:avLst/>
            <a:gdLst/>
            <a:ahLst/>
            <a:cxnLst/>
            <a:rect l="l" t="t" r="r" b="b"/>
            <a:pathLst>
              <a:path w="544286" h="290286">
                <a:moveTo>
                  <a:pt x="72571" y="0"/>
                </a:moveTo>
                <a:lnTo>
                  <a:pt x="471714" y="0"/>
                </a:lnTo>
                <a:cubicBezTo>
                  <a:pt x="511794" y="0"/>
                  <a:pt x="544286" y="32491"/>
                  <a:pt x="544286" y="72571"/>
                </a:cubicBezTo>
                <a:lnTo>
                  <a:pt x="544286" y="217714"/>
                </a:lnTo>
                <a:cubicBezTo>
                  <a:pt x="544286" y="257794"/>
                  <a:pt x="511794" y="290286"/>
                  <a:pt x="471714" y="290286"/>
                </a:cubicBezTo>
                <a:lnTo>
                  <a:pt x="72571" y="290286"/>
                </a:lnTo>
                <a:cubicBezTo>
                  <a:pt x="32491" y="290286"/>
                  <a:pt x="0" y="257794"/>
                  <a:pt x="0" y="21771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03943" y="3276602"/>
            <a:ext cx="607786" cy="290286"/>
          </a:xfrm>
          <a:prstGeom prst="rect">
            <a:avLst/>
          </a:prstGeom>
          <a:noFill/>
          <a:ln/>
        </p:spPr>
        <p:txBody>
          <a:bodyPr wrap="square" lIns="108857" tIns="54429" rIns="108857" bIns="54429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17625" y="3276602"/>
            <a:ext cx="616857" cy="290286"/>
          </a:xfrm>
          <a:custGeom>
            <a:avLst/>
            <a:gdLst/>
            <a:ahLst/>
            <a:cxnLst/>
            <a:rect l="l" t="t" r="r" b="b"/>
            <a:pathLst>
              <a:path w="616857" h="290286">
                <a:moveTo>
                  <a:pt x="72571" y="0"/>
                </a:moveTo>
                <a:lnTo>
                  <a:pt x="544286" y="0"/>
                </a:lnTo>
                <a:cubicBezTo>
                  <a:pt x="584366" y="0"/>
                  <a:pt x="616857" y="32491"/>
                  <a:pt x="616857" y="72571"/>
                </a:cubicBezTo>
                <a:lnTo>
                  <a:pt x="616857" y="217714"/>
                </a:lnTo>
                <a:cubicBezTo>
                  <a:pt x="616857" y="257794"/>
                  <a:pt x="584366" y="290286"/>
                  <a:pt x="544286" y="290286"/>
                </a:cubicBezTo>
                <a:lnTo>
                  <a:pt x="72571" y="290286"/>
                </a:lnTo>
                <a:cubicBezTo>
                  <a:pt x="32491" y="290286"/>
                  <a:pt x="0" y="257794"/>
                  <a:pt x="0" y="21771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317625" y="3276602"/>
            <a:ext cx="680357" cy="290286"/>
          </a:xfrm>
          <a:prstGeom prst="rect">
            <a:avLst/>
          </a:prstGeom>
          <a:noFill/>
          <a:ln/>
        </p:spPr>
        <p:txBody>
          <a:bodyPr wrap="square" lIns="108857" tIns="54429" rIns="108857" bIns="54429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009321" y="3276602"/>
            <a:ext cx="662214" cy="290286"/>
          </a:xfrm>
          <a:custGeom>
            <a:avLst/>
            <a:gdLst/>
            <a:ahLst/>
            <a:cxnLst/>
            <a:rect l="l" t="t" r="r" b="b"/>
            <a:pathLst>
              <a:path w="662214" h="290286">
                <a:moveTo>
                  <a:pt x="72571" y="0"/>
                </a:moveTo>
                <a:lnTo>
                  <a:pt x="589643" y="0"/>
                </a:lnTo>
                <a:cubicBezTo>
                  <a:pt x="629723" y="0"/>
                  <a:pt x="662214" y="32491"/>
                  <a:pt x="662214" y="72571"/>
                </a:cubicBezTo>
                <a:lnTo>
                  <a:pt x="662214" y="217714"/>
                </a:lnTo>
                <a:cubicBezTo>
                  <a:pt x="662214" y="257794"/>
                  <a:pt x="629723" y="290286"/>
                  <a:pt x="589643" y="290286"/>
                </a:cubicBezTo>
                <a:lnTo>
                  <a:pt x="72571" y="290286"/>
                </a:lnTo>
                <a:cubicBezTo>
                  <a:pt x="32491" y="290286"/>
                  <a:pt x="0" y="257794"/>
                  <a:pt x="0" y="21771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009321" y="3276602"/>
            <a:ext cx="725714" cy="290286"/>
          </a:xfrm>
          <a:prstGeom prst="rect">
            <a:avLst/>
          </a:prstGeom>
          <a:noFill/>
          <a:ln/>
        </p:spPr>
        <p:txBody>
          <a:bodyPr wrap="square" lIns="108857" tIns="54429" rIns="108857" bIns="54429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HTTP/2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2406" y="3276602"/>
            <a:ext cx="934357" cy="290286"/>
          </a:xfrm>
          <a:custGeom>
            <a:avLst/>
            <a:gdLst/>
            <a:ahLst/>
            <a:cxnLst/>
            <a:rect l="l" t="t" r="r" b="b"/>
            <a:pathLst>
              <a:path w="934357" h="290286">
                <a:moveTo>
                  <a:pt x="72571" y="0"/>
                </a:moveTo>
                <a:lnTo>
                  <a:pt x="861786" y="0"/>
                </a:lnTo>
                <a:cubicBezTo>
                  <a:pt x="901866" y="0"/>
                  <a:pt x="934357" y="32491"/>
                  <a:pt x="934357" y="72571"/>
                </a:cubicBezTo>
                <a:lnTo>
                  <a:pt x="934357" y="217714"/>
                </a:lnTo>
                <a:cubicBezTo>
                  <a:pt x="934357" y="257794"/>
                  <a:pt x="901866" y="290286"/>
                  <a:pt x="861786" y="290286"/>
                </a:cubicBezTo>
                <a:lnTo>
                  <a:pt x="72571" y="290286"/>
                </a:lnTo>
                <a:cubicBezTo>
                  <a:pt x="32491" y="290286"/>
                  <a:pt x="0" y="257794"/>
                  <a:pt x="0" y="21771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2742406" y="3276602"/>
            <a:ext cx="997857" cy="290286"/>
          </a:xfrm>
          <a:prstGeom prst="rect">
            <a:avLst/>
          </a:prstGeom>
          <a:noFill/>
          <a:ln/>
        </p:spPr>
        <p:txBody>
          <a:bodyPr wrap="square" lIns="108857" tIns="54429" rIns="108857" bIns="54429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52056" y="3276602"/>
            <a:ext cx="535214" cy="290286"/>
          </a:xfrm>
          <a:custGeom>
            <a:avLst/>
            <a:gdLst/>
            <a:ahLst/>
            <a:cxnLst/>
            <a:rect l="l" t="t" r="r" b="b"/>
            <a:pathLst>
              <a:path w="535214" h="290286">
                <a:moveTo>
                  <a:pt x="72571" y="0"/>
                </a:moveTo>
                <a:lnTo>
                  <a:pt x="462643" y="0"/>
                </a:lnTo>
                <a:cubicBezTo>
                  <a:pt x="502723" y="0"/>
                  <a:pt x="535214" y="32491"/>
                  <a:pt x="535214" y="72571"/>
                </a:cubicBezTo>
                <a:lnTo>
                  <a:pt x="535214" y="217714"/>
                </a:lnTo>
                <a:cubicBezTo>
                  <a:pt x="535214" y="257794"/>
                  <a:pt x="502723" y="290286"/>
                  <a:pt x="462643" y="290286"/>
                </a:cubicBezTo>
                <a:lnTo>
                  <a:pt x="72571" y="290286"/>
                </a:lnTo>
                <a:cubicBezTo>
                  <a:pt x="32491" y="290286"/>
                  <a:pt x="0" y="257794"/>
                  <a:pt x="0" y="217714"/>
                </a:cubicBezTo>
                <a:lnTo>
                  <a:pt x="0" y="72571"/>
                </a:lnTo>
                <a:cubicBezTo>
                  <a:pt x="0" y="32518"/>
                  <a:pt x="32518" y="0"/>
                  <a:pt x="7257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752056" y="3276602"/>
            <a:ext cx="598714" cy="290286"/>
          </a:xfrm>
          <a:prstGeom prst="rect">
            <a:avLst/>
          </a:prstGeom>
          <a:noFill/>
          <a:ln/>
        </p:spPr>
        <p:txBody>
          <a:bodyPr wrap="square" lIns="108857" tIns="54429" rIns="108857" bIns="54429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gRPC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6486" y="3991429"/>
            <a:ext cx="5631543" cy="2792186"/>
          </a:xfrm>
          <a:custGeom>
            <a:avLst/>
            <a:gdLst/>
            <a:ahLst/>
            <a:cxnLst/>
            <a:rect l="l" t="t" r="r" b="b"/>
            <a:pathLst>
              <a:path w="5631543" h="2792186">
                <a:moveTo>
                  <a:pt x="145138" y="0"/>
                </a:moveTo>
                <a:lnTo>
                  <a:pt x="5486405" y="0"/>
                </a:lnTo>
                <a:cubicBezTo>
                  <a:pt x="5566562" y="0"/>
                  <a:pt x="5631543" y="64980"/>
                  <a:pt x="5631543" y="145138"/>
                </a:cubicBezTo>
                <a:lnTo>
                  <a:pt x="5631543" y="2647048"/>
                </a:lnTo>
                <a:cubicBezTo>
                  <a:pt x="5631543" y="2727205"/>
                  <a:pt x="5566562" y="2792186"/>
                  <a:pt x="5486405" y="2792186"/>
                </a:cubicBezTo>
                <a:lnTo>
                  <a:pt x="145138" y="2792186"/>
                </a:lnTo>
                <a:cubicBezTo>
                  <a:pt x="64980" y="2792186"/>
                  <a:pt x="0" y="2727205"/>
                  <a:pt x="0" y="2647048"/>
                </a:cubicBezTo>
                <a:lnTo>
                  <a:pt x="0" y="145138"/>
                </a:lnTo>
                <a:cubicBezTo>
                  <a:pt x="0" y="64980"/>
                  <a:pt x="64980" y="0"/>
                  <a:pt x="14513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1543" y="4176484"/>
            <a:ext cx="53521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Types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5171" y="4579255"/>
            <a:ext cx="2574471" cy="950686"/>
          </a:xfrm>
          <a:custGeom>
            <a:avLst/>
            <a:gdLst/>
            <a:ahLst/>
            <a:cxnLst/>
            <a:rect l="l" t="t" r="r" b="b"/>
            <a:pathLst>
              <a:path w="2574471" h="950686">
                <a:moveTo>
                  <a:pt x="108854" y="0"/>
                </a:moveTo>
                <a:lnTo>
                  <a:pt x="2465618" y="0"/>
                </a:lnTo>
                <a:cubicBezTo>
                  <a:pt x="2525736" y="0"/>
                  <a:pt x="2574471" y="48735"/>
                  <a:pt x="2574471" y="108854"/>
                </a:cubicBezTo>
                <a:lnTo>
                  <a:pt x="2574471" y="841832"/>
                </a:lnTo>
                <a:cubicBezTo>
                  <a:pt x="2574471" y="901950"/>
                  <a:pt x="2525736" y="950686"/>
                  <a:pt x="2465618" y="950686"/>
                </a:cubicBezTo>
                <a:lnTo>
                  <a:pt x="108854" y="950686"/>
                </a:lnTo>
                <a:cubicBezTo>
                  <a:pt x="48735" y="950686"/>
                  <a:pt x="0" y="901950"/>
                  <a:pt x="0" y="841832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827" y="4755239"/>
            <a:ext cx="142875" cy="163286"/>
          </a:xfrm>
          <a:custGeom>
            <a:avLst/>
            <a:gdLst/>
            <a:ahLst/>
            <a:cxnLst/>
            <a:rect l="l" t="t" r="r" b="b"/>
            <a:pathLst>
              <a:path w="142875" h="163286">
                <a:moveTo>
                  <a:pt x="20411" y="10205"/>
                </a:moveTo>
                <a:cubicBezTo>
                  <a:pt x="9153" y="10205"/>
                  <a:pt x="0" y="19358"/>
                  <a:pt x="0" y="30616"/>
                </a:cubicBezTo>
                <a:lnTo>
                  <a:pt x="0" y="51027"/>
                </a:lnTo>
                <a:cubicBezTo>
                  <a:pt x="0" y="62285"/>
                  <a:pt x="9153" y="71438"/>
                  <a:pt x="20411" y="71438"/>
                </a:cubicBezTo>
                <a:lnTo>
                  <a:pt x="122464" y="71438"/>
                </a:lnTo>
                <a:cubicBezTo>
                  <a:pt x="133722" y="71438"/>
                  <a:pt x="142875" y="62285"/>
                  <a:pt x="142875" y="51027"/>
                </a:cubicBezTo>
                <a:lnTo>
                  <a:pt x="142875" y="30616"/>
                </a:lnTo>
                <a:cubicBezTo>
                  <a:pt x="142875" y="19358"/>
                  <a:pt x="133722" y="10205"/>
                  <a:pt x="122464" y="10205"/>
                </a:cubicBezTo>
                <a:lnTo>
                  <a:pt x="20411" y="10205"/>
                </a:lnTo>
                <a:close/>
                <a:moveTo>
                  <a:pt x="89297" y="33167"/>
                </a:moveTo>
                <a:cubicBezTo>
                  <a:pt x="93521" y="33167"/>
                  <a:pt x="96951" y="36597"/>
                  <a:pt x="96951" y="40821"/>
                </a:cubicBezTo>
                <a:cubicBezTo>
                  <a:pt x="96951" y="45046"/>
                  <a:pt x="93521" y="48475"/>
                  <a:pt x="89297" y="48475"/>
                </a:cubicBezTo>
                <a:cubicBezTo>
                  <a:pt x="85073" y="48475"/>
                  <a:pt x="81643" y="45046"/>
                  <a:pt x="81643" y="40821"/>
                </a:cubicBezTo>
                <a:cubicBezTo>
                  <a:pt x="81643" y="36597"/>
                  <a:pt x="85073" y="33167"/>
                  <a:pt x="89297" y="33167"/>
                </a:cubicBezTo>
                <a:close/>
                <a:moveTo>
                  <a:pt x="107156" y="40821"/>
                </a:moveTo>
                <a:cubicBezTo>
                  <a:pt x="107156" y="36597"/>
                  <a:pt x="110586" y="33167"/>
                  <a:pt x="114810" y="33167"/>
                </a:cubicBezTo>
                <a:cubicBezTo>
                  <a:pt x="119035" y="33167"/>
                  <a:pt x="122464" y="36597"/>
                  <a:pt x="122464" y="40821"/>
                </a:cubicBezTo>
                <a:cubicBezTo>
                  <a:pt x="122464" y="45046"/>
                  <a:pt x="119035" y="48475"/>
                  <a:pt x="114810" y="48475"/>
                </a:cubicBezTo>
                <a:cubicBezTo>
                  <a:pt x="110586" y="48475"/>
                  <a:pt x="107156" y="45046"/>
                  <a:pt x="107156" y="40821"/>
                </a:cubicBezTo>
                <a:close/>
                <a:moveTo>
                  <a:pt x="20411" y="91848"/>
                </a:moveTo>
                <a:cubicBezTo>
                  <a:pt x="9153" y="91848"/>
                  <a:pt x="0" y="101001"/>
                  <a:pt x="0" y="112259"/>
                </a:cubicBezTo>
                <a:lnTo>
                  <a:pt x="0" y="132670"/>
                </a:lnTo>
                <a:cubicBezTo>
                  <a:pt x="0" y="143927"/>
                  <a:pt x="9153" y="153080"/>
                  <a:pt x="20411" y="153080"/>
                </a:cubicBezTo>
                <a:lnTo>
                  <a:pt x="122464" y="153080"/>
                </a:lnTo>
                <a:cubicBezTo>
                  <a:pt x="133722" y="153080"/>
                  <a:pt x="142875" y="143927"/>
                  <a:pt x="142875" y="132670"/>
                </a:cubicBezTo>
                <a:lnTo>
                  <a:pt x="142875" y="112259"/>
                </a:lnTo>
                <a:cubicBezTo>
                  <a:pt x="142875" y="101001"/>
                  <a:pt x="133722" y="91848"/>
                  <a:pt x="122464" y="91848"/>
                </a:cubicBezTo>
                <a:lnTo>
                  <a:pt x="20411" y="91848"/>
                </a:lnTo>
                <a:close/>
                <a:moveTo>
                  <a:pt x="89297" y="114810"/>
                </a:moveTo>
                <a:cubicBezTo>
                  <a:pt x="93521" y="114810"/>
                  <a:pt x="96951" y="118240"/>
                  <a:pt x="96951" y="122464"/>
                </a:cubicBezTo>
                <a:cubicBezTo>
                  <a:pt x="96951" y="126689"/>
                  <a:pt x="93521" y="130118"/>
                  <a:pt x="89297" y="130118"/>
                </a:cubicBezTo>
                <a:cubicBezTo>
                  <a:pt x="85073" y="130118"/>
                  <a:pt x="81643" y="126689"/>
                  <a:pt x="81643" y="122464"/>
                </a:cubicBezTo>
                <a:cubicBezTo>
                  <a:pt x="81643" y="118240"/>
                  <a:pt x="85073" y="114810"/>
                  <a:pt x="89297" y="114810"/>
                </a:cubicBezTo>
                <a:close/>
                <a:moveTo>
                  <a:pt x="107156" y="122464"/>
                </a:moveTo>
                <a:cubicBezTo>
                  <a:pt x="107156" y="118240"/>
                  <a:pt x="110586" y="114810"/>
                  <a:pt x="114810" y="114810"/>
                </a:cubicBezTo>
                <a:cubicBezTo>
                  <a:pt x="119035" y="114810"/>
                  <a:pt x="122464" y="118240"/>
                  <a:pt x="122464" y="122464"/>
                </a:cubicBezTo>
                <a:cubicBezTo>
                  <a:pt x="122464" y="126689"/>
                  <a:pt x="119035" y="130118"/>
                  <a:pt x="114810" y="130118"/>
                </a:cubicBezTo>
                <a:cubicBezTo>
                  <a:pt x="110586" y="130118"/>
                  <a:pt x="107156" y="126689"/>
                  <a:pt x="107156" y="1224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980621" y="4728025"/>
            <a:ext cx="988786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EC2 Instances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3943" y="5018311"/>
            <a:ext cx="2340429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 by instance ID for automatic management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42129" y="4579255"/>
            <a:ext cx="2574471" cy="950686"/>
          </a:xfrm>
          <a:custGeom>
            <a:avLst/>
            <a:gdLst/>
            <a:ahLst/>
            <a:cxnLst/>
            <a:rect l="l" t="t" r="r" b="b"/>
            <a:pathLst>
              <a:path w="2574471" h="950686">
                <a:moveTo>
                  <a:pt x="108854" y="0"/>
                </a:moveTo>
                <a:lnTo>
                  <a:pt x="2465618" y="0"/>
                </a:lnTo>
                <a:cubicBezTo>
                  <a:pt x="2525736" y="0"/>
                  <a:pt x="2574471" y="48735"/>
                  <a:pt x="2574471" y="108854"/>
                </a:cubicBezTo>
                <a:lnTo>
                  <a:pt x="2574471" y="841832"/>
                </a:lnTo>
                <a:cubicBezTo>
                  <a:pt x="2574471" y="901950"/>
                  <a:pt x="2525736" y="950686"/>
                  <a:pt x="2465618" y="950686"/>
                </a:cubicBezTo>
                <a:lnTo>
                  <a:pt x="108854" y="950686"/>
                </a:lnTo>
                <a:cubicBezTo>
                  <a:pt x="48735" y="950686"/>
                  <a:pt x="0" y="901950"/>
                  <a:pt x="0" y="841832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3579" y="4755239"/>
            <a:ext cx="163286" cy="163286"/>
          </a:xfrm>
          <a:custGeom>
            <a:avLst/>
            <a:gdLst/>
            <a:ahLst/>
            <a:cxnLst/>
            <a:rect l="l" t="t" r="r" b="b"/>
            <a:pathLst>
              <a:path w="163286" h="163286">
                <a:moveTo>
                  <a:pt x="21017" y="72873"/>
                </a:moveTo>
                <a:cubicBezTo>
                  <a:pt x="25258" y="43213"/>
                  <a:pt x="50804" y="20411"/>
                  <a:pt x="81643" y="20411"/>
                </a:cubicBezTo>
                <a:cubicBezTo>
                  <a:pt x="98545" y="20411"/>
                  <a:pt x="113854" y="27267"/>
                  <a:pt x="124952" y="38334"/>
                </a:cubicBezTo>
                <a:cubicBezTo>
                  <a:pt x="125016" y="38398"/>
                  <a:pt x="125079" y="38461"/>
                  <a:pt x="125143" y="38525"/>
                </a:cubicBezTo>
                <a:lnTo>
                  <a:pt x="127567" y="40821"/>
                </a:lnTo>
                <a:lnTo>
                  <a:pt x="112291" y="40821"/>
                </a:lnTo>
                <a:cubicBezTo>
                  <a:pt x="106646" y="40821"/>
                  <a:pt x="102085" y="45382"/>
                  <a:pt x="102085" y="51027"/>
                </a:cubicBezTo>
                <a:cubicBezTo>
                  <a:pt x="102085" y="56672"/>
                  <a:pt x="106646" y="61232"/>
                  <a:pt x="112291" y="61232"/>
                </a:cubicBezTo>
                <a:lnTo>
                  <a:pt x="153112" y="61232"/>
                </a:lnTo>
                <a:cubicBezTo>
                  <a:pt x="158757" y="61232"/>
                  <a:pt x="163318" y="56672"/>
                  <a:pt x="163318" y="51027"/>
                </a:cubicBezTo>
                <a:lnTo>
                  <a:pt x="163318" y="10205"/>
                </a:lnTo>
                <a:cubicBezTo>
                  <a:pt x="163318" y="4561"/>
                  <a:pt x="158757" y="0"/>
                  <a:pt x="153112" y="0"/>
                </a:cubicBezTo>
                <a:cubicBezTo>
                  <a:pt x="147467" y="0"/>
                  <a:pt x="142907" y="4561"/>
                  <a:pt x="142907" y="10205"/>
                </a:cubicBezTo>
                <a:lnTo>
                  <a:pt x="142907" y="27236"/>
                </a:lnTo>
                <a:lnTo>
                  <a:pt x="139303" y="23823"/>
                </a:lnTo>
                <a:cubicBezTo>
                  <a:pt x="124537" y="9121"/>
                  <a:pt x="104127" y="0"/>
                  <a:pt x="81643" y="0"/>
                </a:cubicBezTo>
                <a:cubicBezTo>
                  <a:pt x="40503" y="0"/>
                  <a:pt x="6474" y="30425"/>
                  <a:pt x="829" y="70002"/>
                </a:cubicBezTo>
                <a:cubicBezTo>
                  <a:pt x="32" y="75583"/>
                  <a:pt x="3891" y="80750"/>
                  <a:pt x="9472" y="81547"/>
                </a:cubicBezTo>
                <a:cubicBezTo>
                  <a:pt x="15053" y="82344"/>
                  <a:pt x="20219" y="78454"/>
                  <a:pt x="21017" y="72905"/>
                </a:cubicBezTo>
                <a:close/>
                <a:moveTo>
                  <a:pt x="162457" y="93283"/>
                </a:moveTo>
                <a:cubicBezTo>
                  <a:pt x="163254" y="87702"/>
                  <a:pt x="159363" y="82536"/>
                  <a:pt x="153814" y="81739"/>
                </a:cubicBezTo>
                <a:cubicBezTo>
                  <a:pt x="148265" y="80941"/>
                  <a:pt x="143066" y="84832"/>
                  <a:pt x="142269" y="90381"/>
                </a:cubicBezTo>
                <a:cubicBezTo>
                  <a:pt x="138027" y="120041"/>
                  <a:pt x="112482" y="142843"/>
                  <a:pt x="81643" y="142843"/>
                </a:cubicBezTo>
                <a:cubicBezTo>
                  <a:pt x="64740" y="142843"/>
                  <a:pt x="49432" y="135986"/>
                  <a:pt x="38334" y="124920"/>
                </a:cubicBezTo>
                <a:cubicBezTo>
                  <a:pt x="38270" y="124856"/>
                  <a:pt x="38206" y="124792"/>
                  <a:pt x="38143" y="124729"/>
                </a:cubicBezTo>
                <a:lnTo>
                  <a:pt x="35719" y="122432"/>
                </a:lnTo>
                <a:lnTo>
                  <a:pt x="50995" y="122432"/>
                </a:lnTo>
                <a:cubicBezTo>
                  <a:pt x="56640" y="122432"/>
                  <a:pt x="61200" y="117872"/>
                  <a:pt x="61200" y="112227"/>
                </a:cubicBezTo>
                <a:cubicBezTo>
                  <a:pt x="61200" y="106582"/>
                  <a:pt x="56640" y="102022"/>
                  <a:pt x="50995" y="102022"/>
                </a:cubicBezTo>
                <a:lnTo>
                  <a:pt x="10205" y="102054"/>
                </a:lnTo>
                <a:cubicBezTo>
                  <a:pt x="7495" y="102054"/>
                  <a:pt x="4879" y="103138"/>
                  <a:pt x="2966" y="105083"/>
                </a:cubicBezTo>
                <a:cubicBezTo>
                  <a:pt x="1052" y="107029"/>
                  <a:pt x="-32" y="109612"/>
                  <a:pt x="0" y="112355"/>
                </a:cubicBezTo>
                <a:lnTo>
                  <a:pt x="319" y="152857"/>
                </a:lnTo>
                <a:cubicBezTo>
                  <a:pt x="351" y="158502"/>
                  <a:pt x="4975" y="163031"/>
                  <a:pt x="10620" y="162967"/>
                </a:cubicBezTo>
                <a:cubicBezTo>
                  <a:pt x="16265" y="162903"/>
                  <a:pt x="20793" y="158311"/>
                  <a:pt x="20730" y="152666"/>
                </a:cubicBezTo>
                <a:lnTo>
                  <a:pt x="20602" y="136242"/>
                </a:lnTo>
                <a:lnTo>
                  <a:pt x="24014" y="139463"/>
                </a:lnTo>
                <a:cubicBezTo>
                  <a:pt x="38780" y="154165"/>
                  <a:pt x="59159" y="163286"/>
                  <a:pt x="81643" y="163286"/>
                </a:cubicBezTo>
                <a:cubicBezTo>
                  <a:pt x="122783" y="163286"/>
                  <a:pt x="156812" y="132861"/>
                  <a:pt x="162457" y="9328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3667579" y="4728025"/>
            <a:ext cx="1070429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ECS Containers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90900" y="5018311"/>
            <a:ext cx="23404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 to containers in ECS clusters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55171" y="5646056"/>
            <a:ext cx="2574471" cy="950686"/>
          </a:xfrm>
          <a:custGeom>
            <a:avLst/>
            <a:gdLst/>
            <a:ahLst/>
            <a:cxnLst/>
            <a:rect l="l" t="t" r="r" b="b"/>
            <a:pathLst>
              <a:path w="2574471" h="950686">
                <a:moveTo>
                  <a:pt x="108854" y="0"/>
                </a:moveTo>
                <a:lnTo>
                  <a:pt x="2465618" y="0"/>
                </a:lnTo>
                <a:cubicBezTo>
                  <a:pt x="2525736" y="0"/>
                  <a:pt x="2574471" y="48735"/>
                  <a:pt x="2574471" y="108854"/>
                </a:cubicBezTo>
                <a:lnTo>
                  <a:pt x="2574471" y="841832"/>
                </a:lnTo>
                <a:cubicBezTo>
                  <a:pt x="2574471" y="901950"/>
                  <a:pt x="2525736" y="950686"/>
                  <a:pt x="2465618" y="950686"/>
                </a:cubicBezTo>
                <a:lnTo>
                  <a:pt x="108854" y="950686"/>
                </a:lnTo>
                <a:cubicBezTo>
                  <a:pt x="48735" y="950686"/>
                  <a:pt x="0" y="901950"/>
                  <a:pt x="0" y="841832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6827" y="5822040"/>
            <a:ext cx="142875" cy="163286"/>
          </a:xfrm>
          <a:custGeom>
            <a:avLst/>
            <a:gdLst/>
            <a:ahLst/>
            <a:cxnLst/>
            <a:rect l="l" t="t" r="r" b="b"/>
            <a:pathLst>
              <a:path w="142875" h="163286">
                <a:moveTo>
                  <a:pt x="108049" y="-3157"/>
                </a:moveTo>
                <a:cubicBezTo>
                  <a:pt x="111844" y="-415"/>
                  <a:pt x="113248" y="4561"/>
                  <a:pt x="111525" y="8898"/>
                </a:cubicBezTo>
                <a:lnTo>
                  <a:pt x="86522" y="71438"/>
                </a:lnTo>
                <a:lnTo>
                  <a:pt x="132670" y="71438"/>
                </a:lnTo>
                <a:cubicBezTo>
                  <a:pt x="136975" y="71438"/>
                  <a:pt x="140802" y="74116"/>
                  <a:pt x="142269" y="78167"/>
                </a:cubicBezTo>
                <a:cubicBezTo>
                  <a:pt x="143736" y="82217"/>
                  <a:pt x="142492" y="86746"/>
                  <a:pt x="139207" y="89488"/>
                </a:cubicBezTo>
                <a:lnTo>
                  <a:pt x="47359" y="166028"/>
                </a:lnTo>
                <a:cubicBezTo>
                  <a:pt x="43755" y="169026"/>
                  <a:pt x="38621" y="169186"/>
                  <a:pt x="34826" y="166443"/>
                </a:cubicBezTo>
                <a:cubicBezTo>
                  <a:pt x="31031" y="163700"/>
                  <a:pt x="29627" y="158725"/>
                  <a:pt x="31350" y="154388"/>
                </a:cubicBezTo>
                <a:lnTo>
                  <a:pt x="56353" y="91848"/>
                </a:lnTo>
                <a:lnTo>
                  <a:pt x="10205" y="91848"/>
                </a:lnTo>
                <a:cubicBezTo>
                  <a:pt x="5900" y="91848"/>
                  <a:pt x="2073" y="89169"/>
                  <a:pt x="606" y="85119"/>
                </a:cubicBezTo>
                <a:cubicBezTo>
                  <a:pt x="-861" y="81069"/>
                  <a:pt x="383" y="76540"/>
                  <a:pt x="3668" y="73797"/>
                </a:cubicBezTo>
                <a:lnTo>
                  <a:pt x="95516" y="-2743"/>
                </a:lnTo>
                <a:cubicBezTo>
                  <a:pt x="99120" y="-5741"/>
                  <a:pt x="104254" y="-5900"/>
                  <a:pt x="108049" y="-315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980621" y="5794826"/>
            <a:ext cx="1251857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Functions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3943" y="6085112"/>
            <a:ext cx="2340429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target for HTTP-triggered functions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242129" y="5646056"/>
            <a:ext cx="2574471" cy="950686"/>
          </a:xfrm>
          <a:custGeom>
            <a:avLst/>
            <a:gdLst/>
            <a:ahLst/>
            <a:cxnLst/>
            <a:rect l="l" t="t" r="r" b="b"/>
            <a:pathLst>
              <a:path w="2574471" h="950686">
                <a:moveTo>
                  <a:pt x="108854" y="0"/>
                </a:moveTo>
                <a:lnTo>
                  <a:pt x="2465618" y="0"/>
                </a:lnTo>
                <a:cubicBezTo>
                  <a:pt x="2525736" y="0"/>
                  <a:pt x="2574471" y="48735"/>
                  <a:pt x="2574471" y="108854"/>
                </a:cubicBezTo>
                <a:lnTo>
                  <a:pt x="2574471" y="841832"/>
                </a:lnTo>
                <a:cubicBezTo>
                  <a:pt x="2574471" y="901950"/>
                  <a:pt x="2525736" y="950686"/>
                  <a:pt x="2465618" y="950686"/>
                </a:cubicBezTo>
                <a:lnTo>
                  <a:pt x="108854" y="950686"/>
                </a:lnTo>
                <a:cubicBezTo>
                  <a:pt x="48735" y="950686"/>
                  <a:pt x="0" y="901950"/>
                  <a:pt x="0" y="841832"/>
                </a:cubicBezTo>
                <a:lnTo>
                  <a:pt x="0" y="108854"/>
                </a:lnTo>
                <a:cubicBezTo>
                  <a:pt x="0" y="48776"/>
                  <a:pt x="48776" y="0"/>
                  <a:pt x="108854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03373" y="5822040"/>
            <a:ext cx="183696" cy="163286"/>
          </a:xfrm>
          <a:custGeom>
            <a:avLst/>
            <a:gdLst/>
            <a:ahLst/>
            <a:cxnLst/>
            <a:rect l="l" t="t" r="r" b="b"/>
            <a:pathLst>
              <a:path w="183696" h="163286">
                <a:moveTo>
                  <a:pt x="79092" y="28065"/>
                </a:moveTo>
                <a:lnTo>
                  <a:pt x="104605" y="28065"/>
                </a:lnTo>
                <a:lnTo>
                  <a:pt x="104605" y="43373"/>
                </a:lnTo>
                <a:lnTo>
                  <a:pt x="79092" y="43373"/>
                </a:lnTo>
                <a:lnTo>
                  <a:pt x="79092" y="28065"/>
                </a:lnTo>
                <a:close/>
                <a:moveTo>
                  <a:pt x="76540" y="10205"/>
                </a:moveTo>
                <a:cubicBezTo>
                  <a:pt x="68089" y="10205"/>
                  <a:pt x="61232" y="17062"/>
                  <a:pt x="61232" y="25513"/>
                </a:cubicBezTo>
                <a:lnTo>
                  <a:pt x="61232" y="45924"/>
                </a:lnTo>
                <a:cubicBezTo>
                  <a:pt x="61232" y="54375"/>
                  <a:pt x="68089" y="61232"/>
                  <a:pt x="76540" y="61232"/>
                </a:cubicBezTo>
                <a:lnTo>
                  <a:pt x="81643" y="61232"/>
                </a:lnTo>
                <a:lnTo>
                  <a:pt x="81643" y="71438"/>
                </a:lnTo>
                <a:lnTo>
                  <a:pt x="10205" y="71438"/>
                </a:lnTo>
                <a:cubicBezTo>
                  <a:pt x="4561" y="71438"/>
                  <a:pt x="0" y="75998"/>
                  <a:pt x="0" y="81643"/>
                </a:cubicBezTo>
                <a:cubicBezTo>
                  <a:pt x="0" y="87288"/>
                  <a:pt x="4561" y="91848"/>
                  <a:pt x="10205" y="91848"/>
                </a:cubicBezTo>
                <a:lnTo>
                  <a:pt x="40821" y="91848"/>
                </a:lnTo>
                <a:lnTo>
                  <a:pt x="40821" y="102054"/>
                </a:lnTo>
                <a:lnTo>
                  <a:pt x="35719" y="102054"/>
                </a:lnTo>
                <a:cubicBezTo>
                  <a:pt x="27267" y="102054"/>
                  <a:pt x="20411" y="108910"/>
                  <a:pt x="20411" y="117362"/>
                </a:cubicBezTo>
                <a:lnTo>
                  <a:pt x="20411" y="137772"/>
                </a:lnTo>
                <a:cubicBezTo>
                  <a:pt x="20411" y="146224"/>
                  <a:pt x="27267" y="153080"/>
                  <a:pt x="35719" y="153080"/>
                </a:cubicBezTo>
                <a:lnTo>
                  <a:pt x="66335" y="153080"/>
                </a:lnTo>
                <a:cubicBezTo>
                  <a:pt x="74786" y="153080"/>
                  <a:pt x="81643" y="146224"/>
                  <a:pt x="81643" y="137772"/>
                </a:cubicBezTo>
                <a:lnTo>
                  <a:pt x="81643" y="117362"/>
                </a:lnTo>
                <a:cubicBezTo>
                  <a:pt x="81643" y="108910"/>
                  <a:pt x="74786" y="102054"/>
                  <a:pt x="66335" y="102054"/>
                </a:cubicBezTo>
                <a:lnTo>
                  <a:pt x="61232" y="102054"/>
                </a:lnTo>
                <a:lnTo>
                  <a:pt x="61232" y="91848"/>
                </a:lnTo>
                <a:lnTo>
                  <a:pt x="122464" y="91848"/>
                </a:lnTo>
                <a:lnTo>
                  <a:pt x="122464" y="102054"/>
                </a:lnTo>
                <a:lnTo>
                  <a:pt x="117362" y="102054"/>
                </a:lnTo>
                <a:cubicBezTo>
                  <a:pt x="108910" y="102054"/>
                  <a:pt x="102054" y="108910"/>
                  <a:pt x="102054" y="117362"/>
                </a:cubicBezTo>
                <a:lnTo>
                  <a:pt x="102054" y="137772"/>
                </a:lnTo>
                <a:cubicBezTo>
                  <a:pt x="102054" y="146224"/>
                  <a:pt x="108910" y="153080"/>
                  <a:pt x="117362" y="153080"/>
                </a:cubicBezTo>
                <a:lnTo>
                  <a:pt x="147978" y="153080"/>
                </a:lnTo>
                <a:cubicBezTo>
                  <a:pt x="156429" y="153080"/>
                  <a:pt x="163286" y="146224"/>
                  <a:pt x="163286" y="137772"/>
                </a:cubicBezTo>
                <a:lnTo>
                  <a:pt x="163286" y="117362"/>
                </a:lnTo>
                <a:cubicBezTo>
                  <a:pt x="163286" y="108910"/>
                  <a:pt x="156429" y="102054"/>
                  <a:pt x="147978" y="102054"/>
                </a:cubicBezTo>
                <a:lnTo>
                  <a:pt x="142875" y="102054"/>
                </a:lnTo>
                <a:lnTo>
                  <a:pt x="142875" y="91848"/>
                </a:lnTo>
                <a:lnTo>
                  <a:pt x="173491" y="91848"/>
                </a:lnTo>
                <a:cubicBezTo>
                  <a:pt x="179136" y="91848"/>
                  <a:pt x="183696" y="87288"/>
                  <a:pt x="183696" y="81643"/>
                </a:cubicBezTo>
                <a:cubicBezTo>
                  <a:pt x="183696" y="75998"/>
                  <a:pt x="179136" y="71438"/>
                  <a:pt x="173491" y="71438"/>
                </a:cubicBezTo>
                <a:lnTo>
                  <a:pt x="102054" y="71438"/>
                </a:lnTo>
                <a:lnTo>
                  <a:pt x="102054" y="61232"/>
                </a:lnTo>
                <a:lnTo>
                  <a:pt x="107156" y="61232"/>
                </a:lnTo>
                <a:cubicBezTo>
                  <a:pt x="115608" y="61232"/>
                  <a:pt x="122464" y="54375"/>
                  <a:pt x="122464" y="45924"/>
                </a:cubicBezTo>
                <a:lnTo>
                  <a:pt x="122464" y="25513"/>
                </a:lnTo>
                <a:cubicBezTo>
                  <a:pt x="122464" y="17062"/>
                  <a:pt x="115608" y="10205"/>
                  <a:pt x="107156" y="10205"/>
                </a:cubicBezTo>
                <a:lnTo>
                  <a:pt x="76540" y="10205"/>
                </a:lnTo>
                <a:close/>
                <a:moveTo>
                  <a:pt x="142875" y="119913"/>
                </a:moveTo>
                <a:lnTo>
                  <a:pt x="145426" y="119913"/>
                </a:lnTo>
                <a:lnTo>
                  <a:pt x="145426" y="135221"/>
                </a:lnTo>
                <a:lnTo>
                  <a:pt x="119913" y="135221"/>
                </a:lnTo>
                <a:lnTo>
                  <a:pt x="119913" y="119913"/>
                </a:lnTo>
                <a:lnTo>
                  <a:pt x="142875" y="119913"/>
                </a:lnTo>
                <a:close/>
                <a:moveTo>
                  <a:pt x="61232" y="119913"/>
                </a:moveTo>
                <a:lnTo>
                  <a:pt x="63783" y="119913"/>
                </a:lnTo>
                <a:lnTo>
                  <a:pt x="63783" y="135221"/>
                </a:lnTo>
                <a:lnTo>
                  <a:pt x="38270" y="135221"/>
                </a:lnTo>
                <a:lnTo>
                  <a:pt x="38270" y="119913"/>
                </a:lnTo>
                <a:lnTo>
                  <a:pt x="61232" y="11991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3667579" y="5794826"/>
            <a:ext cx="907143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Addresses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390900" y="6085112"/>
            <a:ext cx="2340429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 to private IP addresses (on-premises)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90343" y="1469572"/>
            <a:ext cx="5631543" cy="4098471"/>
          </a:xfrm>
          <a:custGeom>
            <a:avLst/>
            <a:gdLst/>
            <a:ahLst/>
            <a:cxnLst/>
            <a:rect l="l" t="t" r="r" b="b"/>
            <a:pathLst>
              <a:path w="5631543" h="4098471">
                <a:moveTo>
                  <a:pt x="145127" y="0"/>
                </a:moveTo>
                <a:lnTo>
                  <a:pt x="5486416" y="0"/>
                </a:lnTo>
                <a:cubicBezTo>
                  <a:pt x="5566567" y="0"/>
                  <a:pt x="5631543" y="64976"/>
                  <a:pt x="5631543" y="145127"/>
                </a:cubicBezTo>
                <a:lnTo>
                  <a:pt x="5631543" y="3953345"/>
                </a:lnTo>
                <a:cubicBezTo>
                  <a:pt x="5631543" y="4033496"/>
                  <a:pt x="5566567" y="4098471"/>
                  <a:pt x="5486416" y="4098471"/>
                </a:cubicBezTo>
                <a:lnTo>
                  <a:pt x="145127" y="4098471"/>
                </a:lnTo>
                <a:cubicBezTo>
                  <a:pt x="65029" y="4098471"/>
                  <a:pt x="0" y="4033442"/>
                  <a:pt x="0" y="3953345"/>
                </a:cubicBezTo>
                <a:lnTo>
                  <a:pt x="0" y="145127"/>
                </a:lnTo>
                <a:cubicBezTo>
                  <a:pt x="0" y="65029"/>
                  <a:pt x="65029" y="0"/>
                  <a:pt x="14512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75400" y="1654628"/>
            <a:ext cx="535214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Routing Capabilities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79028" y="2057399"/>
            <a:ext cx="5259614" cy="1603829"/>
          </a:xfrm>
          <a:custGeom>
            <a:avLst/>
            <a:gdLst/>
            <a:ahLst/>
            <a:cxnLst/>
            <a:rect l="l" t="t" r="r" b="b"/>
            <a:pathLst>
              <a:path w="5259614" h="1603829">
                <a:moveTo>
                  <a:pt x="108852" y="0"/>
                </a:moveTo>
                <a:lnTo>
                  <a:pt x="5150762" y="0"/>
                </a:lnTo>
                <a:cubicBezTo>
                  <a:pt x="5210880" y="0"/>
                  <a:pt x="5259614" y="48735"/>
                  <a:pt x="5259614" y="108852"/>
                </a:cubicBezTo>
                <a:lnTo>
                  <a:pt x="5259614" y="1494977"/>
                </a:lnTo>
                <a:cubicBezTo>
                  <a:pt x="5259614" y="1555094"/>
                  <a:pt x="5210880" y="1603829"/>
                  <a:pt x="5150762" y="1603829"/>
                </a:cubicBezTo>
                <a:lnTo>
                  <a:pt x="108852" y="1603829"/>
                </a:lnTo>
                <a:cubicBezTo>
                  <a:pt x="48735" y="1603829"/>
                  <a:pt x="0" y="1555094"/>
                  <a:pt x="0" y="1494977"/>
                </a:cubicBezTo>
                <a:lnTo>
                  <a:pt x="0" y="108852"/>
                </a:lnTo>
                <a:cubicBezTo>
                  <a:pt x="0" y="48775"/>
                  <a:pt x="48775" y="0"/>
                  <a:pt x="10885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50479" y="2233387"/>
            <a:ext cx="163286" cy="163286"/>
          </a:xfrm>
          <a:custGeom>
            <a:avLst/>
            <a:gdLst/>
            <a:ahLst/>
            <a:cxnLst/>
            <a:rect l="l" t="t" r="r" b="b"/>
            <a:pathLst>
              <a:path w="163286" h="163286">
                <a:moveTo>
                  <a:pt x="163286" y="30616"/>
                </a:moveTo>
                <a:cubicBezTo>
                  <a:pt x="163286" y="46626"/>
                  <a:pt x="144438" y="70513"/>
                  <a:pt x="136305" y="80048"/>
                </a:cubicBezTo>
                <a:cubicBezTo>
                  <a:pt x="135093" y="81452"/>
                  <a:pt x="133307" y="81994"/>
                  <a:pt x="131681" y="81643"/>
                </a:cubicBezTo>
                <a:lnTo>
                  <a:pt x="102054" y="81643"/>
                </a:lnTo>
                <a:cubicBezTo>
                  <a:pt x="96409" y="81643"/>
                  <a:pt x="91848" y="86203"/>
                  <a:pt x="91848" y="91848"/>
                </a:cubicBezTo>
                <a:cubicBezTo>
                  <a:pt x="91848" y="97493"/>
                  <a:pt x="96409" y="102054"/>
                  <a:pt x="102054" y="102054"/>
                </a:cubicBezTo>
                <a:lnTo>
                  <a:pt x="132670" y="102054"/>
                </a:lnTo>
                <a:cubicBezTo>
                  <a:pt x="149572" y="102054"/>
                  <a:pt x="163286" y="115767"/>
                  <a:pt x="163286" y="132670"/>
                </a:cubicBezTo>
                <a:cubicBezTo>
                  <a:pt x="163286" y="149572"/>
                  <a:pt x="149572" y="163286"/>
                  <a:pt x="132670" y="163286"/>
                </a:cubicBezTo>
                <a:lnTo>
                  <a:pt x="44521" y="163286"/>
                </a:lnTo>
                <a:cubicBezTo>
                  <a:pt x="47295" y="160128"/>
                  <a:pt x="50676" y="156078"/>
                  <a:pt x="54088" y="151550"/>
                </a:cubicBezTo>
                <a:cubicBezTo>
                  <a:pt x="56098" y="148871"/>
                  <a:pt x="58171" y="145937"/>
                  <a:pt x="60148" y="142875"/>
                </a:cubicBezTo>
                <a:lnTo>
                  <a:pt x="132670" y="142875"/>
                </a:lnTo>
                <a:cubicBezTo>
                  <a:pt x="138314" y="142875"/>
                  <a:pt x="142875" y="138314"/>
                  <a:pt x="142875" y="132670"/>
                </a:cubicBezTo>
                <a:cubicBezTo>
                  <a:pt x="142875" y="127025"/>
                  <a:pt x="138314" y="122464"/>
                  <a:pt x="132670" y="122464"/>
                </a:cubicBezTo>
                <a:lnTo>
                  <a:pt x="102054" y="122464"/>
                </a:lnTo>
                <a:cubicBezTo>
                  <a:pt x="85151" y="122464"/>
                  <a:pt x="71438" y="108751"/>
                  <a:pt x="71438" y="91848"/>
                </a:cubicBezTo>
                <a:cubicBezTo>
                  <a:pt x="71438" y="74946"/>
                  <a:pt x="85151" y="61232"/>
                  <a:pt x="102054" y="61232"/>
                </a:cubicBezTo>
                <a:lnTo>
                  <a:pt x="114746" y="61232"/>
                </a:lnTo>
                <a:cubicBezTo>
                  <a:pt x="108049" y="51186"/>
                  <a:pt x="102054" y="39641"/>
                  <a:pt x="102054" y="30616"/>
                </a:cubicBezTo>
                <a:cubicBezTo>
                  <a:pt x="102054" y="13713"/>
                  <a:pt x="115767" y="0"/>
                  <a:pt x="132670" y="0"/>
                </a:cubicBezTo>
                <a:cubicBezTo>
                  <a:pt x="149572" y="0"/>
                  <a:pt x="163286" y="13713"/>
                  <a:pt x="163286" y="30616"/>
                </a:cubicBezTo>
                <a:close/>
                <a:moveTo>
                  <a:pt x="37345" y="155983"/>
                </a:moveTo>
                <a:cubicBezTo>
                  <a:pt x="36133" y="157354"/>
                  <a:pt x="35049" y="158566"/>
                  <a:pt x="34124" y="159586"/>
                </a:cubicBezTo>
                <a:lnTo>
                  <a:pt x="33550" y="160224"/>
                </a:lnTo>
                <a:lnTo>
                  <a:pt x="33486" y="160160"/>
                </a:lnTo>
                <a:cubicBezTo>
                  <a:pt x="31573" y="161627"/>
                  <a:pt x="28830" y="161436"/>
                  <a:pt x="27108" y="159586"/>
                </a:cubicBezTo>
                <a:cubicBezTo>
                  <a:pt x="19071" y="150848"/>
                  <a:pt x="0" y="128364"/>
                  <a:pt x="0" y="112259"/>
                </a:cubicBezTo>
                <a:cubicBezTo>
                  <a:pt x="0" y="95356"/>
                  <a:pt x="13713" y="81643"/>
                  <a:pt x="30616" y="81643"/>
                </a:cubicBezTo>
                <a:cubicBezTo>
                  <a:pt x="47519" y="81643"/>
                  <a:pt x="61232" y="95356"/>
                  <a:pt x="61232" y="112259"/>
                </a:cubicBezTo>
                <a:cubicBezTo>
                  <a:pt x="61232" y="121826"/>
                  <a:pt x="54503" y="133626"/>
                  <a:pt x="47359" y="143481"/>
                </a:cubicBezTo>
                <a:cubicBezTo>
                  <a:pt x="43947" y="148169"/>
                  <a:pt x="40439" y="152411"/>
                  <a:pt x="37537" y="155759"/>
                </a:cubicBezTo>
                <a:lnTo>
                  <a:pt x="37345" y="155983"/>
                </a:lnTo>
                <a:close/>
                <a:moveTo>
                  <a:pt x="40821" y="112259"/>
                </a:moveTo>
                <a:cubicBezTo>
                  <a:pt x="40821" y="106626"/>
                  <a:pt x="36249" y="102054"/>
                  <a:pt x="30616" y="102054"/>
                </a:cubicBezTo>
                <a:cubicBezTo>
                  <a:pt x="24984" y="102054"/>
                  <a:pt x="20411" y="106626"/>
                  <a:pt x="20411" y="112259"/>
                </a:cubicBezTo>
                <a:cubicBezTo>
                  <a:pt x="20411" y="117891"/>
                  <a:pt x="24984" y="122464"/>
                  <a:pt x="30616" y="122464"/>
                </a:cubicBezTo>
                <a:cubicBezTo>
                  <a:pt x="36249" y="122464"/>
                  <a:pt x="40821" y="117891"/>
                  <a:pt x="40821" y="112259"/>
                </a:cubicBezTo>
                <a:close/>
                <a:moveTo>
                  <a:pt x="132670" y="40821"/>
                </a:moveTo>
                <a:cubicBezTo>
                  <a:pt x="138302" y="40821"/>
                  <a:pt x="142875" y="36249"/>
                  <a:pt x="142875" y="30616"/>
                </a:cubicBezTo>
                <a:cubicBezTo>
                  <a:pt x="142875" y="24984"/>
                  <a:pt x="138302" y="20411"/>
                  <a:pt x="132670" y="20411"/>
                </a:cubicBezTo>
                <a:cubicBezTo>
                  <a:pt x="127037" y="20411"/>
                  <a:pt x="122464" y="24984"/>
                  <a:pt x="122464" y="30616"/>
                </a:cubicBezTo>
                <a:cubicBezTo>
                  <a:pt x="122464" y="36249"/>
                  <a:pt x="127037" y="40821"/>
                  <a:pt x="132670" y="4082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6804479" y="2206173"/>
            <a:ext cx="13425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Path-Based Routing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27800" y="2496459"/>
            <a:ext cx="5025571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 based on URL path patterns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27800" y="2750459"/>
            <a:ext cx="4962071" cy="762000"/>
          </a:xfrm>
          <a:custGeom>
            <a:avLst/>
            <a:gdLst/>
            <a:ahLst/>
            <a:cxnLst/>
            <a:rect l="l" t="t" r="r" b="b"/>
            <a:pathLst>
              <a:path w="4962071" h="762000">
                <a:moveTo>
                  <a:pt x="72573" y="0"/>
                </a:moveTo>
                <a:lnTo>
                  <a:pt x="4889499" y="0"/>
                </a:lnTo>
                <a:cubicBezTo>
                  <a:pt x="4929579" y="0"/>
                  <a:pt x="4962071" y="32492"/>
                  <a:pt x="4962071" y="72573"/>
                </a:cubicBezTo>
                <a:lnTo>
                  <a:pt x="4962071" y="689427"/>
                </a:lnTo>
                <a:cubicBezTo>
                  <a:pt x="4962071" y="729508"/>
                  <a:pt x="4929579" y="762000"/>
                  <a:pt x="4889499" y="762000"/>
                </a:cubicBezTo>
                <a:lnTo>
                  <a:pt x="72573" y="762000"/>
                </a:lnTo>
                <a:cubicBezTo>
                  <a:pt x="32492" y="762000"/>
                  <a:pt x="0" y="729508"/>
                  <a:pt x="0" y="689427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6600372" y="2823030"/>
            <a:ext cx="3719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/api/*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615045" y="2823030"/>
            <a:ext cx="8617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API Servers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00372" y="3040745"/>
            <a:ext cx="4172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/app/*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578987" y="3040745"/>
            <a:ext cx="898071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App Servers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600372" y="3258459"/>
            <a:ext cx="553357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/admin/*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444616" y="3258459"/>
            <a:ext cx="10341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Admin Servers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79028" y="3777343"/>
            <a:ext cx="5259614" cy="1603829"/>
          </a:xfrm>
          <a:custGeom>
            <a:avLst/>
            <a:gdLst/>
            <a:ahLst/>
            <a:cxnLst/>
            <a:rect l="l" t="t" r="r" b="b"/>
            <a:pathLst>
              <a:path w="5259614" h="1603829">
                <a:moveTo>
                  <a:pt x="108852" y="0"/>
                </a:moveTo>
                <a:lnTo>
                  <a:pt x="5150762" y="0"/>
                </a:lnTo>
                <a:cubicBezTo>
                  <a:pt x="5210880" y="0"/>
                  <a:pt x="5259614" y="48735"/>
                  <a:pt x="5259614" y="108852"/>
                </a:cubicBezTo>
                <a:lnTo>
                  <a:pt x="5259614" y="1494977"/>
                </a:lnTo>
                <a:cubicBezTo>
                  <a:pt x="5259614" y="1555094"/>
                  <a:pt x="5210880" y="1603829"/>
                  <a:pt x="5150762" y="1603829"/>
                </a:cubicBezTo>
                <a:lnTo>
                  <a:pt x="108852" y="1603829"/>
                </a:lnTo>
                <a:cubicBezTo>
                  <a:pt x="48735" y="1603829"/>
                  <a:pt x="0" y="1555094"/>
                  <a:pt x="0" y="1494977"/>
                </a:cubicBezTo>
                <a:lnTo>
                  <a:pt x="0" y="108852"/>
                </a:lnTo>
                <a:cubicBezTo>
                  <a:pt x="0" y="48775"/>
                  <a:pt x="48775" y="0"/>
                  <a:pt x="10885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50479" y="3953331"/>
            <a:ext cx="163286" cy="163286"/>
          </a:xfrm>
          <a:custGeom>
            <a:avLst/>
            <a:gdLst/>
            <a:ahLst/>
            <a:cxnLst/>
            <a:rect l="l" t="t" r="r" b="b"/>
            <a:pathLst>
              <a:path w="163286" h="163286">
                <a:moveTo>
                  <a:pt x="112227" y="89297"/>
                </a:moveTo>
                <a:lnTo>
                  <a:pt x="51346" y="89297"/>
                </a:lnTo>
                <a:cubicBezTo>
                  <a:pt x="52271" y="109867"/>
                  <a:pt x="56831" y="128811"/>
                  <a:pt x="63305" y="142684"/>
                </a:cubicBezTo>
                <a:cubicBezTo>
                  <a:pt x="66941" y="150497"/>
                  <a:pt x="70863" y="156014"/>
                  <a:pt x="74499" y="159395"/>
                </a:cubicBezTo>
                <a:cubicBezTo>
                  <a:pt x="78071" y="162744"/>
                  <a:pt x="80527" y="163286"/>
                  <a:pt x="81802" y="163286"/>
                </a:cubicBezTo>
                <a:cubicBezTo>
                  <a:pt x="83078" y="163286"/>
                  <a:pt x="85534" y="162744"/>
                  <a:pt x="89106" y="159395"/>
                </a:cubicBezTo>
                <a:cubicBezTo>
                  <a:pt x="92741" y="156014"/>
                  <a:pt x="96664" y="150465"/>
                  <a:pt x="100300" y="142684"/>
                </a:cubicBezTo>
                <a:cubicBezTo>
                  <a:pt x="106774" y="128811"/>
                  <a:pt x="111334" y="109867"/>
                  <a:pt x="112259" y="89297"/>
                </a:cubicBezTo>
                <a:close/>
                <a:moveTo>
                  <a:pt x="51314" y="73989"/>
                </a:moveTo>
                <a:lnTo>
                  <a:pt x="112195" y="73989"/>
                </a:lnTo>
                <a:cubicBezTo>
                  <a:pt x="111302" y="53419"/>
                  <a:pt x="106742" y="34475"/>
                  <a:pt x="100268" y="20602"/>
                </a:cubicBezTo>
                <a:cubicBezTo>
                  <a:pt x="96632" y="12820"/>
                  <a:pt x="92709" y="7271"/>
                  <a:pt x="89074" y="3891"/>
                </a:cubicBezTo>
                <a:cubicBezTo>
                  <a:pt x="85502" y="542"/>
                  <a:pt x="83046" y="0"/>
                  <a:pt x="81770" y="0"/>
                </a:cubicBezTo>
                <a:cubicBezTo>
                  <a:pt x="80495" y="0"/>
                  <a:pt x="78039" y="542"/>
                  <a:pt x="74467" y="3891"/>
                </a:cubicBezTo>
                <a:cubicBezTo>
                  <a:pt x="70832" y="7271"/>
                  <a:pt x="66909" y="12820"/>
                  <a:pt x="63273" y="20602"/>
                </a:cubicBezTo>
                <a:cubicBezTo>
                  <a:pt x="56799" y="34475"/>
                  <a:pt x="52239" y="53419"/>
                  <a:pt x="51314" y="73989"/>
                </a:cubicBezTo>
                <a:close/>
                <a:moveTo>
                  <a:pt x="36006" y="73989"/>
                </a:moveTo>
                <a:cubicBezTo>
                  <a:pt x="37122" y="46690"/>
                  <a:pt x="44170" y="21336"/>
                  <a:pt x="54471" y="4688"/>
                </a:cubicBezTo>
                <a:cubicBezTo>
                  <a:pt x="25099" y="15085"/>
                  <a:pt x="3476" y="41842"/>
                  <a:pt x="478" y="73989"/>
                </a:cubicBezTo>
                <a:lnTo>
                  <a:pt x="36006" y="73989"/>
                </a:lnTo>
                <a:close/>
                <a:moveTo>
                  <a:pt x="478" y="89297"/>
                </a:moveTo>
                <a:cubicBezTo>
                  <a:pt x="3476" y="121444"/>
                  <a:pt x="25099" y="148201"/>
                  <a:pt x="54471" y="158598"/>
                </a:cubicBezTo>
                <a:cubicBezTo>
                  <a:pt x="44170" y="141950"/>
                  <a:pt x="37122" y="116596"/>
                  <a:pt x="36006" y="89297"/>
                </a:cubicBezTo>
                <a:lnTo>
                  <a:pt x="478" y="89297"/>
                </a:lnTo>
                <a:close/>
                <a:moveTo>
                  <a:pt x="127535" y="89297"/>
                </a:moveTo>
                <a:cubicBezTo>
                  <a:pt x="126419" y="116596"/>
                  <a:pt x="119371" y="141950"/>
                  <a:pt x="109070" y="158598"/>
                </a:cubicBezTo>
                <a:cubicBezTo>
                  <a:pt x="138442" y="148169"/>
                  <a:pt x="160065" y="121444"/>
                  <a:pt x="163062" y="89297"/>
                </a:cubicBezTo>
                <a:lnTo>
                  <a:pt x="127535" y="89297"/>
                </a:lnTo>
                <a:close/>
                <a:moveTo>
                  <a:pt x="163062" y="73989"/>
                </a:moveTo>
                <a:cubicBezTo>
                  <a:pt x="160065" y="41842"/>
                  <a:pt x="138442" y="15085"/>
                  <a:pt x="109070" y="4688"/>
                </a:cubicBezTo>
                <a:cubicBezTo>
                  <a:pt x="119371" y="21336"/>
                  <a:pt x="126419" y="46690"/>
                  <a:pt x="127535" y="73989"/>
                </a:cubicBezTo>
                <a:lnTo>
                  <a:pt x="163062" y="7398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6804479" y="3926117"/>
            <a:ext cx="1360714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Host-Based Routing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527800" y="4216403"/>
            <a:ext cx="5025571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 based on Host header (domain name)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527800" y="4470403"/>
            <a:ext cx="4962071" cy="762000"/>
          </a:xfrm>
          <a:custGeom>
            <a:avLst/>
            <a:gdLst/>
            <a:ahLst/>
            <a:cxnLst/>
            <a:rect l="l" t="t" r="r" b="b"/>
            <a:pathLst>
              <a:path w="4962071" h="762000">
                <a:moveTo>
                  <a:pt x="72573" y="0"/>
                </a:moveTo>
                <a:lnTo>
                  <a:pt x="4889499" y="0"/>
                </a:lnTo>
                <a:cubicBezTo>
                  <a:pt x="4929579" y="0"/>
                  <a:pt x="4962071" y="32492"/>
                  <a:pt x="4962071" y="72573"/>
                </a:cubicBezTo>
                <a:lnTo>
                  <a:pt x="4962071" y="689427"/>
                </a:lnTo>
                <a:cubicBezTo>
                  <a:pt x="4962071" y="729508"/>
                  <a:pt x="4929579" y="762000"/>
                  <a:pt x="4889499" y="762000"/>
                </a:cubicBezTo>
                <a:lnTo>
                  <a:pt x="72573" y="762000"/>
                </a:lnTo>
                <a:cubicBezTo>
                  <a:pt x="32492" y="762000"/>
                  <a:pt x="0" y="729508"/>
                  <a:pt x="0" y="689427"/>
                </a:cubicBezTo>
                <a:lnTo>
                  <a:pt x="0" y="72573"/>
                </a:lnTo>
                <a:cubicBezTo>
                  <a:pt x="0" y="32519"/>
                  <a:pt x="32519" y="0"/>
                  <a:pt x="72573" y="0"/>
                </a:cubicBezTo>
                <a:close/>
              </a:path>
            </a:pathLst>
          </a:custGeom>
          <a:solidFill>
            <a:srgbClr val="262626"/>
          </a:solidFill>
          <a:ln/>
        </p:spPr>
      </p:sp>
      <p:sp>
        <p:nvSpPr>
          <p:cNvPr id="58" name="Text 56"/>
          <p:cNvSpPr/>
          <p:nvPr/>
        </p:nvSpPr>
        <p:spPr>
          <a:xfrm>
            <a:off x="6600372" y="4542974"/>
            <a:ext cx="1006929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api.example.com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067710" y="4542974"/>
            <a:ext cx="408214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API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600372" y="4760688"/>
            <a:ext cx="1052286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app.example.com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031651" y="4760688"/>
            <a:ext cx="444500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App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600372" y="4978403"/>
            <a:ext cx="1088571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*.api.example.com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567761" y="4978403"/>
            <a:ext cx="907143" cy="181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→ Multi-tenant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190343" y="5722256"/>
            <a:ext cx="5631543" cy="950686"/>
          </a:xfrm>
          <a:custGeom>
            <a:avLst/>
            <a:gdLst/>
            <a:ahLst/>
            <a:cxnLst/>
            <a:rect l="l" t="t" r="r" b="b"/>
            <a:pathLst>
              <a:path w="5631543" h="950686">
                <a:moveTo>
                  <a:pt x="145141" y="0"/>
                </a:moveTo>
                <a:lnTo>
                  <a:pt x="5486402" y="0"/>
                </a:lnTo>
                <a:cubicBezTo>
                  <a:pt x="5566561" y="0"/>
                  <a:pt x="5631543" y="64982"/>
                  <a:pt x="5631543" y="145141"/>
                </a:cubicBezTo>
                <a:lnTo>
                  <a:pt x="5631543" y="805545"/>
                </a:lnTo>
                <a:cubicBezTo>
                  <a:pt x="5631543" y="885704"/>
                  <a:pt x="5566561" y="950686"/>
                  <a:pt x="5486402" y="950686"/>
                </a:cubicBezTo>
                <a:lnTo>
                  <a:pt x="145141" y="950686"/>
                </a:lnTo>
                <a:cubicBezTo>
                  <a:pt x="64982" y="950686"/>
                  <a:pt x="0" y="885704"/>
                  <a:pt x="0" y="805545"/>
                </a:cubicBezTo>
                <a:lnTo>
                  <a:pt x="0" y="145141"/>
                </a:lnTo>
                <a:cubicBezTo>
                  <a:pt x="0" y="65036"/>
                  <a:pt x="65036" y="0"/>
                  <a:pt x="14514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39114" y="5871030"/>
            <a:ext cx="5406571" cy="2177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Microservices Architecture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39114" y="6161316"/>
            <a:ext cx="5397500" cy="362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ALB is ideal for microservices, enabling a single entry point to route traffic to different services based on path, host, or headers. Supports dynamic service discovery and canary deployments.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5637" y="355637"/>
            <a:ext cx="1028177" cy="323946"/>
          </a:xfrm>
          <a:custGeom>
            <a:avLst/>
            <a:gdLst/>
            <a:ahLst/>
            <a:cxnLst/>
            <a:rect l="l" t="t" r="r" b="b"/>
            <a:pathLst>
              <a:path w="1028177" h="323946">
                <a:moveTo>
                  <a:pt x="161973" y="0"/>
                </a:moveTo>
                <a:lnTo>
                  <a:pt x="866204" y="0"/>
                </a:lnTo>
                <a:cubicBezTo>
                  <a:pt x="955659" y="0"/>
                  <a:pt x="1028177" y="72518"/>
                  <a:pt x="1028177" y="161973"/>
                </a:cubicBezTo>
                <a:lnTo>
                  <a:pt x="1028177" y="161973"/>
                </a:lnTo>
                <a:cubicBezTo>
                  <a:pt x="1028177" y="251428"/>
                  <a:pt x="955659" y="323946"/>
                  <a:pt x="866204" y="323946"/>
                </a:cubicBezTo>
                <a:lnTo>
                  <a:pt x="161973" y="323946"/>
                </a:lnTo>
                <a:cubicBezTo>
                  <a:pt x="72578" y="323946"/>
                  <a:pt x="0" y="251369"/>
                  <a:pt x="0" y="161973"/>
                </a:cubicBezTo>
                <a:lnTo>
                  <a:pt x="0" y="161973"/>
                </a:lnTo>
                <a:cubicBezTo>
                  <a:pt x="0" y="72578"/>
                  <a:pt x="72578" y="0"/>
                  <a:pt x="16197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5312" y="455992"/>
            <a:ext cx="107835" cy="123240"/>
          </a:xfrm>
          <a:custGeom>
            <a:avLst/>
            <a:gdLst/>
            <a:ahLst/>
            <a:cxnLst/>
            <a:rect l="l" t="t" r="r" b="b"/>
            <a:pathLst>
              <a:path w="107835" h="123240">
                <a:moveTo>
                  <a:pt x="81551" y="-2383"/>
                </a:moveTo>
                <a:cubicBezTo>
                  <a:pt x="84415" y="-313"/>
                  <a:pt x="85474" y="3442"/>
                  <a:pt x="84174" y="6716"/>
                </a:cubicBezTo>
                <a:lnTo>
                  <a:pt x="65303" y="53918"/>
                </a:lnTo>
                <a:lnTo>
                  <a:pt x="100133" y="53918"/>
                </a:lnTo>
                <a:cubicBezTo>
                  <a:pt x="103382" y="53918"/>
                  <a:pt x="106271" y="55940"/>
                  <a:pt x="107378" y="58997"/>
                </a:cubicBezTo>
                <a:cubicBezTo>
                  <a:pt x="108485" y="62053"/>
                  <a:pt x="107547" y="65471"/>
                  <a:pt x="105067" y="67542"/>
                </a:cubicBezTo>
                <a:lnTo>
                  <a:pt x="35745" y="125310"/>
                </a:lnTo>
                <a:cubicBezTo>
                  <a:pt x="33025" y="127573"/>
                  <a:pt x="29149" y="127693"/>
                  <a:pt x="26285" y="125623"/>
                </a:cubicBezTo>
                <a:cubicBezTo>
                  <a:pt x="23420" y="123553"/>
                  <a:pt x="22361" y="119798"/>
                  <a:pt x="23661" y="116525"/>
                </a:cubicBezTo>
                <a:lnTo>
                  <a:pt x="42532" y="69323"/>
                </a:lnTo>
                <a:lnTo>
                  <a:pt x="7703" y="69323"/>
                </a:lnTo>
                <a:cubicBezTo>
                  <a:pt x="4453" y="69323"/>
                  <a:pt x="1565" y="67301"/>
                  <a:pt x="457" y="64244"/>
                </a:cubicBezTo>
                <a:cubicBezTo>
                  <a:pt x="-650" y="61187"/>
                  <a:pt x="289" y="57769"/>
                  <a:pt x="2768" y="55699"/>
                </a:cubicBezTo>
                <a:lnTo>
                  <a:pt x="72091" y="-2070"/>
                </a:lnTo>
                <a:cubicBezTo>
                  <a:pt x="74811" y="-4333"/>
                  <a:pt x="78686" y="-4453"/>
                  <a:pt x="81551" y="-238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24478" y="429584"/>
            <a:ext cx="580991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kern="0" spc="4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Layer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52116" y="788740"/>
            <a:ext cx="11646221" cy="352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9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Load Balancer (NLB) Deep Dive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52116" y="1246490"/>
            <a:ext cx="845077" cy="35212"/>
          </a:xfrm>
          <a:custGeom>
            <a:avLst/>
            <a:gdLst/>
            <a:ahLst/>
            <a:cxnLst/>
            <a:rect l="l" t="t" r="r" b="b"/>
            <a:pathLst>
              <a:path w="845077" h="35212">
                <a:moveTo>
                  <a:pt x="0" y="0"/>
                </a:moveTo>
                <a:lnTo>
                  <a:pt x="845077" y="0"/>
                </a:lnTo>
                <a:lnTo>
                  <a:pt x="845077" y="35212"/>
                </a:lnTo>
                <a:lnTo>
                  <a:pt x="0" y="35212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55637" y="1426069"/>
            <a:ext cx="5649694" cy="2366216"/>
          </a:xfrm>
          <a:custGeom>
            <a:avLst/>
            <a:gdLst/>
            <a:ahLst/>
            <a:cxnLst/>
            <a:rect l="l" t="t" r="r" b="b"/>
            <a:pathLst>
              <a:path w="5649694" h="2366216">
                <a:moveTo>
                  <a:pt x="140837" y="0"/>
                </a:moveTo>
                <a:lnTo>
                  <a:pt x="5508856" y="0"/>
                </a:lnTo>
                <a:cubicBezTo>
                  <a:pt x="5586639" y="0"/>
                  <a:pt x="5649694" y="63055"/>
                  <a:pt x="5649694" y="140837"/>
                </a:cubicBezTo>
                <a:lnTo>
                  <a:pt x="5649694" y="2225379"/>
                </a:lnTo>
                <a:cubicBezTo>
                  <a:pt x="5649694" y="2303161"/>
                  <a:pt x="5586639" y="2366216"/>
                  <a:pt x="5508856" y="2366216"/>
                </a:cubicBezTo>
                <a:lnTo>
                  <a:pt x="140837" y="2366216"/>
                </a:lnTo>
                <a:cubicBezTo>
                  <a:pt x="63055" y="2366216"/>
                  <a:pt x="0" y="2303161"/>
                  <a:pt x="0" y="2225379"/>
                </a:cubicBezTo>
                <a:lnTo>
                  <a:pt x="0" y="140837"/>
                </a:lnTo>
                <a:cubicBezTo>
                  <a:pt x="0" y="63107"/>
                  <a:pt x="63107" y="0"/>
                  <a:pt x="14083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5216" y="1605646"/>
            <a:ext cx="537856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at Layer 4 (Transport Layer)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5216" y="1957761"/>
            <a:ext cx="5360959" cy="686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Load Balancer</a:t>
            </a:r>
            <a:r>
              <a:rPr lang="en-US" sz="110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operates at the connection level, handling TCP, UDP, and TLS traffic with extreme performance. It uses a flow hash algorithm to route connections consistently.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8737" y="2788754"/>
            <a:ext cx="5279972" cy="816908"/>
          </a:xfrm>
          <a:custGeom>
            <a:avLst/>
            <a:gdLst/>
            <a:ahLst/>
            <a:cxnLst/>
            <a:rect l="l" t="t" r="r" b="b"/>
            <a:pathLst>
              <a:path w="5279972" h="816908">
                <a:moveTo>
                  <a:pt x="105634" y="0"/>
                </a:moveTo>
                <a:lnTo>
                  <a:pt x="5174338" y="0"/>
                </a:lnTo>
                <a:cubicBezTo>
                  <a:pt x="5232678" y="0"/>
                  <a:pt x="5279972" y="47294"/>
                  <a:pt x="5279972" y="105634"/>
                </a:cubicBezTo>
                <a:lnTo>
                  <a:pt x="5279972" y="711274"/>
                </a:lnTo>
                <a:cubicBezTo>
                  <a:pt x="5279972" y="769614"/>
                  <a:pt x="5232678" y="816908"/>
                  <a:pt x="5174338" y="816908"/>
                </a:cubicBezTo>
                <a:lnTo>
                  <a:pt x="105634" y="816908"/>
                </a:lnTo>
                <a:cubicBezTo>
                  <a:pt x="47294" y="816908"/>
                  <a:pt x="0" y="769614"/>
                  <a:pt x="0" y="711274"/>
                </a:cubicBezTo>
                <a:lnTo>
                  <a:pt x="0" y="105634"/>
                </a:lnTo>
                <a:cubicBezTo>
                  <a:pt x="0" y="47294"/>
                  <a:pt x="47294" y="0"/>
                  <a:pt x="105634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104" y="2933124"/>
            <a:ext cx="5052858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Supported Protocols: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3104" y="3179605"/>
            <a:ext cx="448947" cy="281692"/>
          </a:xfrm>
          <a:custGeom>
            <a:avLst/>
            <a:gdLst/>
            <a:ahLst/>
            <a:cxnLst/>
            <a:rect l="l" t="t" r="r" b="b"/>
            <a:pathLst>
              <a:path w="448947" h="281692">
                <a:moveTo>
                  <a:pt x="70423" y="0"/>
                </a:moveTo>
                <a:lnTo>
                  <a:pt x="378524" y="0"/>
                </a:lnTo>
                <a:cubicBezTo>
                  <a:pt x="417418" y="0"/>
                  <a:pt x="448947" y="31529"/>
                  <a:pt x="448947" y="70423"/>
                </a:cubicBezTo>
                <a:lnTo>
                  <a:pt x="448947" y="211269"/>
                </a:lnTo>
                <a:cubicBezTo>
                  <a:pt x="448947" y="250163"/>
                  <a:pt x="417418" y="281692"/>
                  <a:pt x="378524" y="281692"/>
                </a:cubicBezTo>
                <a:lnTo>
                  <a:pt x="70423" y="281692"/>
                </a:lnTo>
                <a:cubicBezTo>
                  <a:pt x="31529" y="281692"/>
                  <a:pt x="0" y="250163"/>
                  <a:pt x="0" y="211269"/>
                </a:cubicBezTo>
                <a:lnTo>
                  <a:pt x="0" y="70423"/>
                </a:lnTo>
                <a:cubicBezTo>
                  <a:pt x="0" y="31556"/>
                  <a:pt x="31556" y="0"/>
                  <a:pt x="704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83104" y="3179605"/>
            <a:ext cx="510568" cy="281692"/>
          </a:xfrm>
          <a:prstGeom prst="rect">
            <a:avLst/>
          </a:prstGeom>
          <a:noFill/>
          <a:ln/>
        </p:spPr>
        <p:txBody>
          <a:bodyPr wrap="square" lIns="105635" tIns="52817" rIns="105635" bIns="52817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99724" y="3179605"/>
            <a:ext cx="457750" cy="281692"/>
          </a:xfrm>
          <a:custGeom>
            <a:avLst/>
            <a:gdLst/>
            <a:ahLst/>
            <a:cxnLst/>
            <a:rect l="l" t="t" r="r" b="b"/>
            <a:pathLst>
              <a:path w="457750" h="281692">
                <a:moveTo>
                  <a:pt x="70423" y="0"/>
                </a:moveTo>
                <a:lnTo>
                  <a:pt x="387327" y="0"/>
                </a:lnTo>
                <a:cubicBezTo>
                  <a:pt x="426221" y="0"/>
                  <a:pt x="457750" y="31529"/>
                  <a:pt x="457750" y="70423"/>
                </a:cubicBezTo>
                <a:lnTo>
                  <a:pt x="457750" y="211269"/>
                </a:lnTo>
                <a:cubicBezTo>
                  <a:pt x="457750" y="250163"/>
                  <a:pt x="426221" y="281692"/>
                  <a:pt x="387327" y="281692"/>
                </a:cubicBezTo>
                <a:lnTo>
                  <a:pt x="70423" y="281692"/>
                </a:lnTo>
                <a:cubicBezTo>
                  <a:pt x="31529" y="281692"/>
                  <a:pt x="0" y="250163"/>
                  <a:pt x="0" y="211269"/>
                </a:cubicBezTo>
                <a:lnTo>
                  <a:pt x="0" y="70423"/>
                </a:lnTo>
                <a:cubicBezTo>
                  <a:pt x="0" y="31556"/>
                  <a:pt x="31556" y="0"/>
                  <a:pt x="704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199724" y="3179605"/>
            <a:ext cx="519370" cy="281692"/>
          </a:xfrm>
          <a:prstGeom prst="rect">
            <a:avLst/>
          </a:prstGeom>
          <a:noFill/>
          <a:ln/>
        </p:spPr>
        <p:txBody>
          <a:bodyPr wrap="square" lIns="105635" tIns="52817" rIns="105635" bIns="52817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UDP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729437" y="3179605"/>
            <a:ext cx="431342" cy="281692"/>
          </a:xfrm>
          <a:custGeom>
            <a:avLst/>
            <a:gdLst/>
            <a:ahLst/>
            <a:cxnLst/>
            <a:rect l="l" t="t" r="r" b="b"/>
            <a:pathLst>
              <a:path w="431342" h="281692">
                <a:moveTo>
                  <a:pt x="70423" y="0"/>
                </a:moveTo>
                <a:lnTo>
                  <a:pt x="360918" y="0"/>
                </a:lnTo>
                <a:cubicBezTo>
                  <a:pt x="399812" y="0"/>
                  <a:pt x="431342" y="31529"/>
                  <a:pt x="431342" y="70423"/>
                </a:cubicBezTo>
                <a:lnTo>
                  <a:pt x="431342" y="211269"/>
                </a:lnTo>
                <a:cubicBezTo>
                  <a:pt x="431342" y="250163"/>
                  <a:pt x="399812" y="281692"/>
                  <a:pt x="360918" y="281692"/>
                </a:cubicBezTo>
                <a:lnTo>
                  <a:pt x="70423" y="281692"/>
                </a:lnTo>
                <a:cubicBezTo>
                  <a:pt x="31529" y="281692"/>
                  <a:pt x="0" y="250163"/>
                  <a:pt x="0" y="211269"/>
                </a:cubicBezTo>
                <a:lnTo>
                  <a:pt x="0" y="70423"/>
                </a:lnTo>
                <a:cubicBezTo>
                  <a:pt x="0" y="31556"/>
                  <a:pt x="31556" y="0"/>
                  <a:pt x="70423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729437" y="3179605"/>
            <a:ext cx="492962" cy="281692"/>
          </a:xfrm>
          <a:prstGeom prst="rect">
            <a:avLst/>
          </a:prstGeom>
          <a:noFill/>
          <a:ln/>
        </p:spPr>
        <p:txBody>
          <a:bodyPr wrap="square" lIns="105635" tIns="52817" rIns="105635" bIns="52817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TLS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5637" y="3936654"/>
            <a:ext cx="5649694" cy="2633821"/>
          </a:xfrm>
          <a:custGeom>
            <a:avLst/>
            <a:gdLst/>
            <a:ahLst/>
            <a:cxnLst/>
            <a:rect l="l" t="t" r="r" b="b"/>
            <a:pathLst>
              <a:path w="5649694" h="2920798">
                <a:moveTo>
                  <a:pt x="140841" y="0"/>
                </a:moveTo>
                <a:lnTo>
                  <a:pt x="5508853" y="0"/>
                </a:lnTo>
                <a:cubicBezTo>
                  <a:pt x="5586637" y="0"/>
                  <a:pt x="5649694" y="63057"/>
                  <a:pt x="5649694" y="140841"/>
                </a:cubicBezTo>
                <a:lnTo>
                  <a:pt x="5649694" y="2779957"/>
                </a:lnTo>
                <a:cubicBezTo>
                  <a:pt x="5649694" y="2857742"/>
                  <a:pt x="5586637" y="2920798"/>
                  <a:pt x="5508853" y="2920798"/>
                </a:cubicBezTo>
                <a:lnTo>
                  <a:pt x="140841" y="2920798"/>
                </a:lnTo>
                <a:cubicBezTo>
                  <a:pt x="63057" y="2920798"/>
                  <a:pt x="0" y="2857742"/>
                  <a:pt x="0" y="2779957"/>
                </a:cubicBezTo>
                <a:lnTo>
                  <a:pt x="0" y="140841"/>
                </a:lnTo>
                <a:cubicBezTo>
                  <a:pt x="0" y="63109"/>
                  <a:pt x="63109" y="0"/>
                  <a:pt x="14084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216" y="4116231"/>
            <a:ext cx="537856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Performance Features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8737" y="4507080"/>
            <a:ext cx="2586289" cy="746485"/>
          </a:xfrm>
          <a:custGeom>
            <a:avLst/>
            <a:gdLst/>
            <a:ahLst/>
            <a:cxnLst/>
            <a:rect l="l" t="t" r="r" b="b"/>
            <a:pathLst>
              <a:path w="2586289" h="746485">
                <a:moveTo>
                  <a:pt x="105635" y="0"/>
                </a:moveTo>
                <a:lnTo>
                  <a:pt x="2480653" y="0"/>
                </a:lnTo>
                <a:cubicBezTo>
                  <a:pt x="2538994" y="0"/>
                  <a:pt x="2586289" y="47294"/>
                  <a:pt x="2586289" y="105635"/>
                </a:cubicBezTo>
                <a:lnTo>
                  <a:pt x="2586289" y="640850"/>
                </a:lnTo>
                <a:cubicBezTo>
                  <a:pt x="2586289" y="699190"/>
                  <a:pt x="2538994" y="746485"/>
                  <a:pt x="2480653" y="746485"/>
                </a:cubicBezTo>
                <a:lnTo>
                  <a:pt x="105635" y="746485"/>
                </a:lnTo>
                <a:cubicBezTo>
                  <a:pt x="47294" y="746485"/>
                  <a:pt x="0" y="699190"/>
                  <a:pt x="0" y="640850"/>
                </a:cubicBezTo>
                <a:lnTo>
                  <a:pt x="0" y="105635"/>
                </a:lnTo>
                <a:cubicBezTo>
                  <a:pt x="0" y="47294"/>
                  <a:pt x="47294" y="0"/>
                  <a:pt x="1056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5111" y="4677854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0" y="79226"/>
                </a:moveTo>
                <a:cubicBezTo>
                  <a:pt x="0" y="35500"/>
                  <a:pt x="35500" y="0"/>
                  <a:pt x="79226" y="0"/>
                </a:cubicBezTo>
                <a:cubicBezTo>
                  <a:pt x="122952" y="0"/>
                  <a:pt x="158452" y="35500"/>
                  <a:pt x="158452" y="79226"/>
                </a:cubicBezTo>
                <a:cubicBezTo>
                  <a:pt x="158452" y="122952"/>
                  <a:pt x="122952" y="158452"/>
                  <a:pt x="79226" y="158452"/>
                </a:cubicBezTo>
                <a:cubicBezTo>
                  <a:pt x="35500" y="158452"/>
                  <a:pt x="0" y="122952"/>
                  <a:pt x="0" y="79226"/>
                </a:cubicBezTo>
                <a:close/>
                <a:moveTo>
                  <a:pt x="89129" y="29710"/>
                </a:moveTo>
                <a:cubicBezTo>
                  <a:pt x="89129" y="24244"/>
                  <a:pt x="84692" y="19806"/>
                  <a:pt x="79226" y="19806"/>
                </a:cubicBezTo>
                <a:cubicBezTo>
                  <a:pt x="73760" y="19806"/>
                  <a:pt x="69323" y="24244"/>
                  <a:pt x="69323" y="29710"/>
                </a:cubicBezTo>
                <a:cubicBezTo>
                  <a:pt x="69323" y="35175"/>
                  <a:pt x="73760" y="39613"/>
                  <a:pt x="79226" y="39613"/>
                </a:cubicBezTo>
                <a:cubicBezTo>
                  <a:pt x="84692" y="39613"/>
                  <a:pt x="89129" y="35175"/>
                  <a:pt x="89129" y="29710"/>
                </a:cubicBezTo>
                <a:close/>
                <a:moveTo>
                  <a:pt x="79226" y="128742"/>
                </a:moveTo>
                <a:cubicBezTo>
                  <a:pt x="90151" y="128742"/>
                  <a:pt x="99032" y="119860"/>
                  <a:pt x="99032" y="108936"/>
                </a:cubicBezTo>
                <a:cubicBezTo>
                  <a:pt x="99032" y="103922"/>
                  <a:pt x="97176" y="99311"/>
                  <a:pt x="94081" y="95845"/>
                </a:cubicBezTo>
                <a:lnTo>
                  <a:pt x="115589" y="52859"/>
                </a:lnTo>
                <a:cubicBezTo>
                  <a:pt x="117415" y="49176"/>
                  <a:pt x="115930" y="44719"/>
                  <a:pt x="112278" y="42893"/>
                </a:cubicBezTo>
                <a:cubicBezTo>
                  <a:pt x="108626" y="41068"/>
                  <a:pt x="104139" y="42553"/>
                  <a:pt x="102313" y="46205"/>
                </a:cubicBezTo>
                <a:lnTo>
                  <a:pt x="80804" y="89191"/>
                </a:lnTo>
                <a:cubicBezTo>
                  <a:pt x="80278" y="89160"/>
                  <a:pt x="79752" y="89129"/>
                  <a:pt x="79226" y="89129"/>
                </a:cubicBezTo>
                <a:cubicBezTo>
                  <a:pt x="68301" y="89129"/>
                  <a:pt x="59419" y="98011"/>
                  <a:pt x="59419" y="108936"/>
                </a:cubicBezTo>
                <a:cubicBezTo>
                  <a:pt x="59419" y="119860"/>
                  <a:pt x="68301" y="128742"/>
                  <a:pt x="79226" y="128742"/>
                </a:cubicBezTo>
                <a:close/>
                <a:moveTo>
                  <a:pt x="54468" y="44565"/>
                </a:moveTo>
                <a:cubicBezTo>
                  <a:pt x="54468" y="39099"/>
                  <a:pt x="50030" y="34661"/>
                  <a:pt x="44565" y="34661"/>
                </a:cubicBezTo>
                <a:cubicBezTo>
                  <a:pt x="39099" y="34661"/>
                  <a:pt x="34661" y="39099"/>
                  <a:pt x="34661" y="44565"/>
                </a:cubicBezTo>
                <a:cubicBezTo>
                  <a:pt x="34661" y="50030"/>
                  <a:pt x="39099" y="54468"/>
                  <a:pt x="44565" y="54468"/>
                </a:cubicBezTo>
                <a:cubicBezTo>
                  <a:pt x="50030" y="54468"/>
                  <a:pt x="54468" y="50030"/>
                  <a:pt x="54468" y="44565"/>
                </a:cubicBezTo>
                <a:close/>
                <a:moveTo>
                  <a:pt x="29710" y="89129"/>
                </a:moveTo>
                <a:cubicBezTo>
                  <a:pt x="35175" y="89129"/>
                  <a:pt x="39613" y="84692"/>
                  <a:pt x="39613" y="79226"/>
                </a:cubicBezTo>
                <a:cubicBezTo>
                  <a:pt x="39613" y="73760"/>
                  <a:pt x="35175" y="69323"/>
                  <a:pt x="29710" y="69323"/>
                </a:cubicBezTo>
                <a:cubicBezTo>
                  <a:pt x="24244" y="69323"/>
                  <a:pt x="19806" y="73760"/>
                  <a:pt x="19806" y="79226"/>
                </a:cubicBezTo>
                <a:cubicBezTo>
                  <a:pt x="19806" y="84692"/>
                  <a:pt x="24244" y="89129"/>
                  <a:pt x="29710" y="89129"/>
                </a:cubicBezTo>
                <a:close/>
                <a:moveTo>
                  <a:pt x="138645" y="79226"/>
                </a:moveTo>
                <a:cubicBezTo>
                  <a:pt x="138645" y="73760"/>
                  <a:pt x="134208" y="69323"/>
                  <a:pt x="128742" y="69323"/>
                </a:cubicBezTo>
                <a:cubicBezTo>
                  <a:pt x="123276" y="69323"/>
                  <a:pt x="118839" y="73760"/>
                  <a:pt x="118839" y="79226"/>
                </a:cubicBezTo>
                <a:cubicBezTo>
                  <a:pt x="118839" y="84692"/>
                  <a:pt x="123276" y="89129"/>
                  <a:pt x="128742" y="89129"/>
                </a:cubicBezTo>
                <a:cubicBezTo>
                  <a:pt x="134208" y="89129"/>
                  <a:pt x="138645" y="84692"/>
                  <a:pt x="138645" y="7922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951592" y="4651445"/>
            <a:ext cx="121479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Ultra-Low Latency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3104" y="4933138"/>
            <a:ext cx="2359174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~100ms latency vs ~400ms for ALB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36052" y="4507080"/>
            <a:ext cx="2586289" cy="746485"/>
          </a:xfrm>
          <a:custGeom>
            <a:avLst/>
            <a:gdLst/>
            <a:ahLst/>
            <a:cxnLst/>
            <a:rect l="l" t="t" r="r" b="b"/>
            <a:pathLst>
              <a:path w="2586289" h="746485">
                <a:moveTo>
                  <a:pt x="105635" y="0"/>
                </a:moveTo>
                <a:lnTo>
                  <a:pt x="2480653" y="0"/>
                </a:lnTo>
                <a:cubicBezTo>
                  <a:pt x="2538994" y="0"/>
                  <a:pt x="2586289" y="47294"/>
                  <a:pt x="2586289" y="105635"/>
                </a:cubicBezTo>
                <a:lnTo>
                  <a:pt x="2586289" y="640850"/>
                </a:lnTo>
                <a:cubicBezTo>
                  <a:pt x="2586289" y="699190"/>
                  <a:pt x="2538994" y="746485"/>
                  <a:pt x="2480653" y="746485"/>
                </a:cubicBezTo>
                <a:lnTo>
                  <a:pt x="105635" y="746485"/>
                </a:lnTo>
                <a:cubicBezTo>
                  <a:pt x="47294" y="746485"/>
                  <a:pt x="0" y="699190"/>
                  <a:pt x="0" y="640850"/>
                </a:cubicBezTo>
                <a:lnTo>
                  <a:pt x="0" y="105635"/>
                </a:lnTo>
                <a:cubicBezTo>
                  <a:pt x="0" y="47294"/>
                  <a:pt x="47294" y="0"/>
                  <a:pt x="1056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02426" y="4677854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39613" y="99032"/>
                </a:moveTo>
                <a:lnTo>
                  <a:pt x="7582" y="99032"/>
                </a:lnTo>
                <a:cubicBezTo>
                  <a:pt x="-124" y="99032"/>
                  <a:pt x="-4859" y="90646"/>
                  <a:pt x="-897" y="84023"/>
                </a:cubicBezTo>
                <a:lnTo>
                  <a:pt x="15474" y="56727"/>
                </a:lnTo>
                <a:cubicBezTo>
                  <a:pt x="18166" y="52240"/>
                  <a:pt x="22994" y="49516"/>
                  <a:pt x="28224" y="49516"/>
                </a:cubicBezTo>
                <a:lnTo>
                  <a:pt x="57625" y="49516"/>
                </a:lnTo>
                <a:cubicBezTo>
                  <a:pt x="81176" y="9625"/>
                  <a:pt x="116301" y="7613"/>
                  <a:pt x="139791" y="11048"/>
                </a:cubicBezTo>
                <a:cubicBezTo>
                  <a:pt x="143752" y="11636"/>
                  <a:pt x="146847" y="14731"/>
                  <a:pt x="147404" y="18661"/>
                </a:cubicBezTo>
                <a:cubicBezTo>
                  <a:pt x="150839" y="42151"/>
                  <a:pt x="148827" y="77276"/>
                  <a:pt x="108936" y="100827"/>
                </a:cubicBezTo>
                <a:lnTo>
                  <a:pt x="108936" y="130228"/>
                </a:lnTo>
                <a:cubicBezTo>
                  <a:pt x="108936" y="135458"/>
                  <a:pt x="106212" y="140286"/>
                  <a:pt x="101725" y="142978"/>
                </a:cubicBezTo>
                <a:lnTo>
                  <a:pt x="74429" y="159349"/>
                </a:lnTo>
                <a:cubicBezTo>
                  <a:pt x="67837" y="163311"/>
                  <a:pt x="59419" y="158545"/>
                  <a:pt x="59419" y="150870"/>
                </a:cubicBezTo>
                <a:lnTo>
                  <a:pt x="59419" y="118839"/>
                </a:lnTo>
                <a:cubicBezTo>
                  <a:pt x="59419" y="107914"/>
                  <a:pt x="50538" y="99032"/>
                  <a:pt x="39613" y="99032"/>
                </a:cubicBezTo>
                <a:lnTo>
                  <a:pt x="39582" y="99032"/>
                </a:lnTo>
                <a:close/>
                <a:moveTo>
                  <a:pt x="123791" y="49516"/>
                </a:moveTo>
                <a:cubicBezTo>
                  <a:pt x="123791" y="41318"/>
                  <a:pt x="117134" y="34661"/>
                  <a:pt x="108936" y="34661"/>
                </a:cubicBezTo>
                <a:cubicBezTo>
                  <a:pt x="100737" y="34661"/>
                  <a:pt x="94081" y="41318"/>
                  <a:pt x="94081" y="49516"/>
                </a:cubicBezTo>
                <a:cubicBezTo>
                  <a:pt x="94081" y="57715"/>
                  <a:pt x="100737" y="64371"/>
                  <a:pt x="108936" y="64371"/>
                </a:cubicBezTo>
                <a:cubicBezTo>
                  <a:pt x="117134" y="64371"/>
                  <a:pt x="123791" y="57715"/>
                  <a:pt x="123791" y="4951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3648907" y="4651445"/>
            <a:ext cx="994726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Millions of RPS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380419" y="4933138"/>
            <a:ext cx="2359174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millions of requests per second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8737" y="5366242"/>
            <a:ext cx="2586289" cy="746485"/>
          </a:xfrm>
          <a:custGeom>
            <a:avLst/>
            <a:gdLst/>
            <a:ahLst/>
            <a:cxnLst/>
            <a:rect l="l" t="t" r="r" b="b"/>
            <a:pathLst>
              <a:path w="2586289" h="746485">
                <a:moveTo>
                  <a:pt x="105635" y="0"/>
                </a:moveTo>
                <a:lnTo>
                  <a:pt x="2480653" y="0"/>
                </a:lnTo>
                <a:cubicBezTo>
                  <a:pt x="2538994" y="0"/>
                  <a:pt x="2586289" y="47294"/>
                  <a:pt x="2586289" y="105635"/>
                </a:cubicBezTo>
                <a:lnTo>
                  <a:pt x="2586289" y="640850"/>
                </a:lnTo>
                <a:cubicBezTo>
                  <a:pt x="2586289" y="699190"/>
                  <a:pt x="2538994" y="746485"/>
                  <a:pt x="2480653" y="746485"/>
                </a:cubicBezTo>
                <a:lnTo>
                  <a:pt x="105635" y="746485"/>
                </a:lnTo>
                <a:cubicBezTo>
                  <a:pt x="47294" y="746485"/>
                  <a:pt x="0" y="699190"/>
                  <a:pt x="0" y="640850"/>
                </a:cubicBezTo>
                <a:lnTo>
                  <a:pt x="0" y="105635"/>
                </a:lnTo>
                <a:cubicBezTo>
                  <a:pt x="0" y="47294"/>
                  <a:pt x="47294" y="0"/>
                  <a:pt x="1056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4918" y="5537017"/>
            <a:ext cx="118839" cy="158452"/>
          </a:xfrm>
          <a:custGeom>
            <a:avLst/>
            <a:gdLst/>
            <a:ahLst/>
            <a:cxnLst/>
            <a:rect l="l" t="t" r="r" b="b"/>
            <a:pathLst>
              <a:path w="118839" h="158452">
                <a:moveTo>
                  <a:pt x="0" y="58367"/>
                </a:moveTo>
                <a:cubicBezTo>
                  <a:pt x="0" y="26120"/>
                  <a:pt x="26615" y="0"/>
                  <a:pt x="59419" y="0"/>
                </a:cubicBezTo>
                <a:cubicBezTo>
                  <a:pt x="92224" y="0"/>
                  <a:pt x="118839" y="26120"/>
                  <a:pt x="118839" y="58367"/>
                </a:cubicBezTo>
                <a:cubicBezTo>
                  <a:pt x="118839" y="95288"/>
                  <a:pt x="81640" y="139543"/>
                  <a:pt x="66104" y="156409"/>
                </a:cubicBezTo>
                <a:cubicBezTo>
                  <a:pt x="62452" y="160371"/>
                  <a:pt x="56356" y="160371"/>
                  <a:pt x="52704" y="156409"/>
                </a:cubicBezTo>
                <a:cubicBezTo>
                  <a:pt x="37168" y="139543"/>
                  <a:pt x="-31" y="95288"/>
                  <a:pt x="-31" y="58367"/>
                </a:cubicBezTo>
                <a:close/>
                <a:moveTo>
                  <a:pt x="59419" y="79226"/>
                </a:moveTo>
                <a:cubicBezTo>
                  <a:pt x="70351" y="79226"/>
                  <a:pt x="79226" y="70351"/>
                  <a:pt x="79226" y="59419"/>
                </a:cubicBezTo>
                <a:cubicBezTo>
                  <a:pt x="79226" y="48488"/>
                  <a:pt x="70351" y="39613"/>
                  <a:pt x="59419" y="39613"/>
                </a:cubicBezTo>
                <a:cubicBezTo>
                  <a:pt x="48488" y="39613"/>
                  <a:pt x="39613" y="48488"/>
                  <a:pt x="39613" y="59419"/>
                </a:cubicBezTo>
                <a:cubicBezTo>
                  <a:pt x="39613" y="70351"/>
                  <a:pt x="48488" y="79226"/>
                  <a:pt x="59419" y="7922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951592" y="5510608"/>
            <a:ext cx="1021135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IP per AZ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3104" y="5792300"/>
            <a:ext cx="2359174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Elastic IP per Availability Zone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236052" y="5366242"/>
            <a:ext cx="2586289" cy="746485"/>
          </a:xfrm>
          <a:custGeom>
            <a:avLst/>
            <a:gdLst/>
            <a:ahLst/>
            <a:cxnLst/>
            <a:rect l="l" t="t" r="r" b="b"/>
            <a:pathLst>
              <a:path w="2586289" h="746485">
                <a:moveTo>
                  <a:pt x="105635" y="0"/>
                </a:moveTo>
                <a:lnTo>
                  <a:pt x="2480653" y="0"/>
                </a:lnTo>
                <a:cubicBezTo>
                  <a:pt x="2538994" y="0"/>
                  <a:pt x="2586289" y="47294"/>
                  <a:pt x="2586289" y="105635"/>
                </a:cubicBezTo>
                <a:lnTo>
                  <a:pt x="2586289" y="640850"/>
                </a:lnTo>
                <a:cubicBezTo>
                  <a:pt x="2586289" y="699190"/>
                  <a:pt x="2538994" y="746485"/>
                  <a:pt x="2480653" y="746485"/>
                </a:cubicBezTo>
                <a:lnTo>
                  <a:pt x="105635" y="746485"/>
                </a:lnTo>
                <a:cubicBezTo>
                  <a:pt x="47294" y="746485"/>
                  <a:pt x="0" y="699190"/>
                  <a:pt x="0" y="640850"/>
                </a:cubicBezTo>
                <a:lnTo>
                  <a:pt x="0" y="105635"/>
                </a:lnTo>
                <a:cubicBezTo>
                  <a:pt x="0" y="47294"/>
                  <a:pt x="47294" y="0"/>
                  <a:pt x="1056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92523" y="5537017"/>
            <a:ext cx="178258" cy="158452"/>
          </a:xfrm>
          <a:custGeom>
            <a:avLst/>
            <a:gdLst/>
            <a:ahLst/>
            <a:cxnLst/>
            <a:rect l="l" t="t" r="r" b="b"/>
            <a:pathLst>
              <a:path w="178258" h="158452">
                <a:moveTo>
                  <a:pt x="69323" y="76750"/>
                </a:moveTo>
                <a:cubicBezTo>
                  <a:pt x="89819" y="76750"/>
                  <a:pt x="106460" y="60110"/>
                  <a:pt x="106460" y="39613"/>
                </a:cubicBezTo>
                <a:cubicBezTo>
                  <a:pt x="106460" y="19116"/>
                  <a:pt x="89819" y="2476"/>
                  <a:pt x="69323" y="2476"/>
                </a:cubicBezTo>
                <a:cubicBezTo>
                  <a:pt x="48826" y="2476"/>
                  <a:pt x="32186" y="19116"/>
                  <a:pt x="32186" y="39613"/>
                </a:cubicBezTo>
                <a:cubicBezTo>
                  <a:pt x="32186" y="60110"/>
                  <a:pt x="48826" y="76750"/>
                  <a:pt x="69323" y="76750"/>
                </a:cubicBezTo>
                <a:close/>
                <a:moveTo>
                  <a:pt x="60131" y="94081"/>
                </a:moveTo>
                <a:cubicBezTo>
                  <a:pt x="29648" y="94081"/>
                  <a:pt x="4952" y="118777"/>
                  <a:pt x="4952" y="149261"/>
                </a:cubicBezTo>
                <a:cubicBezTo>
                  <a:pt x="4952" y="154336"/>
                  <a:pt x="9068" y="158452"/>
                  <a:pt x="14143" y="158452"/>
                </a:cubicBezTo>
                <a:lnTo>
                  <a:pt x="91976" y="158452"/>
                </a:lnTo>
                <a:cubicBezTo>
                  <a:pt x="80773" y="145268"/>
                  <a:pt x="74274" y="128278"/>
                  <a:pt x="74274" y="110297"/>
                </a:cubicBezTo>
                <a:lnTo>
                  <a:pt x="74274" y="100673"/>
                </a:lnTo>
                <a:cubicBezTo>
                  <a:pt x="74274" y="98414"/>
                  <a:pt x="74584" y="96185"/>
                  <a:pt x="75172" y="94081"/>
                </a:cubicBezTo>
                <a:lnTo>
                  <a:pt x="60131" y="94081"/>
                </a:lnTo>
                <a:close/>
                <a:moveTo>
                  <a:pt x="137810" y="151179"/>
                </a:moveTo>
                <a:lnTo>
                  <a:pt x="133694" y="153129"/>
                </a:lnTo>
                <a:lnTo>
                  <a:pt x="133694" y="94916"/>
                </a:lnTo>
                <a:lnTo>
                  <a:pt x="163404" y="104820"/>
                </a:lnTo>
                <a:lnTo>
                  <a:pt x="163404" y="110885"/>
                </a:lnTo>
                <a:cubicBezTo>
                  <a:pt x="163404" y="128154"/>
                  <a:pt x="153438" y="143845"/>
                  <a:pt x="137810" y="151210"/>
                </a:cubicBezTo>
                <a:close/>
                <a:moveTo>
                  <a:pt x="130568" y="80309"/>
                </a:moveTo>
                <a:lnTo>
                  <a:pt x="95907" y="91853"/>
                </a:lnTo>
                <a:cubicBezTo>
                  <a:pt x="91853" y="93214"/>
                  <a:pt x="89129" y="96990"/>
                  <a:pt x="89129" y="101261"/>
                </a:cubicBezTo>
                <a:lnTo>
                  <a:pt x="89129" y="110885"/>
                </a:lnTo>
                <a:cubicBezTo>
                  <a:pt x="89129" y="133910"/>
                  <a:pt x="102437" y="154862"/>
                  <a:pt x="123234" y="164642"/>
                </a:cubicBezTo>
                <a:lnTo>
                  <a:pt x="128959" y="167334"/>
                </a:lnTo>
                <a:cubicBezTo>
                  <a:pt x="130444" y="168015"/>
                  <a:pt x="132054" y="168386"/>
                  <a:pt x="133663" y="168386"/>
                </a:cubicBezTo>
                <a:cubicBezTo>
                  <a:pt x="135272" y="168386"/>
                  <a:pt x="136912" y="168015"/>
                  <a:pt x="138367" y="167334"/>
                </a:cubicBezTo>
                <a:lnTo>
                  <a:pt x="144092" y="164642"/>
                </a:lnTo>
                <a:cubicBezTo>
                  <a:pt x="164951" y="154831"/>
                  <a:pt x="178258" y="133880"/>
                  <a:pt x="178258" y="110854"/>
                </a:cubicBezTo>
                <a:lnTo>
                  <a:pt x="178258" y="101230"/>
                </a:lnTo>
                <a:cubicBezTo>
                  <a:pt x="178258" y="96959"/>
                  <a:pt x="175535" y="93183"/>
                  <a:pt x="171481" y="91822"/>
                </a:cubicBezTo>
                <a:lnTo>
                  <a:pt x="136820" y="80278"/>
                </a:lnTo>
                <a:cubicBezTo>
                  <a:pt x="134777" y="79597"/>
                  <a:pt x="132580" y="79597"/>
                  <a:pt x="130568" y="8027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3648907" y="5510608"/>
            <a:ext cx="1399659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IP Preservation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80419" y="5792300"/>
            <a:ext cx="2359174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Targets see original client IP address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87000" y="1426069"/>
            <a:ext cx="5649694" cy="4073977"/>
          </a:xfrm>
          <a:custGeom>
            <a:avLst/>
            <a:gdLst/>
            <a:ahLst/>
            <a:cxnLst/>
            <a:rect l="l" t="t" r="r" b="b"/>
            <a:pathLst>
              <a:path w="5649694" h="4073977">
                <a:moveTo>
                  <a:pt x="140837" y="0"/>
                </a:moveTo>
                <a:lnTo>
                  <a:pt x="5508856" y="0"/>
                </a:lnTo>
                <a:cubicBezTo>
                  <a:pt x="5586639" y="0"/>
                  <a:pt x="5649694" y="63055"/>
                  <a:pt x="5649694" y="140837"/>
                </a:cubicBezTo>
                <a:lnTo>
                  <a:pt x="5649694" y="3933139"/>
                </a:lnTo>
                <a:cubicBezTo>
                  <a:pt x="5649694" y="4010922"/>
                  <a:pt x="5586639" y="4073977"/>
                  <a:pt x="5508856" y="4073977"/>
                </a:cubicBezTo>
                <a:lnTo>
                  <a:pt x="140837" y="4073977"/>
                </a:lnTo>
                <a:cubicBezTo>
                  <a:pt x="63055" y="4073977"/>
                  <a:pt x="0" y="4010922"/>
                  <a:pt x="0" y="3933139"/>
                </a:cubicBezTo>
                <a:lnTo>
                  <a:pt x="0" y="140837"/>
                </a:lnTo>
                <a:cubicBezTo>
                  <a:pt x="0" y="63055"/>
                  <a:pt x="63055" y="0"/>
                  <a:pt x="14083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6579" y="1605646"/>
            <a:ext cx="5378565" cy="2464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 &amp; Applications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70100" y="1996494"/>
            <a:ext cx="5279972" cy="746485"/>
          </a:xfrm>
          <a:custGeom>
            <a:avLst/>
            <a:gdLst/>
            <a:ahLst/>
            <a:cxnLst/>
            <a:rect l="l" t="t" r="r" b="b"/>
            <a:pathLst>
              <a:path w="5279972" h="746485">
                <a:moveTo>
                  <a:pt x="105635" y="0"/>
                </a:moveTo>
                <a:lnTo>
                  <a:pt x="5174337" y="0"/>
                </a:lnTo>
                <a:cubicBezTo>
                  <a:pt x="5232678" y="0"/>
                  <a:pt x="5279972" y="47294"/>
                  <a:pt x="5279972" y="105635"/>
                </a:cubicBezTo>
                <a:lnTo>
                  <a:pt x="5279972" y="640850"/>
                </a:lnTo>
                <a:cubicBezTo>
                  <a:pt x="5279972" y="699190"/>
                  <a:pt x="5232678" y="746485"/>
                  <a:pt x="5174337" y="746485"/>
                </a:cubicBezTo>
                <a:lnTo>
                  <a:pt x="105635" y="746485"/>
                </a:lnTo>
                <a:cubicBezTo>
                  <a:pt x="47294" y="746485"/>
                  <a:pt x="0" y="699190"/>
                  <a:pt x="0" y="640850"/>
                </a:cubicBezTo>
                <a:lnTo>
                  <a:pt x="0" y="105635"/>
                </a:lnTo>
                <a:cubicBezTo>
                  <a:pt x="0" y="47294"/>
                  <a:pt x="47294" y="0"/>
                  <a:pt x="1056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6668" y="2167273"/>
            <a:ext cx="198065" cy="158452"/>
          </a:xfrm>
          <a:custGeom>
            <a:avLst/>
            <a:gdLst/>
            <a:ahLst/>
            <a:cxnLst/>
            <a:rect l="l" t="t" r="r" b="b"/>
            <a:pathLst>
              <a:path w="198065" h="158452">
                <a:moveTo>
                  <a:pt x="138645" y="19806"/>
                </a:moveTo>
                <a:cubicBezTo>
                  <a:pt x="171450" y="19806"/>
                  <a:pt x="198065" y="46421"/>
                  <a:pt x="198065" y="79226"/>
                </a:cubicBezTo>
                <a:cubicBezTo>
                  <a:pt x="198065" y="112031"/>
                  <a:pt x="171450" y="138645"/>
                  <a:pt x="138645" y="138645"/>
                </a:cubicBezTo>
                <a:lnTo>
                  <a:pt x="59419" y="138645"/>
                </a:lnTo>
                <a:cubicBezTo>
                  <a:pt x="26615" y="138645"/>
                  <a:pt x="0" y="112031"/>
                  <a:pt x="0" y="79226"/>
                </a:cubicBezTo>
                <a:cubicBezTo>
                  <a:pt x="0" y="46421"/>
                  <a:pt x="26615" y="19806"/>
                  <a:pt x="59419" y="19806"/>
                </a:cubicBezTo>
                <a:lnTo>
                  <a:pt x="138645" y="19806"/>
                </a:lnTo>
                <a:close/>
                <a:moveTo>
                  <a:pt x="59419" y="54468"/>
                </a:moveTo>
                <a:cubicBezTo>
                  <a:pt x="55303" y="54468"/>
                  <a:pt x="51992" y="57779"/>
                  <a:pt x="51992" y="61895"/>
                </a:cubicBezTo>
                <a:lnTo>
                  <a:pt x="51992" y="71799"/>
                </a:lnTo>
                <a:lnTo>
                  <a:pt x="42089" y="71799"/>
                </a:lnTo>
                <a:cubicBezTo>
                  <a:pt x="37973" y="71799"/>
                  <a:pt x="34661" y="75110"/>
                  <a:pt x="34661" y="79226"/>
                </a:cubicBezTo>
                <a:cubicBezTo>
                  <a:pt x="34661" y="83342"/>
                  <a:pt x="37973" y="86653"/>
                  <a:pt x="42089" y="86653"/>
                </a:cubicBezTo>
                <a:lnTo>
                  <a:pt x="51992" y="86653"/>
                </a:lnTo>
                <a:lnTo>
                  <a:pt x="51992" y="96557"/>
                </a:lnTo>
                <a:cubicBezTo>
                  <a:pt x="51992" y="100673"/>
                  <a:pt x="55303" y="103984"/>
                  <a:pt x="59419" y="103984"/>
                </a:cubicBezTo>
                <a:cubicBezTo>
                  <a:pt x="63536" y="103984"/>
                  <a:pt x="66847" y="100673"/>
                  <a:pt x="66847" y="96557"/>
                </a:cubicBezTo>
                <a:lnTo>
                  <a:pt x="66847" y="86653"/>
                </a:lnTo>
                <a:lnTo>
                  <a:pt x="76750" y="86653"/>
                </a:lnTo>
                <a:cubicBezTo>
                  <a:pt x="80866" y="86653"/>
                  <a:pt x="84178" y="83342"/>
                  <a:pt x="84178" y="79226"/>
                </a:cubicBezTo>
                <a:cubicBezTo>
                  <a:pt x="84178" y="75110"/>
                  <a:pt x="80866" y="71799"/>
                  <a:pt x="76750" y="71799"/>
                </a:cubicBezTo>
                <a:lnTo>
                  <a:pt x="66847" y="71799"/>
                </a:lnTo>
                <a:lnTo>
                  <a:pt x="66847" y="61895"/>
                </a:lnTo>
                <a:cubicBezTo>
                  <a:pt x="66847" y="57779"/>
                  <a:pt x="63536" y="54468"/>
                  <a:pt x="59419" y="54468"/>
                </a:cubicBezTo>
                <a:close/>
                <a:moveTo>
                  <a:pt x="133694" y="84178"/>
                </a:moveTo>
                <a:cubicBezTo>
                  <a:pt x="128228" y="84178"/>
                  <a:pt x="123791" y="88615"/>
                  <a:pt x="123791" y="94081"/>
                </a:cubicBezTo>
                <a:cubicBezTo>
                  <a:pt x="123791" y="99547"/>
                  <a:pt x="128228" y="103984"/>
                  <a:pt x="133694" y="103984"/>
                </a:cubicBezTo>
                <a:cubicBezTo>
                  <a:pt x="139160" y="103984"/>
                  <a:pt x="143597" y="99547"/>
                  <a:pt x="143597" y="94081"/>
                </a:cubicBezTo>
                <a:cubicBezTo>
                  <a:pt x="143597" y="88615"/>
                  <a:pt x="139160" y="84178"/>
                  <a:pt x="133694" y="84178"/>
                </a:cubicBezTo>
                <a:close/>
                <a:moveTo>
                  <a:pt x="153500" y="54468"/>
                </a:moveTo>
                <a:cubicBezTo>
                  <a:pt x="148035" y="54468"/>
                  <a:pt x="143597" y="58905"/>
                  <a:pt x="143597" y="64371"/>
                </a:cubicBezTo>
                <a:cubicBezTo>
                  <a:pt x="143597" y="69837"/>
                  <a:pt x="148035" y="74274"/>
                  <a:pt x="153500" y="74274"/>
                </a:cubicBezTo>
                <a:cubicBezTo>
                  <a:pt x="158966" y="74274"/>
                  <a:pt x="163404" y="69837"/>
                  <a:pt x="163404" y="64371"/>
                </a:cubicBezTo>
                <a:cubicBezTo>
                  <a:pt x="163404" y="58905"/>
                  <a:pt x="158966" y="54468"/>
                  <a:pt x="153500" y="5446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6782956" y="2140864"/>
            <a:ext cx="1355645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 Applications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14468" y="2422557"/>
            <a:ext cx="5052858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Ultra-low latency for real-time multiplayer games requiring fast response times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70100" y="2855657"/>
            <a:ext cx="5279972" cy="746485"/>
          </a:xfrm>
          <a:custGeom>
            <a:avLst/>
            <a:gdLst/>
            <a:ahLst/>
            <a:cxnLst/>
            <a:rect l="l" t="t" r="r" b="b"/>
            <a:pathLst>
              <a:path w="5279972" h="746485">
                <a:moveTo>
                  <a:pt x="105635" y="0"/>
                </a:moveTo>
                <a:lnTo>
                  <a:pt x="5174337" y="0"/>
                </a:lnTo>
                <a:cubicBezTo>
                  <a:pt x="5232678" y="0"/>
                  <a:pt x="5279972" y="47294"/>
                  <a:pt x="5279972" y="105635"/>
                </a:cubicBezTo>
                <a:lnTo>
                  <a:pt x="5279972" y="640850"/>
                </a:lnTo>
                <a:cubicBezTo>
                  <a:pt x="5279972" y="699190"/>
                  <a:pt x="5232678" y="746485"/>
                  <a:pt x="5174337" y="746485"/>
                </a:cubicBezTo>
                <a:lnTo>
                  <a:pt x="105635" y="746485"/>
                </a:lnTo>
                <a:cubicBezTo>
                  <a:pt x="47294" y="746485"/>
                  <a:pt x="0" y="699190"/>
                  <a:pt x="0" y="640850"/>
                </a:cubicBezTo>
                <a:lnTo>
                  <a:pt x="0" y="105635"/>
                </a:lnTo>
                <a:cubicBezTo>
                  <a:pt x="0" y="47294"/>
                  <a:pt x="47294" y="0"/>
                  <a:pt x="1056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36475" y="3026436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19806" y="19806"/>
                </a:moveTo>
                <a:cubicBezTo>
                  <a:pt x="19806" y="14329"/>
                  <a:pt x="15381" y="9903"/>
                  <a:pt x="9903" y="9903"/>
                </a:cubicBezTo>
                <a:cubicBezTo>
                  <a:pt x="4426" y="9903"/>
                  <a:pt x="0" y="14329"/>
                  <a:pt x="0" y="19806"/>
                </a:cubicBezTo>
                <a:lnTo>
                  <a:pt x="0" y="123791"/>
                </a:lnTo>
                <a:cubicBezTo>
                  <a:pt x="0" y="137469"/>
                  <a:pt x="11079" y="148549"/>
                  <a:pt x="24758" y="148549"/>
                </a:cubicBezTo>
                <a:lnTo>
                  <a:pt x="148549" y="148549"/>
                </a:lnTo>
                <a:cubicBezTo>
                  <a:pt x="154026" y="148549"/>
                  <a:pt x="158452" y="144123"/>
                  <a:pt x="158452" y="138645"/>
                </a:cubicBezTo>
                <a:cubicBezTo>
                  <a:pt x="158452" y="133168"/>
                  <a:pt x="154026" y="128742"/>
                  <a:pt x="148549" y="128742"/>
                </a:cubicBezTo>
                <a:lnTo>
                  <a:pt x="24758" y="128742"/>
                </a:lnTo>
                <a:cubicBezTo>
                  <a:pt x="22035" y="128742"/>
                  <a:pt x="19806" y="126514"/>
                  <a:pt x="19806" y="123791"/>
                </a:cubicBezTo>
                <a:lnTo>
                  <a:pt x="19806" y="19806"/>
                </a:lnTo>
                <a:close/>
                <a:moveTo>
                  <a:pt x="145640" y="46607"/>
                </a:moveTo>
                <a:cubicBezTo>
                  <a:pt x="149508" y="42739"/>
                  <a:pt x="149508" y="36456"/>
                  <a:pt x="145640" y="32588"/>
                </a:cubicBezTo>
                <a:cubicBezTo>
                  <a:pt x="141771" y="28719"/>
                  <a:pt x="135489" y="28719"/>
                  <a:pt x="131620" y="32588"/>
                </a:cubicBezTo>
                <a:lnTo>
                  <a:pt x="99032" y="65207"/>
                </a:lnTo>
                <a:lnTo>
                  <a:pt x="81269" y="47474"/>
                </a:lnTo>
                <a:cubicBezTo>
                  <a:pt x="77400" y="43605"/>
                  <a:pt x="71118" y="43605"/>
                  <a:pt x="67249" y="47474"/>
                </a:cubicBezTo>
                <a:lnTo>
                  <a:pt x="37540" y="77183"/>
                </a:lnTo>
                <a:cubicBezTo>
                  <a:pt x="33671" y="81052"/>
                  <a:pt x="33671" y="87334"/>
                  <a:pt x="37540" y="91203"/>
                </a:cubicBezTo>
                <a:cubicBezTo>
                  <a:pt x="41408" y="95071"/>
                  <a:pt x="47690" y="95071"/>
                  <a:pt x="51559" y="91203"/>
                </a:cubicBezTo>
                <a:lnTo>
                  <a:pt x="74274" y="68487"/>
                </a:lnTo>
                <a:lnTo>
                  <a:pt x="92038" y="86251"/>
                </a:lnTo>
                <a:cubicBezTo>
                  <a:pt x="95907" y="90120"/>
                  <a:pt x="102189" y="90120"/>
                  <a:pt x="106058" y="86251"/>
                </a:cubicBezTo>
                <a:lnTo>
                  <a:pt x="145671" y="4663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6782956" y="3000027"/>
            <a:ext cx="1126770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Trading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14468" y="3281719"/>
            <a:ext cx="5052858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High-frequency trading platforms requiring minimal latency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70100" y="3714820"/>
            <a:ext cx="5279972" cy="746485"/>
          </a:xfrm>
          <a:custGeom>
            <a:avLst/>
            <a:gdLst/>
            <a:ahLst/>
            <a:cxnLst/>
            <a:rect l="l" t="t" r="r" b="b"/>
            <a:pathLst>
              <a:path w="5279972" h="746485">
                <a:moveTo>
                  <a:pt x="105635" y="0"/>
                </a:moveTo>
                <a:lnTo>
                  <a:pt x="5174337" y="0"/>
                </a:lnTo>
                <a:cubicBezTo>
                  <a:pt x="5232678" y="0"/>
                  <a:pt x="5279972" y="47294"/>
                  <a:pt x="5279972" y="105635"/>
                </a:cubicBezTo>
                <a:lnTo>
                  <a:pt x="5279972" y="640850"/>
                </a:lnTo>
                <a:cubicBezTo>
                  <a:pt x="5279972" y="699190"/>
                  <a:pt x="5232678" y="746485"/>
                  <a:pt x="5174337" y="746485"/>
                </a:cubicBezTo>
                <a:lnTo>
                  <a:pt x="105635" y="746485"/>
                </a:lnTo>
                <a:cubicBezTo>
                  <a:pt x="47294" y="746485"/>
                  <a:pt x="0" y="699190"/>
                  <a:pt x="0" y="640850"/>
                </a:cubicBezTo>
                <a:lnTo>
                  <a:pt x="0" y="105635"/>
                </a:lnTo>
                <a:cubicBezTo>
                  <a:pt x="0" y="47294"/>
                  <a:pt x="47294" y="0"/>
                  <a:pt x="1056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36475" y="3885594"/>
            <a:ext cx="158452" cy="158452"/>
          </a:xfrm>
          <a:custGeom>
            <a:avLst/>
            <a:gdLst/>
            <a:ahLst/>
            <a:cxnLst/>
            <a:rect l="l" t="t" r="r" b="b"/>
            <a:pathLst>
              <a:path w="158452" h="158452">
                <a:moveTo>
                  <a:pt x="54468" y="7427"/>
                </a:moveTo>
                <a:cubicBezTo>
                  <a:pt x="54468" y="3311"/>
                  <a:pt x="51156" y="0"/>
                  <a:pt x="47040" y="0"/>
                </a:cubicBezTo>
                <a:cubicBezTo>
                  <a:pt x="42924" y="0"/>
                  <a:pt x="39613" y="3311"/>
                  <a:pt x="39613" y="7427"/>
                </a:cubicBezTo>
                <a:lnTo>
                  <a:pt x="39613" y="19806"/>
                </a:lnTo>
                <a:cubicBezTo>
                  <a:pt x="28688" y="19806"/>
                  <a:pt x="19806" y="28688"/>
                  <a:pt x="19806" y="39613"/>
                </a:cubicBezTo>
                <a:lnTo>
                  <a:pt x="7427" y="39613"/>
                </a:lnTo>
                <a:cubicBezTo>
                  <a:pt x="3311" y="39613"/>
                  <a:pt x="0" y="42924"/>
                  <a:pt x="0" y="47040"/>
                </a:cubicBezTo>
                <a:cubicBezTo>
                  <a:pt x="0" y="51156"/>
                  <a:pt x="3311" y="54468"/>
                  <a:pt x="7427" y="54468"/>
                </a:cubicBezTo>
                <a:lnTo>
                  <a:pt x="19806" y="54468"/>
                </a:lnTo>
                <a:lnTo>
                  <a:pt x="19806" y="71799"/>
                </a:lnTo>
                <a:lnTo>
                  <a:pt x="7427" y="71799"/>
                </a:lnTo>
                <a:cubicBezTo>
                  <a:pt x="3311" y="71799"/>
                  <a:pt x="0" y="75110"/>
                  <a:pt x="0" y="79226"/>
                </a:cubicBezTo>
                <a:cubicBezTo>
                  <a:pt x="0" y="83342"/>
                  <a:pt x="3311" y="86653"/>
                  <a:pt x="7427" y="86653"/>
                </a:cubicBezTo>
                <a:lnTo>
                  <a:pt x="19806" y="86653"/>
                </a:lnTo>
                <a:lnTo>
                  <a:pt x="19806" y="103984"/>
                </a:lnTo>
                <a:lnTo>
                  <a:pt x="7427" y="103984"/>
                </a:lnTo>
                <a:cubicBezTo>
                  <a:pt x="3311" y="103984"/>
                  <a:pt x="0" y="107296"/>
                  <a:pt x="0" y="111412"/>
                </a:cubicBezTo>
                <a:cubicBezTo>
                  <a:pt x="0" y="115528"/>
                  <a:pt x="3311" y="118839"/>
                  <a:pt x="7427" y="118839"/>
                </a:cubicBezTo>
                <a:lnTo>
                  <a:pt x="19806" y="118839"/>
                </a:lnTo>
                <a:cubicBezTo>
                  <a:pt x="19806" y="129764"/>
                  <a:pt x="28688" y="138645"/>
                  <a:pt x="39613" y="138645"/>
                </a:cubicBezTo>
                <a:lnTo>
                  <a:pt x="39613" y="151025"/>
                </a:lnTo>
                <a:cubicBezTo>
                  <a:pt x="39613" y="155141"/>
                  <a:pt x="42924" y="158452"/>
                  <a:pt x="47040" y="158452"/>
                </a:cubicBezTo>
                <a:cubicBezTo>
                  <a:pt x="51156" y="158452"/>
                  <a:pt x="54468" y="155141"/>
                  <a:pt x="54468" y="151025"/>
                </a:cubicBezTo>
                <a:lnTo>
                  <a:pt x="54468" y="138645"/>
                </a:lnTo>
                <a:lnTo>
                  <a:pt x="71799" y="138645"/>
                </a:lnTo>
                <a:lnTo>
                  <a:pt x="71799" y="151025"/>
                </a:lnTo>
                <a:cubicBezTo>
                  <a:pt x="71799" y="155141"/>
                  <a:pt x="75110" y="158452"/>
                  <a:pt x="79226" y="158452"/>
                </a:cubicBezTo>
                <a:cubicBezTo>
                  <a:pt x="83342" y="158452"/>
                  <a:pt x="86653" y="155141"/>
                  <a:pt x="86653" y="151025"/>
                </a:cubicBezTo>
                <a:lnTo>
                  <a:pt x="86653" y="138645"/>
                </a:lnTo>
                <a:lnTo>
                  <a:pt x="103984" y="138645"/>
                </a:lnTo>
                <a:lnTo>
                  <a:pt x="103984" y="151025"/>
                </a:lnTo>
                <a:cubicBezTo>
                  <a:pt x="103984" y="155141"/>
                  <a:pt x="107296" y="158452"/>
                  <a:pt x="111412" y="158452"/>
                </a:cubicBezTo>
                <a:cubicBezTo>
                  <a:pt x="115528" y="158452"/>
                  <a:pt x="118839" y="155141"/>
                  <a:pt x="118839" y="151025"/>
                </a:cubicBezTo>
                <a:lnTo>
                  <a:pt x="118839" y="138645"/>
                </a:lnTo>
                <a:cubicBezTo>
                  <a:pt x="129764" y="138645"/>
                  <a:pt x="138645" y="129764"/>
                  <a:pt x="138645" y="118839"/>
                </a:cubicBezTo>
                <a:lnTo>
                  <a:pt x="151025" y="118839"/>
                </a:lnTo>
                <a:cubicBezTo>
                  <a:pt x="155141" y="118839"/>
                  <a:pt x="158452" y="115528"/>
                  <a:pt x="158452" y="111412"/>
                </a:cubicBezTo>
                <a:cubicBezTo>
                  <a:pt x="158452" y="107296"/>
                  <a:pt x="155141" y="103984"/>
                  <a:pt x="151025" y="103984"/>
                </a:cubicBezTo>
                <a:lnTo>
                  <a:pt x="138645" y="103984"/>
                </a:lnTo>
                <a:lnTo>
                  <a:pt x="138645" y="86653"/>
                </a:lnTo>
                <a:lnTo>
                  <a:pt x="151025" y="86653"/>
                </a:lnTo>
                <a:cubicBezTo>
                  <a:pt x="155141" y="86653"/>
                  <a:pt x="158452" y="83342"/>
                  <a:pt x="158452" y="79226"/>
                </a:cubicBezTo>
                <a:cubicBezTo>
                  <a:pt x="158452" y="75110"/>
                  <a:pt x="155141" y="71799"/>
                  <a:pt x="151025" y="71799"/>
                </a:cubicBezTo>
                <a:lnTo>
                  <a:pt x="138645" y="71799"/>
                </a:lnTo>
                <a:lnTo>
                  <a:pt x="138645" y="54468"/>
                </a:lnTo>
                <a:lnTo>
                  <a:pt x="151025" y="54468"/>
                </a:lnTo>
                <a:cubicBezTo>
                  <a:pt x="155141" y="54468"/>
                  <a:pt x="158452" y="51156"/>
                  <a:pt x="158452" y="47040"/>
                </a:cubicBezTo>
                <a:cubicBezTo>
                  <a:pt x="158452" y="42924"/>
                  <a:pt x="155141" y="39613"/>
                  <a:pt x="151025" y="39613"/>
                </a:cubicBezTo>
                <a:lnTo>
                  <a:pt x="138645" y="39613"/>
                </a:lnTo>
                <a:cubicBezTo>
                  <a:pt x="138645" y="28688"/>
                  <a:pt x="129764" y="19806"/>
                  <a:pt x="118839" y="19806"/>
                </a:cubicBezTo>
                <a:lnTo>
                  <a:pt x="118839" y="7427"/>
                </a:lnTo>
                <a:cubicBezTo>
                  <a:pt x="118839" y="3311"/>
                  <a:pt x="115528" y="0"/>
                  <a:pt x="111412" y="0"/>
                </a:cubicBezTo>
                <a:cubicBezTo>
                  <a:pt x="107296" y="0"/>
                  <a:pt x="103984" y="3311"/>
                  <a:pt x="103984" y="7427"/>
                </a:cubicBezTo>
                <a:lnTo>
                  <a:pt x="103984" y="19806"/>
                </a:lnTo>
                <a:lnTo>
                  <a:pt x="86653" y="19806"/>
                </a:lnTo>
                <a:lnTo>
                  <a:pt x="86653" y="7427"/>
                </a:lnTo>
                <a:cubicBezTo>
                  <a:pt x="86653" y="3311"/>
                  <a:pt x="83342" y="0"/>
                  <a:pt x="79226" y="0"/>
                </a:cubicBezTo>
                <a:cubicBezTo>
                  <a:pt x="75110" y="0"/>
                  <a:pt x="71799" y="3311"/>
                  <a:pt x="71799" y="7427"/>
                </a:cubicBezTo>
                <a:lnTo>
                  <a:pt x="71799" y="19806"/>
                </a:lnTo>
                <a:lnTo>
                  <a:pt x="54468" y="19806"/>
                </a:lnTo>
                <a:lnTo>
                  <a:pt x="54468" y="7427"/>
                </a:lnTo>
                <a:close/>
                <a:moveTo>
                  <a:pt x="49516" y="39613"/>
                </a:moveTo>
                <a:lnTo>
                  <a:pt x="108936" y="39613"/>
                </a:lnTo>
                <a:cubicBezTo>
                  <a:pt x="114413" y="39613"/>
                  <a:pt x="118839" y="44039"/>
                  <a:pt x="118839" y="49516"/>
                </a:cubicBezTo>
                <a:lnTo>
                  <a:pt x="118839" y="108936"/>
                </a:lnTo>
                <a:cubicBezTo>
                  <a:pt x="118839" y="114413"/>
                  <a:pt x="114413" y="118839"/>
                  <a:pt x="108936" y="118839"/>
                </a:cubicBezTo>
                <a:lnTo>
                  <a:pt x="49516" y="118839"/>
                </a:lnTo>
                <a:cubicBezTo>
                  <a:pt x="44039" y="118839"/>
                  <a:pt x="39613" y="114413"/>
                  <a:pt x="39613" y="108936"/>
                </a:cubicBezTo>
                <a:lnTo>
                  <a:pt x="39613" y="49516"/>
                </a:lnTo>
                <a:cubicBezTo>
                  <a:pt x="39613" y="44039"/>
                  <a:pt x="44039" y="39613"/>
                  <a:pt x="49516" y="39613"/>
                </a:cubicBezTo>
                <a:close/>
                <a:moveTo>
                  <a:pt x="54468" y="54468"/>
                </a:moveTo>
                <a:lnTo>
                  <a:pt x="54468" y="103984"/>
                </a:lnTo>
                <a:lnTo>
                  <a:pt x="103984" y="103984"/>
                </a:lnTo>
                <a:lnTo>
                  <a:pt x="103984" y="54468"/>
                </a:lnTo>
                <a:lnTo>
                  <a:pt x="54468" y="5446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8" name="Text 46"/>
          <p:cNvSpPr/>
          <p:nvPr/>
        </p:nvSpPr>
        <p:spPr>
          <a:xfrm>
            <a:off x="6782956" y="3859185"/>
            <a:ext cx="827471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&amp; MQTT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514468" y="4140878"/>
            <a:ext cx="5052858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device communication with TCP/UDP protocols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70100" y="4573982"/>
            <a:ext cx="5279972" cy="746485"/>
          </a:xfrm>
          <a:custGeom>
            <a:avLst/>
            <a:gdLst/>
            <a:ahLst/>
            <a:cxnLst/>
            <a:rect l="l" t="t" r="r" b="b"/>
            <a:pathLst>
              <a:path w="5279972" h="746485">
                <a:moveTo>
                  <a:pt x="105635" y="0"/>
                </a:moveTo>
                <a:lnTo>
                  <a:pt x="5174337" y="0"/>
                </a:lnTo>
                <a:cubicBezTo>
                  <a:pt x="5232678" y="0"/>
                  <a:pt x="5279972" y="47294"/>
                  <a:pt x="5279972" y="105635"/>
                </a:cubicBezTo>
                <a:lnTo>
                  <a:pt x="5279972" y="640850"/>
                </a:lnTo>
                <a:cubicBezTo>
                  <a:pt x="5279972" y="699190"/>
                  <a:pt x="5232678" y="746485"/>
                  <a:pt x="5174337" y="746485"/>
                </a:cubicBezTo>
                <a:lnTo>
                  <a:pt x="105635" y="746485"/>
                </a:lnTo>
                <a:cubicBezTo>
                  <a:pt x="47294" y="746485"/>
                  <a:pt x="0" y="699190"/>
                  <a:pt x="0" y="640850"/>
                </a:cubicBezTo>
                <a:lnTo>
                  <a:pt x="0" y="105635"/>
                </a:lnTo>
                <a:cubicBezTo>
                  <a:pt x="0" y="47294"/>
                  <a:pt x="47294" y="0"/>
                  <a:pt x="1056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56281" y="4744757"/>
            <a:ext cx="118839" cy="158452"/>
          </a:xfrm>
          <a:custGeom>
            <a:avLst/>
            <a:gdLst/>
            <a:ahLst/>
            <a:cxnLst/>
            <a:rect l="l" t="t" r="r" b="b"/>
            <a:pathLst>
              <a:path w="118839" h="158452">
                <a:moveTo>
                  <a:pt x="39613" y="29710"/>
                </a:moveTo>
                <a:lnTo>
                  <a:pt x="39613" y="49516"/>
                </a:lnTo>
                <a:lnTo>
                  <a:pt x="79226" y="49516"/>
                </a:lnTo>
                <a:lnTo>
                  <a:pt x="79226" y="29710"/>
                </a:lnTo>
                <a:cubicBezTo>
                  <a:pt x="79226" y="18785"/>
                  <a:pt x="70344" y="9903"/>
                  <a:pt x="59419" y="9903"/>
                </a:cubicBezTo>
                <a:cubicBezTo>
                  <a:pt x="48495" y="9903"/>
                  <a:pt x="39613" y="18785"/>
                  <a:pt x="39613" y="29710"/>
                </a:cubicBezTo>
                <a:close/>
                <a:moveTo>
                  <a:pt x="19806" y="49516"/>
                </a:moveTo>
                <a:lnTo>
                  <a:pt x="19806" y="29710"/>
                </a:lnTo>
                <a:cubicBezTo>
                  <a:pt x="19806" y="7830"/>
                  <a:pt x="37540" y="-9903"/>
                  <a:pt x="59419" y="-9903"/>
                </a:cubicBezTo>
                <a:cubicBezTo>
                  <a:pt x="81299" y="-9903"/>
                  <a:pt x="99032" y="7830"/>
                  <a:pt x="99032" y="29710"/>
                </a:cubicBezTo>
                <a:lnTo>
                  <a:pt x="99032" y="49516"/>
                </a:lnTo>
                <a:cubicBezTo>
                  <a:pt x="109957" y="49516"/>
                  <a:pt x="118839" y="58398"/>
                  <a:pt x="118839" y="69323"/>
                </a:cubicBezTo>
                <a:lnTo>
                  <a:pt x="118839" y="138645"/>
                </a:lnTo>
                <a:cubicBezTo>
                  <a:pt x="118839" y="149570"/>
                  <a:pt x="109957" y="158452"/>
                  <a:pt x="99032" y="158452"/>
                </a:cubicBezTo>
                <a:lnTo>
                  <a:pt x="19806" y="158452"/>
                </a:lnTo>
                <a:cubicBezTo>
                  <a:pt x="8882" y="158452"/>
                  <a:pt x="0" y="149570"/>
                  <a:pt x="0" y="138645"/>
                </a:cubicBezTo>
                <a:lnTo>
                  <a:pt x="0" y="69323"/>
                </a:lnTo>
                <a:cubicBezTo>
                  <a:pt x="0" y="58398"/>
                  <a:pt x="8882" y="49516"/>
                  <a:pt x="19806" y="4951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2" name="Text 50"/>
          <p:cNvSpPr/>
          <p:nvPr/>
        </p:nvSpPr>
        <p:spPr>
          <a:xfrm>
            <a:off x="6782956" y="4718348"/>
            <a:ext cx="1470082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PrivateLink Integration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514468" y="5000040"/>
            <a:ext cx="5052858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Expose services via AWS PrivateLink with static IPs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87000" y="5595469"/>
            <a:ext cx="5649694" cy="1204235"/>
          </a:xfrm>
          <a:custGeom>
            <a:avLst/>
            <a:gdLst/>
            <a:ahLst/>
            <a:cxnLst/>
            <a:rect l="l" t="t" r="r" b="b"/>
            <a:pathLst>
              <a:path w="5649694" h="1204235">
                <a:moveTo>
                  <a:pt x="140847" y="0"/>
                </a:moveTo>
                <a:lnTo>
                  <a:pt x="5508846" y="0"/>
                </a:lnTo>
                <a:cubicBezTo>
                  <a:pt x="5586634" y="0"/>
                  <a:pt x="5649694" y="63060"/>
                  <a:pt x="5649694" y="140847"/>
                </a:cubicBezTo>
                <a:lnTo>
                  <a:pt x="5649694" y="1063388"/>
                </a:lnTo>
                <a:cubicBezTo>
                  <a:pt x="5649694" y="1141176"/>
                  <a:pt x="5586634" y="1204235"/>
                  <a:pt x="5508846" y="1204235"/>
                </a:cubicBezTo>
                <a:lnTo>
                  <a:pt x="140847" y="1204235"/>
                </a:lnTo>
                <a:cubicBezTo>
                  <a:pt x="63112" y="1204235"/>
                  <a:pt x="0" y="1141124"/>
                  <a:pt x="0" y="1063388"/>
                </a:cubicBezTo>
                <a:lnTo>
                  <a:pt x="0" y="140847"/>
                </a:lnTo>
                <a:cubicBezTo>
                  <a:pt x="0" y="63060"/>
                  <a:pt x="63059" y="0"/>
                  <a:pt x="140847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31367" y="5739835"/>
            <a:ext cx="5431382" cy="2112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Comparison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31367" y="6021527"/>
            <a:ext cx="677822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ALB Hourly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501075" y="6021527"/>
            <a:ext cx="1250010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~$0.0225/hour + LCU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31367" y="6268008"/>
            <a:ext cx="686625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NLB Hourly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410956" y="6268008"/>
            <a:ext cx="1338039" cy="176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~$0.0225/hour + NLCU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31367" y="6514489"/>
            <a:ext cx="5413776" cy="140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Both use capacity units based on connections and bandwidth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1106" y="341106"/>
            <a:ext cx="1180361" cy="310710"/>
          </a:xfrm>
          <a:custGeom>
            <a:avLst/>
            <a:gdLst/>
            <a:ahLst/>
            <a:cxnLst/>
            <a:rect l="l" t="t" r="r" b="b"/>
            <a:pathLst>
              <a:path w="1180361" h="310710">
                <a:moveTo>
                  <a:pt x="155355" y="0"/>
                </a:moveTo>
                <a:lnTo>
                  <a:pt x="1025006" y="0"/>
                </a:lnTo>
                <a:cubicBezTo>
                  <a:pt x="1110806" y="0"/>
                  <a:pt x="1180361" y="69555"/>
                  <a:pt x="1180361" y="155355"/>
                </a:cubicBezTo>
                <a:lnTo>
                  <a:pt x="1180361" y="155355"/>
                </a:lnTo>
                <a:cubicBezTo>
                  <a:pt x="1180361" y="241155"/>
                  <a:pt x="1110806" y="310710"/>
                  <a:pt x="1025006" y="310710"/>
                </a:cubicBezTo>
                <a:lnTo>
                  <a:pt x="155355" y="310710"/>
                </a:lnTo>
                <a:cubicBezTo>
                  <a:pt x="69612" y="310710"/>
                  <a:pt x="0" y="241098"/>
                  <a:pt x="0" y="155355"/>
                </a:cubicBezTo>
                <a:lnTo>
                  <a:pt x="0" y="155355"/>
                </a:lnTo>
                <a:cubicBezTo>
                  <a:pt x="0" y="69612"/>
                  <a:pt x="69612" y="0"/>
                  <a:pt x="15535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81685" y="437361"/>
            <a:ext cx="147756" cy="118205"/>
          </a:xfrm>
          <a:custGeom>
            <a:avLst/>
            <a:gdLst/>
            <a:ahLst/>
            <a:cxnLst/>
            <a:rect l="l" t="t" r="r" b="b"/>
            <a:pathLst>
              <a:path w="147756" h="118205">
                <a:moveTo>
                  <a:pt x="96018" y="48598"/>
                </a:moveTo>
                <a:cubicBezTo>
                  <a:pt x="98835" y="47836"/>
                  <a:pt x="101790" y="49175"/>
                  <a:pt x="103060" y="51784"/>
                </a:cubicBezTo>
                <a:lnTo>
                  <a:pt x="107354" y="60465"/>
                </a:lnTo>
                <a:cubicBezTo>
                  <a:pt x="109732" y="60788"/>
                  <a:pt x="112064" y="61434"/>
                  <a:pt x="114257" y="62335"/>
                </a:cubicBezTo>
                <a:lnTo>
                  <a:pt x="122338" y="56955"/>
                </a:lnTo>
                <a:cubicBezTo>
                  <a:pt x="124762" y="55339"/>
                  <a:pt x="127971" y="55663"/>
                  <a:pt x="130025" y="57717"/>
                </a:cubicBezTo>
                <a:lnTo>
                  <a:pt x="134458" y="62150"/>
                </a:lnTo>
                <a:cubicBezTo>
                  <a:pt x="136513" y="64205"/>
                  <a:pt x="136836" y="67437"/>
                  <a:pt x="135220" y="69838"/>
                </a:cubicBezTo>
                <a:lnTo>
                  <a:pt x="129841" y="77895"/>
                </a:lnTo>
                <a:cubicBezTo>
                  <a:pt x="130279" y="78980"/>
                  <a:pt x="130672" y="80112"/>
                  <a:pt x="130995" y="81289"/>
                </a:cubicBezTo>
                <a:cubicBezTo>
                  <a:pt x="131318" y="82466"/>
                  <a:pt x="131526" y="83621"/>
                  <a:pt x="131688" y="84798"/>
                </a:cubicBezTo>
                <a:lnTo>
                  <a:pt x="140392" y="89092"/>
                </a:lnTo>
                <a:cubicBezTo>
                  <a:pt x="143000" y="90385"/>
                  <a:pt x="144339" y="93340"/>
                  <a:pt x="143578" y="96134"/>
                </a:cubicBezTo>
                <a:lnTo>
                  <a:pt x="141961" y="102183"/>
                </a:lnTo>
                <a:cubicBezTo>
                  <a:pt x="141200" y="104976"/>
                  <a:pt x="138591" y="106869"/>
                  <a:pt x="135682" y="106685"/>
                </a:cubicBezTo>
                <a:lnTo>
                  <a:pt x="125985" y="106061"/>
                </a:lnTo>
                <a:cubicBezTo>
                  <a:pt x="124531" y="107931"/>
                  <a:pt x="122845" y="109663"/>
                  <a:pt x="120929" y="111140"/>
                </a:cubicBezTo>
                <a:lnTo>
                  <a:pt x="121553" y="120814"/>
                </a:lnTo>
                <a:cubicBezTo>
                  <a:pt x="121737" y="123723"/>
                  <a:pt x="119844" y="126355"/>
                  <a:pt x="117051" y="127093"/>
                </a:cubicBezTo>
                <a:lnTo>
                  <a:pt x="111002" y="128710"/>
                </a:lnTo>
                <a:cubicBezTo>
                  <a:pt x="108185" y="129471"/>
                  <a:pt x="105253" y="128132"/>
                  <a:pt x="103960" y="125524"/>
                </a:cubicBezTo>
                <a:lnTo>
                  <a:pt x="99666" y="116843"/>
                </a:lnTo>
                <a:cubicBezTo>
                  <a:pt x="97288" y="116520"/>
                  <a:pt x="94956" y="115873"/>
                  <a:pt x="92763" y="114973"/>
                </a:cubicBezTo>
                <a:lnTo>
                  <a:pt x="84683" y="120352"/>
                </a:lnTo>
                <a:cubicBezTo>
                  <a:pt x="82259" y="121968"/>
                  <a:pt x="79050" y="121645"/>
                  <a:pt x="76995" y="119590"/>
                </a:cubicBezTo>
                <a:lnTo>
                  <a:pt x="72562" y="115158"/>
                </a:lnTo>
                <a:cubicBezTo>
                  <a:pt x="70507" y="113103"/>
                  <a:pt x="70184" y="109894"/>
                  <a:pt x="71800" y="107470"/>
                </a:cubicBezTo>
                <a:lnTo>
                  <a:pt x="77180" y="99389"/>
                </a:lnTo>
                <a:cubicBezTo>
                  <a:pt x="76741" y="98304"/>
                  <a:pt x="76348" y="97173"/>
                  <a:pt x="76025" y="95995"/>
                </a:cubicBezTo>
                <a:cubicBezTo>
                  <a:pt x="75702" y="94818"/>
                  <a:pt x="75494" y="93641"/>
                  <a:pt x="75333" y="92486"/>
                </a:cubicBezTo>
                <a:lnTo>
                  <a:pt x="66629" y="88192"/>
                </a:lnTo>
                <a:cubicBezTo>
                  <a:pt x="64020" y="86899"/>
                  <a:pt x="62704" y="83944"/>
                  <a:pt x="63443" y="81150"/>
                </a:cubicBezTo>
                <a:lnTo>
                  <a:pt x="65059" y="75102"/>
                </a:lnTo>
                <a:cubicBezTo>
                  <a:pt x="65821" y="72308"/>
                  <a:pt x="68430" y="70415"/>
                  <a:pt x="71339" y="70600"/>
                </a:cubicBezTo>
                <a:lnTo>
                  <a:pt x="81012" y="71223"/>
                </a:lnTo>
                <a:cubicBezTo>
                  <a:pt x="82466" y="69353"/>
                  <a:pt x="84152" y="67622"/>
                  <a:pt x="86068" y="66144"/>
                </a:cubicBezTo>
                <a:lnTo>
                  <a:pt x="85445" y="56494"/>
                </a:lnTo>
                <a:cubicBezTo>
                  <a:pt x="85260" y="53585"/>
                  <a:pt x="87153" y="50953"/>
                  <a:pt x="89947" y="50214"/>
                </a:cubicBezTo>
                <a:lnTo>
                  <a:pt x="95995" y="48598"/>
                </a:lnTo>
                <a:close/>
                <a:moveTo>
                  <a:pt x="103522" y="78495"/>
                </a:moveTo>
                <a:cubicBezTo>
                  <a:pt x="97915" y="78502"/>
                  <a:pt x="93369" y="83059"/>
                  <a:pt x="93375" y="88665"/>
                </a:cubicBezTo>
                <a:cubicBezTo>
                  <a:pt x="93381" y="94272"/>
                  <a:pt x="97938" y="98818"/>
                  <a:pt x="103545" y="98812"/>
                </a:cubicBezTo>
                <a:cubicBezTo>
                  <a:pt x="109151" y="98806"/>
                  <a:pt x="113698" y="94249"/>
                  <a:pt x="113691" y="88642"/>
                </a:cubicBezTo>
                <a:cubicBezTo>
                  <a:pt x="113685" y="83036"/>
                  <a:pt x="109128" y="78489"/>
                  <a:pt x="103522" y="78495"/>
                </a:cubicBezTo>
                <a:close/>
                <a:moveTo>
                  <a:pt x="51922" y="-10505"/>
                </a:moveTo>
                <a:lnTo>
                  <a:pt x="57971" y="-8888"/>
                </a:lnTo>
                <a:cubicBezTo>
                  <a:pt x="60765" y="-8127"/>
                  <a:pt x="62658" y="-5495"/>
                  <a:pt x="62473" y="-2609"/>
                </a:cubicBezTo>
                <a:lnTo>
                  <a:pt x="61850" y="7042"/>
                </a:lnTo>
                <a:cubicBezTo>
                  <a:pt x="63766" y="8519"/>
                  <a:pt x="65451" y="10228"/>
                  <a:pt x="66906" y="12121"/>
                </a:cubicBezTo>
                <a:lnTo>
                  <a:pt x="76602" y="11497"/>
                </a:lnTo>
                <a:cubicBezTo>
                  <a:pt x="79488" y="11313"/>
                  <a:pt x="82120" y="13206"/>
                  <a:pt x="82882" y="15999"/>
                </a:cubicBezTo>
                <a:lnTo>
                  <a:pt x="84498" y="22048"/>
                </a:lnTo>
                <a:cubicBezTo>
                  <a:pt x="85237" y="24842"/>
                  <a:pt x="83921" y="27797"/>
                  <a:pt x="81312" y="29090"/>
                </a:cubicBezTo>
                <a:lnTo>
                  <a:pt x="72608" y="33384"/>
                </a:lnTo>
                <a:cubicBezTo>
                  <a:pt x="72447" y="34561"/>
                  <a:pt x="72216" y="35739"/>
                  <a:pt x="71916" y="36893"/>
                </a:cubicBezTo>
                <a:cubicBezTo>
                  <a:pt x="71616" y="38047"/>
                  <a:pt x="71200" y="39202"/>
                  <a:pt x="70761" y="40287"/>
                </a:cubicBezTo>
                <a:lnTo>
                  <a:pt x="76141" y="48367"/>
                </a:lnTo>
                <a:cubicBezTo>
                  <a:pt x="77757" y="50791"/>
                  <a:pt x="77434" y="54000"/>
                  <a:pt x="75379" y="56055"/>
                </a:cubicBezTo>
                <a:lnTo>
                  <a:pt x="70946" y="60488"/>
                </a:lnTo>
                <a:cubicBezTo>
                  <a:pt x="68891" y="62542"/>
                  <a:pt x="65682" y="62866"/>
                  <a:pt x="63258" y="61250"/>
                </a:cubicBezTo>
                <a:lnTo>
                  <a:pt x="55178" y="55870"/>
                </a:lnTo>
                <a:cubicBezTo>
                  <a:pt x="52984" y="56771"/>
                  <a:pt x="50653" y="57417"/>
                  <a:pt x="48275" y="57740"/>
                </a:cubicBezTo>
                <a:lnTo>
                  <a:pt x="43981" y="66421"/>
                </a:lnTo>
                <a:cubicBezTo>
                  <a:pt x="42688" y="69030"/>
                  <a:pt x="39733" y="70346"/>
                  <a:pt x="36939" y="69607"/>
                </a:cubicBezTo>
                <a:lnTo>
                  <a:pt x="30890" y="67991"/>
                </a:lnTo>
                <a:cubicBezTo>
                  <a:pt x="28074" y="67229"/>
                  <a:pt x="26204" y="64597"/>
                  <a:pt x="26388" y="61711"/>
                </a:cubicBezTo>
                <a:lnTo>
                  <a:pt x="27012" y="52038"/>
                </a:lnTo>
                <a:cubicBezTo>
                  <a:pt x="25095" y="50560"/>
                  <a:pt x="23410" y="48852"/>
                  <a:pt x="21956" y="46959"/>
                </a:cubicBezTo>
                <a:lnTo>
                  <a:pt x="12259" y="47582"/>
                </a:lnTo>
                <a:cubicBezTo>
                  <a:pt x="9373" y="47767"/>
                  <a:pt x="6741" y="45874"/>
                  <a:pt x="5980" y="43080"/>
                </a:cubicBezTo>
                <a:lnTo>
                  <a:pt x="4363" y="37031"/>
                </a:lnTo>
                <a:cubicBezTo>
                  <a:pt x="3625" y="34238"/>
                  <a:pt x="4941" y="31283"/>
                  <a:pt x="7549" y="29990"/>
                </a:cubicBezTo>
                <a:lnTo>
                  <a:pt x="16253" y="25696"/>
                </a:lnTo>
                <a:cubicBezTo>
                  <a:pt x="16415" y="24518"/>
                  <a:pt x="16646" y="23364"/>
                  <a:pt x="16946" y="22187"/>
                </a:cubicBezTo>
                <a:cubicBezTo>
                  <a:pt x="17269" y="21009"/>
                  <a:pt x="17638" y="19878"/>
                  <a:pt x="18100" y="18793"/>
                </a:cubicBezTo>
                <a:lnTo>
                  <a:pt x="12721" y="10735"/>
                </a:lnTo>
                <a:cubicBezTo>
                  <a:pt x="11105" y="8311"/>
                  <a:pt x="11428" y="5102"/>
                  <a:pt x="13483" y="3047"/>
                </a:cubicBezTo>
                <a:lnTo>
                  <a:pt x="17915" y="-1385"/>
                </a:lnTo>
                <a:cubicBezTo>
                  <a:pt x="19970" y="-3440"/>
                  <a:pt x="23179" y="-3763"/>
                  <a:pt x="25603" y="-2147"/>
                </a:cubicBezTo>
                <a:lnTo>
                  <a:pt x="33684" y="3232"/>
                </a:lnTo>
                <a:cubicBezTo>
                  <a:pt x="35877" y="2332"/>
                  <a:pt x="38209" y="1685"/>
                  <a:pt x="40587" y="1362"/>
                </a:cubicBezTo>
                <a:lnTo>
                  <a:pt x="44881" y="-7319"/>
                </a:lnTo>
                <a:cubicBezTo>
                  <a:pt x="46174" y="-9927"/>
                  <a:pt x="49106" y="-11243"/>
                  <a:pt x="51922" y="-10505"/>
                </a:cubicBezTo>
                <a:close/>
                <a:moveTo>
                  <a:pt x="44419" y="19393"/>
                </a:moveTo>
                <a:cubicBezTo>
                  <a:pt x="38813" y="19393"/>
                  <a:pt x="34261" y="23945"/>
                  <a:pt x="34261" y="29551"/>
                </a:cubicBezTo>
                <a:cubicBezTo>
                  <a:pt x="34261" y="35158"/>
                  <a:pt x="38813" y="39709"/>
                  <a:pt x="44419" y="39709"/>
                </a:cubicBezTo>
                <a:cubicBezTo>
                  <a:pt x="50026" y="39709"/>
                  <a:pt x="54577" y="35158"/>
                  <a:pt x="54577" y="29551"/>
                </a:cubicBezTo>
                <a:cubicBezTo>
                  <a:pt x="54577" y="23945"/>
                  <a:pt x="50026" y="19393"/>
                  <a:pt x="44419" y="1939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94876" y="412031"/>
            <a:ext cx="743003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kern="0" spc="4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37729" y="756513"/>
            <a:ext cx="11668521" cy="337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9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Balancer Advanced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37729" y="1195560"/>
            <a:ext cx="810548" cy="33773"/>
          </a:xfrm>
          <a:custGeom>
            <a:avLst/>
            <a:gdLst/>
            <a:ahLst/>
            <a:cxnLst/>
            <a:rect l="l" t="t" r="r" b="b"/>
            <a:pathLst>
              <a:path w="810548" h="33773">
                <a:moveTo>
                  <a:pt x="0" y="0"/>
                </a:moveTo>
                <a:lnTo>
                  <a:pt x="810548" y="0"/>
                </a:lnTo>
                <a:lnTo>
                  <a:pt x="810548" y="33773"/>
                </a:lnTo>
                <a:lnTo>
                  <a:pt x="0" y="33773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41106" y="1367801"/>
            <a:ext cx="5663707" cy="3367153"/>
          </a:xfrm>
          <a:custGeom>
            <a:avLst/>
            <a:gdLst/>
            <a:ahLst/>
            <a:cxnLst/>
            <a:rect l="l" t="t" r="r" b="b"/>
            <a:pathLst>
              <a:path w="5663707" h="3367153">
                <a:moveTo>
                  <a:pt x="135090" y="0"/>
                </a:moveTo>
                <a:lnTo>
                  <a:pt x="5528617" y="0"/>
                </a:lnTo>
                <a:cubicBezTo>
                  <a:pt x="5603226" y="0"/>
                  <a:pt x="5663707" y="60482"/>
                  <a:pt x="5663707" y="135090"/>
                </a:cubicBezTo>
                <a:lnTo>
                  <a:pt x="5663707" y="3232063"/>
                </a:lnTo>
                <a:cubicBezTo>
                  <a:pt x="5663707" y="3306672"/>
                  <a:pt x="5603226" y="3367153"/>
                  <a:pt x="5528617" y="3367153"/>
                </a:cubicBezTo>
                <a:lnTo>
                  <a:pt x="135090" y="3367153"/>
                </a:lnTo>
                <a:cubicBezTo>
                  <a:pt x="60482" y="3367153"/>
                  <a:pt x="0" y="3306672"/>
                  <a:pt x="0" y="3232063"/>
                </a:cubicBezTo>
                <a:lnTo>
                  <a:pt x="0" y="135090"/>
                </a:lnTo>
                <a:cubicBezTo>
                  <a:pt x="0" y="60532"/>
                  <a:pt x="60532" y="0"/>
                  <a:pt x="13509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3347" y="1540041"/>
            <a:ext cx="405274" cy="405274"/>
          </a:xfrm>
          <a:custGeom>
            <a:avLst/>
            <a:gdLst/>
            <a:ahLst/>
            <a:cxnLst/>
            <a:rect l="l" t="t" r="r" b="b"/>
            <a:pathLst>
              <a:path w="405274" h="405274">
                <a:moveTo>
                  <a:pt x="101319" y="0"/>
                </a:moveTo>
                <a:lnTo>
                  <a:pt x="303956" y="0"/>
                </a:lnTo>
                <a:cubicBezTo>
                  <a:pt x="359912" y="0"/>
                  <a:pt x="405274" y="45362"/>
                  <a:pt x="405274" y="101319"/>
                </a:cubicBezTo>
                <a:lnTo>
                  <a:pt x="405274" y="303956"/>
                </a:lnTo>
                <a:cubicBezTo>
                  <a:pt x="405274" y="359912"/>
                  <a:pt x="359912" y="405274"/>
                  <a:pt x="303956" y="405274"/>
                </a:cubicBezTo>
                <a:lnTo>
                  <a:pt x="101319" y="405274"/>
                </a:lnTo>
                <a:cubicBezTo>
                  <a:pt x="45362" y="405274"/>
                  <a:pt x="0" y="359912"/>
                  <a:pt x="0" y="303956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1552" y="1658246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84432" y="0"/>
                </a:moveTo>
                <a:cubicBezTo>
                  <a:pt x="85949" y="0"/>
                  <a:pt x="87466" y="330"/>
                  <a:pt x="88852" y="956"/>
                </a:cubicBezTo>
                <a:lnTo>
                  <a:pt x="150988" y="27309"/>
                </a:lnTo>
                <a:cubicBezTo>
                  <a:pt x="158244" y="30376"/>
                  <a:pt x="163653" y="37533"/>
                  <a:pt x="163620" y="46174"/>
                </a:cubicBezTo>
                <a:cubicBezTo>
                  <a:pt x="163455" y="78891"/>
                  <a:pt x="149999" y="138752"/>
                  <a:pt x="93172" y="165962"/>
                </a:cubicBezTo>
                <a:cubicBezTo>
                  <a:pt x="87664" y="168600"/>
                  <a:pt x="81266" y="168600"/>
                  <a:pt x="75758" y="165962"/>
                </a:cubicBezTo>
                <a:cubicBezTo>
                  <a:pt x="18898" y="138752"/>
                  <a:pt x="5475" y="78891"/>
                  <a:pt x="5310" y="46174"/>
                </a:cubicBezTo>
                <a:cubicBezTo>
                  <a:pt x="5277" y="37533"/>
                  <a:pt x="10686" y="30376"/>
                  <a:pt x="17942" y="27309"/>
                </a:cubicBezTo>
                <a:lnTo>
                  <a:pt x="80046" y="956"/>
                </a:lnTo>
                <a:cubicBezTo>
                  <a:pt x="81431" y="330"/>
                  <a:pt x="82915" y="0"/>
                  <a:pt x="84432" y="0"/>
                </a:cubicBezTo>
                <a:close/>
                <a:moveTo>
                  <a:pt x="84432" y="22032"/>
                </a:moveTo>
                <a:lnTo>
                  <a:pt x="84432" y="146734"/>
                </a:lnTo>
                <a:cubicBezTo>
                  <a:pt x="129946" y="124702"/>
                  <a:pt x="142182" y="75890"/>
                  <a:pt x="142479" y="46669"/>
                </a:cubicBezTo>
                <a:lnTo>
                  <a:pt x="84432" y="22064"/>
                </a:lnTo>
                <a:lnTo>
                  <a:pt x="84432" y="2206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19940" y="1540041"/>
            <a:ext cx="1671756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SSL/TLS Termination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9940" y="1776451"/>
            <a:ext cx="1646427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Encryption Offloading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3347" y="2080407"/>
            <a:ext cx="5386770" cy="43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load balancer handles SSL/TLS encryption/decryption, offloading this computationally intensive work from backend instances.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6725" y="2657923"/>
            <a:ext cx="5317536" cy="1425214"/>
          </a:xfrm>
          <a:custGeom>
            <a:avLst/>
            <a:gdLst/>
            <a:ahLst/>
            <a:cxnLst/>
            <a:rect l="l" t="t" r="r" b="b"/>
            <a:pathLst>
              <a:path w="5317536" h="1425214">
                <a:moveTo>
                  <a:pt x="101318" y="0"/>
                </a:moveTo>
                <a:lnTo>
                  <a:pt x="5216217" y="0"/>
                </a:lnTo>
                <a:cubicBezTo>
                  <a:pt x="5272174" y="0"/>
                  <a:pt x="5317536" y="45362"/>
                  <a:pt x="5317536" y="101318"/>
                </a:cubicBezTo>
                <a:lnTo>
                  <a:pt x="5317536" y="1323896"/>
                </a:lnTo>
                <a:cubicBezTo>
                  <a:pt x="5317536" y="1379853"/>
                  <a:pt x="5272174" y="1425214"/>
                  <a:pt x="5216217" y="1425214"/>
                </a:cubicBezTo>
                <a:lnTo>
                  <a:pt x="101318" y="1425214"/>
                </a:lnTo>
                <a:cubicBezTo>
                  <a:pt x="45362" y="1425214"/>
                  <a:pt x="0" y="1379853"/>
                  <a:pt x="0" y="1323896"/>
                </a:cubicBezTo>
                <a:lnTo>
                  <a:pt x="0" y="101318"/>
                </a:lnTo>
                <a:cubicBezTo>
                  <a:pt x="0" y="45362"/>
                  <a:pt x="45362" y="0"/>
                  <a:pt x="101318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193" y="2796394"/>
            <a:ext cx="509970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9468" y="3100350"/>
            <a:ext cx="103429" cy="118205"/>
          </a:xfrm>
          <a:custGeom>
            <a:avLst/>
            <a:gdLst/>
            <a:ahLst/>
            <a:cxnLst/>
            <a:rect l="l" t="t" r="r" b="b"/>
            <a:pathLst>
              <a:path w="103429" h="118205">
                <a:moveTo>
                  <a:pt x="100382" y="16184"/>
                </a:moveTo>
                <a:cubicBezTo>
                  <a:pt x="103683" y="18585"/>
                  <a:pt x="104422" y="23202"/>
                  <a:pt x="102021" y="26504"/>
                </a:cubicBezTo>
                <a:lnTo>
                  <a:pt x="42919" y="107770"/>
                </a:lnTo>
                <a:cubicBezTo>
                  <a:pt x="41649" y="109524"/>
                  <a:pt x="39686" y="110609"/>
                  <a:pt x="37516" y="110794"/>
                </a:cubicBezTo>
                <a:cubicBezTo>
                  <a:pt x="35346" y="110979"/>
                  <a:pt x="33245" y="110171"/>
                  <a:pt x="31721" y="108647"/>
                </a:cubicBezTo>
                <a:lnTo>
                  <a:pt x="2170" y="79096"/>
                </a:lnTo>
                <a:cubicBezTo>
                  <a:pt x="-716" y="76210"/>
                  <a:pt x="-716" y="71523"/>
                  <a:pt x="2170" y="68637"/>
                </a:cubicBezTo>
                <a:cubicBezTo>
                  <a:pt x="5056" y="65752"/>
                  <a:pt x="9743" y="65752"/>
                  <a:pt x="12629" y="68637"/>
                </a:cubicBezTo>
                <a:lnTo>
                  <a:pt x="36062" y="92071"/>
                </a:lnTo>
                <a:lnTo>
                  <a:pt x="90085" y="17800"/>
                </a:lnTo>
                <a:cubicBezTo>
                  <a:pt x="92486" y="14499"/>
                  <a:pt x="97104" y="13760"/>
                  <a:pt x="100405" y="1616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70495" y="3066577"/>
            <a:ext cx="3622139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Certificate Management:</a:t>
            </a:r>
            <a:r>
              <a:rPr lang="en-US" sz="93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Store and manage SSL certificates via ACM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9468" y="3336760"/>
            <a:ext cx="103429" cy="118205"/>
          </a:xfrm>
          <a:custGeom>
            <a:avLst/>
            <a:gdLst/>
            <a:ahLst/>
            <a:cxnLst/>
            <a:rect l="l" t="t" r="r" b="b"/>
            <a:pathLst>
              <a:path w="103429" h="118205">
                <a:moveTo>
                  <a:pt x="100382" y="16184"/>
                </a:moveTo>
                <a:cubicBezTo>
                  <a:pt x="103683" y="18585"/>
                  <a:pt x="104422" y="23202"/>
                  <a:pt x="102021" y="26504"/>
                </a:cubicBezTo>
                <a:lnTo>
                  <a:pt x="42919" y="107770"/>
                </a:lnTo>
                <a:cubicBezTo>
                  <a:pt x="41649" y="109524"/>
                  <a:pt x="39686" y="110609"/>
                  <a:pt x="37516" y="110794"/>
                </a:cubicBezTo>
                <a:cubicBezTo>
                  <a:pt x="35346" y="110979"/>
                  <a:pt x="33245" y="110171"/>
                  <a:pt x="31721" y="108647"/>
                </a:cubicBezTo>
                <a:lnTo>
                  <a:pt x="2170" y="79096"/>
                </a:lnTo>
                <a:cubicBezTo>
                  <a:pt x="-716" y="76210"/>
                  <a:pt x="-716" y="71523"/>
                  <a:pt x="2170" y="68637"/>
                </a:cubicBezTo>
                <a:cubicBezTo>
                  <a:pt x="5056" y="65752"/>
                  <a:pt x="9743" y="65752"/>
                  <a:pt x="12629" y="68637"/>
                </a:cubicBezTo>
                <a:lnTo>
                  <a:pt x="36062" y="92071"/>
                </a:lnTo>
                <a:lnTo>
                  <a:pt x="90085" y="17800"/>
                </a:lnTo>
                <a:cubicBezTo>
                  <a:pt x="92486" y="14499"/>
                  <a:pt x="97104" y="13760"/>
                  <a:pt x="100405" y="1616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70495" y="3302987"/>
            <a:ext cx="297201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SNI Support:</a:t>
            </a:r>
            <a:r>
              <a:rPr lang="en-US" sz="93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Serve multiple certificates on same listener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9468" y="3573170"/>
            <a:ext cx="103429" cy="118205"/>
          </a:xfrm>
          <a:custGeom>
            <a:avLst/>
            <a:gdLst/>
            <a:ahLst/>
            <a:cxnLst/>
            <a:rect l="l" t="t" r="r" b="b"/>
            <a:pathLst>
              <a:path w="103429" h="118205">
                <a:moveTo>
                  <a:pt x="100382" y="16184"/>
                </a:moveTo>
                <a:cubicBezTo>
                  <a:pt x="103683" y="18585"/>
                  <a:pt x="104422" y="23202"/>
                  <a:pt x="102021" y="26504"/>
                </a:cubicBezTo>
                <a:lnTo>
                  <a:pt x="42919" y="107770"/>
                </a:lnTo>
                <a:cubicBezTo>
                  <a:pt x="41649" y="109524"/>
                  <a:pt x="39686" y="110609"/>
                  <a:pt x="37516" y="110794"/>
                </a:cubicBezTo>
                <a:cubicBezTo>
                  <a:pt x="35346" y="110979"/>
                  <a:pt x="33245" y="110171"/>
                  <a:pt x="31721" y="108647"/>
                </a:cubicBezTo>
                <a:lnTo>
                  <a:pt x="2170" y="79096"/>
                </a:lnTo>
                <a:cubicBezTo>
                  <a:pt x="-716" y="76210"/>
                  <a:pt x="-716" y="71523"/>
                  <a:pt x="2170" y="68637"/>
                </a:cubicBezTo>
                <a:cubicBezTo>
                  <a:pt x="5056" y="65752"/>
                  <a:pt x="9743" y="65752"/>
                  <a:pt x="12629" y="68637"/>
                </a:cubicBezTo>
                <a:lnTo>
                  <a:pt x="36062" y="92071"/>
                </a:lnTo>
                <a:lnTo>
                  <a:pt x="90085" y="17800"/>
                </a:lnTo>
                <a:cubicBezTo>
                  <a:pt x="92486" y="14499"/>
                  <a:pt x="97104" y="13760"/>
                  <a:pt x="100405" y="1616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870495" y="3539397"/>
            <a:ext cx="2811590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Policies:</a:t>
            </a:r>
            <a:r>
              <a:rPr lang="en-US" sz="93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Configure TLS versions and ciphers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9468" y="3809579"/>
            <a:ext cx="103429" cy="118205"/>
          </a:xfrm>
          <a:custGeom>
            <a:avLst/>
            <a:gdLst/>
            <a:ahLst/>
            <a:cxnLst/>
            <a:rect l="l" t="t" r="r" b="b"/>
            <a:pathLst>
              <a:path w="103429" h="118205">
                <a:moveTo>
                  <a:pt x="100382" y="16184"/>
                </a:moveTo>
                <a:cubicBezTo>
                  <a:pt x="103683" y="18585"/>
                  <a:pt x="104422" y="23202"/>
                  <a:pt x="102021" y="26504"/>
                </a:cubicBezTo>
                <a:lnTo>
                  <a:pt x="42919" y="107770"/>
                </a:lnTo>
                <a:cubicBezTo>
                  <a:pt x="41649" y="109524"/>
                  <a:pt x="39686" y="110609"/>
                  <a:pt x="37516" y="110794"/>
                </a:cubicBezTo>
                <a:cubicBezTo>
                  <a:pt x="35346" y="110979"/>
                  <a:pt x="33245" y="110171"/>
                  <a:pt x="31721" y="108647"/>
                </a:cubicBezTo>
                <a:lnTo>
                  <a:pt x="2170" y="79096"/>
                </a:lnTo>
                <a:cubicBezTo>
                  <a:pt x="-716" y="76210"/>
                  <a:pt x="-716" y="71523"/>
                  <a:pt x="2170" y="68637"/>
                </a:cubicBezTo>
                <a:cubicBezTo>
                  <a:pt x="5056" y="65752"/>
                  <a:pt x="9743" y="65752"/>
                  <a:pt x="12629" y="68637"/>
                </a:cubicBezTo>
                <a:lnTo>
                  <a:pt x="36062" y="92071"/>
                </a:lnTo>
                <a:lnTo>
                  <a:pt x="90085" y="17800"/>
                </a:lnTo>
                <a:cubicBezTo>
                  <a:pt x="92486" y="14499"/>
                  <a:pt x="97104" y="13760"/>
                  <a:pt x="100405" y="1616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70495" y="3775807"/>
            <a:ext cx="294668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Redirect:</a:t>
            </a:r>
            <a:r>
              <a:rPr lang="en-US" sz="93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Automatically redirect HTTP to HTTPS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41106" y="4873425"/>
            <a:ext cx="5663707" cy="1813602"/>
          </a:xfrm>
          <a:custGeom>
            <a:avLst/>
            <a:gdLst/>
            <a:ahLst/>
            <a:cxnLst/>
            <a:rect l="l" t="t" r="r" b="b"/>
            <a:pathLst>
              <a:path w="5663707" h="1813602">
                <a:moveTo>
                  <a:pt x="135095" y="0"/>
                </a:moveTo>
                <a:lnTo>
                  <a:pt x="5528612" y="0"/>
                </a:lnTo>
                <a:cubicBezTo>
                  <a:pt x="5603223" y="0"/>
                  <a:pt x="5663707" y="60484"/>
                  <a:pt x="5663707" y="135095"/>
                </a:cubicBezTo>
                <a:lnTo>
                  <a:pt x="5663707" y="1678507"/>
                </a:lnTo>
                <a:cubicBezTo>
                  <a:pt x="5663707" y="1753118"/>
                  <a:pt x="5603223" y="1813602"/>
                  <a:pt x="5528612" y="1813602"/>
                </a:cubicBezTo>
                <a:lnTo>
                  <a:pt x="135095" y="1813602"/>
                </a:lnTo>
                <a:cubicBezTo>
                  <a:pt x="60484" y="1813602"/>
                  <a:pt x="0" y="1753118"/>
                  <a:pt x="0" y="1678507"/>
                </a:cubicBezTo>
                <a:lnTo>
                  <a:pt x="0" y="135095"/>
                </a:lnTo>
                <a:cubicBezTo>
                  <a:pt x="0" y="60534"/>
                  <a:pt x="60534" y="0"/>
                  <a:pt x="13509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3347" y="5045665"/>
            <a:ext cx="405274" cy="405274"/>
          </a:xfrm>
          <a:custGeom>
            <a:avLst/>
            <a:gdLst/>
            <a:ahLst/>
            <a:cxnLst/>
            <a:rect l="l" t="t" r="r" b="b"/>
            <a:pathLst>
              <a:path w="405274" h="405274">
                <a:moveTo>
                  <a:pt x="101319" y="0"/>
                </a:moveTo>
                <a:lnTo>
                  <a:pt x="303956" y="0"/>
                </a:lnTo>
                <a:cubicBezTo>
                  <a:pt x="359912" y="0"/>
                  <a:pt x="405274" y="45362"/>
                  <a:pt x="405274" y="101319"/>
                </a:cubicBezTo>
                <a:lnTo>
                  <a:pt x="405274" y="303956"/>
                </a:lnTo>
                <a:cubicBezTo>
                  <a:pt x="405274" y="359912"/>
                  <a:pt x="359912" y="405274"/>
                  <a:pt x="303956" y="405274"/>
                </a:cubicBezTo>
                <a:lnTo>
                  <a:pt x="101319" y="405274"/>
                </a:lnTo>
                <a:cubicBezTo>
                  <a:pt x="45362" y="405274"/>
                  <a:pt x="0" y="359912"/>
                  <a:pt x="0" y="303956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42106" y="5163870"/>
            <a:ext cx="147756" cy="168864"/>
          </a:xfrm>
          <a:custGeom>
            <a:avLst/>
            <a:gdLst/>
            <a:ahLst/>
            <a:cxnLst/>
            <a:rect l="l" t="t" r="r" b="b"/>
            <a:pathLst>
              <a:path w="147756" h="168864">
                <a:moveTo>
                  <a:pt x="0" y="58047"/>
                </a:moveTo>
                <a:lnTo>
                  <a:pt x="0" y="94986"/>
                </a:lnTo>
                <a:cubicBezTo>
                  <a:pt x="0" y="135784"/>
                  <a:pt x="33080" y="168864"/>
                  <a:pt x="73878" y="168864"/>
                </a:cubicBezTo>
                <a:cubicBezTo>
                  <a:pt x="114676" y="168864"/>
                  <a:pt x="147756" y="135784"/>
                  <a:pt x="147756" y="94986"/>
                </a:cubicBezTo>
                <a:lnTo>
                  <a:pt x="147756" y="58047"/>
                </a:lnTo>
                <a:lnTo>
                  <a:pt x="105540" y="58047"/>
                </a:lnTo>
                <a:lnTo>
                  <a:pt x="105540" y="94986"/>
                </a:lnTo>
                <a:cubicBezTo>
                  <a:pt x="105540" y="112466"/>
                  <a:pt x="91358" y="126648"/>
                  <a:pt x="73878" y="126648"/>
                </a:cubicBezTo>
                <a:cubicBezTo>
                  <a:pt x="56398" y="126648"/>
                  <a:pt x="42216" y="112466"/>
                  <a:pt x="42216" y="94986"/>
                </a:cubicBezTo>
                <a:lnTo>
                  <a:pt x="42216" y="58047"/>
                </a:lnTo>
                <a:lnTo>
                  <a:pt x="0" y="58047"/>
                </a:lnTo>
                <a:close/>
                <a:moveTo>
                  <a:pt x="0" y="42216"/>
                </a:moveTo>
                <a:lnTo>
                  <a:pt x="42216" y="42216"/>
                </a:lnTo>
                <a:lnTo>
                  <a:pt x="42216" y="21108"/>
                </a:lnTo>
                <a:cubicBezTo>
                  <a:pt x="42216" y="15270"/>
                  <a:pt x="37500" y="10554"/>
                  <a:pt x="31662" y="10554"/>
                </a:cubicBezTo>
                <a:lnTo>
                  <a:pt x="10554" y="10554"/>
                </a:lnTo>
                <a:cubicBezTo>
                  <a:pt x="4716" y="10554"/>
                  <a:pt x="0" y="15270"/>
                  <a:pt x="0" y="21108"/>
                </a:cubicBezTo>
                <a:lnTo>
                  <a:pt x="0" y="42216"/>
                </a:lnTo>
                <a:close/>
                <a:moveTo>
                  <a:pt x="105540" y="42216"/>
                </a:moveTo>
                <a:lnTo>
                  <a:pt x="147756" y="42216"/>
                </a:lnTo>
                <a:lnTo>
                  <a:pt x="147756" y="21108"/>
                </a:lnTo>
                <a:cubicBezTo>
                  <a:pt x="147756" y="15270"/>
                  <a:pt x="143040" y="10554"/>
                  <a:pt x="137202" y="10554"/>
                </a:cubicBezTo>
                <a:lnTo>
                  <a:pt x="116094" y="10554"/>
                </a:lnTo>
                <a:cubicBezTo>
                  <a:pt x="110256" y="10554"/>
                  <a:pt x="105540" y="15270"/>
                  <a:pt x="105540" y="21108"/>
                </a:cubicBezTo>
                <a:lnTo>
                  <a:pt x="105540" y="4221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19940" y="5045665"/>
            <a:ext cx="1249596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Sticky Sessions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9940" y="5282075"/>
            <a:ext cx="1224266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Affinity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3347" y="5586031"/>
            <a:ext cx="5386770" cy="43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Bind a user's session to a specific target instance, ensuring all requests from that user go to the same backend.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16725" y="6129774"/>
            <a:ext cx="5317536" cy="378256"/>
          </a:xfrm>
          <a:custGeom>
            <a:avLst/>
            <a:gdLst/>
            <a:ahLst/>
            <a:cxnLst/>
            <a:rect l="l" t="t" r="r" b="b"/>
            <a:pathLst>
              <a:path w="5317536" h="378256">
                <a:moveTo>
                  <a:pt x="101320" y="0"/>
                </a:moveTo>
                <a:lnTo>
                  <a:pt x="5216216" y="0"/>
                </a:lnTo>
                <a:cubicBezTo>
                  <a:pt x="5272173" y="0"/>
                  <a:pt x="5317536" y="45362"/>
                  <a:pt x="5317536" y="101320"/>
                </a:cubicBezTo>
                <a:lnTo>
                  <a:pt x="5317536" y="276936"/>
                </a:lnTo>
                <a:cubicBezTo>
                  <a:pt x="5317536" y="332894"/>
                  <a:pt x="5272173" y="378256"/>
                  <a:pt x="5216216" y="378256"/>
                </a:cubicBezTo>
                <a:lnTo>
                  <a:pt x="101320" y="378256"/>
                </a:lnTo>
                <a:cubicBezTo>
                  <a:pt x="45362" y="378256"/>
                  <a:pt x="0" y="332894"/>
                  <a:pt x="0" y="276936"/>
                </a:cubicBezTo>
                <a:lnTo>
                  <a:pt x="0" y="101320"/>
                </a:lnTo>
                <a:cubicBezTo>
                  <a:pt x="0" y="45400"/>
                  <a:pt x="45400" y="0"/>
                  <a:pt x="10132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420" y="6234468"/>
            <a:ext cx="5167247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Case:</a:t>
            </a:r>
            <a:r>
              <a:rPr lang="en-US" sz="93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Shopping carts, user sessions, stateful applications requiring session persistence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81910" y="1367801"/>
            <a:ext cx="5663707" cy="3367153"/>
          </a:xfrm>
          <a:custGeom>
            <a:avLst/>
            <a:gdLst/>
            <a:ahLst/>
            <a:cxnLst/>
            <a:rect l="l" t="t" r="r" b="b"/>
            <a:pathLst>
              <a:path w="5663707" h="3367153">
                <a:moveTo>
                  <a:pt x="135090" y="0"/>
                </a:moveTo>
                <a:lnTo>
                  <a:pt x="5528617" y="0"/>
                </a:lnTo>
                <a:cubicBezTo>
                  <a:pt x="5603226" y="0"/>
                  <a:pt x="5663707" y="60482"/>
                  <a:pt x="5663707" y="135090"/>
                </a:cubicBezTo>
                <a:lnTo>
                  <a:pt x="5663707" y="3232063"/>
                </a:lnTo>
                <a:cubicBezTo>
                  <a:pt x="5663707" y="3306672"/>
                  <a:pt x="5603226" y="3367153"/>
                  <a:pt x="5528617" y="3367153"/>
                </a:cubicBezTo>
                <a:lnTo>
                  <a:pt x="135090" y="3367153"/>
                </a:lnTo>
                <a:cubicBezTo>
                  <a:pt x="60482" y="3367153"/>
                  <a:pt x="0" y="3306672"/>
                  <a:pt x="0" y="3232063"/>
                </a:cubicBezTo>
                <a:lnTo>
                  <a:pt x="0" y="135090"/>
                </a:lnTo>
                <a:cubicBezTo>
                  <a:pt x="0" y="60532"/>
                  <a:pt x="60532" y="0"/>
                  <a:pt x="13509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4151" y="1540041"/>
            <a:ext cx="405274" cy="405274"/>
          </a:xfrm>
          <a:custGeom>
            <a:avLst/>
            <a:gdLst/>
            <a:ahLst/>
            <a:cxnLst/>
            <a:rect l="l" t="t" r="r" b="b"/>
            <a:pathLst>
              <a:path w="405274" h="405274">
                <a:moveTo>
                  <a:pt x="101319" y="0"/>
                </a:moveTo>
                <a:lnTo>
                  <a:pt x="303956" y="0"/>
                </a:lnTo>
                <a:cubicBezTo>
                  <a:pt x="359912" y="0"/>
                  <a:pt x="405274" y="45362"/>
                  <a:pt x="405274" y="101319"/>
                </a:cubicBezTo>
                <a:lnTo>
                  <a:pt x="405274" y="303956"/>
                </a:lnTo>
                <a:cubicBezTo>
                  <a:pt x="405274" y="359912"/>
                  <a:pt x="359912" y="405274"/>
                  <a:pt x="303956" y="405274"/>
                </a:cubicBezTo>
                <a:lnTo>
                  <a:pt x="101319" y="405274"/>
                </a:lnTo>
                <a:cubicBezTo>
                  <a:pt x="45362" y="405274"/>
                  <a:pt x="0" y="359912"/>
                  <a:pt x="0" y="303956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472356" y="1658246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84432" y="35587"/>
                </a:moveTo>
                <a:lnTo>
                  <a:pt x="79485" y="28727"/>
                </a:lnTo>
                <a:cubicBezTo>
                  <a:pt x="71240" y="17315"/>
                  <a:pt x="58014" y="10554"/>
                  <a:pt x="43898" y="10554"/>
                </a:cubicBezTo>
                <a:cubicBezTo>
                  <a:pt x="19657" y="10554"/>
                  <a:pt x="0" y="30211"/>
                  <a:pt x="0" y="54452"/>
                </a:cubicBezTo>
                <a:lnTo>
                  <a:pt x="0" y="55310"/>
                </a:lnTo>
                <a:cubicBezTo>
                  <a:pt x="0" y="63093"/>
                  <a:pt x="2045" y="71141"/>
                  <a:pt x="5475" y="79155"/>
                </a:cubicBezTo>
                <a:lnTo>
                  <a:pt x="40435" y="79155"/>
                </a:lnTo>
                <a:cubicBezTo>
                  <a:pt x="41490" y="79155"/>
                  <a:pt x="42447" y="78528"/>
                  <a:pt x="42876" y="77539"/>
                </a:cubicBezTo>
                <a:lnTo>
                  <a:pt x="53364" y="52374"/>
                </a:lnTo>
                <a:cubicBezTo>
                  <a:pt x="54584" y="49472"/>
                  <a:pt x="57420" y="47559"/>
                  <a:pt x="60554" y="47493"/>
                </a:cubicBezTo>
                <a:cubicBezTo>
                  <a:pt x="63687" y="47427"/>
                  <a:pt x="66589" y="49274"/>
                  <a:pt x="67876" y="52143"/>
                </a:cubicBezTo>
                <a:lnTo>
                  <a:pt x="84795" y="89709"/>
                </a:lnTo>
                <a:lnTo>
                  <a:pt x="98449" y="62401"/>
                </a:lnTo>
                <a:cubicBezTo>
                  <a:pt x="99801" y="59729"/>
                  <a:pt x="102539" y="58014"/>
                  <a:pt x="105540" y="58014"/>
                </a:cubicBezTo>
                <a:cubicBezTo>
                  <a:pt x="108541" y="58014"/>
                  <a:pt x="111279" y="59696"/>
                  <a:pt x="112631" y="62401"/>
                </a:cubicBezTo>
                <a:lnTo>
                  <a:pt x="120283" y="77671"/>
                </a:lnTo>
                <a:cubicBezTo>
                  <a:pt x="120745" y="78561"/>
                  <a:pt x="121635" y="79122"/>
                  <a:pt x="122657" y="79122"/>
                </a:cubicBezTo>
                <a:lnTo>
                  <a:pt x="163422" y="79122"/>
                </a:lnTo>
                <a:cubicBezTo>
                  <a:pt x="166885" y="71108"/>
                  <a:pt x="168897" y="63060"/>
                  <a:pt x="168897" y="55277"/>
                </a:cubicBezTo>
                <a:lnTo>
                  <a:pt x="168897" y="54419"/>
                </a:lnTo>
                <a:cubicBezTo>
                  <a:pt x="168864" y="30211"/>
                  <a:pt x="149207" y="10554"/>
                  <a:pt x="124966" y="10554"/>
                </a:cubicBezTo>
                <a:cubicBezTo>
                  <a:pt x="110883" y="10554"/>
                  <a:pt x="97625" y="17315"/>
                  <a:pt x="89379" y="28727"/>
                </a:cubicBezTo>
                <a:lnTo>
                  <a:pt x="84432" y="35554"/>
                </a:lnTo>
                <a:close/>
                <a:moveTo>
                  <a:pt x="154880" y="94986"/>
                </a:moveTo>
                <a:lnTo>
                  <a:pt x="122624" y="94986"/>
                </a:lnTo>
                <a:cubicBezTo>
                  <a:pt x="115632" y="94986"/>
                  <a:pt x="109234" y="91028"/>
                  <a:pt x="106101" y="84762"/>
                </a:cubicBezTo>
                <a:lnTo>
                  <a:pt x="105540" y="83641"/>
                </a:lnTo>
                <a:lnTo>
                  <a:pt x="91523" y="111708"/>
                </a:lnTo>
                <a:cubicBezTo>
                  <a:pt x="90171" y="114445"/>
                  <a:pt x="87334" y="116160"/>
                  <a:pt x="84267" y="116094"/>
                </a:cubicBezTo>
                <a:cubicBezTo>
                  <a:pt x="81200" y="116028"/>
                  <a:pt x="78463" y="114214"/>
                  <a:pt x="77209" y="111444"/>
                </a:cubicBezTo>
                <a:lnTo>
                  <a:pt x="60949" y="75329"/>
                </a:lnTo>
                <a:lnTo>
                  <a:pt x="57486" y="83641"/>
                </a:lnTo>
                <a:cubicBezTo>
                  <a:pt x="54617" y="90534"/>
                  <a:pt x="47889" y="95019"/>
                  <a:pt x="40435" y="95019"/>
                </a:cubicBezTo>
                <a:lnTo>
                  <a:pt x="13984" y="95019"/>
                </a:lnTo>
                <a:cubicBezTo>
                  <a:pt x="29551" y="119359"/>
                  <a:pt x="54551" y="141754"/>
                  <a:pt x="70184" y="153693"/>
                </a:cubicBezTo>
                <a:cubicBezTo>
                  <a:pt x="74274" y="156793"/>
                  <a:pt x="79287" y="158343"/>
                  <a:pt x="84399" y="158343"/>
                </a:cubicBezTo>
                <a:cubicBezTo>
                  <a:pt x="89511" y="158343"/>
                  <a:pt x="94557" y="156826"/>
                  <a:pt x="98614" y="153693"/>
                </a:cubicBezTo>
                <a:cubicBezTo>
                  <a:pt x="114313" y="141721"/>
                  <a:pt x="139313" y="119326"/>
                  <a:pt x="154880" y="9498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6860744" y="1540041"/>
            <a:ext cx="1165163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Checks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60744" y="1776451"/>
            <a:ext cx="1139834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Monitoring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354151" y="2080407"/>
            <a:ext cx="5386770" cy="43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Continuously monitor target health and route traffic only to healthy instances. Automatically removes unhealthy targets.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7529" y="2657923"/>
            <a:ext cx="5317536" cy="1898034"/>
          </a:xfrm>
          <a:custGeom>
            <a:avLst/>
            <a:gdLst/>
            <a:ahLst/>
            <a:cxnLst/>
            <a:rect l="l" t="t" r="r" b="b"/>
            <a:pathLst>
              <a:path w="5317536" h="1898034">
                <a:moveTo>
                  <a:pt x="101317" y="0"/>
                </a:moveTo>
                <a:lnTo>
                  <a:pt x="5216219" y="0"/>
                </a:lnTo>
                <a:cubicBezTo>
                  <a:pt x="5272175" y="0"/>
                  <a:pt x="5317536" y="45361"/>
                  <a:pt x="5317536" y="101317"/>
                </a:cubicBezTo>
                <a:lnTo>
                  <a:pt x="5317536" y="1796717"/>
                </a:lnTo>
                <a:cubicBezTo>
                  <a:pt x="5317536" y="1852673"/>
                  <a:pt x="5272175" y="1898034"/>
                  <a:pt x="5216219" y="1898034"/>
                </a:cubicBezTo>
                <a:lnTo>
                  <a:pt x="101317" y="1898034"/>
                </a:lnTo>
                <a:cubicBezTo>
                  <a:pt x="45361" y="1898034"/>
                  <a:pt x="0" y="1852673"/>
                  <a:pt x="0" y="1796717"/>
                </a:cubicBezTo>
                <a:lnTo>
                  <a:pt x="0" y="101317"/>
                </a:lnTo>
                <a:cubicBezTo>
                  <a:pt x="0" y="45361"/>
                  <a:pt x="45361" y="0"/>
                  <a:pt x="10131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5997" y="2796394"/>
            <a:ext cx="5099701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Options: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95997" y="3066577"/>
            <a:ext cx="498150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Protocol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548318" y="3066577"/>
            <a:ext cx="1046958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HTTP/HTTPS/TCP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95997" y="3302987"/>
            <a:ext cx="295512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Path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688369" y="3302987"/>
            <a:ext cx="903424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/health (default)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95997" y="3539397"/>
            <a:ext cx="447490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Interval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733330" y="3539397"/>
            <a:ext cx="861208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5-300 seconds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95997" y="3775807"/>
            <a:ext cx="489706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Timeout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761931" y="3775807"/>
            <a:ext cx="827435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2-120 seconds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95997" y="4012217"/>
            <a:ext cx="1013186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Healthy Threshold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637921" y="4012217"/>
            <a:ext cx="954083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2-10 consecutive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95997" y="4248627"/>
            <a:ext cx="1139834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Unhealthy Threshold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637921" y="4248627"/>
            <a:ext cx="954083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2-10 consecutive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81910" y="4873425"/>
            <a:ext cx="5663707" cy="1813602"/>
          </a:xfrm>
          <a:custGeom>
            <a:avLst/>
            <a:gdLst/>
            <a:ahLst/>
            <a:cxnLst/>
            <a:rect l="l" t="t" r="r" b="b"/>
            <a:pathLst>
              <a:path w="5663707" h="1813602">
                <a:moveTo>
                  <a:pt x="135095" y="0"/>
                </a:moveTo>
                <a:lnTo>
                  <a:pt x="5528612" y="0"/>
                </a:lnTo>
                <a:cubicBezTo>
                  <a:pt x="5603223" y="0"/>
                  <a:pt x="5663707" y="60484"/>
                  <a:pt x="5663707" y="135095"/>
                </a:cubicBezTo>
                <a:lnTo>
                  <a:pt x="5663707" y="1678507"/>
                </a:lnTo>
                <a:cubicBezTo>
                  <a:pt x="5663707" y="1753118"/>
                  <a:pt x="5603223" y="1813602"/>
                  <a:pt x="5528612" y="1813602"/>
                </a:cubicBezTo>
                <a:lnTo>
                  <a:pt x="135095" y="1813602"/>
                </a:lnTo>
                <a:cubicBezTo>
                  <a:pt x="60484" y="1813602"/>
                  <a:pt x="0" y="1753118"/>
                  <a:pt x="0" y="1678507"/>
                </a:cubicBezTo>
                <a:lnTo>
                  <a:pt x="0" y="135095"/>
                </a:lnTo>
                <a:cubicBezTo>
                  <a:pt x="0" y="60534"/>
                  <a:pt x="60534" y="0"/>
                  <a:pt x="13509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54151" y="5045665"/>
            <a:ext cx="405274" cy="405274"/>
          </a:xfrm>
          <a:custGeom>
            <a:avLst/>
            <a:gdLst/>
            <a:ahLst/>
            <a:cxnLst/>
            <a:rect l="l" t="t" r="r" b="b"/>
            <a:pathLst>
              <a:path w="405274" h="405274">
                <a:moveTo>
                  <a:pt x="101319" y="0"/>
                </a:moveTo>
                <a:lnTo>
                  <a:pt x="303956" y="0"/>
                </a:lnTo>
                <a:cubicBezTo>
                  <a:pt x="359912" y="0"/>
                  <a:pt x="405274" y="45362"/>
                  <a:pt x="405274" y="101319"/>
                </a:cubicBezTo>
                <a:lnTo>
                  <a:pt x="405274" y="303956"/>
                </a:lnTo>
                <a:cubicBezTo>
                  <a:pt x="405274" y="359912"/>
                  <a:pt x="359912" y="405274"/>
                  <a:pt x="303956" y="405274"/>
                </a:cubicBezTo>
                <a:lnTo>
                  <a:pt x="101319" y="405274"/>
                </a:lnTo>
                <a:cubicBezTo>
                  <a:pt x="45362" y="405274"/>
                  <a:pt x="0" y="359912"/>
                  <a:pt x="0" y="303956"/>
                </a:cubicBezTo>
                <a:lnTo>
                  <a:pt x="0" y="101319"/>
                </a:lnTo>
                <a:cubicBezTo>
                  <a:pt x="0" y="45399"/>
                  <a:pt x="45399" y="0"/>
                  <a:pt x="101319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2356" y="5163870"/>
            <a:ext cx="168864" cy="168864"/>
          </a:xfrm>
          <a:custGeom>
            <a:avLst/>
            <a:gdLst/>
            <a:ahLst/>
            <a:cxnLst/>
            <a:rect l="l" t="t" r="r" b="b"/>
            <a:pathLst>
              <a:path w="168864" h="168864">
                <a:moveTo>
                  <a:pt x="18371" y="65864"/>
                </a:moveTo>
                <a:lnTo>
                  <a:pt x="28562" y="76055"/>
                </a:lnTo>
                <a:cubicBezTo>
                  <a:pt x="30541" y="78034"/>
                  <a:pt x="33212" y="79155"/>
                  <a:pt x="36016" y="79155"/>
                </a:cubicBezTo>
                <a:lnTo>
                  <a:pt x="43107" y="79155"/>
                </a:lnTo>
                <a:cubicBezTo>
                  <a:pt x="45910" y="79155"/>
                  <a:pt x="48581" y="80276"/>
                  <a:pt x="50560" y="82255"/>
                </a:cubicBezTo>
                <a:lnTo>
                  <a:pt x="60224" y="91919"/>
                </a:lnTo>
                <a:cubicBezTo>
                  <a:pt x="62203" y="93898"/>
                  <a:pt x="63324" y="96569"/>
                  <a:pt x="63324" y="99373"/>
                </a:cubicBezTo>
                <a:lnTo>
                  <a:pt x="63324" y="111741"/>
                </a:lnTo>
                <a:cubicBezTo>
                  <a:pt x="63324" y="114544"/>
                  <a:pt x="64445" y="117216"/>
                  <a:pt x="66424" y="119194"/>
                </a:cubicBezTo>
                <a:lnTo>
                  <a:pt x="70811" y="123581"/>
                </a:lnTo>
                <a:cubicBezTo>
                  <a:pt x="72790" y="125560"/>
                  <a:pt x="73911" y="128231"/>
                  <a:pt x="73911" y="131035"/>
                </a:cubicBezTo>
                <a:lnTo>
                  <a:pt x="73911" y="137202"/>
                </a:lnTo>
                <a:cubicBezTo>
                  <a:pt x="73911" y="143040"/>
                  <a:pt x="78627" y="147756"/>
                  <a:pt x="84465" y="147756"/>
                </a:cubicBezTo>
                <a:cubicBezTo>
                  <a:pt x="90303" y="147756"/>
                  <a:pt x="95019" y="143040"/>
                  <a:pt x="95019" y="137202"/>
                </a:cubicBezTo>
                <a:lnTo>
                  <a:pt x="95019" y="136312"/>
                </a:lnTo>
                <a:cubicBezTo>
                  <a:pt x="95019" y="133508"/>
                  <a:pt x="96140" y="130837"/>
                  <a:pt x="98119" y="128858"/>
                </a:cubicBezTo>
                <a:lnTo>
                  <a:pt x="113060" y="113917"/>
                </a:lnTo>
                <a:cubicBezTo>
                  <a:pt x="115039" y="111939"/>
                  <a:pt x="116160" y="109267"/>
                  <a:pt x="116160" y="106464"/>
                </a:cubicBezTo>
                <a:lnTo>
                  <a:pt x="116160" y="95019"/>
                </a:lnTo>
                <a:cubicBezTo>
                  <a:pt x="116160" y="89181"/>
                  <a:pt x="111444" y="84465"/>
                  <a:pt x="105606" y="84465"/>
                </a:cubicBezTo>
                <a:lnTo>
                  <a:pt x="78331" y="84465"/>
                </a:lnTo>
                <a:cubicBezTo>
                  <a:pt x="75527" y="84465"/>
                  <a:pt x="72856" y="83344"/>
                  <a:pt x="70877" y="81365"/>
                </a:cubicBezTo>
                <a:lnTo>
                  <a:pt x="65600" y="76088"/>
                </a:lnTo>
                <a:cubicBezTo>
                  <a:pt x="64215" y="74703"/>
                  <a:pt x="63423" y="72790"/>
                  <a:pt x="63423" y="70811"/>
                </a:cubicBezTo>
                <a:cubicBezTo>
                  <a:pt x="63423" y="66688"/>
                  <a:pt x="66754" y="63357"/>
                  <a:pt x="70877" y="63357"/>
                </a:cubicBezTo>
                <a:lnTo>
                  <a:pt x="82321" y="63357"/>
                </a:lnTo>
                <a:cubicBezTo>
                  <a:pt x="86444" y="63357"/>
                  <a:pt x="89775" y="60026"/>
                  <a:pt x="89775" y="55903"/>
                </a:cubicBezTo>
                <a:cubicBezTo>
                  <a:pt x="89775" y="53924"/>
                  <a:pt x="88984" y="52012"/>
                  <a:pt x="87598" y="50626"/>
                </a:cubicBezTo>
                <a:lnTo>
                  <a:pt x="81101" y="44129"/>
                </a:lnTo>
                <a:cubicBezTo>
                  <a:pt x="79815" y="42876"/>
                  <a:pt x="79155" y="41260"/>
                  <a:pt x="79155" y="39578"/>
                </a:cubicBezTo>
                <a:cubicBezTo>
                  <a:pt x="79155" y="37896"/>
                  <a:pt x="79815" y="36279"/>
                  <a:pt x="81035" y="35059"/>
                </a:cubicBezTo>
                <a:lnTo>
                  <a:pt x="86741" y="29353"/>
                </a:lnTo>
                <a:cubicBezTo>
                  <a:pt x="88654" y="27440"/>
                  <a:pt x="89742" y="24835"/>
                  <a:pt x="89742" y="22130"/>
                </a:cubicBezTo>
                <a:cubicBezTo>
                  <a:pt x="89742" y="19756"/>
                  <a:pt x="88951" y="17612"/>
                  <a:pt x="87631" y="15897"/>
                </a:cubicBezTo>
                <a:cubicBezTo>
                  <a:pt x="86576" y="15864"/>
                  <a:pt x="85521" y="15831"/>
                  <a:pt x="84465" y="15831"/>
                </a:cubicBezTo>
                <a:cubicBezTo>
                  <a:pt x="53001" y="15831"/>
                  <a:pt x="26517" y="37005"/>
                  <a:pt x="18404" y="65864"/>
                </a:cubicBezTo>
                <a:close/>
                <a:moveTo>
                  <a:pt x="153033" y="84432"/>
                </a:moveTo>
                <a:cubicBezTo>
                  <a:pt x="153033" y="73021"/>
                  <a:pt x="150263" y="62269"/>
                  <a:pt x="145316" y="52836"/>
                </a:cubicBezTo>
                <a:cubicBezTo>
                  <a:pt x="143205" y="53133"/>
                  <a:pt x="141127" y="54122"/>
                  <a:pt x="139412" y="55837"/>
                </a:cubicBezTo>
                <a:lnTo>
                  <a:pt x="134992" y="60257"/>
                </a:lnTo>
                <a:cubicBezTo>
                  <a:pt x="133014" y="62236"/>
                  <a:pt x="131892" y="64907"/>
                  <a:pt x="131892" y="67711"/>
                </a:cubicBezTo>
                <a:lnTo>
                  <a:pt x="131892" y="79155"/>
                </a:lnTo>
                <a:cubicBezTo>
                  <a:pt x="131892" y="84993"/>
                  <a:pt x="136609" y="89709"/>
                  <a:pt x="142446" y="89709"/>
                </a:cubicBezTo>
                <a:lnTo>
                  <a:pt x="150395" y="89709"/>
                </a:lnTo>
                <a:cubicBezTo>
                  <a:pt x="151219" y="89709"/>
                  <a:pt x="152044" y="89610"/>
                  <a:pt x="152802" y="89445"/>
                </a:cubicBezTo>
                <a:cubicBezTo>
                  <a:pt x="152934" y="87796"/>
                  <a:pt x="152967" y="86114"/>
                  <a:pt x="152967" y="84432"/>
                </a:cubicBezTo>
                <a:close/>
                <a:moveTo>
                  <a:pt x="0" y="84432"/>
                </a:moveTo>
                <a:cubicBezTo>
                  <a:pt x="0" y="37833"/>
                  <a:pt x="37833" y="0"/>
                  <a:pt x="84432" y="0"/>
                </a:cubicBezTo>
                <a:cubicBezTo>
                  <a:pt x="131031" y="0"/>
                  <a:pt x="168864" y="37833"/>
                  <a:pt x="168864" y="84432"/>
                </a:cubicBezTo>
                <a:cubicBezTo>
                  <a:pt x="168864" y="131031"/>
                  <a:pt x="131031" y="168864"/>
                  <a:pt x="84432" y="168864"/>
                </a:cubicBezTo>
                <a:cubicBezTo>
                  <a:pt x="37833" y="168864"/>
                  <a:pt x="0" y="131031"/>
                  <a:pt x="0" y="8443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4" name="Text 52"/>
          <p:cNvSpPr/>
          <p:nvPr/>
        </p:nvSpPr>
        <p:spPr>
          <a:xfrm>
            <a:off x="6860744" y="5045665"/>
            <a:ext cx="2127690" cy="236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Cross-Zone Load Balancing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60744" y="5282075"/>
            <a:ext cx="2102360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 Distribution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54151" y="5586031"/>
            <a:ext cx="5386770" cy="43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4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Distributes traffic evenly across all enabled Availability Zones, regardless of the number of instances in each zone.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7529" y="6129774"/>
            <a:ext cx="5317536" cy="378256"/>
          </a:xfrm>
          <a:custGeom>
            <a:avLst/>
            <a:gdLst/>
            <a:ahLst/>
            <a:cxnLst/>
            <a:rect l="l" t="t" r="r" b="b"/>
            <a:pathLst>
              <a:path w="5317536" h="378256">
                <a:moveTo>
                  <a:pt x="101320" y="0"/>
                </a:moveTo>
                <a:lnTo>
                  <a:pt x="5216216" y="0"/>
                </a:lnTo>
                <a:cubicBezTo>
                  <a:pt x="5272173" y="0"/>
                  <a:pt x="5317536" y="45362"/>
                  <a:pt x="5317536" y="101320"/>
                </a:cubicBezTo>
                <a:lnTo>
                  <a:pt x="5317536" y="276936"/>
                </a:lnTo>
                <a:cubicBezTo>
                  <a:pt x="5317536" y="332894"/>
                  <a:pt x="5272173" y="378256"/>
                  <a:pt x="5216216" y="378256"/>
                </a:cubicBezTo>
                <a:lnTo>
                  <a:pt x="101320" y="378256"/>
                </a:lnTo>
                <a:cubicBezTo>
                  <a:pt x="45362" y="378256"/>
                  <a:pt x="0" y="332894"/>
                  <a:pt x="0" y="276936"/>
                </a:cubicBezTo>
                <a:lnTo>
                  <a:pt x="0" y="101320"/>
                </a:lnTo>
                <a:cubicBezTo>
                  <a:pt x="0" y="45400"/>
                  <a:pt x="45400" y="0"/>
                  <a:pt x="10132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62224" y="6234468"/>
            <a:ext cx="5167247" cy="16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Benefit:</a:t>
            </a:r>
            <a:r>
              <a:rPr lang="en-US" sz="93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Ensures optimal resource utilization across all AZs, preventing hotspots in specific zones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9331" y="349331"/>
            <a:ext cx="1364466" cy="318203"/>
          </a:xfrm>
          <a:custGeom>
            <a:avLst/>
            <a:gdLst/>
            <a:ahLst/>
            <a:cxnLst/>
            <a:rect l="l" t="t" r="r" b="b"/>
            <a:pathLst>
              <a:path w="1364466" h="318203">
                <a:moveTo>
                  <a:pt x="159101" y="0"/>
                </a:moveTo>
                <a:lnTo>
                  <a:pt x="1205365" y="0"/>
                </a:lnTo>
                <a:cubicBezTo>
                  <a:pt x="1293234" y="0"/>
                  <a:pt x="1364466" y="71232"/>
                  <a:pt x="1364466" y="159101"/>
                </a:cubicBezTo>
                <a:lnTo>
                  <a:pt x="1364466" y="159101"/>
                </a:lnTo>
                <a:cubicBezTo>
                  <a:pt x="1364466" y="246970"/>
                  <a:pt x="1293234" y="318203"/>
                  <a:pt x="1205365" y="318203"/>
                </a:cubicBezTo>
                <a:lnTo>
                  <a:pt x="159101" y="318203"/>
                </a:lnTo>
                <a:cubicBezTo>
                  <a:pt x="71232" y="318203"/>
                  <a:pt x="0" y="246970"/>
                  <a:pt x="0" y="159101"/>
                </a:cubicBezTo>
                <a:lnTo>
                  <a:pt x="0" y="159101"/>
                </a:lnTo>
                <a:cubicBezTo>
                  <a:pt x="0" y="71232"/>
                  <a:pt x="71232" y="0"/>
                  <a:pt x="1591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5998" y="447907"/>
            <a:ext cx="105923" cy="121055"/>
          </a:xfrm>
          <a:custGeom>
            <a:avLst/>
            <a:gdLst/>
            <a:ahLst/>
            <a:cxnLst/>
            <a:rect l="l" t="t" r="r" b="b"/>
            <a:pathLst>
              <a:path w="105923" h="121055">
                <a:moveTo>
                  <a:pt x="68094" y="15132"/>
                </a:moveTo>
                <a:lnTo>
                  <a:pt x="83226" y="15132"/>
                </a:lnTo>
                <a:lnTo>
                  <a:pt x="83226" y="113489"/>
                </a:lnTo>
                <a:cubicBezTo>
                  <a:pt x="83226" y="117674"/>
                  <a:pt x="86607" y="121055"/>
                  <a:pt x="90791" y="121055"/>
                </a:cubicBezTo>
                <a:lnTo>
                  <a:pt x="98357" y="121055"/>
                </a:lnTo>
                <a:cubicBezTo>
                  <a:pt x="102542" y="121055"/>
                  <a:pt x="105923" y="117674"/>
                  <a:pt x="105923" y="113489"/>
                </a:cubicBezTo>
                <a:cubicBezTo>
                  <a:pt x="105923" y="109304"/>
                  <a:pt x="102542" y="105923"/>
                  <a:pt x="98357" y="105923"/>
                </a:cubicBezTo>
                <a:lnTo>
                  <a:pt x="98357" y="15132"/>
                </a:lnTo>
                <a:cubicBezTo>
                  <a:pt x="98357" y="6786"/>
                  <a:pt x="91572" y="0"/>
                  <a:pt x="83226" y="0"/>
                </a:cubicBezTo>
                <a:lnTo>
                  <a:pt x="60528" y="0"/>
                </a:lnTo>
                <a:lnTo>
                  <a:pt x="60528" y="0"/>
                </a:lnTo>
                <a:lnTo>
                  <a:pt x="22698" y="0"/>
                </a:lnTo>
                <a:cubicBezTo>
                  <a:pt x="14352" y="0"/>
                  <a:pt x="7566" y="6786"/>
                  <a:pt x="7566" y="15132"/>
                </a:cubicBezTo>
                <a:lnTo>
                  <a:pt x="7566" y="105923"/>
                </a:lnTo>
                <a:cubicBezTo>
                  <a:pt x="3381" y="105923"/>
                  <a:pt x="0" y="109304"/>
                  <a:pt x="0" y="113489"/>
                </a:cubicBezTo>
                <a:cubicBezTo>
                  <a:pt x="0" y="117674"/>
                  <a:pt x="3381" y="121055"/>
                  <a:pt x="7566" y="121055"/>
                </a:cubicBezTo>
                <a:lnTo>
                  <a:pt x="60528" y="121055"/>
                </a:lnTo>
                <a:cubicBezTo>
                  <a:pt x="64713" y="121055"/>
                  <a:pt x="68094" y="117674"/>
                  <a:pt x="68094" y="113489"/>
                </a:cubicBezTo>
                <a:lnTo>
                  <a:pt x="68094" y="15132"/>
                </a:lnTo>
                <a:close/>
                <a:moveTo>
                  <a:pt x="37830" y="60528"/>
                </a:moveTo>
                <a:cubicBezTo>
                  <a:pt x="37830" y="56352"/>
                  <a:pt x="41220" y="52962"/>
                  <a:pt x="45396" y="52962"/>
                </a:cubicBezTo>
                <a:cubicBezTo>
                  <a:pt x="49572" y="52962"/>
                  <a:pt x="52962" y="56352"/>
                  <a:pt x="52962" y="60528"/>
                </a:cubicBezTo>
                <a:cubicBezTo>
                  <a:pt x="52962" y="64703"/>
                  <a:pt x="49572" y="68094"/>
                  <a:pt x="45396" y="68094"/>
                </a:cubicBezTo>
                <a:cubicBezTo>
                  <a:pt x="41220" y="68094"/>
                  <a:pt x="37830" y="64703"/>
                  <a:pt x="37830" y="6052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11632" y="421967"/>
            <a:ext cx="925209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b="1" kern="0" spc="4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5872" y="774759"/>
            <a:ext cx="11655898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51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API Gateway - Overview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5872" y="1224393"/>
            <a:ext cx="830094" cy="34587"/>
          </a:xfrm>
          <a:custGeom>
            <a:avLst/>
            <a:gdLst/>
            <a:ahLst/>
            <a:cxnLst/>
            <a:rect l="l" t="t" r="r" b="b"/>
            <a:pathLst>
              <a:path w="830094" h="34587">
                <a:moveTo>
                  <a:pt x="0" y="0"/>
                </a:moveTo>
                <a:lnTo>
                  <a:pt x="830094" y="0"/>
                </a:lnTo>
                <a:lnTo>
                  <a:pt x="830094" y="34587"/>
                </a:lnTo>
                <a:lnTo>
                  <a:pt x="0" y="34587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49331" y="1400788"/>
            <a:ext cx="6223973" cy="2151326"/>
          </a:xfrm>
          <a:custGeom>
            <a:avLst/>
            <a:gdLst/>
            <a:ahLst/>
            <a:cxnLst/>
            <a:rect l="l" t="t" r="r" b="b"/>
            <a:pathLst>
              <a:path w="6223973" h="2151326">
                <a:moveTo>
                  <a:pt x="138352" y="0"/>
                </a:moveTo>
                <a:lnTo>
                  <a:pt x="6085621" y="0"/>
                </a:lnTo>
                <a:cubicBezTo>
                  <a:pt x="6162031" y="0"/>
                  <a:pt x="6223973" y="61942"/>
                  <a:pt x="6223973" y="138352"/>
                </a:cubicBezTo>
                <a:lnTo>
                  <a:pt x="6223973" y="2012974"/>
                </a:lnTo>
                <a:cubicBezTo>
                  <a:pt x="6223973" y="2089384"/>
                  <a:pt x="6162031" y="2151326"/>
                  <a:pt x="6085621" y="2151326"/>
                </a:cubicBezTo>
                <a:lnTo>
                  <a:pt x="138352" y="2151326"/>
                </a:lnTo>
                <a:cubicBezTo>
                  <a:pt x="61942" y="2151326"/>
                  <a:pt x="0" y="2089384"/>
                  <a:pt x="0" y="2012974"/>
                </a:cubicBezTo>
                <a:lnTo>
                  <a:pt x="0" y="138352"/>
                </a:lnTo>
                <a:cubicBezTo>
                  <a:pt x="0" y="61993"/>
                  <a:pt x="61993" y="0"/>
                  <a:pt x="13835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5726" y="1577181"/>
            <a:ext cx="5957651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Amazon API Gateway?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5726" y="1923054"/>
            <a:ext cx="5940357" cy="674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API Gateway</a:t>
            </a:r>
            <a:r>
              <a:rPr lang="en-US" sz="108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fully managed service that makes it easy to create, publish, maintain, monitor, and secure APIs at any scale. It acts as the </a:t>
            </a:r>
            <a:r>
              <a:rPr lang="en-US" sz="1089" dirty="0">
                <a:solidFill>
                  <a:srgbClr val="EFEFEF"/>
                </a:solidFill>
                <a:highlight>
                  <a:srgbClr val="6366F1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front door </a:t>
            </a:r>
            <a:r>
              <a:rPr lang="en-US" sz="108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applications to access backend services.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9185" y="2739312"/>
            <a:ext cx="5860807" cy="629488"/>
          </a:xfrm>
          <a:custGeom>
            <a:avLst/>
            <a:gdLst/>
            <a:ahLst/>
            <a:cxnLst/>
            <a:rect l="l" t="t" r="r" b="b"/>
            <a:pathLst>
              <a:path w="5860807" h="629488">
                <a:moveTo>
                  <a:pt x="103765" y="0"/>
                </a:moveTo>
                <a:lnTo>
                  <a:pt x="5757042" y="0"/>
                </a:lnTo>
                <a:cubicBezTo>
                  <a:pt x="5814350" y="0"/>
                  <a:pt x="5860807" y="46457"/>
                  <a:pt x="5860807" y="103765"/>
                </a:cubicBezTo>
                <a:lnTo>
                  <a:pt x="5860807" y="525723"/>
                </a:lnTo>
                <a:cubicBezTo>
                  <a:pt x="5860807" y="583031"/>
                  <a:pt x="5814350" y="629488"/>
                  <a:pt x="5757042" y="629488"/>
                </a:cubicBezTo>
                <a:lnTo>
                  <a:pt x="103765" y="629488"/>
                </a:lnTo>
                <a:cubicBezTo>
                  <a:pt x="46457" y="629488"/>
                  <a:pt x="0" y="583031"/>
                  <a:pt x="0" y="525723"/>
                </a:cubicBezTo>
                <a:lnTo>
                  <a:pt x="0" y="103765"/>
                </a:lnTo>
                <a:cubicBezTo>
                  <a:pt x="0" y="46457"/>
                  <a:pt x="46457" y="0"/>
                  <a:pt x="10376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992" y="2881118"/>
            <a:ext cx="5637719" cy="345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Architecture:</a:t>
            </a: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infrastructure to manage. API Gateway handles traffic management, authorization, throttling, caching, and monitoring automatically.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9331" y="3693915"/>
            <a:ext cx="6223973" cy="2949481"/>
          </a:xfrm>
          <a:custGeom>
            <a:avLst/>
            <a:gdLst/>
            <a:ahLst/>
            <a:cxnLst/>
            <a:rect l="l" t="t" r="r" b="b"/>
            <a:pathLst>
              <a:path w="6223973" h="3154356">
                <a:moveTo>
                  <a:pt x="138350" y="0"/>
                </a:moveTo>
                <a:lnTo>
                  <a:pt x="6085623" y="0"/>
                </a:lnTo>
                <a:cubicBezTo>
                  <a:pt x="6162031" y="0"/>
                  <a:pt x="6223973" y="61941"/>
                  <a:pt x="6223973" y="138350"/>
                </a:cubicBezTo>
                <a:lnTo>
                  <a:pt x="6223973" y="3016006"/>
                </a:lnTo>
                <a:cubicBezTo>
                  <a:pt x="6223973" y="3092414"/>
                  <a:pt x="6162031" y="3154356"/>
                  <a:pt x="6085623" y="3154356"/>
                </a:cubicBezTo>
                <a:lnTo>
                  <a:pt x="138350" y="3154356"/>
                </a:lnTo>
                <a:cubicBezTo>
                  <a:pt x="61941" y="3154356"/>
                  <a:pt x="0" y="3092414"/>
                  <a:pt x="0" y="3016006"/>
                </a:cubicBezTo>
                <a:lnTo>
                  <a:pt x="0" y="138350"/>
                </a:lnTo>
                <a:cubicBezTo>
                  <a:pt x="0" y="61941"/>
                  <a:pt x="61941" y="0"/>
                  <a:pt x="13835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26" y="3870317"/>
            <a:ext cx="5957651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Integration Options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9185" y="4254235"/>
            <a:ext cx="1883275" cy="1182883"/>
          </a:xfrm>
          <a:custGeom>
            <a:avLst/>
            <a:gdLst/>
            <a:ahLst/>
            <a:cxnLst/>
            <a:rect l="l" t="t" r="r" b="b"/>
            <a:pathLst>
              <a:path w="1883275" h="1182883">
                <a:moveTo>
                  <a:pt x="103763" y="0"/>
                </a:moveTo>
                <a:lnTo>
                  <a:pt x="1779512" y="0"/>
                </a:lnTo>
                <a:cubicBezTo>
                  <a:pt x="1836819" y="0"/>
                  <a:pt x="1883275" y="46456"/>
                  <a:pt x="1883275" y="103763"/>
                </a:cubicBezTo>
                <a:lnTo>
                  <a:pt x="1883275" y="1079121"/>
                </a:lnTo>
                <a:cubicBezTo>
                  <a:pt x="1883275" y="1136427"/>
                  <a:pt x="1836819" y="1182883"/>
                  <a:pt x="1779512" y="1182883"/>
                </a:cubicBezTo>
                <a:lnTo>
                  <a:pt x="103763" y="1182883"/>
                </a:lnTo>
                <a:cubicBezTo>
                  <a:pt x="46456" y="1182883"/>
                  <a:pt x="0" y="1136427"/>
                  <a:pt x="0" y="1079121"/>
                </a:cubicBezTo>
                <a:lnTo>
                  <a:pt x="0" y="103763"/>
                </a:lnTo>
                <a:cubicBezTo>
                  <a:pt x="0" y="46494"/>
                  <a:pt x="46494" y="0"/>
                  <a:pt x="10376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1786" y="4396041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103762" y="0"/>
                </a:moveTo>
                <a:lnTo>
                  <a:pt x="311285" y="0"/>
                </a:lnTo>
                <a:cubicBezTo>
                  <a:pt x="368591" y="0"/>
                  <a:pt x="415047" y="46456"/>
                  <a:pt x="415047" y="103762"/>
                </a:cubicBezTo>
                <a:lnTo>
                  <a:pt x="415047" y="311285"/>
                </a:lnTo>
                <a:cubicBezTo>
                  <a:pt x="415047" y="368591"/>
                  <a:pt x="368591" y="415047"/>
                  <a:pt x="311285" y="415047"/>
                </a:cubicBezTo>
                <a:lnTo>
                  <a:pt x="103762" y="415047"/>
                </a:lnTo>
                <a:cubicBezTo>
                  <a:pt x="46456" y="415047"/>
                  <a:pt x="0" y="368591"/>
                  <a:pt x="0" y="311285"/>
                </a:cubicBezTo>
                <a:lnTo>
                  <a:pt x="0" y="103762"/>
                </a:lnTo>
                <a:cubicBezTo>
                  <a:pt x="0" y="46456"/>
                  <a:pt x="46456" y="0"/>
                  <a:pt x="1037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93649" y="4517096"/>
            <a:ext cx="151319" cy="172936"/>
          </a:xfrm>
          <a:custGeom>
            <a:avLst/>
            <a:gdLst/>
            <a:ahLst/>
            <a:cxnLst/>
            <a:rect l="l" t="t" r="r" b="b"/>
            <a:pathLst>
              <a:path w="151319" h="172936">
                <a:moveTo>
                  <a:pt x="114435" y="-3344"/>
                </a:moveTo>
                <a:cubicBezTo>
                  <a:pt x="118455" y="-439"/>
                  <a:pt x="119941" y="4830"/>
                  <a:pt x="118117" y="9424"/>
                </a:cubicBezTo>
                <a:lnTo>
                  <a:pt x="91636" y="75660"/>
                </a:lnTo>
                <a:lnTo>
                  <a:pt x="140511" y="75660"/>
                </a:lnTo>
                <a:cubicBezTo>
                  <a:pt x="145070" y="75660"/>
                  <a:pt x="149124" y="78497"/>
                  <a:pt x="150677" y="82786"/>
                </a:cubicBezTo>
                <a:cubicBezTo>
                  <a:pt x="152231" y="87076"/>
                  <a:pt x="150914" y="91872"/>
                  <a:pt x="147435" y="94777"/>
                </a:cubicBezTo>
                <a:lnTo>
                  <a:pt x="50158" y="175841"/>
                </a:lnTo>
                <a:cubicBezTo>
                  <a:pt x="46341" y="179016"/>
                  <a:pt x="40903" y="179185"/>
                  <a:pt x="36884" y="176280"/>
                </a:cubicBezTo>
                <a:cubicBezTo>
                  <a:pt x="32865" y="173375"/>
                  <a:pt x="31378" y="168106"/>
                  <a:pt x="33202" y="163512"/>
                </a:cubicBezTo>
                <a:lnTo>
                  <a:pt x="59683" y="97277"/>
                </a:lnTo>
                <a:lnTo>
                  <a:pt x="10809" y="97277"/>
                </a:lnTo>
                <a:cubicBezTo>
                  <a:pt x="6249" y="97277"/>
                  <a:pt x="2195" y="94439"/>
                  <a:pt x="642" y="90150"/>
                </a:cubicBezTo>
                <a:cubicBezTo>
                  <a:pt x="-912" y="85860"/>
                  <a:pt x="405" y="81064"/>
                  <a:pt x="3884" y="78159"/>
                </a:cubicBezTo>
                <a:lnTo>
                  <a:pt x="101161" y="-2905"/>
                </a:lnTo>
                <a:cubicBezTo>
                  <a:pt x="104978" y="-6080"/>
                  <a:pt x="110416" y="-6249"/>
                  <a:pt x="114435" y="-334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36405" y="4880262"/>
            <a:ext cx="1668834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Lambda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728" y="5122373"/>
            <a:ext cx="1660187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functions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2520112" y="4254235"/>
            <a:ext cx="1883275" cy="1182883"/>
          </a:xfrm>
          <a:custGeom>
            <a:avLst/>
            <a:gdLst/>
            <a:ahLst/>
            <a:cxnLst/>
            <a:rect l="l" t="t" r="r" b="b"/>
            <a:pathLst>
              <a:path w="1883275" h="1182883">
                <a:moveTo>
                  <a:pt x="103763" y="0"/>
                </a:moveTo>
                <a:lnTo>
                  <a:pt x="1779512" y="0"/>
                </a:lnTo>
                <a:cubicBezTo>
                  <a:pt x="1836819" y="0"/>
                  <a:pt x="1883275" y="46456"/>
                  <a:pt x="1883275" y="103763"/>
                </a:cubicBezTo>
                <a:lnTo>
                  <a:pt x="1883275" y="1079121"/>
                </a:lnTo>
                <a:cubicBezTo>
                  <a:pt x="1883275" y="1136427"/>
                  <a:pt x="1836819" y="1182883"/>
                  <a:pt x="1779512" y="1182883"/>
                </a:cubicBezTo>
                <a:lnTo>
                  <a:pt x="103763" y="1182883"/>
                </a:lnTo>
                <a:cubicBezTo>
                  <a:pt x="46456" y="1182883"/>
                  <a:pt x="0" y="1136427"/>
                  <a:pt x="0" y="1079121"/>
                </a:cubicBezTo>
                <a:lnTo>
                  <a:pt x="0" y="103763"/>
                </a:lnTo>
                <a:cubicBezTo>
                  <a:pt x="0" y="46494"/>
                  <a:pt x="46494" y="0"/>
                  <a:pt x="10376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52713" y="4396041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103762" y="0"/>
                </a:moveTo>
                <a:lnTo>
                  <a:pt x="311285" y="0"/>
                </a:lnTo>
                <a:cubicBezTo>
                  <a:pt x="368591" y="0"/>
                  <a:pt x="415047" y="46456"/>
                  <a:pt x="415047" y="103762"/>
                </a:cubicBezTo>
                <a:lnTo>
                  <a:pt x="415047" y="311285"/>
                </a:lnTo>
                <a:cubicBezTo>
                  <a:pt x="415047" y="368591"/>
                  <a:pt x="368591" y="415047"/>
                  <a:pt x="311285" y="415047"/>
                </a:cubicBezTo>
                <a:lnTo>
                  <a:pt x="103762" y="415047"/>
                </a:lnTo>
                <a:cubicBezTo>
                  <a:pt x="46456" y="415047"/>
                  <a:pt x="0" y="368591"/>
                  <a:pt x="0" y="311285"/>
                </a:cubicBezTo>
                <a:lnTo>
                  <a:pt x="0" y="103762"/>
                </a:lnTo>
                <a:cubicBezTo>
                  <a:pt x="0" y="46456"/>
                  <a:pt x="46456" y="0"/>
                  <a:pt x="1037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384577" y="4517096"/>
            <a:ext cx="151319" cy="172936"/>
          </a:xfrm>
          <a:custGeom>
            <a:avLst/>
            <a:gdLst/>
            <a:ahLst/>
            <a:cxnLst/>
            <a:rect l="l" t="t" r="r" b="b"/>
            <a:pathLst>
              <a:path w="151319" h="172936">
                <a:moveTo>
                  <a:pt x="21617" y="10809"/>
                </a:moveTo>
                <a:cubicBezTo>
                  <a:pt x="9694" y="10809"/>
                  <a:pt x="0" y="20502"/>
                  <a:pt x="0" y="32426"/>
                </a:cubicBezTo>
                <a:lnTo>
                  <a:pt x="0" y="54043"/>
                </a:lnTo>
                <a:cubicBezTo>
                  <a:pt x="0" y="65966"/>
                  <a:pt x="9694" y="75660"/>
                  <a:pt x="21617" y="75660"/>
                </a:cubicBezTo>
                <a:lnTo>
                  <a:pt x="129702" y="75660"/>
                </a:lnTo>
                <a:cubicBezTo>
                  <a:pt x="141625" y="75660"/>
                  <a:pt x="151319" y="65966"/>
                  <a:pt x="151319" y="54043"/>
                </a:cubicBezTo>
                <a:lnTo>
                  <a:pt x="151319" y="32426"/>
                </a:lnTo>
                <a:cubicBezTo>
                  <a:pt x="151319" y="20502"/>
                  <a:pt x="141625" y="10809"/>
                  <a:pt x="129702" y="10809"/>
                </a:cubicBezTo>
                <a:lnTo>
                  <a:pt x="21617" y="10809"/>
                </a:lnTo>
                <a:close/>
                <a:moveTo>
                  <a:pt x="94574" y="35128"/>
                </a:moveTo>
                <a:cubicBezTo>
                  <a:pt x="99049" y="35128"/>
                  <a:pt x="102681" y="38760"/>
                  <a:pt x="102681" y="43234"/>
                </a:cubicBezTo>
                <a:cubicBezTo>
                  <a:pt x="102681" y="47708"/>
                  <a:pt x="99049" y="51340"/>
                  <a:pt x="94574" y="51340"/>
                </a:cubicBezTo>
                <a:cubicBezTo>
                  <a:pt x="90100" y="51340"/>
                  <a:pt x="86468" y="47708"/>
                  <a:pt x="86468" y="43234"/>
                </a:cubicBezTo>
                <a:cubicBezTo>
                  <a:pt x="86468" y="38760"/>
                  <a:pt x="90100" y="35128"/>
                  <a:pt x="94574" y="35128"/>
                </a:cubicBezTo>
                <a:close/>
                <a:moveTo>
                  <a:pt x="113489" y="43234"/>
                </a:moveTo>
                <a:cubicBezTo>
                  <a:pt x="113489" y="38760"/>
                  <a:pt x="117122" y="35128"/>
                  <a:pt x="121596" y="35128"/>
                </a:cubicBezTo>
                <a:cubicBezTo>
                  <a:pt x="126070" y="35128"/>
                  <a:pt x="129702" y="38760"/>
                  <a:pt x="129702" y="43234"/>
                </a:cubicBezTo>
                <a:cubicBezTo>
                  <a:pt x="129702" y="47708"/>
                  <a:pt x="126070" y="51340"/>
                  <a:pt x="121596" y="51340"/>
                </a:cubicBezTo>
                <a:cubicBezTo>
                  <a:pt x="117122" y="51340"/>
                  <a:pt x="113489" y="47708"/>
                  <a:pt x="113489" y="43234"/>
                </a:cubicBezTo>
                <a:close/>
                <a:moveTo>
                  <a:pt x="21617" y="97277"/>
                </a:moveTo>
                <a:cubicBezTo>
                  <a:pt x="9694" y="97277"/>
                  <a:pt x="0" y="106970"/>
                  <a:pt x="0" y="118894"/>
                </a:cubicBezTo>
                <a:lnTo>
                  <a:pt x="0" y="140511"/>
                </a:lnTo>
                <a:cubicBezTo>
                  <a:pt x="0" y="152434"/>
                  <a:pt x="9694" y="162128"/>
                  <a:pt x="21617" y="162128"/>
                </a:cubicBezTo>
                <a:lnTo>
                  <a:pt x="129702" y="162128"/>
                </a:lnTo>
                <a:cubicBezTo>
                  <a:pt x="141625" y="162128"/>
                  <a:pt x="151319" y="152434"/>
                  <a:pt x="151319" y="140511"/>
                </a:cubicBezTo>
                <a:lnTo>
                  <a:pt x="151319" y="118894"/>
                </a:lnTo>
                <a:cubicBezTo>
                  <a:pt x="151319" y="106970"/>
                  <a:pt x="141625" y="97277"/>
                  <a:pt x="129702" y="97277"/>
                </a:cubicBezTo>
                <a:lnTo>
                  <a:pt x="21617" y="97277"/>
                </a:lnTo>
                <a:close/>
                <a:moveTo>
                  <a:pt x="94574" y="121596"/>
                </a:moveTo>
                <a:cubicBezTo>
                  <a:pt x="99049" y="121596"/>
                  <a:pt x="102681" y="125228"/>
                  <a:pt x="102681" y="129702"/>
                </a:cubicBezTo>
                <a:cubicBezTo>
                  <a:pt x="102681" y="134176"/>
                  <a:pt x="99049" y="137809"/>
                  <a:pt x="94574" y="137809"/>
                </a:cubicBezTo>
                <a:cubicBezTo>
                  <a:pt x="90100" y="137809"/>
                  <a:pt x="86468" y="134176"/>
                  <a:pt x="86468" y="129702"/>
                </a:cubicBezTo>
                <a:cubicBezTo>
                  <a:pt x="86468" y="125228"/>
                  <a:pt x="90100" y="121596"/>
                  <a:pt x="94574" y="121596"/>
                </a:cubicBezTo>
                <a:close/>
                <a:moveTo>
                  <a:pt x="113489" y="129702"/>
                </a:moveTo>
                <a:cubicBezTo>
                  <a:pt x="113489" y="125228"/>
                  <a:pt x="117122" y="121596"/>
                  <a:pt x="121596" y="121596"/>
                </a:cubicBezTo>
                <a:cubicBezTo>
                  <a:pt x="126070" y="121596"/>
                  <a:pt x="129702" y="125228"/>
                  <a:pt x="129702" y="129702"/>
                </a:cubicBezTo>
                <a:cubicBezTo>
                  <a:pt x="129702" y="134176"/>
                  <a:pt x="126070" y="137809"/>
                  <a:pt x="121596" y="137809"/>
                </a:cubicBezTo>
                <a:cubicBezTo>
                  <a:pt x="117122" y="137809"/>
                  <a:pt x="113489" y="134176"/>
                  <a:pt x="113489" y="12970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2627333" y="4880262"/>
            <a:ext cx="1668834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Endpoints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631656" y="5122373"/>
            <a:ext cx="1660187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Existing backends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11148" y="4254235"/>
            <a:ext cx="1883275" cy="1182883"/>
          </a:xfrm>
          <a:custGeom>
            <a:avLst/>
            <a:gdLst/>
            <a:ahLst/>
            <a:cxnLst/>
            <a:rect l="l" t="t" r="r" b="b"/>
            <a:pathLst>
              <a:path w="1883275" h="1182883">
                <a:moveTo>
                  <a:pt x="103763" y="0"/>
                </a:moveTo>
                <a:lnTo>
                  <a:pt x="1779512" y="0"/>
                </a:lnTo>
                <a:cubicBezTo>
                  <a:pt x="1836819" y="0"/>
                  <a:pt x="1883275" y="46456"/>
                  <a:pt x="1883275" y="103763"/>
                </a:cubicBezTo>
                <a:lnTo>
                  <a:pt x="1883275" y="1079121"/>
                </a:lnTo>
                <a:cubicBezTo>
                  <a:pt x="1883275" y="1136427"/>
                  <a:pt x="1836819" y="1182883"/>
                  <a:pt x="1779512" y="1182883"/>
                </a:cubicBezTo>
                <a:lnTo>
                  <a:pt x="103763" y="1182883"/>
                </a:lnTo>
                <a:cubicBezTo>
                  <a:pt x="46456" y="1182883"/>
                  <a:pt x="0" y="1136427"/>
                  <a:pt x="0" y="1079121"/>
                </a:cubicBezTo>
                <a:lnTo>
                  <a:pt x="0" y="103763"/>
                </a:lnTo>
                <a:cubicBezTo>
                  <a:pt x="0" y="46494"/>
                  <a:pt x="46494" y="0"/>
                  <a:pt x="103763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43749" y="4396041"/>
            <a:ext cx="415047" cy="415047"/>
          </a:xfrm>
          <a:custGeom>
            <a:avLst/>
            <a:gdLst/>
            <a:ahLst/>
            <a:cxnLst/>
            <a:rect l="l" t="t" r="r" b="b"/>
            <a:pathLst>
              <a:path w="415047" h="415047">
                <a:moveTo>
                  <a:pt x="103762" y="0"/>
                </a:moveTo>
                <a:lnTo>
                  <a:pt x="311285" y="0"/>
                </a:lnTo>
                <a:cubicBezTo>
                  <a:pt x="368591" y="0"/>
                  <a:pt x="415047" y="46456"/>
                  <a:pt x="415047" y="103762"/>
                </a:cubicBezTo>
                <a:lnTo>
                  <a:pt x="415047" y="311285"/>
                </a:lnTo>
                <a:cubicBezTo>
                  <a:pt x="415047" y="368591"/>
                  <a:pt x="368591" y="415047"/>
                  <a:pt x="311285" y="415047"/>
                </a:cubicBezTo>
                <a:lnTo>
                  <a:pt x="103762" y="415047"/>
                </a:lnTo>
                <a:cubicBezTo>
                  <a:pt x="46456" y="415047"/>
                  <a:pt x="0" y="368591"/>
                  <a:pt x="0" y="311285"/>
                </a:cubicBezTo>
                <a:lnTo>
                  <a:pt x="0" y="103762"/>
                </a:lnTo>
                <a:cubicBezTo>
                  <a:pt x="0" y="46456"/>
                  <a:pt x="46456" y="0"/>
                  <a:pt x="10376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364804" y="4517096"/>
            <a:ext cx="172936" cy="172936"/>
          </a:xfrm>
          <a:custGeom>
            <a:avLst/>
            <a:gdLst/>
            <a:ahLst/>
            <a:cxnLst/>
            <a:rect l="l" t="t" r="r" b="b"/>
            <a:pathLst>
              <a:path w="172936" h="172936">
                <a:moveTo>
                  <a:pt x="22259" y="77180"/>
                </a:moveTo>
                <a:cubicBezTo>
                  <a:pt x="26751" y="45767"/>
                  <a:pt x="53806" y="21617"/>
                  <a:pt x="86468" y="21617"/>
                </a:cubicBezTo>
                <a:cubicBezTo>
                  <a:pt x="104370" y="21617"/>
                  <a:pt x="120582" y="28879"/>
                  <a:pt x="132337" y="40599"/>
                </a:cubicBezTo>
                <a:cubicBezTo>
                  <a:pt x="132404" y="40667"/>
                  <a:pt x="132472" y="40735"/>
                  <a:pt x="132539" y="40802"/>
                </a:cubicBezTo>
                <a:lnTo>
                  <a:pt x="135106" y="43234"/>
                </a:lnTo>
                <a:lnTo>
                  <a:pt x="118927" y="43234"/>
                </a:lnTo>
                <a:cubicBezTo>
                  <a:pt x="112949" y="43234"/>
                  <a:pt x="108119" y="48064"/>
                  <a:pt x="108119" y="54043"/>
                </a:cubicBezTo>
                <a:cubicBezTo>
                  <a:pt x="108119" y="60021"/>
                  <a:pt x="112949" y="64851"/>
                  <a:pt x="118927" y="64851"/>
                </a:cubicBezTo>
                <a:lnTo>
                  <a:pt x="162161" y="64851"/>
                </a:lnTo>
                <a:cubicBezTo>
                  <a:pt x="168140" y="64851"/>
                  <a:pt x="172970" y="60021"/>
                  <a:pt x="172970" y="54043"/>
                </a:cubicBezTo>
                <a:lnTo>
                  <a:pt x="172970" y="10809"/>
                </a:lnTo>
                <a:cubicBezTo>
                  <a:pt x="172970" y="4830"/>
                  <a:pt x="168140" y="0"/>
                  <a:pt x="162161" y="0"/>
                </a:cubicBezTo>
                <a:cubicBezTo>
                  <a:pt x="156183" y="0"/>
                  <a:pt x="151353" y="4830"/>
                  <a:pt x="151353" y="10809"/>
                </a:cubicBezTo>
                <a:lnTo>
                  <a:pt x="151353" y="28845"/>
                </a:lnTo>
                <a:lnTo>
                  <a:pt x="147536" y="25231"/>
                </a:lnTo>
                <a:cubicBezTo>
                  <a:pt x="131898" y="9660"/>
                  <a:pt x="110281" y="0"/>
                  <a:pt x="86468" y="0"/>
                </a:cubicBezTo>
                <a:cubicBezTo>
                  <a:pt x="42896" y="0"/>
                  <a:pt x="6857" y="32223"/>
                  <a:pt x="878" y="74140"/>
                </a:cubicBezTo>
                <a:cubicBezTo>
                  <a:pt x="34" y="80051"/>
                  <a:pt x="4121" y="85522"/>
                  <a:pt x="10032" y="86367"/>
                </a:cubicBezTo>
                <a:cubicBezTo>
                  <a:pt x="15943" y="87211"/>
                  <a:pt x="21414" y="83090"/>
                  <a:pt x="22259" y="77213"/>
                </a:cubicBezTo>
                <a:close/>
                <a:moveTo>
                  <a:pt x="172058" y="98797"/>
                </a:moveTo>
                <a:cubicBezTo>
                  <a:pt x="172902" y="92886"/>
                  <a:pt x="168782" y="87414"/>
                  <a:pt x="162905" y="86569"/>
                </a:cubicBezTo>
                <a:cubicBezTo>
                  <a:pt x="157027" y="85725"/>
                  <a:pt x="151522" y="89846"/>
                  <a:pt x="150677" y="95723"/>
                </a:cubicBezTo>
                <a:cubicBezTo>
                  <a:pt x="146185" y="127135"/>
                  <a:pt x="119130" y="151285"/>
                  <a:pt x="86468" y="151285"/>
                </a:cubicBezTo>
                <a:cubicBezTo>
                  <a:pt x="68566" y="151285"/>
                  <a:pt x="52354" y="144023"/>
                  <a:pt x="40599" y="132303"/>
                </a:cubicBezTo>
                <a:cubicBezTo>
                  <a:pt x="40532" y="132235"/>
                  <a:pt x="40464" y="132168"/>
                  <a:pt x="40397" y="132100"/>
                </a:cubicBezTo>
                <a:lnTo>
                  <a:pt x="37830" y="129668"/>
                </a:lnTo>
                <a:lnTo>
                  <a:pt x="54009" y="129668"/>
                </a:lnTo>
                <a:cubicBezTo>
                  <a:pt x="59987" y="129668"/>
                  <a:pt x="64817" y="124838"/>
                  <a:pt x="64817" y="118860"/>
                </a:cubicBezTo>
                <a:cubicBezTo>
                  <a:pt x="64817" y="112881"/>
                  <a:pt x="59987" y="108051"/>
                  <a:pt x="54009" y="108051"/>
                </a:cubicBezTo>
                <a:lnTo>
                  <a:pt x="10809" y="108085"/>
                </a:lnTo>
                <a:cubicBezTo>
                  <a:pt x="7938" y="108085"/>
                  <a:pt x="5168" y="109234"/>
                  <a:pt x="3141" y="111294"/>
                </a:cubicBezTo>
                <a:cubicBezTo>
                  <a:pt x="1115" y="113354"/>
                  <a:pt x="-34" y="116090"/>
                  <a:pt x="0" y="118995"/>
                </a:cubicBezTo>
                <a:lnTo>
                  <a:pt x="338" y="161891"/>
                </a:lnTo>
                <a:cubicBezTo>
                  <a:pt x="372" y="167870"/>
                  <a:pt x="5269" y="172666"/>
                  <a:pt x="11248" y="172598"/>
                </a:cubicBezTo>
                <a:cubicBezTo>
                  <a:pt x="17226" y="172531"/>
                  <a:pt x="22022" y="167667"/>
                  <a:pt x="21955" y="161689"/>
                </a:cubicBezTo>
                <a:lnTo>
                  <a:pt x="21820" y="144294"/>
                </a:lnTo>
                <a:lnTo>
                  <a:pt x="25434" y="147705"/>
                </a:lnTo>
                <a:cubicBezTo>
                  <a:pt x="41072" y="163276"/>
                  <a:pt x="62656" y="172936"/>
                  <a:pt x="86468" y="172936"/>
                </a:cubicBezTo>
                <a:cubicBezTo>
                  <a:pt x="130040" y="172936"/>
                  <a:pt x="166080" y="140713"/>
                  <a:pt x="172058" y="9879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4618368" y="4880262"/>
            <a:ext cx="1668834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Services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22692" y="5122373"/>
            <a:ext cx="1660187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integration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751212" y="1400788"/>
            <a:ext cx="5091241" cy="3742339"/>
          </a:xfrm>
          <a:custGeom>
            <a:avLst/>
            <a:gdLst/>
            <a:ahLst/>
            <a:cxnLst/>
            <a:rect l="l" t="t" r="r" b="b"/>
            <a:pathLst>
              <a:path w="5091241" h="3742339">
                <a:moveTo>
                  <a:pt x="138354" y="0"/>
                </a:moveTo>
                <a:lnTo>
                  <a:pt x="4952887" y="0"/>
                </a:lnTo>
                <a:cubicBezTo>
                  <a:pt x="5029298" y="0"/>
                  <a:pt x="5091241" y="61943"/>
                  <a:pt x="5091241" y="138354"/>
                </a:cubicBezTo>
                <a:lnTo>
                  <a:pt x="5091241" y="3603984"/>
                </a:lnTo>
                <a:cubicBezTo>
                  <a:pt x="5091241" y="3680395"/>
                  <a:pt x="5029298" y="3742339"/>
                  <a:pt x="4952887" y="3742339"/>
                </a:cubicBezTo>
                <a:lnTo>
                  <a:pt x="138354" y="3742339"/>
                </a:lnTo>
                <a:cubicBezTo>
                  <a:pt x="61943" y="3742339"/>
                  <a:pt x="0" y="3680395"/>
                  <a:pt x="0" y="3603984"/>
                </a:cubicBezTo>
                <a:lnTo>
                  <a:pt x="0" y="138354"/>
                </a:lnTo>
                <a:cubicBezTo>
                  <a:pt x="0" y="61994"/>
                  <a:pt x="61994" y="0"/>
                  <a:pt x="13835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7607" y="1577181"/>
            <a:ext cx="4824919" cy="242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Capabilities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949224" y="1992228"/>
            <a:ext cx="155643" cy="155643"/>
          </a:xfrm>
          <a:custGeom>
            <a:avLst/>
            <a:gdLst/>
            <a:ahLst/>
            <a:cxnLst/>
            <a:rect l="l" t="t" r="r" b="b"/>
            <a:pathLst>
              <a:path w="155643" h="155643">
                <a:moveTo>
                  <a:pt x="77821" y="0"/>
                </a:moveTo>
                <a:cubicBezTo>
                  <a:pt x="79220" y="0"/>
                  <a:pt x="80618" y="304"/>
                  <a:pt x="81895" y="882"/>
                </a:cubicBezTo>
                <a:lnTo>
                  <a:pt x="139166" y="25170"/>
                </a:lnTo>
                <a:cubicBezTo>
                  <a:pt x="145854" y="27997"/>
                  <a:pt x="150840" y="34594"/>
                  <a:pt x="150809" y="42559"/>
                </a:cubicBezTo>
                <a:cubicBezTo>
                  <a:pt x="150657" y="72714"/>
                  <a:pt x="138254" y="127888"/>
                  <a:pt x="85877" y="152967"/>
                </a:cubicBezTo>
                <a:cubicBezTo>
                  <a:pt x="80800" y="155399"/>
                  <a:pt x="74903" y="155399"/>
                  <a:pt x="69826" y="152967"/>
                </a:cubicBezTo>
                <a:cubicBezTo>
                  <a:pt x="17419" y="127888"/>
                  <a:pt x="5046" y="72714"/>
                  <a:pt x="4894" y="42559"/>
                </a:cubicBezTo>
                <a:cubicBezTo>
                  <a:pt x="4864" y="34594"/>
                  <a:pt x="9849" y="27997"/>
                  <a:pt x="16537" y="25170"/>
                </a:cubicBezTo>
                <a:lnTo>
                  <a:pt x="73778" y="882"/>
                </a:lnTo>
                <a:cubicBezTo>
                  <a:pt x="75055" y="304"/>
                  <a:pt x="76423" y="0"/>
                  <a:pt x="77821" y="0"/>
                </a:cubicBezTo>
                <a:close/>
                <a:moveTo>
                  <a:pt x="77821" y="20306"/>
                </a:moveTo>
                <a:lnTo>
                  <a:pt x="77821" y="135245"/>
                </a:lnTo>
                <a:cubicBezTo>
                  <a:pt x="119772" y="114938"/>
                  <a:pt x="131050" y="69948"/>
                  <a:pt x="131323" y="43014"/>
                </a:cubicBezTo>
                <a:lnTo>
                  <a:pt x="77821" y="20337"/>
                </a:lnTo>
                <a:lnTo>
                  <a:pt x="77821" y="2033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7225922" y="1957641"/>
            <a:ext cx="2308698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&amp; Authorization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5922" y="2199751"/>
            <a:ext cx="2300051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IAM policies, Cognito, Lambda authorizers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49224" y="2511037"/>
            <a:ext cx="155643" cy="155643"/>
          </a:xfrm>
          <a:custGeom>
            <a:avLst/>
            <a:gdLst/>
            <a:ahLst/>
            <a:cxnLst/>
            <a:rect l="l" t="t" r="r" b="b"/>
            <a:pathLst>
              <a:path w="155643" h="155643">
                <a:moveTo>
                  <a:pt x="0" y="77821"/>
                </a:moveTo>
                <a:cubicBezTo>
                  <a:pt x="0" y="34871"/>
                  <a:pt x="34871" y="0"/>
                  <a:pt x="77821" y="0"/>
                </a:cubicBezTo>
                <a:cubicBezTo>
                  <a:pt x="120772" y="0"/>
                  <a:pt x="155643" y="34871"/>
                  <a:pt x="155643" y="77821"/>
                </a:cubicBezTo>
                <a:cubicBezTo>
                  <a:pt x="155643" y="120772"/>
                  <a:pt x="120772" y="155643"/>
                  <a:pt x="77821" y="155643"/>
                </a:cubicBezTo>
                <a:cubicBezTo>
                  <a:pt x="34871" y="155643"/>
                  <a:pt x="0" y="120772"/>
                  <a:pt x="0" y="77821"/>
                </a:cubicBezTo>
                <a:close/>
                <a:moveTo>
                  <a:pt x="87549" y="29183"/>
                </a:moveTo>
                <a:cubicBezTo>
                  <a:pt x="87549" y="23814"/>
                  <a:pt x="83190" y="19455"/>
                  <a:pt x="77821" y="19455"/>
                </a:cubicBezTo>
                <a:cubicBezTo>
                  <a:pt x="72452" y="19455"/>
                  <a:pt x="68094" y="23814"/>
                  <a:pt x="68094" y="29183"/>
                </a:cubicBezTo>
                <a:cubicBezTo>
                  <a:pt x="68094" y="34552"/>
                  <a:pt x="72452" y="38911"/>
                  <a:pt x="77821" y="38911"/>
                </a:cubicBezTo>
                <a:cubicBezTo>
                  <a:pt x="83190" y="38911"/>
                  <a:pt x="87549" y="34552"/>
                  <a:pt x="87549" y="29183"/>
                </a:cubicBezTo>
                <a:close/>
                <a:moveTo>
                  <a:pt x="77821" y="126460"/>
                </a:moveTo>
                <a:cubicBezTo>
                  <a:pt x="88552" y="126460"/>
                  <a:pt x="97277" y="117735"/>
                  <a:pt x="97277" y="107004"/>
                </a:cubicBezTo>
                <a:cubicBezTo>
                  <a:pt x="97277" y="102080"/>
                  <a:pt x="95453" y="97550"/>
                  <a:pt x="92413" y="94146"/>
                </a:cubicBezTo>
                <a:lnTo>
                  <a:pt x="113540" y="51921"/>
                </a:lnTo>
                <a:cubicBezTo>
                  <a:pt x="115334" y="48304"/>
                  <a:pt x="113874" y="43926"/>
                  <a:pt x="110287" y="42133"/>
                </a:cubicBezTo>
                <a:cubicBezTo>
                  <a:pt x="106700" y="40339"/>
                  <a:pt x="102292" y="41799"/>
                  <a:pt x="100499" y="45386"/>
                </a:cubicBezTo>
                <a:lnTo>
                  <a:pt x="79372" y="87610"/>
                </a:lnTo>
                <a:cubicBezTo>
                  <a:pt x="78855" y="87579"/>
                  <a:pt x="78338" y="87549"/>
                  <a:pt x="77821" y="87549"/>
                </a:cubicBezTo>
                <a:cubicBezTo>
                  <a:pt x="67090" y="87549"/>
                  <a:pt x="58366" y="96273"/>
                  <a:pt x="58366" y="107004"/>
                </a:cubicBezTo>
                <a:cubicBezTo>
                  <a:pt x="58366" y="117735"/>
                  <a:pt x="67090" y="126460"/>
                  <a:pt x="77821" y="126460"/>
                </a:cubicBezTo>
                <a:close/>
                <a:moveTo>
                  <a:pt x="53502" y="43774"/>
                </a:moveTo>
                <a:cubicBezTo>
                  <a:pt x="53502" y="38406"/>
                  <a:pt x="49143" y="34047"/>
                  <a:pt x="43774" y="34047"/>
                </a:cubicBezTo>
                <a:cubicBezTo>
                  <a:pt x="38406" y="34047"/>
                  <a:pt x="34047" y="38406"/>
                  <a:pt x="34047" y="43774"/>
                </a:cubicBezTo>
                <a:cubicBezTo>
                  <a:pt x="34047" y="49143"/>
                  <a:pt x="38406" y="53502"/>
                  <a:pt x="43774" y="53502"/>
                </a:cubicBezTo>
                <a:cubicBezTo>
                  <a:pt x="49143" y="53502"/>
                  <a:pt x="53502" y="49143"/>
                  <a:pt x="53502" y="43774"/>
                </a:cubicBezTo>
                <a:close/>
                <a:moveTo>
                  <a:pt x="29183" y="87549"/>
                </a:moveTo>
                <a:cubicBezTo>
                  <a:pt x="34552" y="87549"/>
                  <a:pt x="38911" y="83190"/>
                  <a:pt x="38911" y="77821"/>
                </a:cubicBezTo>
                <a:cubicBezTo>
                  <a:pt x="38911" y="72452"/>
                  <a:pt x="34552" y="68094"/>
                  <a:pt x="29183" y="68094"/>
                </a:cubicBezTo>
                <a:cubicBezTo>
                  <a:pt x="23814" y="68094"/>
                  <a:pt x="19455" y="72452"/>
                  <a:pt x="19455" y="77821"/>
                </a:cubicBezTo>
                <a:cubicBezTo>
                  <a:pt x="19455" y="83190"/>
                  <a:pt x="23814" y="87549"/>
                  <a:pt x="29183" y="87549"/>
                </a:cubicBezTo>
                <a:close/>
                <a:moveTo>
                  <a:pt x="136187" y="77821"/>
                </a:moveTo>
                <a:cubicBezTo>
                  <a:pt x="136187" y="72452"/>
                  <a:pt x="131828" y="68094"/>
                  <a:pt x="126460" y="68094"/>
                </a:cubicBezTo>
                <a:cubicBezTo>
                  <a:pt x="121091" y="68094"/>
                  <a:pt x="116732" y="72452"/>
                  <a:pt x="116732" y="77821"/>
                </a:cubicBezTo>
                <a:cubicBezTo>
                  <a:pt x="116732" y="83190"/>
                  <a:pt x="121091" y="87549"/>
                  <a:pt x="126460" y="87549"/>
                </a:cubicBezTo>
                <a:cubicBezTo>
                  <a:pt x="131828" y="87549"/>
                  <a:pt x="136187" y="83190"/>
                  <a:pt x="136187" y="7782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7225922" y="2476449"/>
            <a:ext cx="2066587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Management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225922" y="2718560"/>
            <a:ext cx="2057940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Throttling, caching, request validation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958951" y="3029845"/>
            <a:ext cx="136187" cy="155643"/>
          </a:xfrm>
          <a:custGeom>
            <a:avLst/>
            <a:gdLst/>
            <a:ahLst/>
            <a:cxnLst/>
            <a:rect l="l" t="t" r="r" b="b"/>
            <a:pathLst>
              <a:path w="136187" h="155643">
                <a:moveTo>
                  <a:pt x="24319" y="31615"/>
                </a:moveTo>
                <a:cubicBezTo>
                  <a:pt x="28346" y="31615"/>
                  <a:pt x="31615" y="28346"/>
                  <a:pt x="31615" y="24319"/>
                </a:cubicBezTo>
                <a:cubicBezTo>
                  <a:pt x="31615" y="20293"/>
                  <a:pt x="28346" y="17023"/>
                  <a:pt x="24319" y="17023"/>
                </a:cubicBezTo>
                <a:cubicBezTo>
                  <a:pt x="20293" y="17023"/>
                  <a:pt x="17023" y="20293"/>
                  <a:pt x="17023" y="24319"/>
                </a:cubicBezTo>
                <a:cubicBezTo>
                  <a:pt x="17023" y="28346"/>
                  <a:pt x="20293" y="31615"/>
                  <a:pt x="24319" y="31615"/>
                </a:cubicBezTo>
                <a:close/>
                <a:moveTo>
                  <a:pt x="48638" y="24319"/>
                </a:moveTo>
                <a:cubicBezTo>
                  <a:pt x="48638" y="34290"/>
                  <a:pt x="42650" y="42863"/>
                  <a:pt x="34047" y="46602"/>
                </a:cubicBezTo>
                <a:lnTo>
                  <a:pt x="34047" y="68094"/>
                </a:lnTo>
                <a:lnTo>
                  <a:pt x="87549" y="68094"/>
                </a:lnTo>
                <a:cubicBezTo>
                  <a:pt x="95605" y="68094"/>
                  <a:pt x="102140" y="61558"/>
                  <a:pt x="102140" y="53502"/>
                </a:cubicBezTo>
                <a:lnTo>
                  <a:pt x="102140" y="46602"/>
                </a:lnTo>
                <a:cubicBezTo>
                  <a:pt x="93538" y="42863"/>
                  <a:pt x="87549" y="34290"/>
                  <a:pt x="87549" y="24319"/>
                </a:cubicBezTo>
                <a:cubicBezTo>
                  <a:pt x="87549" y="10883"/>
                  <a:pt x="98432" y="0"/>
                  <a:pt x="111868" y="0"/>
                </a:cubicBezTo>
                <a:cubicBezTo>
                  <a:pt x="125304" y="0"/>
                  <a:pt x="136187" y="10883"/>
                  <a:pt x="136187" y="24319"/>
                </a:cubicBezTo>
                <a:cubicBezTo>
                  <a:pt x="136187" y="34290"/>
                  <a:pt x="130199" y="42863"/>
                  <a:pt x="121596" y="46602"/>
                </a:cubicBezTo>
                <a:lnTo>
                  <a:pt x="121596" y="53502"/>
                </a:lnTo>
                <a:cubicBezTo>
                  <a:pt x="121596" y="72319"/>
                  <a:pt x="106366" y="87549"/>
                  <a:pt x="87549" y="87549"/>
                </a:cubicBezTo>
                <a:lnTo>
                  <a:pt x="34047" y="87549"/>
                </a:lnTo>
                <a:lnTo>
                  <a:pt x="34047" y="109041"/>
                </a:lnTo>
                <a:cubicBezTo>
                  <a:pt x="42650" y="112780"/>
                  <a:pt x="48638" y="121353"/>
                  <a:pt x="48638" y="131323"/>
                </a:cubicBezTo>
                <a:cubicBezTo>
                  <a:pt x="48638" y="144760"/>
                  <a:pt x="37755" y="155643"/>
                  <a:pt x="24319" y="155643"/>
                </a:cubicBezTo>
                <a:cubicBezTo>
                  <a:pt x="10883" y="155643"/>
                  <a:pt x="0" y="144760"/>
                  <a:pt x="0" y="131323"/>
                </a:cubicBezTo>
                <a:cubicBezTo>
                  <a:pt x="0" y="121353"/>
                  <a:pt x="5989" y="112780"/>
                  <a:pt x="14591" y="109041"/>
                </a:cubicBezTo>
                <a:lnTo>
                  <a:pt x="14591" y="46632"/>
                </a:lnTo>
                <a:cubicBezTo>
                  <a:pt x="5989" y="42863"/>
                  <a:pt x="0" y="34290"/>
                  <a:pt x="0" y="24319"/>
                </a:cubicBezTo>
                <a:cubicBezTo>
                  <a:pt x="0" y="10883"/>
                  <a:pt x="10883" y="0"/>
                  <a:pt x="24319" y="0"/>
                </a:cubicBezTo>
                <a:cubicBezTo>
                  <a:pt x="37755" y="0"/>
                  <a:pt x="48638" y="10883"/>
                  <a:pt x="48638" y="24319"/>
                </a:cubicBezTo>
                <a:close/>
                <a:moveTo>
                  <a:pt x="119164" y="24319"/>
                </a:moveTo>
                <a:cubicBezTo>
                  <a:pt x="119164" y="20293"/>
                  <a:pt x="115895" y="17023"/>
                  <a:pt x="111868" y="17023"/>
                </a:cubicBezTo>
                <a:cubicBezTo>
                  <a:pt x="107841" y="17023"/>
                  <a:pt x="104572" y="20293"/>
                  <a:pt x="104572" y="24319"/>
                </a:cubicBezTo>
                <a:cubicBezTo>
                  <a:pt x="104572" y="28346"/>
                  <a:pt x="107841" y="31615"/>
                  <a:pt x="111868" y="31615"/>
                </a:cubicBezTo>
                <a:cubicBezTo>
                  <a:pt x="115895" y="31615"/>
                  <a:pt x="119164" y="28346"/>
                  <a:pt x="119164" y="24319"/>
                </a:cubicBezTo>
                <a:close/>
                <a:moveTo>
                  <a:pt x="24319" y="138619"/>
                </a:moveTo>
                <a:cubicBezTo>
                  <a:pt x="28346" y="138619"/>
                  <a:pt x="31615" y="135350"/>
                  <a:pt x="31615" y="131323"/>
                </a:cubicBezTo>
                <a:cubicBezTo>
                  <a:pt x="31615" y="127297"/>
                  <a:pt x="28346" y="124028"/>
                  <a:pt x="24319" y="124028"/>
                </a:cubicBezTo>
                <a:cubicBezTo>
                  <a:pt x="20293" y="124028"/>
                  <a:pt x="17023" y="127297"/>
                  <a:pt x="17023" y="131323"/>
                </a:cubicBezTo>
                <a:cubicBezTo>
                  <a:pt x="17023" y="135350"/>
                  <a:pt x="20293" y="138619"/>
                  <a:pt x="24319" y="13861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7225922" y="2995258"/>
            <a:ext cx="202335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Versioning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25922" y="3237368"/>
            <a:ext cx="2014706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 multiple versions (v1, v2, v3)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49224" y="3548654"/>
            <a:ext cx="155643" cy="155643"/>
          </a:xfrm>
          <a:custGeom>
            <a:avLst/>
            <a:gdLst/>
            <a:ahLst/>
            <a:cxnLst/>
            <a:rect l="l" t="t" r="r" b="b"/>
            <a:pathLst>
              <a:path w="155643" h="155643">
                <a:moveTo>
                  <a:pt x="70678" y="1581"/>
                </a:moveTo>
                <a:cubicBezTo>
                  <a:pt x="75207" y="-517"/>
                  <a:pt x="80436" y="-517"/>
                  <a:pt x="84965" y="1581"/>
                </a:cubicBezTo>
                <a:lnTo>
                  <a:pt x="151417" y="32284"/>
                </a:lnTo>
                <a:cubicBezTo>
                  <a:pt x="154001" y="33469"/>
                  <a:pt x="155643" y="36053"/>
                  <a:pt x="155643" y="38911"/>
                </a:cubicBezTo>
                <a:cubicBezTo>
                  <a:pt x="155643" y="41768"/>
                  <a:pt x="154001" y="44352"/>
                  <a:pt x="151417" y="45538"/>
                </a:cubicBezTo>
                <a:lnTo>
                  <a:pt x="84965" y="76241"/>
                </a:lnTo>
                <a:cubicBezTo>
                  <a:pt x="80436" y="78338"/>
                  <a:pt x="75207" y="78338"/>
                  <a:pt x="70678" y="76241"/>
                </a:cubicBezTo>
                <a:lnTo>
                  <a:pt x="4225" y="45538"/>
                </a:lnTo>
                <a:cubicBezTo>
                  <a:pt x="1642" y="44322"/>
                  <a:pt x="0" y="41738"/>
                  <a:pt x="0" y="38911"/>
                </a:cubicBezTo>
                <a:cubicBezTo>
                  <a:pt x="0" y="36084"/>
                  <a:pt x="1642" y="33469"/>
                  <a:pt x="4225" y="32284"/>
                </a:cubicBezTo>
                <a:lnTo>
                  <a:pt x="70678" y="1581"/>
                </a:lnTo>
                <a:close/>
                <a:moveTo>
                  <a:pt x="14622" y="66391"/>
                </a:moveTo>
                <a:lnTo>
                  <a:pt x="64567" y="89464"/>
                </a:lnTo>
                <a:cubicBezTo>
                  <a:pt x="72988" y="93355"/>
                  <a:pt x="82685" y="93355"/>
                  <a:pt x="91106" y="89464"/>
                </a:cubicBezTo>
                <a:lnTo>
                  <a:pt x="141051" y="66391"/>
                </a:lnTo>
                <a:lnTo>
                  <a:pt x="151417" y="71194"/>
                </a:lnTo>
                <a:cubicBezTo>
                  <a:pt x="154001" y="72380"/>
                  <a:pt x="155643" y="74964"/>
                  <a:pt x="155643" y="77821"/>
                </a:cubicBezTo>
                <a:cubicBezTo>
                  <a:pt x="155643" y="80679"/>
                  <a:pt x="154001" y="83263"/>
                  <a:pt x="151417" y="84448"/>
                </a:cubicBezTo>
                <a:lnTo>
                  <a:pt x="84965" y="115151"/>
                </a:lnTo>
                <a:cubicBezTo>
                  <a:pt x="80436" y="117249"/>
                  <a:pt x="75207" y="117249"/>
                  <a:pt x="70678" y="115151"/>
                </a:cubicBezTo>
                <a:lnTo>
                  <a:pt x="4225" y="84448"/>
                </a:lnTo>
                <a:cubicBezTo>
                  <a:pt x="1642" y="83232"/>
                  <a:pt x="0" y="80648"/>
                  <a:pt x="0" y="77821"/>
                </a:cubicBezTo>
                <a:cubicBezTo>
                  <a:pt x="0" y="74994"/>
                  <a:pt x="1642" y="72380"/>
                  <a:pt x="4225" y="71194"/>
                </a:cubicBezTo>
                <a:lnTo>
                  <a:pt x="14591" y="66391"/>
                </a:lnTo>
                <a:close/>
                <a:moveTo>
                  <a:pt x="4225" y="110105"/>
                </a:moveTo>
                <a:lnTo>
                  <a:pt x="14591" y="105302"/>
                </a:lnTo>
                <a:lnTo>
                  <a:pt x="64537" y="128375"/>
                </a:lnTo>
                <a:cubicBezTo>
                  <a:pt x="72957" y="132266"/>
                  <a:pt x="82655" y="132266"/>
                  <a:pt x="91075" y="128375"/>
                </a:cubicBezTo>
                <a:lnTo>
                  <a:pt x="141021" y="105302"/>
                </a:lnTo>
                <a:lnTo>
                  <a:pt x="151387" y="110105"/>
                </a:lnTo>
                <a:cubicBezTo>
                  <a:pt x="153971" y="111291"/>
                  <a:pt x="155612" y="113874"/>
                  <a:pt x="155612" y="116732"/>
                </a:cubicBezTo>
                <a:cubicBezTo>
                  <a:pt x="155612" y="119589"/>
                  <a:pt x="153971" y="122173"/>
                  <a:pt x="151387" y="123359"/>
                </a:cubicBezTo>
                <a:lnTo>
                  <a:pt x="84935" y="154062"/>
                </a:lnTo>
                <a:cubicBezTo>
                  <a:pt x="80405" y="156159"/>
                  <a:pt x="75177" y="156159"/>
                  <a:pt x="70647" y="154062"/>
                </a:cubicBezTo>
                <a:lnTo>
                  <a:pt x="4225" y="123359"/>
                </a:lnTo>
                <a:cubicBezTo>
                  <a:pt x="1642" y="122143"/>
                  <a:pt x="0" y="119559"/>
                  <a:pt x="0" y="116732"/>
                </a:cubicBezTo>
                <a:cubicBezTo>
                  <a:pt x="0" y="113905"/>
                  <a:pt x="1642" y="111291"/>
                  <a:pt x="4225" y="1101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7225922" y="3514066"/>
            <a:ext cx="1591013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Stages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225922" y="3756177"/>
            <a:ext cx="1582366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Dev, test, prod environments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68679" y="4067462"/>
            <a:ext cx="116732" cy="155643"/>
          </a:xfrm>
          <a:custGeom>
            <a:avLst/>
            <a:gdLst/>
            <a:ahLst/>
            <a:cxnLst/>
            <a:rect l="l" t="t" r="r" b="b"/>
            <a:pathLst>
              <a:path w="116732" h="155643">
                <a:moveTo>
                  <a:pt x="0" y="19455"/>
                </a:moveTo>
                <a:cubicBezTo>
                  <a:pt x="0" y="8724"/>
                  <a:pt x="8724" y="0"/>
                  <a:pt x="19455" y="0"/>
                </a:cubicBezTo>
                <a:lnTo>
                  <a:pt x="64902" y="0"/>
                </a:lnTo>
                <a:cubicBezTo>
                  <a:pt x="70070" y="0"/>
                  <a:pt x="75025" y="2037"/>
                  <a:pt x="78672" y="5685"/>
                </a:cubicBezTo>
                <a:lnTo>
                  <a:pt x="111047" y="38090"/>
                </a:lnTo>
                <a:cubicBezTo>
                  <a:pt x="114695" y="41738"/>
                  <a:pt x="116732" y="46693"/>
                  <a:pt x="116732" y="51861"/>
                </a:cubicBezTo>
                <a:lnTo>
                  <a:pt x="116732" y="136187"/>
                </a:lnTo>
                <a:cubicBezTo>
                  <a:pt x="116732" y="146918"/>
                  <a:pt x="108007" y="155643"/>
                  <a:pt x="97277" y="155643"/>
                </a:cubicBezTo>
                <a:lnTo>
                  <a:pt x="19455" y="155643"/>
                </a:lnTo>
                <a:cubicBezTo>
                  <a:pt x="8724" y="155643"/>
                  <a:pt x="0" y="146918"/>
                  <a:pt x="0" y="136187"/>
                </a:cubicBezTo>
                <a:lnTo>
                  <a:pt x="0" y="19455"/>
                </a:lnTo>
                <a:close/>
                <a:moveTo>
                  <a:pt x="63230" y="17783"/>
                </a:moveTo>
                <a:lnTo>
                  <a:pt x="63230" y="46206"/>
                </a:lnTo>
                <a:cubicBezTo>
                  <a:pt x="63230" y="50249"/>
                  <a:pt x="66482" y="53502"/>
                  <a:pt x="70526" y="53502"/>
                </a:cubicBezTo>
                <a:lnTo>
                  <a:pt x="98949" y="53502"/>
                </a:lnTo>
                <a:lnTo>
                  <a:pt x="63230" y="17783"/>
                </a:lnTo>
                <a:close/>
                <a:moveTo>
                  <a:pt x="46875" y="89859"/>
                </a:moveTo>
                <a:cubicBezTo>
                  <a:pt x="49489" y="86789"/>
                  <a:pt x="49155" y="82199"/>
                  <a:pt x="46085" y="79584"/>
                </a:cubicBezTo>
                <a:cubicBezTo>
                  <a:pt x="43014" y="76970"/>
                  <a:pt x="38424" y="77304"/>
                  <a:pt x="35810" y="80375"/>
                </a:cubicBezTo>
                <a:lnTo>
                  <a:pt x="21218" y="97398"/>
                </a:lnTo>
                <a:cubicBezTo>
                  <a:pt x="18878" y="100134"/>
                  <a:pt x="18878" y="104147"/>
                  <a:pt x="21218" y="106883"/>
                </a:cubicBezTo>
                <a:lnTo>
                  <a:pt x="35810" y="123906"/>
                </a:lnTo>
                <a:cubicBezTo>
                  <a:pt x="38424" y="126976"/>
                  <a:pt x="43045" y="127311"/>
                  <a:pt x="46085" y="124696"/>
                </a:cubicBezTo>
                <a:cubicBezTo>
                  <a:pt x="49125" y="122082"/>
                  <a:pt x="49489" y="117461"/>
                  <a:pt x="46875" y="114422"/>
                </a:cubicBezTo>
                <a:lnTo>
                  <a:pt x="36357" y="102140"/>
                </a:lnTo>
                <a:lnTo>
                  <a:pt x="46875" y="89859"/>
                </a:lnTo>
                <a:close/>
                <a:moveTo>
                  <a:pt x="80922" y="80375"/>
                </a:moveTo>
                <a:cubicBezTo>
                  <a:pt x="78308" y="77304"/>
                  <a:pt x="73687" y="76970"/>
                  <a:pt x="70647" y="79584"/>
                </a:cubicBezTo>
                <a:cubicBezTo>
                  <a:pt x="67607" y="82199"/>
                  <a:pt x="67242" y="86819"/>
                  <a:pt x="69857" y="89859"/>
                </a:cubicBezTo>
                <a:lnTo>
                  <a:pt x="80375" y="102140"/>
                </a:lnTo>
                <a:lnTo>
                  <a:pt x="69857" y="114422"/>
                </a:lnTo>
                <a:cubicBezTo>
                  <a:pt x="67242" y="117492"/>
                  <a:pt x="67577" y="122082"/>
                  <a:pt x="70647" y="124696"/>
                </a:cubicBezTo>
                <a:cubicBezTo>
                  <a:pt x="73717" y="127311"/>
                  <a:pt x="78308" y="126976"/>
                  <a:pt x="80922" y="123906"/>
                </a:cubicBezTo>
                <a:lnTo>
                  <a:pt x="95513" y="106883"/>
                </a:lnTo>
                <a:cubicBezTo>
                  <a:pt x="97854" y="104147"/>
                  <a:pt x="97854" y="100134"/>
                  <a:pt x="95513" y="97398"/>
                </a:cubicBezTo>
                <a:lnTo>
                  <a:pt x="80922" y="8037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7225922" y="4032875"/>
            <a:ext cx="2369226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OpenAPI Support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25922" y="4274986"/>
            <a:ext cx="2360579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Import/export Swagger/OpenAPI 3.0 specs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968679" y="4586271"/>
            <a:ext cx="116732" cy="155643"/>
          </a:xfrm>
          <a:custGeom>
            <a:avLst/>
            <a:gdLst/>
            <a:ahLst/>
            <a:cxnLst/>
            <a:rect l="l" t="t" r="r" b="b"/>
            <a:pathLst>
              <a:path w="116732" h="155643">
                <a:moveTo>
                  <a:pt x="4864" y="19455"/>
                </a:moveTo>
                <a:cubicBezTo>
                  <a:pt x="4864" y="8724"/>
                  <a:pt x="13588" y="0"/>
                  <a:pt x="24319" y="0"/>
                </a:cubicBezTo>
                <a:lnTo>
                  <a:pt x="92413" y="0"/>
                </a:lnTo>
                <a:cubicBezTo>
                  <a:pt x="103144" y="0"/>
                  <a:pt x="111868" y="8724"/>
                  <a:pt x="111868" y="19455"/>
                </a:cubicBezTo>
                <a:lnTo>
                  <a:pt x="111868" y="136187"/>
                </a:lnTo>
                <a:cubicBezTo>
                  <a:pt x="111868" y="146918"/>
                  <a:pt x="103144" y="155643"/>
                  <a:pt x="92413" y="155643"/>
                </a:cubicBezTo>
                <a:lnTo>
                  <a:pt x="24319" y="155643"/>
                </a:lnTo>
                <a:cubicBezTo>
                  <a:pt x="13588" y="155643"/>
                  <a:pt x="4864" y="146918"/>
                  <a:pt x="4864" y="136187"/>
                </a:cubicBezTo>
                <a:lnTo>
                  <a:pt x="4864" y="19455"/>
                </a:lnTo>
                <a:close/>
                <a:moveTo>
                  <a:pt x="24319" y="19455"/>
                </a:moveTo>
                <a:lnTo>
                  <a:pt x="24319" y="111868"/>
                </a:lnTo>
                <a:lnTo>
                  <a:pt x="92413" y="111868"/>
                </a:lnTo>
                <a:lnTo>
                  <a:pt x="92413" y="19455"/>
                </a:lnTo>
                <a:lnTo>
                  <a:pt x="24319" y="19455"/>
                </a:lnTo>
                <a:close/>
                <a:moveTo>
                  <a:pt x="58366" y="143483"/>
                </a:moveTo>
                <a:cubicBezTo>
                  <a:pt x="63747" y="143483"/>
                  <a:pt x="68094" y="139136"/>
                  <a:pt x="68094" y="133755"/>
                </a:cubicBezTo>
                <a:cubicBezTo>
                  <a:pt x="68094" y="128375"/>
                  <a:pt x="63747" y="124028"/>
                  <a:pt x="58366" y="124028"/>
                </a:cubicBezTo>
                <a:cubicBezTo>
                  <a:pt x="52985" y="124028"/>
                  <a:pt x="48638" y="128375"/>
                  <a:pt x="48638" y="133755"/>
                </a:cubicBezTo>
                <a:cubicBezTo>
                  <a:pt x="48638" y="139136"/>
                  <a:pt x="52985" y="143483"/>
                  <a:pt x="58366" y="14348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7225922" y="4551683"/>
            <a:ext cx="2455694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SDK Generation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25922" y="4793794"/>
            <a:ext cx="2447047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Auto-generate client SDKs (iOS, Android, JS)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751212" y="5241735"/>
            <a:ext cx="5091241" cy="1563343"/>
          </a:xfrm>
          <a:custGeom>
            <a:avLst/>
            <a:gdLst/>
            <a:ahLst/>
            <a:cxnLst/>
            <a:rect l="l" t="t" r="r" b="b"/>
            <a:pathLst>
              <a:path w="5091241" h="1563343">
                <a:moveTo>
                  <a:pt x="138356" y="0"/>
                </a:moveTo>
                <a:lnTo>
                  <a:pt x="4952885" y="0"/>
                </a:lnTo>
                <a:cubicBezTo>
                  <a:pt x="5029297" y="0"/>
                  <a:pt x="5091241" y="61944"/>
                  <a:pt x="5091241" y="138356"/>
                </a:cubicBezTo>
                <a:lnTo>
                  <a:pt x="5091241" y="1424987"/>
                </a:lnTo>
                <a:cubicBezTo>
                  <a:pt x="5091241" y="1501399"/>
                  <a:pt x="5029297" y="1563343"/>
                  <a:pt x="4952885" y="1563343"/>
                </a:cubicBezTo>
                <a:lnTo>
                  <a:pt x="138356" y="1563343"/>
                </a:lnTo>
                <a:cubicBezTo>
                  <a:pt x="61944" y="1563343"/>
                  <a:pt x="0" y="1501399"/>
                  <a:pt x="0" y="1424987"/>
                </a:cubicBezTo>
                <a:lnTo>
                  <a:pt x="0" y="138356"/>
                </a:lnTo>
                <a:cubicBezTo>
                  <a:pt x="0" y="61944"/>
                  <a:pt x="61944" y="0"/>
                  <a:pt x="138356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93019" y="5383541"/>
            <a:ext cx="4876800" cy="207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 Tier Benefits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93019" y="5660239"/>
            <a:ext cx="486815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 million HTTP API calls/month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93019" y="5867762"/>
            <a:ext cx="486815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 million REST API calls/month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893019" y="6075285"/>
            <a:ext cx="486815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1 million WebSocket messages/month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93019" y="6282809"/>
            <a:ext cx="4868153" cy="172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3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750,000 WebSocket connections/month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93019" y="6524919"/>
            <a:ext cx="4859506" cy="1383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Available for 12 months with new AWS accounts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2582" y="352582"/>
            <a:ext cx="1150255" cy="321164"/>
          </a:xfrm>
          <a:custGeom>
            <a:avLst/>
            <a:gdLst/>
            <a:ahLst/>
            <a:cxnLst/>
            <a:rect l="l" t="t" r="r" b="b"/>
            <a:pathLst>
              <a:path w="1150255" h="321164">
                <a:moveTo>
                  <a:pt x="160582" y="0"/>
                </a:moveTo>
                <a:lnTo>
                  <a:pt x="989673" y="0"/>
                </a:lnTo>
                <a:cubicBezTo>
                  <a:pt x="1078360" y="0"/>
                  <a:pt x="1150255" y="71895"/>
                  <a:pt x="1150255" y="160582"/>
                </a:cubicBezTo>
                <a:lnTo>
                  <a:pt x="1150255" y="160582"/>
                </a:lnTo>
                <a:cubicBezTo>
                  <a:pt x="1150255" y="249269"/>
                  <a:pt x="1078360" y="321164"/>
                  <a:pt x="989673" y="321164"/>
                </a:cubicBezTo>
                <a:lnTo>
                  <a:pt x="160582" y="321164"/>
                </a:lnTo>
                <a:cubicBezTo>
                  <a:pt x="71895" y="321164"/>
                  <a:pt x="0" y="249269"/>
                  <a:pt x="0" y="160582"/>
                </a:cubicBezTo>
                <a:lnTo>
                  <a:pt x="0" y="160582"/>
                </a:lnTo>
                <a:cubicBezTo>
                  <a:pt x="0" y="71895"/>
                  <a:pt x="71895" y="0"/>
                  <a:pt x="16058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5527" y="452071"/>
            <a:ext cx="137455" cy="122182"/>
          </a:xfrm>
          <a:custGeom>
            <a:avLst/>
            <a:gdLst/>
            <a:ahLst/>
            <a:cxnLst/>
            <a:rect l="l" t="t" r="r" b="b"/>
            <a:pathLst>
              <a:path w="137455" h="122182">
                <a:moveTo>
                  <a:pt x="86100" y="286"/>
                </a:moveTo>
                <a:cubicBezTo>
                  <a:pt x="82043" y="-883"/>
                  <a:pt x="77819" y="1480"/>
                  <a:pt x="76650" y="5536"/>
                </a:cubicBezTo>
                <a:lnTo>
                  <a:pt x="46105" y="112445"/>
                </a:lnTo>
                <a:cubicBezTo>
                  <a:pt x="44935" y="116502"/>
                  <a:pt x="47298" y="120726"/>
                  <a:pt x="51355" y="121895"/>
                </a:cubicBezTo>
                <a:cubicBezTo>
                  <a:pt x="55411" y="123065"/>
                  <a:pt x="59635" y="120702"/>
                  <a:pt x="60805" y="116645"/>
                </a:cubicBezTo>
                <a:lnTo>
                  <a:pt x="91350" y="9736"/>
                </a:lnTo>
                <a:cubicBezTo>
                  <a:pt x="92519" y="5680"/>
                  <a:pt x="90157" y="1456"/>
                  <a:pt x="86100" y="286"/>
                </a:cubicBezTo>
                <a:close/>
                <a:moveTo>
                  <a:pt x="101516" y="32765"/>
                </a:moveTo>
                <a:cubicBezTo>
                  <a:pt x="98533" y="35748"/>
                  <a:pt x="98533" y="40592"/>
                  <a:pt x="101516" y="43575"/>
                </a:cubicBezTo>
                <a:lnTo>
                  <a:pt x="119032" y="61091"/>
                </a:lnTo>
                <a:lnTo>
                  <a:pt x="101516" y="78607"/>
                </a:lnTo>
                <a:cubicBezTo>
                  <a:pt x="98533" y="81590"/>
                  <a:pt x="98533" y="86434"/>
                  <a:pt x="101516" y="89417"/>
                </a:cubicBezTo>
                <a:cubicBezTo>
                  <a:pt x="104499" y="92400"/>
                  <a:pt x="109343" y="92400"/>
                  <a:pt x="112326" y="89417"/>
                </a:cubicBezTo>
                <a:lnTo>
                  <a:pt x="135235" y="66508"/>
                </a:lnTo>
                <a:cubicBezTo>
                  <a:pt x="138218" y="63525"/>
                  <a:pt x="138218" y="58681"/>
                  <a:pt x="135235" y="55698"/>
                </a:cubicBezTo>
                <a:lnTo>
                  <a:pt x="112326" y="32789"/>
                </a:lnTo>
                <a:cubicBezTo>
                  <a:pt x="109343" y="29806"/>
                  <a:pt x="104499" y="29806"/>
                  <a:pt x="101516" y="32789"/>
                </a:cubicBezTo>
                <a:close/>
                <a:moveTo>
                  <a:pt x="35963" y="32765"/>
                </a:moveTo>
                <a:cubicBezTo>
                  <a:pt x="32980" y="29782"/>
                  <a:pt x="28135" y="29782"/>
                  <a:pt x="25152" y="32765"/>
                </a:cubicBezTo>
                <a:lnTo>
                  <a:pt x="2243" y="55674"/>
                </a:lnTo>
                <a:cubicBezTo>
                  <a:pt x="-740" y="58657"/>
                  <a:pt x="-740" y="63501"/>
                  <a:pt x="2243" y="66484"/>
                </a:cubicBezTo>
                <a:lnTo>
                  <a:pt x="25152" y="89393"/>
                </a:lnTo>
                <a:cubicBezTo>
                  <a:pt x="28135" y="92376"/>
                  <a:pt x="32980" y="92376"/>
                  <a:pt x="35963" y="89393"/>
                </a:cubicBezTo>
                <a:cubicBezTo>
                  <a:pt x="38945" y="86410"/>
                  <a:pt x="38945" y="81566"/>
                  <a:pt x="35963" y="78583"/>
                </a:cubicBezTo>
                <a:lnTo>
                  <a:pt x="18447" y="61091"/>
                </a:lnTo>
                <a:lnTo>
                  <a:pt x="35939" y="43575"/>
                </a:lnTo>
                <a:cubicBezTo>
                  <a:pt x="38922" y="40592"/>
                  <a:pt x="38922" y="35748"/>
                  <a:pt x="35939" y="3276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18255" y="425889"/>
            <a:ext cx="698182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kern="0" spc="4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Types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9091" y="781969"/>
            <a:ext cx="11650909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4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 - API Types &amp; Core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9091" y="1235787"/>
            <a:ext cx="837818" cy="34909"/>
          </a:xfrm>
          <a:custGeom>
            <a:avLst/>
            <a:gdLst/>
            <a:ahLst/>
            <a:cxnLst/>
            <a:rect l="l" t="t" r="r" b="b"/>
            <a:pathLst>
              <a:path w="837818" h="34909">
                <a:moveTo>
                  <a:pt x="0" y="0"/>
                </a:moveTo>
                <a:lnTo>
                  <a:pt x="837818" y="0"/>
                </a:lnTo>
                <a:lnTo>
                  <a:pt x="837818" y="34909"/>
                </a:lnTo>
                <a:lnTo>
                  <a:pt x="0" y="34909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52582" y="1413823"/>
            <a:ext cx="3707345" cy="4204800"/>
          </a:xfrm>
          <a:custGeom>
            <a:avLst/>
            <a:gdLst/>
            <a:ahLst/>
            <a:cxnLst/>
            <a:rect l="l" t="t" r="r" b="b"/>
            <a:pathLst>
              <a:path w="3707345" h="4204800">
                <a:moveTo>
                  <a:pt x="139619" y="0"/>
                </a:moveTo>
                <a:lnTo>
                  <a:pt x="3567727" y="0"/>
                </a:lnTo>
                <a:cubicBezTo>
                  <a:pt x="3644836" y="0"/>
                  <a:pt x="3707345" y="62509"/>
                  <a:pt x="3707345" y="139619"/>
                </a:cubicBezTo>
                <a:lnTo>
                  <a:pt x="3707345" y="4065181"/>
                </a:lnTo>
                <a:cubicBezTo>
                  <a:pt x="3707345" y="4142291"/>
                  <a:pt x="3644836" y="4204800"/>
                  <a:pt x="3567727" y="4204800"/>
                </a:cubicBezTo>
                <a:lnTo>
                  <a:pt x="139619" y="4204800"/>
                </a:lnTo>
                <a:cubicBezTo>
                  <a:pt x="62509" y="4204800"/>
                  <a:pt x="0" y="4142291"/>
                  <a:pt x="0" y="4065181"/>
                </a:cubicBezTo>
                <a:lnTo>
                  <a:pt x="0" y="139619"/>
                </a:lnTo>
                <a:cubicBezTo>
                  <a:pt x="0" y="62509"/>
                  <a:pt x="62509" y="0"/>
                  <a:pt x="13961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618" y="1609202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104727" y="0"/>
                </a:moveTo>
                <a:lnTo>
                  <a:pt x="314182" y="0"/>
                </a:lnTo>
                <a:cubicBezTo>
                  <a:pt x="372021" y="0"/>
                  <a:pt x="418909" y="46888"/>
                  <a:pt x="418909" y="104727"/>
                </a:cubicBezTo>
                <a:lnTo>
                  <a:pt x="418909" y="314182"/>
                </a:lnTo>
                <a:cubicBezTo>
                  <a:pt x="418909" y="372021"/>
                  <a:pt x="372021" y="418909"/>
                  <a:pt x="314182" y="418909"/>
                </a:cubicBezTo>
                <a:lnTo>
                  <a:pt x="104727" y="418909"/>
                </a:lnTo>
                <a:cubicBezTo>
                  <a:pt x="46888" y="418909"/>
                  <a:pt x="0" y="372021"/>
                  <a:pt x="0" y="314182"/>
                </a:cubicBezTo>
                <a:lnTo>
                  <a:pt x="0" y="104727"/>
                </a:lnTo>
                <a:cubicBezTo>
                  <a:pt x="0" y="46927"/>
                  <a:pt x="46927" y="0"/>
                  <a:pt x="104727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3709" y="1731384"/>
            <a:ext cx="152727" cy="174545"/>
          </a:xfrm>
          <a:custGeom>
            <a:avLst/>
            <a:gdLst/>
            <a:ahLst/>
            <a:cxnLst/>
            <a:rect l="l" t="t" r="r" b="b"/>
            <a:pathLst>
              <a:path w="152727" h="174545">
                <a:moveTo>
                  <a:pt x="43636" y="-10909"/>
                </a:moveTo>
                <a:cubicBezTo>
                  <a:pt x="49670" y="-10909"/>
                  <a:pt x="54545" y="-6034"/>
                  <a:pt x="54545" y="0"/>
                </a:cubicBezTo>
                <a:lnTo>
                  <a:pt x="54545" y="32727"/>
                </a:lnTo>
                <a:lnTo>
                  <a:pt x="98182" y="32727"/>
                </a:lnTo>
                <a:lnTo>
                  <a:pt x="98182" y="0"/>
                </a:lnTo>
                <a:cubicBezTo>
                  <a:pt x="98182" y="-6034"/>
                  <a:pt x="103057" y="-10909"/>
                  <a:pt x="109091" y="-10909"/>
                </a:cubicBezTo>
                <a:cubicBezTo>
                  <a:pt x="115125" y="-10909"/>
                  <a:pt x="120000" y="-6034"/>
                  <a:pt x="120000" y="0"/>
                </a:cubicBezTo>
                <a:lnTo>
                  <a:pt x="120000" y="32727"/>
                </a:lnTo>
                <a:lnTo>
                  <a:pt x="141818" y="32727"/>
                </a:lnTo>
                <a:cubicBezTo>
                  <a:pt x="147852" y="32727"/>
                  <a:pt x="152727" y="37602"/>
                  <a:pt x="152727" y="43636"/>
                </a:cubicBezTo>
                <a:cubicBezTo>
                  <a:pt x="152727" y="49670"/>
                  <a:pt x="147852" y="54545"/>
                  <a:pt x="141818" y="54545"/>
                </a:cubicBezTo>
                <a:lnTo>
                  <a:pt x="141818" y="76364"/>
                </a:lnTo>
                <a:cubicBezTo>
                  <a:pt x="141818" y="108784"/>
                  <a:pt x="118227" y="135716"/>
                  <a:pt x="87273" y="140898"/>
                </a:cubicBezTo>
                <a:lnTo>
                  <a:pt x="87273" y="163636"/>
                </a:lnTo>
                <a:cubicBezTo>
                  <a:pt x="87273" y="169670"/>
                  <a:pt x="82398" y="174545"/>
                  <a:pt x="76364" y="174545"/>
                </a:cubicBezTo>
                <a:cubicBezTo>
                  <a:pt x="70330" y="174545"/>
                  <a:pt x="65455" y="169670"/>
                  <a:pt x="65455" y="163636"/>
                </a:cubicBezTo>
                <a:lnTo>
                  <a:pt x="65455" y="140898"/>
                </a:lnTo>
                <a:cubicBezTo>
                  <a:pt x="34500" y="135716"/>
                  <a:pt x="10909" y="108784"/>
                  <a:pt x="10909" y="76364"/>
                </a:cubicBezTo>
                <a:lnTo>
                  <a:pt x="10909" y="54545"/>
                </a:lnTo>
                <a:cubicBezTo>
                  <a:pt x="4875" y="54545"/>
                  <a:pt x="0" y="49670"/>
                  <a:pt x="0" y="43636"/>
                </a:cubicBezTo>
                <a:cubicBezTo>
                  <a:pt x="0" y="37602"/>
                  <a:pt x="4875" y="32727"/>
                  <a:pt x="10909" y="32727"/>
                </a:cubicBezTo>
                <a:lnTo>
                  <a:pt x="32727" y="32727"/>
                </a:lnTo>
                <a:lnTo>
                  <a:pt x="32727" y="0"/>
                </a:lnTo>
                <a:cubicBezTo>
                  <a:pt x="32727" y="-6034"/>
                  <a:pt x="37602" y="-10909"/>
                  <a:pt x="43636" y="-1090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54255" y="1591858"/>
            <a:ext cx="977455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4255" y="1871020"/>
            <a:ext cx="933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Feature-Rich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618" y="2185202"/>
            <a:ext cx="3421091" cy="680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Full-featured API type supporting request/response transformations, authorizers, and API keys. Best for complex enterprise APIs.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4109" y="3009056"/>
            <a:ext cx="3349527" cy="1717527"/>
          </a:xfrm>
          <a:custGeom>
            <a:avLst/>
            <a:gdLst/>
            <a:ahLst/>
            <a:cxnLst/>
            <a:rect l="l" t="t" r="r" b="b"/>
            <a:pathLst>
              <a:path w="3349527" h="1717527">
                <a:moveTo>
                  <a:pt x="104735" y="0"/>
                </a:moveTo>
                <a:lnTo>
                  <a:pt x="3244792" y="0"/>
                </a:lnTo>
                <a:cubicBezTo>
                  <a:pt x="3302636" y="0"/>
                  <a:pt x="3349527" y="46891"/>
                  <a:pt x="3349527" y="104735"/>
                </a:cubicBezTo>
                <a:lnTo>
                  <a:pt x="3349527" y="1612792"/>
                </a:lnTo>
                <a:cubicBezTo>
                  <a:pt x="3349527" y="1670636"/>
                  <a:pt x="3302636" y="1717527"/>
                  <a:pt x="3244792" y="1717527"/>
                </a:cubicBezTo>
                <a:lnTo>
                  <a:pt x="104735" y="1717527"/>
                </a:lnTo>
                <a:cubicBezTo>
                  <a:pt x="46891" y="1717527"/>
                  <a:pt x="0" y="1670636"/>
                  <a:pt x="0" y="1612792"/>
                </a:cubicBezTo>
                <a:lnTo>
                  <a:pt x="0" y="104735"/>
                </a:lnTo>
                <a:cubicBezTo>
                  <a:pt x="0" y="46891"/>
                  <a:pt x="46891" y="0"/>
                  <a:pt x="1047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7236" y="3152182"/>
            <a:ext cx="3124364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2327" y="3466364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99782" y="3431455"/>
            <a:ext cx="1928727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Request/response transformations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2327" y="3710727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899782" y="3675818"/>
            <a:ext cx="1125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authorizers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2327" y="3955091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899782" y="3920182"/>
            <a:ext cx="1413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keys and usage plans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02327" y="4199455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99782" y="4164545"/>
            <a:ext cx="1047273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 validation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02327" y="4443818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899782" y="4408909"/>
            <a:ext cx="1029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Mock integrations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34109" y="4873198"/>
            <a:ext cx="3349527" cy="565527"/>
          </a:xfrm>
          <a:custGeom>
            <a:avLst/>
            <a:gdLst/>
            <a:ahLst/>
            <a:cxnLst/>
            <a:rect l="l" t="t" r="r" b="b"/>
            <a:pathLst>
              <a:path w="3349527" h="565527">
                <a:moveTo>
                  <a:pt x="104730" y="0"/>
                </a:moveTo>
                <a:lnTo>
                  <a:pt x="3244797" y="0"/>
                </a:lnTo>
                <a:cubicBezTo>
                  <a:pt x="3302638" y="0"/>
                  <a:pt x="3349527" y="46889"/>
                  <a:pt x="3349527" y="104730"/>
                </a:cubicBezTo>
                <a:lnTo>
                  <a:pt x="3349527" y="460797"/>
                </a:lnTo>
                <a:cubicBezTo>
                  <a:pt x="3349527" y="518638"/>
                  <a:pt x="3302638" y="565527"/>
                  <a:pt x="3244797" y="565527"/>
                </a:cubicBezTo>
                <a:lnTo>
                  <a:pt x="104730" y="565527"/>
                </a:lnTo>
                <a:cubicBezTo>
                  <a:pt x="46889" y="565527"/>
                  <a:pt x="0" y="518638"/>
                  <a:pt x="0" y="460797"/>
                </a:cubicBezTo>
                <a:lnTo>
                  <a:pt x="0" y="104730"/>
                </a:lnTo>
                <a:cubicBezTo>
                  <a:pt x="0" y="46928"/>
                  <a:pt x="46928" y="0"/>
                  <a:pt x="10473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327" y="4981423"/>
            <a:ext cx="3194182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r>
              <a:rPr lang="en-US" sz="96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Complex APIs requiring transformations and fine-grained control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42982" y="1413823"/>
            <a:ext cx="3707345" cy="4204800"/>
          </a:xfrm>
          <a:custGeom>
            <a:avLst/>
            <a:gdLst/>
            <a:ahLst/>
            <a:cxnLst/>
            <a:rect l="l" t="t" r="r" b="b"/>
            <a:pathLst>
              <a:path w="3707345" h="4204800">
                <a:moveTo>
                  <a:pt x="139619" y="0"/>
                </a:moveTo>
                <a:lnTo>
                  <a:pt x="3567727" y="0"/>
                </a:lnTo>
                <a:cubicBezTo>
                  <a:pt x="3644836" y="0"/>
                  <a:pt x="3707345" y="62509"/>
                  <a:pt x="3707345" y="139619"/>
                </a:cubicBezTo>
                <a:lnTo>
                  <a:pt x="3707345" y="4065181"/>
                </a:lnTo>
                <a:cubicBezTo>
                  <a:pt x="3707345" y="4142291"/>
                  <a:pt x="3644836" y="4204800"/>
                  <a:pt x="3567727" y="4204800"/>
                </a:cubicBezTo>
                <a:lnTo>
                  <a:pt x="139619" y="4204800"/>
                </a:lnTo>
                <a:cubicBezTo>
                  <a:pt x="62509" y="4204800"/>
                  <a:pt x="0" y="4142291"/>
                  <a:pt x="0" y="4065181"/>
                </a:cubicBezTo>
                <a:lnTo>
                  <a:pt x="0" y="139619"/>
                </a:lnTo>
                <a:cubicBezTo>
                  <a:pt x="0" y="62509"/>
                  <a:pt x="62509" y="0"/>
                  <a:pt x="13961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21018" y="1609202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104727" y="0"/>
                </a:moveTo>
                <a:lnTo>
                  <a:pt x="314182" y="0"/>
                </a:lnTo>
                <a:cubicBezTo>
                  <a:pt x="372021" y="0"/>
                  <a:pt x="418909" y="46888"/>
                  <a:pt x="418909" y="104727"/>
                </a:cubicBezTo>
                <a:lnTo>
                  <a:pt x="418909" y="314182"/>
                </a:lnTo>
                <a:cubicBezTo>
                  <a:pt x="418909" y="372021"/>
                  <a:pt x="372021" y="418909"/>
                  <a:pt x="314182" y="418909"/>
                </a:cubicBezTo>
                <a:lnTo>
                  <a:pt x="104727" y="418909"/>
                </a:lnTo>
                <a:cubicBezTo>
                  <a:pt x="46888" y="418909"/>
                  <a:pt x="0" y="372021"/>
                  <a:pt x="0" y="314182"/>
                </a:cubicBezTo>
                <a:lnTo>
                  <a:pt x="0" y="104727"/>
                </a:lnTo>
                <a:cubicBezTo>
                  <a:pt x="0" y="46927"/>
                  <a:pt x="46927" y="0"/>
                  <a:pt x="104727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54109" y="1731384"/>
            <a:ext cx="152727" cy="174545"/>
          </a:xfrm>
          <a:custGeom>
            <a:avLst/>
            <a:gdLst/>
            <a:ahLst/>
            <a:cxnLst/>
            <a:rect l="l" t="t" r="r" b="b"/>
            <a:pathLst>
              <a:path w="152727" h="174545">
                <a:moveTo>
                  <a:pt x="115500" y="-3375"/>
                </a:moveTo>
                <a:cubicBezTo>
                  <a:pt x="119557" y="-443"/>
                  <a:pt x="121057" y="4875"/>
                  <a:pt x="119216" y="9511"/>
                </a:cubicBezTo>
                <a:lnTo>
                  <a:pt x="92489" y="76364"/>
                </a:lnTo>
                <a:lnTo>
                  <a:pt x="141818" y="76364"/>
                </a:lnTo>
                <a:cubicBezTo>
                  <a:pt x="146420" y="76364"/>
                  <a:pt x="150511" y="79227"/>
                  <a:pt x="152080" y="83557"/>
                </a:cubicBezTo>
                <a:cubicBezTo>
                  <a:pt x="153648" y="87886"/>
                  <a:pt x="152318" y="92727"/>
                  <a:pt x="148807" y="95659"/>
                </a:cubicBezTo>
                <a:lnTo>
                  <a:pt x="50625" y="177477"/>
                </a:lnTo>
                <a:cubicBezTo>
                  <a:pt x="46773" y="180682"/>
                  <a:pt x="41284" y="180852"/>
                  <a:pt x="37227" y="177920"/>
                </a:cubicBezTo>
                <a:cubicBezTo>
                  <a:pt x="33170" y="174989"/>
                  <a:pt x="31670" y="169670"/>
                  <a:pt x="33511" y="165034"/>
                </a:cubicBezTo>
                <a:lnTo>
                  <a:pt x="60239" y="98182"/>
                </a:lnTo>
                <a:lnTo>
                  <a:pt x="10909" y="98182"/>
                </a:lnTo>
                <a:cubicBezTo>
                  <a:pt x="6307" y="98182"/>
                  <a:pt x="2216" y="95318"/>
                  <a:pt x="648" y="90989"/>
                </a:cubicBezTo>
                <a:cubicBezTo>
                  <a:pt x="-920" y="86659"/>
                  <a:pt x="409" y="81818"/>
                  <a:pt x="3920" y="78886"/>
                </a:cubicBezTo>
                <a:lnTo>
                  <a:pt x="102102" y="-2932"/>
                </a:lnTo>
                <a:cubicBezTo>
                  <a:pt x="105955" y="-6136"/>
                  <a:pt x="111443" y="-6307"/>
                  <a:pt x="115500" y="-33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4944655" y="1591858"/>
            <a:ext cx="1117091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API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44655" y="1871020"/>
            <a:ext cx="1073455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 &amp; Fast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421018" y="2185202"/>
            <a:ext cx="3421091" cy="680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Lower-cost, lower-latency alternative to REST APIs. Ideal for simple proxy integrations with Lambda or HTTP backends.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24509" y="3009056"/>
            <a:ext cx="3349527" cy="1717527"/>
          </a:xfrm>
          <a:custGeom>
            <a:avLst/>
            <a:gdLst/>
            <a:ahLst/>
            <a:cxnLst/>
            <a:rect l="l" t="t" r="r" b="b"/>
            <a:pathLst>
              <a:path w="3349527" h="1717527">
                <a:moveTo>
                  <a:pt x="104735" y="0"/>
                </a:moveTo>
                <a:lnTo>
                  <a:pt x="3244792" y="0"/>
                </a:lnTo>
                <a:cubicBezTo>
                  <a:pt x="3302636" y="0"/>
                  <a:pt x="3349527" y="46891"/>
                  <a:pt x="3349527" y="104735"/>
                </a:cubicBezTo>
                <a:lnTo>
                  <a:pt x="3349527" y="1612792"/>
                </a:lnTo>
                <a:cubicBezTo>
                  <a:pt x="3349527" y="1670636"/>
                  <a:pt x="3302636" y="1717527"/>
                  <a:pt x="3244792" y="1717527"/>
                </a:cubicBezTo>
                <a:lnTo>
                  <a:pt x="104735" y="1717527"/>
                </a:lnTo>
                <a:cubicBezTo>
                  <a:pt x="46891" y="1717527"/>
                  <a:pt x="0" y="1670636"/>
                  <a:pt x="0" y="1612792"/>
                </a:cubicBezTo>
                <a:lnTo>
                  <a:pt x="0" y="104735"/>
                </a:lnTo>
                <a:cubicBezTo>
                  <a:pt x="0" y="46891"/>
                  <a:pt x="46891" y="0"/>
                  <a:pt x="1047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67636" y="3152182"/>
            <a:ext cx="3124364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92727" y="3466364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4790182" y="3431455"/>
            <a:ext cx="1501091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~71% lower cost than REST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92727" y="3710727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4790182" y="3675818"/>
            <a:ext cx="811636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Lower latency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92727" y="3955091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4790182" y="3920182"/>
            <a:ext cx="1824000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JWT authorizers (Cognito/OIDC)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92727" y="4199455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2" name="Text 40"/>
          <p:cNvSpPr/>
          <p:nvPr/>
        </p:nvSpPr>
        <p:spPr>
          <a:xfrm>
            <a:off x="4790182" y="4164545"/>
            <a:ext cx="1282909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Auto-deploying stages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592727" y="4443818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4790182" y="4408909"/>
            <a:ext cx="1125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CORS configuration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24509" y="4873198"/>
            <a:ext cx="3349527" cy="565527"/>
          </a:xfrm>
          <a:custGeom>
            <a:avLst/>
            <a:gdLst/>
            <a:ahLst/>
            <a:cxnLst/>
            <a:rect l="l" t="t" r="r" b="b"/>
            <a:pathLst>
              <a:path w="3349527" h="565527">
                <a:moveTo>
                  <a:pt x="104730" y="0"/>
                </a:moveTo>
                <a:lnTo>
                  <a:pt x="3244797" y="0"/>
                </a:lnTo>
                <a:cubicBezTo>
                  <a:pt x="3302638" y="0"/>
                  <a:pt x="3349527" y="46889"/>
                  <a:pt x="3349527" y="104730"/>
                </a:cubicBezTo>
                <a:lnTo>
                  <a:pt x="3349527" y="460797"/>
                </a:lnTo>
                <a:cubicBezTo>
                  <a:pt x="3349527" y="518638"/>
                  <a:pt x="3302638" y="565527"/>
                  <a:pt x="3244797" y="565527"/>
                </a:cubicBezTo>
                <a:lnTo>
                  <a:pt x="104730" y="565527"/>
                </a:lnTo>
                <a:cubicBezTo>
                  <a:pt x="46889" y="565527"/>
                  <a:pt x="0" y="518638"/>
                  <a:pt x="0" y="460797"/>
                </a:cubicBezTo>
                <a:lnTo>
                  <a:pt x="0" y="104730"/>
                </a:lnTo>
                <a:cubicBezTo>
                  <a:pt x="0" y="46928"/>
                  <a:pt x="46928" y="0"/>
                  <a:pt x="10473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32727" y="4981423"/>
            <a:ext cx="3194182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r>
              <a:rPr lang="en-US" sz="96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Most use cases - preferred option unless REST-specific features needed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33382" y="1413823"/>
            <a:ext cx="3707345" cy="4204800"/>
          </a:xfrm>
          <a:custGeom>
            <a:avLst/>
            <a:gdLst/>
            <a:ahLst/>
            <a:cxnLst/>
            <a:rect l="l" t="t" r="r" b="b"/>
            <a:pathLst>
              <a:path w="3707345" h="4204800">
                <a:moveTo>
                  <a:pt x="139619" y="0"/>
                </a:moveTo>
                <a:lnTo>
                  <a:pt x="3567727" y="0"/>
                </a:lnTo>
                <a:cubicBezTo>
                  <a:pt x="3644836" y="0"/>
                  <a:pt x="3707345" y="62509"/>
                  <a:pt x="3707345" y="139619"/>
                </a:cubicBezTo>
                <a:lnTo>
                  <a:pt x="3707345" y="4065181"/>
                </a:lnTo>
                <a:cubicBezTo>
                  <a:pt x="3707345" y="4142291"/>
                  <a:pt x="3644836" y="4204800"/>
                  <a:pt x="3567727" y="4204800"/>
                </a:cubicBezTo>
                <a:lnTo>
                  <a:pt x="139619" y="4204800"/>
                </a:lnTo>
                <a:cubicBezTo>
                  <a:pt x="62509" y="4204800"/>
                  <a:pt x="0" y="4142291"/>
                  <a:pt x="0" y="4065181"/>
                </a:cubicBezTo>
                <a:lnTo>
                  <a:pt x="0" y="139619"/>
                </a:lnTo>
                <a:cubicBezTo>
                  <a:pt x="0" y="62509"/>
                  <a:pt x="62509" y="0"/>
                  <a:pt x="13961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11419" y="1609202"/>
            <a:ext cx="418909" cy="418909"/>
          </a:xfrm>
          <a:custGeom>
            <a:avLst/>
            <a:gdLst/>
            <a:ahLst/>
            <a:cxnLst/>
            <a:rect l="l" t="t" r="r" b="b"/>
            <a:pathLst>
              <a:path w="418909" h="418909">
                <a:moveTo>
                  <a:pt x="104727" y="0"/>
                </a:moveTo>
                <a:lnTo>
                  <a:pt x="314182" y="0"/>
                </a:lnTo>
                <a:cubicBezTo>
                  <a:pt x="372021" y="0"/>
                  <a:pt x="418909" y="46888"/>
                  <a:pt x="418909" y="104727"/>
                </a:cubicBezTo>
                <a:lnTo>
                  <a:pt x="418909" y="314182"/>
                </a:lnTo>
                <a:cubicBezTo>
                  <a:pt x="418909" y="372021"/>
                  <a:pt x="372021" y="418909"/>
                  <a:pt x="314182" y="418909"/>
                </a:cubicBezTo>
                <a:lnTo>
                  <a:pt x="104727" y="418909"/>
                </a:lnTo>
                <a:cubicBezTo>
                  <a:pt x="46888" y="418909"/>
                  <a:pt x="0" y="372021"/>
                  <a:pt x="0" y="314182"/>
                </a:cubicBezTo>
                <a:lnTo>
                  <a:pt x="0" y="104727"/>
                </a:lnTo>
                <a:cubicBezTo>
                  <a:pt x="0" y="46927"/>
                  <a:pt x="46927" y="0"/>
                  <a:pt x="104727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33600" y="1731384"/>
            <a:ext cx="174545" cy="174545"/>
          </a:xfrm>
          <a:custGeom>
            <a:avLst/>
            <a:gdLst/>
            <a:ahLst/>
            <a:cxnLst/>
            <a:rect l="l" t="t" r="r" b="b"/>
            <a:pathLst>
              <a:path w="174545" h="174545">
                <a:moveTo>
                  <a:pt x="171341" y="51341"/>
                </a:moveTo>
                <a:lnTo>
                  <a:pt x="138614" y="84068"/>
                </a:lnTo>
                <a:cubicBezTo>
                  <a:pt x="135477" y="87205"/>
                  <a:pt x="130807" y="88125"/>
                  <a:pt x="126716" y="86420"/>
                </a:cubicBezTo>
                <a:cubicBezTo>
                  <a:pt x="122625" y="84716"/>
                  <a:pt x="120000" y="80761"/>
                  <a:pt x="120000" y="76364"/>
                </a:cubicBezTo>
                <a:lnTo>
                  <a:pt x="120000" y="54545"/>
                </a:lnTo>
                <a:lnTo>
                  <a:pt x="10909" y="54545"/>
                </a:lnTo>
                <a:cubicBezTo>
                  <a:pt x="4875" y="54545"/>
                  <a:pt x="0" y="49670"/>
                  <a:pt x="0" y="43636"/>
                </a:cubicBezTo>
                <a:cubicBezTo>
                  <a:pt x="0" y="37602"/>
                  <a:pt x="4875" y="32727"/>
                  <a:pt x="10909" y="32727"/>
                </a:cubicBezTo>
                <a:lnTo>
                  <a:pt x="120000" y="32727"/>
                </a:lnTo>
                <a:lnTo>
                  <a:pt x="120000" y="10909"/>
                </a:lnTo>
                <a:cubicBezTo>
                  <a:pt x="120000" y="6511"/>
                  <a:pt x="122659" y="2523"/>
                  <a:pt x="126750" y="818"/>
                </a:cubicBezTo>
                <a:cubicBezTo>
                  <a:pt x="130841" y="-886"/>
                  <a:pt x="135511" y="68"/>
                  <a:pt x="138648" y="3170"/>
                </a:cubicBezTo>
                <a:lnTo>
                  <a:pt x="171375" y="35898"/>
                </a:lnTo>
                <a:cubicBezTo>
                  <a:pt x="175636" y="40159"/>
                  <a:pt x="175636" y="47080"/>
                  <a:pt x="171375" y="51341"/>
                </a:cubicBezTo>
                <a:close/>
                <a:moveTo>
                  <a:pt x="35898" y="171341"/>
                </a:moveTo>
                <a:lnTo>
                  <a:pt x="3170" y="138614"/>
                </a:lnTo>
                <a:cubicBezTo>
                  <a:pt x="-1091" y="134352"/>
                  <a:pt x="-1091" y="127432"/>
                  <a:pt x="3170" y="123170"/>
                </a:cubicBezTo>
                <a:lnTo>
                  <a:pt x="35898" y="90443"/>
                </a:lnTo>
                <a:cubicBezTo>
                  <a:pt x="39034" y="87307"/>
                  <a:pt x="43705" y="86386"/>
                  <a:pt x="47795" y="88091"/>
                </a:cubicBezTo>
                <a:cubicBezTo>
                  <a:pt x="51886" y="89795"/>
                  <a:pt x="54545" y="93784"/>
                  <a:pt x="54545" y="98182"/>
                </a:cubicBezTo>
                <a:lnTo>
                  <a:pt x="54545" y="120000"/>
                </a:lnTo>
                <a:lnTo>
                  <a:pt x="163636" y="120000"/>
                </a:lnTo>
                <a:cubicBezTo>
                  <a:pt x="169670" y="120000"/>
                  <a:pt x="174545" y="124875"/>
                  <a:pt x="174545" y="130909"/>
                </a:cubicBezTo>
                <a:cubicBezTo>
                  <a:pt x="174545" y="136943"/>
                  <a:pt x="169670" y="141818"/>
                  <a:pt x="163636" y="141818"/>
                </a:cubicBezTo>
                <a:lnTo>
                  <a:pt x="54545" y="141818"/>
                </a:lnTo>
                <a:lnTo>
                  <a:pt x="54545" y="163636"/>
                </a:lnTo>
                <a:cubicBezTo>
                  <a:pt x="54545" y="168034"/>
                  <a:pt x="51886" y="172023"/>
                  <a:pt x="47795" y="173727"/>
                </a:cubicBezTo>
                <a:cubicBezTo>
                  <a:pt x="43705" y="175432"/>
                  <a:pt x="39034" y="174477"/>
                  <a:pt x="35898" y="1713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0" name="Text 48"/>
          <p:cNvSpPr/>
          <p:nvPr/>
        </p:nvSpPr>
        <p:spPr>
          <a:xfrm>
            <a:off x="8835055" y="1591858"/>
            <a:ext cx="1553455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 API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835055" y="1871020"/>
            <a:ext cx="1509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311419" y="2185202"/>
            <a:ext cx="3421091" cy="680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Enables real-time, bidirectional communication between clients and servers. Maintains persistent connections.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14909" y="3009056"/>
            <a:ext cx="3349527" cy="1717527"/>
          </a:xfrm>
          <a:custGeom>
            <a:avLst/>
            <a:gdLst/>
            <a:ahLst/>
            <a:cxnLst/>
            <a:rect l="l" t="t" r="r" b="b"/>
            <a:pathLst>
              <a:path w="3349527" h="1717527">
                <a:moveTo>
                  <a:pt x="104735" y="0"/>
                </a:moveTo>
                <a:lnTo>
                  <a:pt x="3244792" y="0"/>
                </a:lnTo>
                <a:cubicBezTo>
                  <a:pt x="3302636" y="0"/>
                  <a:pt x="3349527" y="46891"/>
                  <a:pt x="3349527" y="104735"/>
                </a:cubicBezTo>
                <a:lnTo>
                  <a:pt x="3349527" y="1612792"/>
                </a:lnTo>
                <a:cubicBezTo>
                  <a:pt x="3349527" y="1670636"/>
                  <a:pt x="3302636" y="1717527"/>
                  <a:pt x="3244792" y="1717527"/>
                </a:cubicBezTo>
                <a:lnTo>
                  <a:pt x="104735" y="1717527"/>
                </a:lnTo>
                <a:cubicBezTo>
                  <a:pt x="46891" y="1717527"/>
                  <a:pt x="0" y="1670636"/>
                  <a:pt x="0" y="1612792"/>
                </a:cubicBezTo>
                <a:lnTo>
                  <a:pt x="0" y="104735"/>
                </a:lnTo>
                <a:cubicBezTo>
                  <a:pt x="0" y="46891"/>
                  <a:pt x="46891" y="0"/>
                  <a:pt x="10473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58037" y="3152182"/>
            <a:ext cx="3124364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Features: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483127" y="3466364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6" name="Text 54"/>
          <p:cNvSpPr/>
          <p:nvPr/>
        </p:nvSpPr>
        <p:spPr>
          <a:xfrm>
            <a:off x="8680582" y="3431455"/>
            <a:ext cx="1396364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Bi-directional messaging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83127" y="3710727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8" name="Text 56"/>
          <p:cNvSpPr/>
          <p:nvPr/>
        </p:nvSpPr>
        <p:spPr>
          <a:xfrm>
            <a:off x="8680582" y="3675818"/>
            <a:ext cx="1413818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management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83127" y="3955091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0" name="Text 58"/>
          <p:cNvSpPr/>
          <p:nvPr/>
        </p:nvSpPr>
        <p:spPr>
          <a:xfrm>
            <a:off x="8680582" y="3920182"/>
            <a:ext cx="1754182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Route-based message handling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483127" y="4199455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2" name="Text 60"/>
          <p:cNvSpPr/>
          <p:nvPr/>
        </p:nvSpPr>
        <p:spPr>
          <a:xfrm>
            <a:off x="8680582" y="4164545"/>
            <a:ext cx="1248000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Broadcast capabilities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483127" y="4443818"/>
            <a:ext cx="106909" cy="122182"/>
          </a:xfrm>
          <a:custGeom>
            <a:avLst/>
            <a:gdLst/>
            <a:ahLst/>
            <a:cxnLst/>
            <a:rect l="l" t="t" r="r" b="b"/>
            <a:pathLst>
              <a:path w="106909" h="122182">
                <a:moveTo>
                  <a:pt x="103759" y="16728"/>
                </a:moveTo>
                <a:cubicBezTo>
                  <a:pt x="107172" y="19210"/>
                  <a:pt x="107935" y="23983"/>
                  <a:pt x="105453" y="27395"/>
                </a:cubicBezTo>
                <a:lnTo>
                  <a:pt x="44363" y="111395"/>
                </a:lnTo>
                <a:cubicBezTo>
                  <a:pt x="43050" y="113209"/>
                  <a:pt x="41022" y="114331"/>
                  <a:pt x="38778" y="114522"/>
                </a:cubicBezTo>
                <a:cubicBezTo>
                  <a:pt x="36535" y="114713"/>
                  <a:pt x="34364" y="113877"/>
                  <a:pt x="32789" y="112302"/>
                </a:cubicBezTo>
                <a:lnTo>
                  <a:pt x="2243" y="81757"/>
                </a:lnTo>
                <a:cubicBezTo>
                  <a:pt x="-740" y="78774"/>
                  <a:pt x="-740" y="73930"/>
                  <a:pt x="2243" y="70947"/>
                </a:cubicBezTo>
                <a:cubicBezTo>
                  <a:pt x="5226" y="67964"/>
                  <a:pt x="10070" y="67964"/>
                  <a:pt x="13053" y="70947"/>
                </a:cubicBezTo>
                <a:lnTo>
                  <a:pt x="37275" y="95168"/>
                </a:lnTo>
                <a:lnTo>
                  <a:pt x="93116" y="18399"/>
                </a:lnTo>
                <a:cubicBezTo>
                  <a:pt x="95598" y="14986"/>
                  <a:pt x="100370" y="14223"/>
                  <a:pt x="103783" y="167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4" name="Text 62"/>
          <p:cNvSpPr/>
          <p:nvPr/>
        </p:nvSpPr>
        <p:spPr>
          <a:xfrm>
            <a:off x="8680582" y="4408909"/>
            <a:ext cx="1265455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10-minute idle timeout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314909" y="4873198"/>
            <a:ext cx="3349527" cy="565527"/>
          </a:xfrm>
          <a:custGeom>
            <a:avLst/>
            <a:gdLst/>
            <a:ahLst/>
            <a:cxnLst/>
            <a:rect l="l" t="t" r="r" b="b"/>
            <a:pathLst>
              <a:path w="3349527" h="565527">
                <a:moveTo>
                  <a:pt x="104730" y="0"/>
                </a:moveTo>
                <a:lnTo>
                  <a:pt x="3244797" y="0"/>
                </a:lnTo>
                <a:cubicBezTo>
                  <a:pt x="3302638" y="0"/>
                  <a:pt x="3349527" y="46889"/>
                  <a:pt x="3349527" y="104730"/>
                </a:cubicBezTo>
                <a:lnTo>
                  <a:pt x="3349527" y="460797"/>
                </a:lnTo>
                <a:cubicBezTo>
                  <a:pt x="3349527" y="518638"/>
                  <a:pt x="3302638" y="565527"/>
                  <a:pt x="3244797" y="565527"/>
                </a:cubicBezTo>
                <a:lnTo>
                  <a:pt x="104730" y="565527"/>
                </a:lnTo>
                <a:cubicBezTo>
                  <a:pt x="46889" y="565527"/>
                  <a:pt x="0" y="518638"/>
                  <a:pt x="0" y="460797"/>
                </a:cubicBezTo>
                <a:lnTo>
                  <a:pt x="0" y="104730"/>
                </a:lnTo>
                <a:cubicBezTo>
                  <a:pt x="0" y="46928"/>
                  <a:pt x="46928" y="0"/>
                  <a:pt x="10473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423127" y="4981423"/>
            <a:ext cx="3194182" cy="3490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For:</a:t>
            </a:r>
            <a:r>
              <a:rPr lang="en-US" sz="962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Chat apps, live updates, gaming, collaborative tools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52582" y="5701557"/>
            <a:ext cx="11492073" cy="1089164"/>
          </a:xfrm>
          <a:custGeom>
            <a:avLst/>
            <a:gdLst/>
            <a:ahLst/>
            <a:cxnLst/>
            <a:rect l="l" t="t" r="r" b="b"/>
            <a:pathLst>
              <a:path w="11492073" h="1089164">
                <a:moveTo>
                  <a:pt x="139642" y="0"/>
                </a:moveTo>
                <a:lnTo>
                  <a:pt x="11352431" y="0"/>
                </a:lnTo>
                <a:cubicBezTo>
                  <a:pt x="11429501" y="0"/>
                  <a:pt x="11492073" y="62571"/>
                  <a:pt x="11492073" y="139642"/>
                </a:cubicBezTo>
                <a:lnTo>
                  <a:pt x="11492073" y="949522"/>
                </a:lnTo>
                <a:cubicBezTo>
                  <a:pt x="11492073" y="1026644"/>
                  <a:pt x="11429553" y="1089164"/>
                  <a:pt x="11352431" y="1089164"/>
                </a:cubicBezTo>
                <a:lnTo>
                  <a:pt x="139642" y="1089164"/>
                </a:lnTo>
                <a:cubicBezTo>
                  <a:pt x="62571" y="1089164"/>
                  <a:pt x="0" y="1026592"/>
                  <a:pt x="0" y="949522"/>
                </a:cubicBezTo>
                <a:lnTo>
                  <a:pt x="0" y="139642"/>
                </a:lnTo>
                <a:cubicBezTo>
                  <a:pt x="0" y="62571"/>
                  <a:pt x="62571" y="0"/>
                  <a:pt x="13964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5709" y="5844683"/>
            <a:ext cx="11284364" cy="244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 Caching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495709" y="6307118"/>
            <a:ext cx="7976727" cy="226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API responses to reduce backend load and improve latency. Configurable per stage with TTL settings.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558946" y="6193774"/>
            <a:ext cx="680727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0.5GB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8580764" y="6472936"/>
            <a:ext cx="637091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 Cache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347346" y="6193774"/>
            <a:ext cx="733091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237GB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9369164" y="6472936"/>
            <a:ext cx="689455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Cache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0185818" y="6193774"/>
            <a:ext cx="741818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300s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207636" y="6472936"/>
            <a:ext cx="698182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TTL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11028000" y="6193774"/>
            <a:ext cx="724364" cy="279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49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3600s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1049818" y="6472936"/>
            <a:ext cx="680727" cy="1745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TTL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8097" y="348097"/>
            <a:ext cx="1118390" cy="317078"/>
          </a:xfrm>
          <a:custGeom>
            <a:avLst/>
            <a:gdLst/>
            <a:ahLst/>
            <a:cxnLst/>
            <a:rect l="l" t="t" r="r" b="b"/>
            <a:pathLst>
              <a:path w="1118390" h="317078">
                <a:moveTo>
                  <a:pt x="158539" y="0"/>
                </a:moveTo>
                <a:lnTo>
                  <a:pt x="959851" y="0"/>
                </a:lnTo>
                <a:cubicBezTo>
                  <a:pt x="1047351" y="0"/>
                  <a:pt x="1118390" y="71039"/>
                  <a:pt x="1118390" y="158539"/>
                </a:cubicBezTo>
                <a:lnTo>
                  <a:pt x="1118390" y="158539"/>
                </a:lnTo>
                <a:cubicBezTo>
                  <a:pt x="1118390" y="246039"/>
                  <a:pt x="1047351" y="317078"/>
                  <a:pt x="959851" y="317078"/>
                </a:cubicBezTo>
                <a:lnTo>
                  <a:pt x="158539" y="317078"/>
                </a:lnTo>
                <a:cubicBezTo>
                  <a:pt x="71039" y="317078"/>
                  <a:pt x="0" y="246039"/>
                  <a:pt x="0" y="158539"/>
                </a:cubicBezTo>
                <a:lnTo>
                  <a:pt x="0" y="158539"/>
                </a:lnTo>
                <a:cubicBezTo>
                  <a:pt x="0" y="71039"/>
                  <a:pt x="71039" y="0"/>
                  <a:pt x="15853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1714" y="446320"/>
            <a:ext cx="90471" cy="120628"/>
          </a:xfrm>
          <a:custGeom>
            <a:avLst/>
            <a:gdLst/>
            <a:ahLst/>
            <a:cxnLst/>
            <a:rect l="l" t="t" r="r" b="b"/>
            <a:pathLst>
              <a:path w="90471" h="120628">
                <a:moveTo>
                  <a:pt x="30157" y="22618"/>
                </a:moveTo>
                <a:lnTo>
                  <a:pt x="30157" y="37696"/>
                </a:lnTo>
                <a:lnTo>
                  <a:pt x="60314" y="37696"/>
                </a:lnTo>
                <a:lnTo>
                  <a:pt x="60314" y="22618"/>
                </a:lnTo>
                <a:cubicBezTo>
                  <a:pt x="60314" y="14301"/>
                  <a:pt x="53552" y="7539"/>
                  <a:pt x="45235" y="7539"/>
                </a:cubicBezTo>
                <a:cubicBezTo>
                  <a:pt x="36919" y="7539"/>
                  <a:pt x="30157" y="14301"/>
                  <a:pt x="30157" y="22618"/>
                </a:cubicBezTo>
                <a:close/>
                <a:moveTo>
                  <a:pt x="15078" y="37696"/>
                </a:moveTo>
                <a:lnTo>
                  <a:pt x="15078" y="22618"/>
                </a:lnTo>
                <a:cubicBezTo>
                  <a:pt x="15078" y="5961"/>
                  <a:pt x="28578" y="-7539"/>
                  <a:pt x="45235" y="-7539"/>
                </a:cubicBezTo>
                <a:cubicBezTo>
                  <a:pt x="61892" y="-7539"/>
                  <a:pt x="75392" y="5961"/>
                  <a:pt x="75392" y="22618"/>
                </a:cubicBezTo>
                <a:lnTo>
                  <a:pt x="75392" y="37696"/>
                </a:lnTo>
                <a:cubicBezTo>
                  <a:pt x="83709" y="37696"/>
                  <a:pt x="90471" y="44458"/>
                  <a:pt x="90471" y="52775"/>
                </a:cubicBezTo>
                <a:lnTo>
                  <a:pt x="90471" y="105549"/>
                </a:lnTo>
                <a:cubicBezTo>
                  <a:pt x="90471" y="113866"/>
                  <a:pt x="83709" y="120628"/>
                  <a:pt x="75392" y="120628"/>
                </a:cubicBezTo>
                <a:lnTo>
                  <a:pt x="15078" y="120628"/>
                </a:lnTo>
                <a:cubicBezTo>
                  <a:pt x="6762" y="120628"/>
                  <a:pt x="0" y="113866"/>
                  <a:pt x="0" y="105549"/>
                </a:cubicBezTo>
                <a:lnTo>
                  <a:pt x="0" y="52775"/>
                </a:lnTo>
                <a:cubicBezTo>
                  <a:pt x="0" y="44458"/>
                  <a:pt x="6762" y="37696"/>
                  <a:pt x="15078" y="3769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09118" y="420472"/>
            <a:ext cx="672068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kern="0" spc="4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4650" y="772021"/>
            <a:ext cx="11657792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4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 - Security &amp; Throttling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4650" y="1220067"/>
            <a:ext cx="827160" cy="34465"/>
          </a:xfrm>
          <a:custGeom>
            <a:avLst/>
            <a:gdLst/>
            <a:ahLst/>
            <a:cxnLst/>
            <a:rect l="l" t="t" r="r" b="b"/>
            <a:pathLst>
              <a:path w="827160" h="34465">
                <a:moveTo>
                  <a:pt x="0" y="0"/>
                </a:moveTo>
                <a:lnTo>
                  <a:pt x="827160" y="0"/>
                </a:lnTo>
                <a:lnTo>
                  <a:pt x="827160" y="34465"/>
                </a:lnTo>
                <a:lnTo>
                  <a:pt x="0" y="34465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48097" y="1395838"/>
            <a:ext cx="5659156" cy="4159928"/>
          </a:xfrm>
          <a:custGeom>
            <a:avLst/>
            <a:gdLst/>
            <a:ahLst/>
            <a:cxnLst/>
            <a:rect l="l" t="t" r="r" b="b"/>
            <a:pathLst>
              <a:path w="5659156" h="4159928">
                <a:moveTo>
                  <a:pt x="137860" y="0"/>
                </a:moveTo>
                <a:lnTo>
                  <a:pt x="5521296" y="0"/>
                </a:lnTo>
                <a:cubicBezTo>
                  <a:pt x="5597383" y="0"/>
                  <a:pt x="5659156" y="61773"/>
                  <a:pt x="5659156" y="137860"/>
                </a:cubicBezTo>
                <a:lnTo>
                  <a:pt x="5659156" y="4022068"/>
                </a:lnTo>
                <a:cubicBezTo>
                  <a:pt x="5659156" y="4098155"/>
                  <a:pt x="5597383" y="4159928"/>
                  <a:pt x="5521296" y="4159928"/>
                </a:cubicBezTo>
                <a:lnTo>
                  <a:pt x="137860" y="4159928"/>
                </a:lnTo>
                <a:cubicBezTo>
                  <a:pt x="61773" y="4159928"/>
                  <a:pt x="0" y="4098155"/>
                  <a:pt x="0" y="4022068"/>
                </a:cubicBezTo>
                <a:lnTo>
                  <a:pt x="0" y="137860"/>
                </a:lnTo>
                <a:cubicBezTo>
                  <a:pt x="0" y="61773"/>
                  <a:pt x="61773" y="0"/>
                  <a:pt x="13786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868" y="1571608"/>
            <a:ext cx="5393775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Authentication &amp; Authorization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7315" y="1954170"/>
            <a:ext cx="5297273" cy="730658"/>
          </a:xfrm>
          <a:custGeom>
            <a:avLst/>
            <a:gdLst/>
            <a:ahLst/>
            <a:cxnLst/>
            <a:rect l="l" t="t" r="r" b="b"/>
            <a:pathLst>
              <a:path w="5297273" h="730658">
                <a:moveTo>
                  <a:pt x="103395" y="0"/>
                </a:moveTo>
                <a:lnTo>
                  <a:pt x="5193878" y="0"/>
                </a:lnTo>
                <a:cubicBezTo>
                  <a:pt x="5250981" y="0"/>
                  <a:pt x="5297273" y="46292"/>
                  <a:pt x="5297273" y="103395"/>
                </a:cubicBezTo>
                <a:lnTo>
                  <a:pt x="5297273" y="627263"/>
                </a:lnTo>
                <a:cubicBezTo>
                  <a:pt x="5297273" y="684367"/>
                  <a:pt x="5250981" y="730658"/>
                  <a:pt x="5193878" y="730658"/>
                </a:cubicBezTo>
                <a:lnTo>
                  <a:pt x="103395" y="730658"/>
                </a:lnTo>
                <a:cubicBezTo>
                  <a:pt x="46292" y="730658"/>
                  <a:pt x="0" y="684367"/>
                  <a:pt x="0" y="627263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162" y="2121324"/>
            <a:ext cx="155093" cy="155093"/>
          </a:xfrm>
          <a:custGeom>
            <a:avLst/>
            <a:gdLst/>
            <a:ahLst/>
            <a:cxnLst/>
            <a:rect l="l" t="t" r="r" b="b"/>
            <a:pathLst>
              <a:path w="155093" h="155093">
                <a:moveTo>
                  <a:pt x="101780" y="106626"/>
                </a:moveTo>
                <a:cubicBezTo>
                  <a:pt x="131223" y="106626"/>
                  <a:pt x="155093" y="82756"/>
                  <a:pt x="155093" y="53313"/>
                </a:cubicBezTo>
                <a:cubicBezTo>
                  <a:pt x="155093" y="23870"/>
                  <a:pt x="131223" y="0"/>
                  <a:pt x="101780" y="0"/>
                </a:cubicBezTo>
                <a:cubicBezTo>
                  <a:pt x="72336" y="0"/>
                  <a:pt x="48466" y="23870"/>
                  <a:pt x="48466" y="53313"/>
                </a:cubicBezTo>
                <a:cubicBezTo>
                  <a:pt x="48466" y="58978"/>
                  <a:pt x="49345" y="64460"/>
                  <a:pt x="50981" y="69580"/>
                </a:cubicBezTo>
                <a:lnTo>
                  <a:pt x="2120" y="118440"/>
                </a:lnTo>
                <a:cubicBezTo>
                  <a:pt x="757" y="119803"/>
                  <a:pt x="0" y="121651"/>
                  <a:pt x="0" y="123589"/>
                </a:cubicBezTo>
                <a:lnTo>
                  <a:pt x="0" y="147823"/>
                </a:lnTo>
                <a:cubicBezTo>
                  <a:pt x="0" y="151851"/>
                  <a:pt x="3241" y="155093"/>
                  <a:pt x="7270" y="155093"/>
                </a:cubicBezTo>
                <a:lnTo>
                  <a:pt x="31503" y="155093"/>
                </a:lnTo>
                <a:cubicBezTo>
                  <a:pt x="35532" y="155093"/>
                  <a:pt x="38773" y="151851"/>
                  <a:pt x="38773" y="147823"/>
                </a:cubicBezTo>
                <a:lnTo>
                  <a:pt x="38773" y="135706"/>
                </a:lnTo>
                <a:lnTo>
                  <a:pt x="50890" y="135706"/>
                </a:lnTo>
                <a:cubicBezTo>
                  <a:pt x="54919" y="135706"/>
                  <a:pt x="58160" y="132465"/>
                  <a:pt x="58160" y="128436"/>
                </a:cubicBezTo>
                <a:lnTo>
                  <a:pt x="58160" y="116319"/>
                </a:lnTo>
                <a:lnTo>
                  <a:pt x="70276" y="116319"/>
                </a:lnTo>
                <a:cubicBezTo>
                  <a:pt x="72215" y="116319"/>
                  <a:pt x="74063" y="115562"/>
                  <a:pt x="75426" y="114199"/>
                </a:cubicBezTo>
                <a:lnTo>
                  <a:pt x="85513" y="104112"/>
                </a:lnTo>
                <a:cubicBezTo>
                  <a:pt x="90632" y="105748"/>
                  <a:pt x="96115" y="106626"/>
                  <a:pt x="101780" y="106626"/>
                </a:cubicBezTo>
                <a:close/>
                <a:moveTo>
                  <a:pt x="113896" y="29080"/>
                </a:moveTo>
                <a:cubicBezTo>
                  <a:pt x="120583" y="29080"/>
                  <a:pt x="126013" y="34509"/>
                  <a:pt x="126013" y="41196"/>
                </a:cubicBezTo>
                <a:cubicBezTo>
                  <a:pt x="126013" y="47884"/>
                  <a:pt x="120583" y="53313"/>
                  <a:pt x="113896" y="53313"/>
                </a:cubicBezTo>
                <a:cubicBezTo>
                  <a:pt x="107209" y="53313"/>
                  <a:pt x="101780" y="47884"/>
                  <a:pt x="101780" y="41196"/>
                </a:cubicBezTo>
                <a:cubicBezTo>
                  <a:pt x="101780" y="34509"/>
                  <a:pt x="107209" y="29080"/>
                  <a:pt x="113896" y="2908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931417" y="2095475"/>
            <a:ext cx="818544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IAM Policies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8621" y="2371195"/>
            <a:ext cx="507497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Control access using AWS IAM. Best for internal APIs or service-to-service communication.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7315" y="2795113"/>
            <a:ext cx="5297273" cy="730658"/>
          </a:xfrm>
          <a:custGeom>
            <a:avLst/>
            <a:gdLst/>
            <a:ahLst/>
            <a:cxnLst/>
            <a:rect l="l" t="t" r="r" b="b"/>
            <a:pathLst>
              <a:path w="5297273" h="730658">
                <a:moveTo>
                  <a:pt x="103395" y="0"/>
                </a:moveTo>
                <a:lnTo>
                  <a:pt x="5193878" y="0"/>
                </a:lnTo>
                <a:cubicBezTo>
                  <a:pt x="5250981" y="0"/>
                  <a:pt x="5297273" y="46292"/>
                  <a:pt x="5297273" y="103395"/>
                </a:cubicBezTo>
                <a:lnTo>
                  <a:pt x="5297273" y="627263"/>
                </a:lnTo>
                <a:cubicBezTo>
                  <a:pt x="5297273" y="684367"/>
                  <a:pt x="5250981" y="730658"/>
                  <a:pt x="5193878" y="730658"/>
                </a:cubicBezTo>
                <a:lnTo>
                  <a:pt x="103395" y="730658"/>
                </a:lnTo>
                <a:cubicBezTo>
                  <a:pt x="46292" y="730658"/>
                  <a:pt x="0" y="684367"/>
                  <a:pt x="0" y="627263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0775" y="2962267"/>
            <a:ext cx="193866" cy="155093"/>
          </a:xfrm>
          <a:custGeom>
            <a:avLst/>
            <a:gdLst/>
            <a:ahLst/>
            <a:cxnLst/>
            <a:rect l="l" t="t" r="r" b="b"/>
            <a:pathLst>
              <a:path w="193866" h="155093">
                <a:moveTo>
                  <a:pt x="96933" y="4847"/>
                </a:moveTo>
                <a:cubicBezTo>
                  <a:pt x="114320" y="4847"/>
                  <a:pt x="128436" y="18963"/>
                  <a:pt x="128436" y="36350"/>
                </a:cubicBezTo>
                <a:cubicBezTo>
                  <a:pt x="128436" y="53737"/>
                  <a:pt x="114320" y="67853"/>
                  <a:pt x="96933" y="67853"/>
                </a:cubicBezTo>
                <a:cubicBezTo>
                  <a:pt x="79546" y="67853"/>
                  <a:pt x="65430" y="53737"/>
                  <a:pt x="65430" y="36350"/>
                </a:cubicBezTo>
                <a:cubicBezTo>
                  <a:pt x="65430" y="18963"/>
                  <a:pt x="79546" y="4847"/>
                  <a:pt x="96933" y="4847"/>
                </a:cubicBezTo>
                <a:close/>
                <a:moveTo>
                  <a:pt x="29080" y="26657"/>
                </a:moveTo>
                <a:cubicBezTo>
                  <a:pt x="41117" y="26657"/>
                  <a:pt x="50890" y="36429"/>
                  <a:pt x="50890" y="48466"/>
                </a:cubicBezTo>
                <a:cubicBezTo>
                  <a:pt x="50890" y="60504"/>
                  <a:pt x="41117" y="70276"/>
                  <a:pt x="29080" y="70276"/>
                </a:cubicBezTo>
                <a:cubicBezTo>
                  <a:pt x="17043" y="70276"/>
                  <a:pt x="7270" y="60504"/>
                  <a:pt x="7270" y="48466"/>
                </a:cubicBezTo>
                <a:cubicBezTo>
                  <a:pt x="7270" y="36429"/>
                  <a:pt x="17043" y="26657"/>
                  <a:pt x="29080" y="26657"/>
                </a:cubicBezTo>
                <a:close/>
                <a:moveTo>
                  <a:pt x="0" y="126013"/>
                </a:moveTo>
                <a:cubicBezTo>
                  <a:pt x="0" y="104597"/>
                  <a:pt x="17357" y="87240"/>
                  <a:pt x="38773" y="87240"/>
                </a:cubicBezTo>
                <a:cubicBezTo>
                  <a:pt x="42650" y="87240"/>
                  <a:pt x="46407" y="87815"/>
                  <a:pt x="49951" y="88875"/>
                </a:cubicBezTo>
                <a:cubicBezTo>
                  <a:pt x="39985" y="100023"/>
                  <a:pt x="33927" y="114744"/>
                  <a:pt x="33927" y="130859"/>
                </a:cubicBezTo>
                <a:lnTo>
                  <a:pt x="33927" y="135706"/>
                </a:lnTo>
                <a:cubicBezTo>
                  <a:pt x="33927" y="139159"/>
                  <a:pt x="34653" y="142431"/>
                  <a:pt x="35956" y="145399"/>
                </a:cubicBezTo>
                <a:lnTo>
                  <a:pt x="9693" y="145399"/>
                </a:lnTo>
                <a:cubicBezTo>
                  <a:pt x="4332" y="145399"/>
                  <a:pt x="0" y="141068"/>
                  <a:pt x="0" y="135706"/>
                </a:cubicBezTo>
                <a:lnTo>
                  <a:pt x="0" y="126013"/>
                </a:lnTo>
                <a:close/>
                <a:moveTo>
                  <a:pt x="157910" y="145399"/>
                </a:moveTo>
                <a:cubicBezTo>
                  <a:pt x="159212" y="142431"/>
                  <a:pt x="159939" y="139159"/>
                  <a:pt x="159939" y="135706"/>
                </a:cubicBezTo>
                <a:lnTo>
                  <a:pt x="159939" y="130859"/>
                </a:lnTo>
                <a:cubicBezTo>
                  <a:pt x="159939" y="114744"/>
                  <a:pt x="153881" y="100023"/>
                  <a:pt x="143915" y="88875"/>
                </a:cubicBezTo>
                <a:cubicBezTo>
                  <a:pt x="147459" y="87815"/>
                  <a:pt x="151215" y="87240"/>
                  <a:pt x="155093" y="87240"/>
                </a:cubicBezTo>
                <a:cubicBezTo>
                  <a:pt x="176509" y="87240"/>
                  <a:pt x="193866" y="104597"/>
                  <a:pt x="193866" y="126013"/>
                </a:cubicBezTo>
                <a:lnTo>
                  <a:pt x="193866" y="135706"/>
                </a:lnTo>
                <a:cubicBezTo>
                  <a:pt x="193866" y="141068"/>
                  <a:pt x="189534" y="145399"/>
                  <a:pt x="184172" y="145399"/>
                </a:cubicBezTo>
                <a:lnTo>
                  <a:pt x="157910" y="145399"/>
                </a:lnTo>
                <a:close/>
                <a:moveTo>
                  <a:pt x="142976" y="48466"/>
                </a:moveTo>
                <a:cubicBezTo>
                  <a:pt x="142976" y="36429"/>
                  <a:pt x="152749" y="26657"/>
                  <a:pt x="164786" y="26657"/>
                </a:cubicBezTo>
                <a:cubicBezTo>
                  <a:pt x="176823" y="26657"/>
                  <a:pt x="186596" y="36429"/>
                  <a:pt x="186596" y="48466"/>
                </a:cubicBezTo>
                <a:cubicBezTo>
                  <a:pt x="186596" y="60504"/>
                  <a:pt x="176823" y="70276"/>
                  <a:pt x="164786" y="70276"/>
                </a:cubicBezTo>
                <a:cubicBezTo>
                  <a:pt x="152749" y="70276"/>
                  <a:pt x="142976" y="60504"/>
                  <a:pt x="142976" y="48466"/>
                </a:cubicBezTo>
                <a:close/>
                <a:moveTo>
                  <a:pt x="48466" y="130859"/>
                </a:moveTo>
                <a:cubicBezTo>
                  <a:pt x="48466" y="104082"/>
                  <a:pt x="70155" y="82393"/>
                  <a:pt x="96933" y="82393"/>
                </a:cubicBezTo>
                <a:cubicBezTo>
                  <a:pt x="123711" y="82393"/>
                  <a:pt x="145399" y="104082"/>
                  <a:pt x="145399" y="130859"/>
                </a:cubicBezTo>
                <a:lnTo>
                  <a:pt x="145399" y="135706"/>
                </a:lnTo>
                <a:cubicBezTo>
                  <a:pt x="145399" y="141068"/>
                  <a:pt x="141068" y="145399"/>
                  <a:pt x="135706" y="145399"/>
                </a:cubicBezTo>
                <a:lnTo>
                  <a:pt x="58160" y="145399"/>
                </a:lnTo>
                <a:cubicBezTo>
                  <a:pt x="52798" y="145399"/>
                  <a:pt x="48466" y="141068"/>
                  <a:pt x="48466" y="135706"/>
                </a:cubicBezTo>
                <a:lnTo>
                  <a:pt x="48466" y="13085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3"/>
          <p:cNvSpPr/>
          <p:nvPr/>
        </p:nvSpPr>
        <p:spPr>
          <a:xfrm>
            <a:off x="931417" y="2936418"/>
            <a:ext cx="107703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Cognito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8621" y="3212138"/>
            <a:ext cx="507497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pool integration for OAuth 2.0/JWT token validation. Best for user-facing applications.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7315" y="3636064"/>
            <a:ext cx="5297273" cy="902983"/>
          </a:xfrm>
          <a:custGeom>
            <a:avLst/>
            <a:gdLst/>
            <a:ahLst/>
            <a:cxnLst/>
            <a:rect l="l" t="t" r="r" b="b"/>
            <a:pathLst>
              <a:path w="5297273" h="902983">
                <a:moveTo>
                  <a:pt x="103392" y="0"/>
                </a:moveTo>
                <a:lnTo>
                  <a:pt x="5193882" y="0"/>
                </a:lnTo>
                <a:cubicBezTo>
                  <a:pt x="5250983" y="0"/>
                  <a:pt x="5297273" y="46290"/>
                  <a:pt x="5297273" y="103392"/>
                </a:cubicBezTo>
                <a:lnTo>
                  <a:pt x="5297273" y="799592"/>
                </a:lnTo>
                <a:cubicBezTo>
                  <a:pt x="5297273" y="856693"/>
                  <a:pt x="5250983" y="902983"/>
                  <a:pt x="5193882" y="902983"/>
                </a:cubicBezTo>
                <a:lnTo>
                  <a:pt x="103392" y="902983"/>
                </a:lnTo>
                <a:cubicBezTo>
                  <a:pt x="46290" y="902983"/>
                  <a:pt x="0" y="856693"/>
                  <a:pt x="0" y="799592"/>
                </a:cubicBezTo>
                <a:lnTo>
                  <a:pt x="0" y="103392"/>
                </a:lnTo>
                <a:cubicBezTo>
                  <a:pt x="0" y="46328"/>
                  <a:pt x="46328" y="0"/>
                  <a:pt x="10339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469" y="3803218"/>
            <a:ext cx="174479" cy="155093"/>
          </a:xfrm>
          <a:custGeom>
            <a:avLst/>
            <a:gdLst/>
            <a:ahLst/>
            <a:cxnLst/>
            <a:rect l="l" t="t" r="r" b="b"/>
            <a:pathLst>
              <a:path w="174479" h="155093">
                <a:moveTo>
                  <a:pt x="109292" y="363"/>
                </a:moveTo>
                <a:cubicBezTo>
                  <a:pt x="104142" y="-1121"/>
                  <a:pt x="98781" y="1878"/>
                  <a:pt x="97296" y="7028"/>
                </a:cubicBezTo>
                <a:lnTo>
                  <a:pt x="58523" y="142734"/>
                </a:lnTo>
                <a:cubicBezTo>
                  <a:pt x="57039" y="147883"/>
                  <a:pt x="60038" y="153245"/>
                  <a:pt x="65187" y="154729"/>
                </a:cubicBezTo>
                <a:cubicBezTo>
                  <a:pt x="70337" y="156213"/>
                  <a:pt x="75699" y="153215"/>
                  <a:pt x="77183" y="148065"/>
                </a:cubicBezTo>
                <a:lnTo>
                  <a:pt x="115956" y="12359"/>
                </a:lnTo>
                <a:cubicBezTo>
                  <a:pt x="117440" y="7209"/>
                  <a:pt x="114441" y="1848"/>
                  <a:pt x="109292" y="363"/>
                </a:cubicBezTo>
                <a:close/>
                <a:moveTo>
                  <a:pt x="128860" y="41590"/>
                </a:moveTo>
                <a:cubicBezTo>
                  <a:pt x="125074" y="45377"/>
                  <a:pt x="125074" y="51526"/>
                  <a:pt x="128860" y="55312"/>
                </a:cubicBezTo>
                <a:lnTo>
                  <a:pt x="151094" y="77546"/>
                </a:lnTo>
                <a:lnTo>
                  <a:pt x="128860" y="99780"/>
                </a:lnTo>
                <a:cubicBezTo>
                  <a:pt x="125074" y="103567"/>
                  <a:pt x="125074" y="109716"/>
                  <a:pt x="128860" y="113502"/>
                </a:cubicBezTo>
                <a:cubicBezTo>
                  <a:pt x="132647" y="117289"/>
                  <a:pt x="138796" y="117289"/>
                  <a:pt x="142582" y="113502"/>
                </a:cubicBezTo>
                <a:lnTo>
                  <a:pt x="171662" y="84422"/>
                </a:lnTo>
                <a:cubicBezTo>
                  <a:pt x="175448" y="80636"/>
                  <a:pt x="175448" y="74487"/>
                  <a:pt x="171662" y="70700"/>
                </a:cubicBezTo>
                <a:lnTo>
                  <a:pt x="142582" y="41621"/>
                </a:lnTo>
                <a:cubicBezTo>
                  <a:pt x="138796" y="37834"/>
                  <a:pt x="132647" y="37834"/>
                  <a:pt x="128860" y="41621"/>
                </a:cubicBezTo>
                <a:close/>
                <a:moveTo>
                  <a:pt x="45649" y="41590"/>
                </a:moveTo>
                <a:cubicBezTo>
                  <a:pt x="41863" y="37804"/>
                  <a:pt x="35714" y="37804"/>
                  <a:pt x="31927" y="41590"/>
                </a:cubicBezTo>
                <a:lnTo>
                  <a:pt x="2847" y="70670"/>
                </a:lnTo>
                <a:cubicBezTo>
                  <a:pt x="-939" y="74457"/>
                  <a:pt x="-939" y="80606"/>
                  <a:pt x="2847" y="84392"/>
                </a:cubicBezTo>
                <a:lnTo>
                  <a:pt x="31927" y="113472"/>
                </a:lnTo>
                <a:cubicBezTo>
                  <a:pt x="35714" y="117258"/>
                  <a:pt x="41863" y="117258"/>
                  <a:pt x="45649" y="113472"/>
                </a:cubicBezTo>
                <a:cubicBezTo>
                  <a:pt x="49436" y="109686"/>
                  <a:pt x="49436" y="103536"/>
                  <a:pt x="45649" y="99750"/>
                </a:cubicBezTo>
                <a:lnTo>
                  <a:pt x="23415" y="77546"/>
                </a:lnTo>
                <a:lnTo>
                  <a:pt x="45619" y="55312"/>
                </a:lnTo>
                <a:cubicBezTo>
                  <a:pt x="49405" y="51526"/>
                  <a:pt x="49405" y="45377"/>
                  <a:pt x="45619" y="4159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931417" y="3777369"/>
            <a:ext cx="1292438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Authorizers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8621" y="4053089"/>
            <a:ext cx="5074974" cy="34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authentication logic using Lambda functions. Supports token-based and request-based auth.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7315" y="4649333"/>
            <a:ext cx="5297273" cy="730658"/>
          </a:xfrm>
          <a:custGeom>
            <a:avLst/>
            <a:gdLst/>
            <a:ahLst/>
            <a:cxnLst/>
            <a:rect l="l" t="t" r="r" b="b"/>
            <a:pathLst>
              <a:path w="5297273" h="730658">
                <a:moveTo>
                  <a:pt x="103395" y="0"/>
                </a:moveTo>
                <a:lnTo>
                  <a:pt x="5193878" y="0"/>
                </a:lnTo>
                <a:cubicBezTo>
                  <a:pt x="5250981" y="0"/>
                  <a:pt x="5297273" y="46292"/>
                  <a:pt x="5297273" y="103395"/>
                </a:cubicBezTo>
                <a:lnTo>
                  <a:pt x="5297273" y="627263"/>
                </a:lnTo>
                <a:cubicBezTo>
                  <a:pt x="5297273" y="684367"/>
                  <a:pt x="5250981" y="730658"/>
                  <a:pt x="5193878" y="730658"/>
                </a:cubicBezTo>
                <a:lnTo>
                  <a:pt x="103395" y="730658"/>
                </a:lnTo>
                <a:cubicBezTo>
                  <a:pt x="46292" y="730658"/>
                  <a:pt x="0" y="684367"/>
                  <a:pt x="0" y="627263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162" y="4816486"/>
            <a:ext cx="155093" cy="155093"/>
          </a:xfrm>
          <a:custGeom>
            <a:avLst/>
            <a:gdLst/>
            <a:ahLst/>
            <a:cxnLst/>
            <a:rect l="l" t="t" r="r" b="b"/>
            <a:pathLst>
              <a:path w="155093" h="155093">
                <a:moveTo>
                  <a:pt x="77546" y="0"/>
                </a:moveTo>
                <a:cubicBezTo>
                  <a:pt x="78940" y="0"/>
                  <a:pt x="80333" y="303"/>
                  <a:pt x="81605" y="878"/>
                </a:cubicBezTo>
                <a:lnTo>
                  <a:pt x="138675" y="25081"/>
                </a:lnTo>
                <a:cubicBezTo>
                  <a:pt x="145339" y="27898"/>
                  <a:pt x="150307" y="34472"/>
                  <a:pt x="150276" y="42408"/>
                </a:cubicBezTo>
                <a:cubicBezTo>
                  <a:pt x="150125" y="72457"/>
                  <a:pt x="137766" y="127436"/>
                  <a:pt x="85574" y="152427"/>
                </a:cubicBezTo>
                <a:cubicBezTo>
                  <a:pt x="80515" y="154850"/>
                  <a:pt x="74638" y="154850"/>
                  <a:pt x="69580" y="152427"/>
                </a:cubicBezTo>
                <a:cubicBezTo>
                  <a:pt x="17357" y="127436"/>
                  <a:pt x="5028" y="72457"/>
                  <a:pt x="4877" y="42408"/>
                </a:cubicBezTo>
                <a:cubicBezTo>
                  <a:pt x="4847" y="34472"/>
                  <a:pt x="9814" y="27898"/>
                  <a:pt x="16479" y="25081"/>
                </a:cubicBezTo>
                <a:lnTo>
                  <a:pt x="73518" y="878"/>
                </a:lnTo>
                <a:cubicBezTo>
                  <a:pt x="74790" y="303"/>
                  <a:pt x="76153" y="0"/>
                  <a:pt x="77546" y="0"/>
                </a:cubicBezTo>
                <a:close/>
                <a:moveTo>
                  <a:pt x="77546" y="20235"/>
                </a:moveTo>
                <a:lnTo>
                  <a:pt x="77546" y="134767"/>
                </a:lnTo>
                <a:cubicBezTo>
                  <a:pt x="119349" y="114532"/>
                  <a:pt x="130587" y="69701"/>
                  <a:pt x="130859" y="42863"/>
                </a:cubicBezTo>
                <a:lnTo>
                  <a:pt x="77546" y="20265"/>
                </a:lnTo>
                <a:lnTo>
                  <a:pt x="77546" y="2026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931417" y="4790637"/>
            <a:ext cx="1145962" cy="20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Policies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8621" y="5066358"/>
            <a:ext cx="507497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IP-based restrictions, VPC endpoint policies, and cross-account access control.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86040" y="1395838"/>
            <a:ext cx="5659156" cy="4134079"/>
          </a:xfrm>
          <a:custGeom>
            <a:avLst/>
            <a:gdLst/>
            <a:ahLst/>
            <a:cxnLst/>
            <a:rect l="l" t="t" r="r" b="b"/>
            <a:pathLst>
              <a:path w="5659156" h="4134079">
                <a:moveTo>
                  <a:pt x="137872" y="0"/>
                </a:moveTo>
                <a:lnTo>
                  <a:pt x="5521284" y="0"/>
                </a:lnTo>
                <a:cubicBezTo>
                  <a:pt x="5597429" y="0"/>
                  <a:pt x="5659156" y="61727"/>
                  <a:pt x="5659156" y="137872"/>
                </a:cubicBezTo>
                <a:lnTo>
                  <a:pt x="5659156" y="3996207"/>
                </a:lnTo>
                <a:cubicBezTo>
                  <a:pt x="5659156" y="4072352"/>
                  <a:pt x="5597429" y="4134079"/>
                  <a:pt x="5521284" y="4134079"/>
                </a:cubicBezTo>
                <a:lnTo>
                  <a:pt x="137872" y="4134079"/>
                </a:lnTo>
                <a:cubicBezTo>
                  <a:pt x="61727" y="4134079"/>
                  <a:pt x="0" y="4072352"/>
                  <a:pt x="0" y="3996207"/>
                </a:cubicBezTo>
                <a:lnTo>
                  <a:pt x="0" y="137872"/>
                </a:lnTo>
                <a:cubicBezTo>
                  <a:pt x="0" y="61727"/>
                  <a:pt x="61727" y="0"/>
                  <a:pt x="137872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1812" y="1571608"/>
            <a:ext cx="5393775" cy="241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Throttling &amp; Rate Limiting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1812" y="1950723"/>
            <a:ext cx="5376543" cy="448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86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 sets limits on request rates to protect your backend from being overwhelmed by too many requests.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5258" y="2540075"/>
            <a:ext cx="5297273" cy="1213169"/>
          </a:xfrm>
          <a:custGeom>
            <a:avLst/>
            <a:gdLst/>
            <a:ahLst/>
            <a:cxnLst/>
            <a:rect l="l" t="t" r="r" b="b"/>
            <a:pathLst>
              <a:path w="5297273" h="1213169">
                <a:moveTo>
                  <a:pt x="103398" y="0"/>
                </a:moveTo>
                <a:lnTo>
                  <a:pt x="5193875" y="0"/>
                </a:lnTo>
                <a:cubicBezTo>
                  <a:pt x="5250980" y="0"/>
                  <a:pt x="5297273" y="46293"/>
                  <a:pt x="5297273" y="103398"/>
                </a:cubicBezTo>
                <a:lnTo>
                  <a:pt x="5297273" y="1109770"/>
                </a:lnTo>
                <a:cubicBezTo>
                  <a:pt x="5297273" y="1166876"/>
                  <a:pt x="5250980" y="1213169"/>
                  <a:pt x="5193875" y="1213169"/>
                </a:cubicBezTo>
                <a:lnTo>
                  <a:pt x="103398" y="1213169"/>
                </a:lnTo>
                <a:cubicBezTo>
                  <a:pt x="46293" y="1213169"/>
                  <a:pt x="0" y="1166876"/>
                  <a:pt x="0" y="1109770"/>
                </a:cubicBezTo>
                <a:lnTo>
                  <a:pt x="0" y="103398"/>
                </a:lnTo>
                <a:cubicBezTo>
                  <a:pt x="0" y="46293"/>
                  <a:pt x="46293" y="0"/>
                  <a:pt x="103398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06565" y="2681380"/>
            <a:ext cx="507497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Account Limits: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06565" y="2957100"/>
            <a:ext cx="98225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Steady-state rate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710113" y="2957100"/>
            <a:ext cx="870242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10,000 req/sec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506565" y="3198355"/>
            <a:ext cx="1154578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Concurrent requests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96603" y="3198355"/>
            <a:ext cx="585905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5,000 req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06565" y="3474075"/>
            <a:ext cx="5066358" cy="137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1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Exceeding limits returns 429 Too Many Requests error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65258" y="3897884"/>
            <a:ext cx="5297273" cy="1454424"/>
          </a:xfrm>
          <a:custGeom>
            <a:avLst/>
            <a:gdLst/>
            <a:ahLst/>
            <a:cxnLst/>
            <a:rect l="l" t="t" r="r" b="b"/>
            <a:pathLst>
              <a:path w="5297273" h="1454424">
                <a:moveTo>
                  <a:pt x="103395" y="0"/>
                </a:moveTo>
                <a:lnTo>
                  <a:pt x="5193878" y="0"/>
                </a:lnTo>
                <a:cubicBezTo>
                  <a:pt x="5250982" y="0"/>
                  <a:pt x="5297273" y="46292"/>
                  <a:pt x="5297273" y="103395"/>
                </a:cubicBezTo>
                <a:lnTo>
                  <a:pt x="5297273" y="1351029"/>
                </a:lnTo>
                <a:cubicBezTo>
                  <a:pt x="5297273" y="1408132"/>
                  <a:pt x="5250982" y="1454424"/>
                  <a:pt x="5193878" y="1454424"/>
                </a:cubicBezTo>
                <a:lnTo>
                  <a:pt x="103395" y="1454424"/>
                </a:lnTo>
                <a:cubicBezTo>
                  <a:pt x="46292" y="1454424"/>
                  <a:pt x="0" y="1408132"/>
                  <a:pt x="0" y="1351029"/>
                </a:cubicBezTo>
                <a:lnTo>
                  <a:pt x="0" y="103395"/>
                </a:lnTo>
                <a:cubicBezTo>
                  <a:pt x="0" y="46330"/>
                  <a:pt x="46330" y="0"/>
                  <a:pt x="10339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06565" y="4039197"/>
            <a:ext cx="5074974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Throttling Hierarchy: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06565" y="4314918"/>
            <a:ext cx="137860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51533" y="4314918"/>
            <a:ext cx="2240226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Per-client per-method limits (usage plan)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06565" y="4556173"/>
            <a:ext cx="15509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673397" y="4556173"/>
            <a:ext cx="1585391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Per-client limits (usage plan)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06565" y="4797428"/>
            <a:ext cx="15509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74474" y="4797428"/>
            <a:ext cx="1637088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Per-method limits (API stage)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506565" y="5038683"/>
            <a:ext cx="155093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74366" y="5038683"/>
            <a:ext cx="1318287" cy="172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Account-level throttling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675" y="320675"/>
            <a:ext cx="1181100" cy="292100"/>
          </a:xfrm>
          <a:custGeom>
            <a:avLst/>
            <a:gdLst/>
            <a:ahLst/>
            <a:cxnLst/>
            <a:rect l="l" t="t" r="r" b="b"/>
            <a:pathLst>
              <a:path w="1181100" h="292100">
                <a:moveTo>
                  <a:pt x="146050" y="0"/>
                </a:moveTo>
                <a:lnTo>
                  <a:pt x="1035050" y="0"/>
                </a:lnTo>
                <a:cubicBezTo>
                  <a:pt x="1115657" y="0"/>
                  <a:pt x="1181100" y="65443"/>
                  <a:pt x="1181100" y="146050"/>
                </a:cubicBezTo>
                <a:lnTo>
                  <a:pt x="1181100" y="146050"/>
                </a:lnTo>
                <a:cubicBezTo>
                  <a:pt x="1181100" y="226657"/>
                  <a:pt x="1115657" y="292100"/>
                  <a:pt x="1035050" y="292100"/>
                </a:cubicBezTo>
                <a:lnTo>
                  <a:pt x="146050" y="292100"/>
                </a:lnTo>
                <a:cubicBezTo>
                  <a:pt x="65443" y="292100"/>
                  <a:pt x="0" y="226657"/>
                  <a:pt x="0" y="146050"/>
                </a:cubicBezTo>
                <a:lnTo>
                  <a:pt x="0" y="146050"/>
                </a:lnTo>
                <a:cubicBezTo>
                  <a:pt x="0" y="65443"/>
                  <a:pt x="65443" y="0"/>
                  <a:pt x="14605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725" y="411161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109085" y="32686"/>
                </a:moveTo>
                <a:lnTo>
                  <a:pt x="88249" y="53522"/>
                </a:lnTo>
                <a:cubicBezTo>
                  <a:pt x="86252" y="55519"/>
                  <a:pt x="83279" y="56105"/>
                  <a:pt x="80674" y="55020"/>
                </a:cubicBezTo>
                <a:cubicBezTo>
                  <a:pt x="78070" y="53935"/>
                  <a:pt x="76398" y="51417"/>
                  <a:pt x="76398" y="48617"/>
                </a:cubicBezTo>
                <a:lnTo>
                  <a:pt x="76398" y="34727"/>
                </a:lnTo>
                <a:lnTo>
                  <a:pt x="6945" y="34727"/>
                </a:lnTo>
                <a:cubicBezTo>
                  <a:pt x="3104" y="34727"/>
                  <a:pt x="0" y="31623"/>
                  <a:pt x="0" y="27781"/>
                </a:cubicBezTo>
                <a:cubicBezTo>
                  <a:pt x="0" y="23940"/>
                  <a:pt x="3104" y="20836"/>
                  <a:pt x="6945" y="20836"/>
                </a:cubicBezTo>
                <a:lnTo>
                  <a:pt x="76398" y="20836"/>
                </a:lnTo>
                <a:lnTo>
                  <a:pt x="76398" y="6945"/>
                </a:lnTo>
                <a:cubicBezTo>
                  <a:pt x="76398" y="4145"/>
                  <a:pt x="78091" y="1606"/>
                  <a:pt x="80696" y="521"/>
                </a:cubicBezTo>
                <a:cubicBezTo>
                  <a:pt x="83300" y="-564"/>
                  <a:pt x="86274" y="43"/>
                  <a:pt x="88271" y="2018"/>
                </a:cubicBezTo>
                <a:lnTo>
                  <a:pt x="109107" y="22854"/>
                </a:lnTo>
                <a:cubicBezTo>
                  <a:pt x="111820" y="25567"/>
                  <a:pt x="111820" y="29973"/>
                  <a:pt x="109107" y="32686"/>
                </a:cubicBezTo>
                <a:close/>
                <a:moveTo>
                  <a:pt x="22854" y="109085"/>
                </a:moveTo>
                <a:lnTo>
                  <a:pt x="2018" y="88249"/>
                </a:lnTo>
                <a:cubicBezTo>
                  <a:pt x="-695" y="85536"/>
                  <a:pt x="-695" y="81130"/>
                  <a:pt x="2018" y="78417"/>
                </a:cubicBezTo>
                <a:lnTo>
                  <a:pt x="22854" y="57581"/>
                </a:lnTo>
                <a:cubicBezTo>
                  <a:pt x="24851" y="55584"/>
                  <a:pt x="27825" y="54998"/>
                  <a:pt x="30429" y="56083"/>
                </a:cubicBezTo>
                <a:cubicBezTo>
                  <a:pt x="33034" y="57169"/>
                  <a:pt x="34727" y="59708"/>
                  <a:pt x="34727" y="62508"/>
                </a:cubicBezTo>
                <a:lnTo>
                  <a:pt x="34727" y="76398"/>
                </a:lnTo>
                <a:lnTo>
                  <a:pt x="104180" y="76398"/>
                </a:lnTo>
                <a:cubicBezTo>
                  <a:pt x="108021" y="76398"/>
                  <a:pt x="111125" y="79502"/>
                  <a:pt x="111125" y="83344"/>
                </a:cubicBezTo>
                <a:cubicBezTo>
                  <a:pt x="111125" y="87185"/>
                  <a:pt x="108021" y="90289"/>
                  <a:pt x="104180" y="90289"/>
                </a:cubicBezTo>
                <a:lnTo>
                  <a:pt x="34727" y="90289"/>
                </a:lnTo>
                <a:lnTo>
                  <a:pt x="34727" y="104180"/>
                </a:lnTo>
                <a:cubicBezTo>
                  <a:pt x="34727" y="106980"/>
                  <a:pt x="33034" y="109519"/>
                  <a:pt x="30429" y="110604"/>
                </a:cubicBezTo>
                <a:cubicBezTo>
                  <a:pt x="27825" y="111689"/>
                  <a:pt x="24851" y="111082"/>
                  <a:pt x="22854" y="10910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653256" y="387348"/>
            <a:ext cx="777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500" y="71120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 - WebSocket APIs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7500" y="112395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320675" y="1285880"/>
            <a:ext cx="5689600" cy="2609850"/>
          </a:xfrm>
          <a:custGeom>
            <a:avLst/>
            <a:gdLst/>
            <a:ahLst/>
            <a:cxnLst/>
            <a:rect l="l" t="t" r="r" b="b"/>
            <a:pathLst>
              <a:path w="5689600" h="2609850">
                <a:moveTo>
                  <a:pt x="126995" y="0"/>
                </a:moveTo>
                <a:lnTo>
                  <a:pt x="5562605" y="0"/>
                </a:lnTo>
                <a:cubicBezTo>
                  <a:pt x="5632742" y="0"/>
                  <a:pt x="5689600" y="56858"/>
                  <a:pt x="5689600" y="126995"/>
                </a:cubicBezTo>
                <a:lnTo>
                  <a:pt x="5689600" y="2482855"/>
                </a:lnTo>
                <a:cubicBezTo>
                  <a:pt x="5689600" y="2552992"/>
                  <a:pt x="5632742" y="2609850"/>
                  <a:pt x="5562605" y="2609850"/>
                </a:cubicBezTo>
                <a:lnTo>
                  <a:pt x="126995" y="2609850"/>
                </a:lnTo>
                <a:cubicBezTo>
                  <a:pt x="56858" y="2609850"/>
                  <a:pt x="0" y="2552992"/>
                  <a:pt x="0" y="2482855"/>
                </a:cubicBezTo>
                <a:lnTo>
                  <a:pt x="0" y="126995"/>
                </a:lnTo>
                <a:cubicBezTo>
                  <a:pt x="0" y="56858"/>
                  <a:pt x="56858" y="0"/>
                  <a:pt x="12699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2600" y="144780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Bidirectional Communication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2600" y="1765303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 APIs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enable full-duplex communication channels over a single TCP connection. Unlike HTTP's request-response pattern, WebSockets maintain persistent connections allowing both client and server to send messages independently.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5775" y="2514603"/>
            <a:ext cx="5364163" cy="1212850"/>
          </a:xfrm>
          <a:custGeom>
            <a:avLst/>
            <a:gdLst/>
            <a:ahLst/>
            <a:cxnLst/>
            <a:rect l="l" t="t" r="r" b="b"/>
            <a:pathLst>
              <a:path w="5364163" h="1212850">
                <a:moveTo>
                  <a:pt x="95245" y="0"/>
                </a:moveTo>
                <a:lnTo>
                  <a:pt x="5268917" y="0"/>
                </a:lnTo>
                <a:cubicBezTo>
                  <a:pt x="5321520" y="0"/>
                  <a:pt x="5364163" y="42643"/>
                  <a:pt x="5364163" y="95245"/>
                </a:cubicBezTo>
                <a:lnTo>
                  <a:pt x="5364163" y="1117605"/>
                </a:lnTo>
                <a:cubicBezTo>
                  <a:pt x="5364163" y="1170207"/>
                  <a:pt x="5321520" y="1212850"/>
                  <a:pt x="5268917" y="1212850"/>
                </a:cubicBezTo>
                <a:lnTo>
                  <a:pt x="95245" y="1212850"/>
                </a:lnTo>
                <a:cubicBezTo>
                  <a:pt x="42643" y="1212850"/>
                  <a:pt x="0" y="1170207"/>
                  <a:pt x="0" y="1117605"/>
                </a:cubicBezTo>
                <a:lnTo>
                  <a:pt x="0" y="95245"/>
                </a:lnTo>
                <a:cubicBezTo>
                  <a:pt x="0" y="42643"/>
                  <a:pt x="42643" y="0"/>
                  <a:pt x="95245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5950" y="2644777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Advantages: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5950" y="2867027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Bidirectional: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Both client and server can initiate messages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5950" y="3057527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Latency: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 connection overhead per message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" y="3248027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Instant message delivery without polling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5950" y="3438527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Efficient:</a:t>
            </a: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Persistent connection reduces server load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675" y="3997905"/>
            <a:ext cx="5689600" cy="2764843"/>
          </a:xfrm>
          <a:custGeom>
            <a:avLst/>
            <a:gdLst/>
            <a:ahLst/>
            <a:cxnLst/>
            <a:rect l="l" t="t" r="r" b="b"/>
            <a:pathLst>
              <a:path w="5689600" h="2903537">
                <a:moveTo>
                  <a:pt x="127001" y="0"/>
                </a:moveTo>
                <a:lnTo>
                  <a:pt x="5562599" y="0"/>
                </a:lnTo>
                <a:cubicBezTo>
                  <a:pt x="5632740" y="0"/>
                  <a:pt x="5689600" y="56860"/>
                  <a:pt x="5689600" y="127001"/>
                </a:cubicBezTo>
                <a:lnTo>
                  <a:pt x="5689600" y="2776537"/>
                </a:lnTo>
                <a:cubicBezTo>
                  <a:pt x="5689600" y="2846677"/>
                  <a:pt x="5632740" y="2903538"/>
                  <a:pt x="5562599" y="2903537"/>
                </a:cubicBezTo>
                <a:lnTo>
                  <a:pt x="127001" y="2903537"/>
                </a:lnTo>
                <a:cubicBezTo>
                  <a:pt x="56860" y="2903537"/>
                  <a:pt x="0" y="2846677"/>
                  <a:pt x="0" y="2776537"/>
                </a:cubicBezTo>
                <a:lnTo>
                  <a:pt x="0" y="127001"/>
                </a:lnTo>
                <a:cubicBezTo>
                  <a:pt x="0" y="56907"/>
                  <a:pt x="56907" y="0"/>
                  <a:pt x="1270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600" y="4159837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WebSocket Routes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5775" y="4512262"/>
            <a:ext cx="5364163" cy="673100"/>
          </a:xfrm>
          <a:custGeom>
            <a:avLst/>
            <a:gdLst/>
            <a:ahLst/>
            <a:cxnLst/>
            <a:rect l="l" t="t" r="r" b="b"/>
            <a:pathLst>
              <a:path w="5364163" h="673100">
                <a:moveTo>
                  <a:pt x="95250" y="0"/>
                </a:moveTo>
                <a:lnTo>
                  <a:pt x="5268912" y="0"/>
                </a:lnTo>
                <a:cubicBezTo>
                  <a:pt x="5321517" y="0"/>
                  <a:pt x="5364163" y="42645"/>
                  <a:pt x="5364163" y="95250"/>
                </a:cubicBezTo>
                <a:lnTo>
                  <a:pt x="5364163" y="577850"/>
                </a:lnTo>
                <a:cubicBezTo>
                  <a:pt x="5364163" y="630455"/>
                  <a:pt x="5321517" y="673100"/>
                  <a:pt x="5268912" y="673100"/>
                </a:cubicBezTo>
                <a:lnTo>
                  <a:pt x="95250" y="673100"/>
                </a:lnTo>
                <a:cubicBezTo>
                  <a:pt x="42645" y="673100"/>
                  <a:pt x="0" y="630455"/>
                  <a:pt x="0" y="5778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723" y="466624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35719" y="-8930"/>
                </a:moveTo>
                <a:cubicBezTo>
                  <a:pt x="40658" y="-8930"/>
                  <a:pt x="44648" y="-4939"/>
                  <a:pt x="44648" y="0"/>
                </a:cubicBezTo>
                <a:lnTo>
                  <a:pt x="44648" y="26789"/>
                </a:lnTo>
                <a:lnTo>
                  <a:pt x="80367" y="26789"/>
                </a:lnTo>
                <a:lnTo>
                  <a:pt x="80367" y="0"/>
                </a:lnTo>
                <a:cubicBezTo>
                  <a:pt x="80367" y="-4939"/>
                  <a:pt x="84358" y="-8930"/>
                  <a:pt x="89297" y="-8930"/>
                </a:cubicBezTo>
                <a:cubicBezTo>
                  <a:pt x="94236" y="-8930"/>
                  <a:pt x="98227" y="-4939"/>
                  <a:pt x="98227" y="0"/>
                </a:cubicBezTo>
                <a:lnTo>
                  <a:pt x="98227" y="26789"/>
                </a:lnTo>
                <a:lnTo>
                  <a:pt x="116086" y="26789"/>
                </a:lnTo>
                <a:cubicBezTo>
                  <a:pt x="121025" y="26789"/>
                  <a:pt x="125016" y="30780"/>
                  <a:pt x="125016" y="35719"/>
                </a:cubicBezTo>
                <a:cubicBezTo>
                  <a:pt x="125016" y="40658"/>
                  <a:pt x="121025" y="44648"/>
                  <a:pt x="116086" y="44648"/>
                </a:cubicBezTo>
                <a:lnTo>
                  <a:pt x="116086" y="62508"/>
                </a:lnTo>
                <a:cubicBezTo>
                  <a:pt x="116086" y="89046"/>
                  <a:pt x="96775" y="111091"/>
                  <a:pt x="71438" y="115332"/>
                </a:cubicBezTo>
                <a:lnTo>
                  <a:pt x="71438" y="133945"/>
                </a:lnTo>
                <a:cubicBezTo>
                  <a:pt x="71438" y="138885"/>
                  <a:pt x="67447" y="142875"/>
                  <a:pt x="62508" y="142875"/>
                </a:cubicBezTo>
                <a:cubicBezTo>
                  <a:pt x="57569" y="142875"/>
                  <a:pt x="53578" y="138885"/>
                  <a:pt x="53578" y="133945"/>
                </a:cubicBezTo>
                <a:lnTo>
                  <a:pt x="53578" y="115332"/>
                </a:lnTo>
                <a:cubicBezTo>
                  <a:pt x="28240" y="111091"/>
                  <a:pt x="8930" y="89046"/>
                  <a:pt x="8930" y="62508"/>
                </a:cubicBezTo>
                <a:lnTo>
                  <a:pt x="8930" y="44648"/>
                </a:lnTo>
                <a:cubicBezTo>
                  <a:pt x="3990" y="44648"/>
                  <a:pt x="0" y="40658"/>
                  <a:pt x="0" y="35719"/>
                </a:cubicBezTo>
                <a:cubicBezTo>
                  <a:pt x="0" y="30780"/>
                  <a:pt x="3990" y="26789"/>
                  <a:pt x="8930" y="26789"/>
                </a:cubicBezTo>
                <a:lnTo>
                  <a:pt x="26789" y="26789"/>
                </a:lnTo>
                <a:lnTo>
                  <a:pt x="26789" y="0"/>
                </a:lnTo>
                <a:cubicBezTo>
                  <a:pt x="26789" y="-4939"/>
                  <a:pt x="30780" y="-8930"/>
                  <a:pt x="35719" y="-893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858044" y="4642435"/>
            <a:ext cx="595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$connect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5950" y="4896435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Triggered when client establishes connection. Use for authentication and storing connection ID.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85775" y="5249635"/>
            <a:ext cx="5364163" cy="673100"/>
          </a:xfrm>
          <a:custGeom>
            <a:avLst/>
            <a:gdLst/>
            <a:ahLst/>
            <a:cxnLst/>
            <a:rect l="l" t="t" r="r" b="b"/>
            <a:pathLst>
              <a:path w="5364163" h="673100">
                <a:moveTo>
                  <a:pt x="95250" y="0"/>
                </a:moveTo>
                <a:lnTo>
                  <a:pt x="5268912" y="0"/>
                </a:lnTo>
                <a:cubicBezTo>
                  <a:pt x="5321517" y="0"/>
                  <a:pt x="5364163" y="42645"/>
                  <a:pt x="5364163" y="95250"/>
                </a:cubicBezTo>
                <a:lnTo>
                  <a:pt x="5364163" y="577850"/>
                </a:lnTo>
                <a:cubicBezTo>
                  <a:pt x="5364163" y="630455"/>
                  <a:pt x="5321517" y="673100"/>
                  <a:pt x="5268912" y="673100"/>
                </a:cubicBezTo>
                <a:lnTo>
                  <a:pt x="95250" y="673100"/>
                </a:lnTo>
                <a:cubicBezTo>
                  <a:pt x="42645" y="673100"/>
                  <a:pt x="0" y="630455"/>
                  <a:pt x="0" y="5778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794" y="5403621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0922" y="76181"/>
                </a:moveTo>
                <a:cubicBezTo>
                  <a:pt x="143545" y="73558"/>
                  <a:pt x="143545" y="69317"/>
                  <a:pt x="140922" y="66722"/>
                </a:cubicBezTo>
                <a:lnTo>
                  <a:pt x="100738" y="26510"/>
                </a:lnTo>
                <a:cubicBezTo>
                  <a:pt x="98813" y="24585"/>
                  <a:pt x="95938" y="24026"/>
                  <a:pt x="93427" y="25059"/>
                </a:cubicBezTo>
                <a:cubicBezTo>
                  <a:pt x="90915" y="26091"/>
                  <a:pt x="89297" y="28547"/>
                  <a:pt x="89297" y="31254"/>
                </a:cubicBezTo>
                <a:lnTo>
                  <a:pt x="89297" y="53578"/>
                </a:lnTo>
                <a:lnTo>
                  <a:pt x="58043" y="53578"/>
                </a:lnTo>
                <a:cubicBezTo>
                  <a:pt x="50648" y="53578"/>
                  <a:pt x="44648" y="59578"/>
                  <a:pt x="44648" y="66973"/>
                </a:cubicBezTo>
                <a:lnTo>
                  <a:pt x="44648" y="75902"/>
                </a:lnTo>
                <a:cubicBezTo>
                  <a:pt x="44648" y="83297"/>
                  <a:pt x="50648" y="89297"/>
                  <a:pt x="58043" y="89297"/>
                </a:cubicBezTo>
                <a:lnTo>
                  <a:pt x="89297" y="89297"/>
                </a:lnTo>
                <a:lnTo>
                  <a:pt x="89297" y="111621"/>
                </a:lnTo>
                <a:cubicBezTo>
                  <a:pt x="89297" y="114328"/>
                  <a:pt x="90915" y="116784"/>
                  <a:pt x="93427" y="117816"/>
                </a:cubicBezTo>
                <a:cubicBezTo>
                  <a:pt x="95938" y="118849"/>
                  <a:pt x="98813" y="118290"/>
                  <a:pt x="100738" y="116365"/>
                </a:cubicBezTo>
                <a:lnTo>
                  <a:pt x="140922" y="76181"/>
                </a:lnTo>
                <a:close/>
                <a:moveTo>
                  <a:pt x="44648" y="26789"/>
                </a:moveTo>
                <a:cubicBezTo>
                  <a:pt x="49588" y="26789"/>
                  <a:pt x="53578" y="22799"/>
                  <a:pt x="53578" y="17859"/>
                </a:cubicBezTo>
                <a:cubicBezTo>
                  <a:pt x="53578" y="12920"/>
                  <a:pt x="49588" y="8930"/>
                  <a:pt x="44648" y="8930"/>
                </a:cubicBezTo>
                <a:lnTo>
                  <a:pt x="26789" y="8930"/>
                </a:lnTo>
                <a:cubicBezTo>
                  <a:pt x="11999" y="8930"/>
                  <a:pt x="0" y="20929"/>
                  <a:pt x="0" y="35719"/>
                </a:cubicBezTo>
                <a:lnTo>
                  <a:pt x="0" y="107156"/>
                </a:lnTo>
                <a:cubicBezTo>
                  <a:pt x="0" y="121946"/>
                  <a:pt x="11999" y="133945"/>
                  <a:pt x="26789" y="133945"/>
                </a:cubicBezTo>
                <a:lnTo>
                  <a:pt x="44648" y="133945"/>
                </a:lnTo>
                <a:cubicBezTo>
                  <a:pt x="49588" y="133945"/>
                  <a:pt x="53578" y="129955"/>
                  <a:pt x="53578" y="125016"/>
                </a:cubicBezTo>
                <a:cubicBezTo>
                  <a:pt x="53578" y="120076"/>
                  <a:pt x="49588" y="116086"/>
                  <a:pt x="44648" y="116086"/>
                </a:cubicBezTo>
                <a:lnTo>
                  <a:pt x="26789" y="116086"/>
                </a:lnTo>
                <a:cubicBezTo>
                  <a:pt x="21850" y="116086"/>
                  <a:pt x="17859" y="112095"/>
                  <a:pt x="17859" y="107156"/>
                </a:cubicBezTo>
                <a:lnTo>
                  <a:pt x="17859" y="35719"/>
                </a:lnTo>
                <a:cubicBezTo>
                  <a:pt x="17859" y="30780"/>
                  <a:pt x="21850" y="26789"/>
                  <a:pt x="26789" y="26789"/>
                </a:cubicBezTo>
                <a:lnTo>
                  <a:pt x="44648" y="2678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858044" y="5379808"/>
            <a:ext cx="762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$disconnect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5950" y="5633808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Triggered when connection closes. Use for cleanup and removing connection ID from database.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5775" y="5987007"/>
            <a:ext cx="5364163" cy="673100"/>
          </a:xfrm>
          <a:custGeom>
            <a:avLst/>
            <a:gdLst/>
            <a:ahLst/>
            <a:cxnLst/>
            <a:rect l="l" t="t" r="r" b="b"/>
            <a:pathLst>
              <a:path w="5364163" h="673100">
                <a:moveTo>
                  <a:pt x="95250" y="0"/>
                </a:moveTo>
                <a:lnTo>
                  <a:pt x="5268912" y="0"/>
                </a:lnTo>
                <a:cubicBezTo>
                  <a:pt x="5321517" y="0"/>
                  <a:pt x="5364163" y="42645"/>
                  <a:pt x="5364163" y="95250"/>
                </a:cubicBezTo>
                <a:lnTo>
                  <a:pt x="5364163" y="577850"/>
                </a:lnTo>
                <a:cubicBezTo>
                  <a:pt x="5364163" y="630455"/>
                  <a:pt x="5321517" y="673100"/>
                  <a:pt x="5268912" y="673100"/>
                </a:cubicBezTo>
                <a:lnTo>
                  <a:pt x="95250" y="673100"/>
                </a:lnTo>
                <a:cubicBezTo>
                  <a:pt x="42645" y="673100"/>
                  <a:pt x="0" y="630455"/>
                  <a:pt x="0" y="5778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5794" y="6141001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42875" y="66973"/>
                </a:moveTo>
                <a:cubicBezTo>
                  <a:pt x="142875" y="103947"/>
                  <a:pt x="110896" y="133945"/>
                  <a:pt x="71438" y="133945"/>
                </a:cubicBezTo>
                <a:cubicBezTo>
                  <a:pt x="61085" y="133945"/>
                  <a:pt x="51262" y="131880"/>
                  <a:pt x="42388" y="128169"/>
                </a:cubicBezTo>
                <a:lnTo>
                  <a:pt x="9348" y="142345"/>
                </a:lnTo>
                <a:cubicBezTo>
                  <a:pt x="6725" y="143461"/>
                  <a:pt x="3711" y="142819"/>
                  <a:pt x="1786" y="140726"/>
                </a:cubicBezTo>
                <a:cubicBezTo>
                  <a:pt x="-140" y="138633"/>
                  <a:pt x="-558" y="135564"/>
                  <a:pt x="781" y="133052"/>
                </a:cubicBezTo>
                <a:lnTo>
                  <a:pt x="14399" y="107324"/>
                </a:lnTo>
                <a:cubicBezTo>
                  <a:pt x="5358" y="96078"/>
                  <a:pt x="0" y="82125"/>
                  <a:pt x="0" y="66973"/>
                </a:cubicBezTo>
                <a:cubicBezTo>
                  <a:pt x="0" y="29998"/>
                  <a:pt x="31979" y="0"/>
                  <a:pt x="71438" y="0"/>
                </a:cubicBezTo>
                <a:cubicBezTo>
                  <a:pt x="110896" y="0"/>
                  <a:pt x="142875" y="29998"/>
                  <a:pt x="142875" y="6697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858044" y="6117189"/>
            <a:ext cx="92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Routes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5950" y="6371189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 specific message types (e.g., sendMessage, joinRoom). Defined by route selection expression.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178550" y="1285880"/>
            <a:ext cx="5689600" cy="3117850"/>
          </a:xfrm>
          <a:custGeom>
            <a:avLst/>
            <a:gdLst/>
            <a:ahLst/>
            <a:cxnLst/>
            <a:rect l="l" t="t" r="r" b="b"/>
            <a:pathLst>
              <a:path w="5689600" h="3117850">
                <a:moveTo>
                  <a:pt x="126990" y="0"/>
                </a:moveTo>
                <a:lnTo>
                  <a:pt x="5562610" y="0"/>
                </a:lnTo>
                <a:cubicBezTo>
                  <a:pt x="5632745" y="0"/>
                  <a:pt x="5689600" y="56855"/>
                  <a:pt x="5689600" y="126990"/>
                </a:cubicBezTo>
                <a:lnTo>
                  <a:pt x="5689600" y="2990860"/>
                </a:lnTo>
                <a:cubicBezTo>
                  <a:pt x="5689600" y="3060995"/>
                  <a:pt x="5632745" y="3117850"/>
                  <a:pt x="5562610" y="3117850"/>
                </a:cubicBezTo>
                <a:lnTo>
                  <a:pt x="126990" y="3117850"/>
                </a:lnTo>
                <a:cubicBezTo>
                  <a:pt x="56855" y="3117850"/>
                  <a:pt x="0" y="3060995"/>
                  <a:pt x="0" y="2990860"/>
                </a:cubicBezTo>
                <a:lnTo>
                  <a:pt x="0" y="126990"/>
                </a:lnTo>
                <a:cubicBezTo>
                  <a:pt x="0" y="56855"/>
                  <a:pt x="56855" y="0"/>
                  <a:pt x="12699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0475" y="144780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Flow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40475" y="179705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470650" y="1844678"/>
            <a:ext cx="127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753225" y="1828803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Connection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53225" y="2051053"/>
            <a:ext cx="500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initiates WebSocket connection. $connect route triggers Lambda function.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40475" y="230505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6457652" y="2352678"/>
            <a:ext cx="15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753225" y="2336803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Store Connection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53225" y="2559053"/>
            <a:ext cx="500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stores connectionId in DynamoDB with optional user metadata.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0475" y="281305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9"/>
          <p:cNvSpPr/>
          <p:nvPr/>
        </p:nvSpPr>
        <p:spPr>
          <a:xfrm>
            <a:off x="6457057" y="2860678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753225" y="2844803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Message Processing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53225" y="3067053"/>
            <a:ext cx="500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routes handle incoming messages via Lambda functions.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40475" y="332105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3"/>
          <p:cNvSpPr/>
          <p:nvPr/>
        </p:nvSpPr>
        <p:spPr>
          <a:xfrm>
            <a:off x="6457057" y="3368678"/>
            <a:ext cx="158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53225" y="3352803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Broadcast Messages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753225" y="3575053"/>
            <a:ext cx="500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Lambda uses API Gateway Management API to send messages to connected clients.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40475" y="382905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6458049" y="3876678"/>
            <a:ext cx="150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753225" y="3860803"/>
            <a:ext cx="501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Connection Cleanup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753225" y="4083053"/>
            <a:ext cx="5008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$disconnect route removes connectionId from DynamoDB.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78550" y="4537077"/>
            <a:ext cx="5689600" cy="2225671"/>
          </a:xfrm>
          <a:custGeom>
            <a:avLst/>
            <a:gdLst/>
            <a:ahLst/>
            <a:cxnLst/>
            <a:rect l="l" t="t" r="r" b="b"/>
            <a:pathLst>
              <a:path w="5689600" h="2387600">
                <a:moveTo>
                  <a:pt x="126996" y="0"/>
                </a:moveTo>
                <a:lnTo>
                  <a:pt x="5562604" y="0"/>
                </a:lnTo>
                <a:cubicBezTo>
                  <a:pt x="5632742" y="0"/>
                  <a:pt x="5689600" y="56858"/>
                  <a:pt x="5689600" y="126996"/>
                </a:cubicBezTo>
                <a:lnTo>
                  <a:pt x="5689600" y="2260604"/>
                </a:lnTo>
                <a:cubicBezTo>
                  <a:pt x="5689600" y="2330742"/>
                  <a:pt x="5632742" y="2387600"/>
                  <a:pt x="5562604" y="2387600"/>
                </a:cubicBezTo>
                <a:lnTo>
                  <a:pt x="126996" y="2387600"/>
                </a:lnTo>
                <a:cubicBezTo>
                  <a:pt x="56905" y="2387600"/>
                  <a:pt x="0" y="2330695"/>
                  <a:pt x="0" y="2260604"/>
                </a:cubicBezTo>
                <a:lnTo>
                  <a:pt x="0" y="126996"/>
                </a:lnTo>
                <a:cubicBezTo>
                  <a:pt x="0" y="56905"/>
                  <a:pt x="56905" y="0"/>
                  <a:pt x="12699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40475" y="4699000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43650" y="5051425"/>
            <a:ext cx="2633662" cy="514350"/>
          </a:xfrm>
          <a:custGeom>
            <a:avLst/>
            <a:gdLst/>
            <a:ahLst/>
            <a:cxnLst/>
            <a:rect l="l" t="t" r="r" b="b"/>
            <a:pathLst>
              <a:path w="2633662" h="514350">
                <a:moveTo>
                  <a:pt x="95252" y="0"/>
                </a:moveTo>
                <a:lnTo>
                  <a:pt x="2538410" y="0"/>
                </a:lnTo>
                <a:cubicBezTo>
                  <a:pt x="2591017" y="0"/>
                  <a:pt x="2633662" y="42646"/>
                  <a:pt x="2633662" y="95252"/>
                </a:cubicBezTo>
                <a:lnTo>
                  <a:pt x="2633662" y="419098"/>
                </a:lnTo>
                <a:cubicBezTo>
                  <a:pt x="2633662" y="471704"/>
                  <a:pt x="2591017" y="514350"/>
                  <a:pt x="2538410" y="514350"/>
                </a:cubicBezTo>
                <a:lnTo>
                  <a:pt x="95252" y="514350"/>
                </a:lnTo>
                <a:cubicBezTo>
                  <a:pt x="42646" y="514350"/>
                  <a:pt x="0" y="471704"/>
                  <a:pt x="0" y="4190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50013" y="5165723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95250" y="35719"/>
                </a:moveTo>
                <a:cubicBezTo>
                  <a:pt x="95250" y="59829"/>
                  <a:pt x="73918" y="79375"/>
                  <a:pt x="47625" y="79375"/>
                </a:cubicBezTo>
                <a:cubicBezTo>
                  <a:pt x="41002" y="79375"/>
                  <a:pt x="34702" y="78135"/>
                  <a:pt x="28972" y="75902"/>
                </a:cubicBezTo>
                <a:lnTo>
                  <a:pt x="8731" y="86618"/>
                </a:lnTo>
                <a:cubicBezTo>
                  <a:pt x="6424" y="87833"/>
                  <a:pt x="3597" y="87412"/>
                  <a:pt x="1736" y="85576"/>
                </a:cubicBezTo>
                <a:cubicBezTo>
                  <a:pt x="-124" y="83741"/>
                  <a:pt x="-546" y="80888"/>
                  <a:pt x="695" y="78581"/>
                </a:cubicBezTo>
                <a:lnTo>
                  <a:pt x="9525" y="61913"/>
                </a:lnTo>
                <a:cubicBezTo>
                  <a:pt x="3547" y="54620"/>
                  <a:pt x="0" y="45541"/>
                  <a:pt x="0" y="35719"/>
                </a:cubicBezTo>
                <a:cubicBezTo>
                  <a:pt x="0" y="11609"/>
                  <a:pt x="21332" y="-7937"/>
                  <a:pt x="47625" y="-7937"/>
                </a:cubicBezTo>
                <a:cubicBezTo>
                  <a:pt x="73918" y="-7937"/>
                  <a:pt x="95250" y="11609"/>
                  <a:pt x="95250" y="35719"/>
                </a:cubicBezTo>
                <a:close/>
                <a:moveTo>
                  <a:pt x="95250" y="127000"/>
                </a:moveTo>
                <a:cubicBezTo>
                  <a:pt x="71909" y="127000"/>
                  <a:pt x="52487" y="111596"/>
                  <a:pt x="48419" y="91281"/>
                </a:cubicBezTo>
                <a:cubicBezTo>
                  <a:pt x="78184" y="90909"/>
                  <a:pt x="104056" y="69726"/>
                  <a:pt x="106908" y="41002"/>
                </a:cubicBezTo>
                <a:cubicBezTo>
                  <a:pt x="127571" y="45765"/>
                  <a:pt x="142875" y="62905"/>
                  <a:pt x="142875" y="83344"/>
                </a:cubicBezTo>
                <a:cubicBezTo>
                  <a:pt x="142875" y="93166"/>
                  <a:pt x="139328" y="102245"/>
                  <a:pt x="133350" y="109538"/>
                </a:cubicBezTo>
                <a:lnTo>
                  <a:pt x="142180" y="126206"/>
                </a:lnTo>
                <a:cubicBezTo>
                  <a:pt x="143396" y="128513"/>
                  <a:pt x="142974" y="131341"/>
                  <a:pt x="141139" y="133201"/>
                </a:cubicBezTo>
                <a:cubicBezTo>
                  <a:pt x="139303" y="135062"/>
                  <a:pt x="136451" y="135483"/>
                  <a:pt x="134144" y="134243"/>
                </a:cubicBezTo>
                <a:lnTo>
                  <a:pt x="113903" y="123527"/>
                </a:lnTo>
                <a:cubicBezTo>
                  <a:pt x="108173" y="125760"/>
                  <a:pt x="101873" y="127000"/>
                  <a:pt x="95250" y="12700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6" name="Text 54"/>
          <p:cNvSpPr/>
          <p:nvPr/>
        </p:nvSpPr>
        <p:spPr>
          <a:xfrm>
            <a:off x="6664325" y="5149848"/>
            <a:ext cx="920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 Applications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42075" y="5340348"/>
            <a:ext cx="2484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messaging platforms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75738" y="5051425"/>
            <a:ext cx="2633662" cy="514350"/>
          </a:xfrm>
          <a:custGeom>
            <a:avLst/>
            <a:gdLst/>
            <a:ahLst/>
            <a:cxnLst/>
            <a:rect l="l" t="t" r="r" b="b"/>
            <a:pathLst>
              <a:path w="2633662" h="514350">
                <a:moveTo>
                  <a:pt x="95252" y="0"/>
                </a:moveTo>
                <a:lnTo>
                  <a:pt x="2538410" y="0"/>
                </a:lnTo>
                <a:cubicBezTo>
                  <a:pt x="2591017" y="0"/>
                  <a:pt x="2633662" y="42646"/>
                  <a:pt x="2633662" y="95252"/>
                </a:cubicBezTo>
                <a:lnTo>
                  <a:pt x="2633662" y="419098"/>
                </a:lnTo>
                <a:cubicBezTo>
                  <a:pt x="2633662" y="471704"/>
                  <a:pt x="2591017" y="514350"/>
                  <a:pt x="2538410" y="514350"/>
                </a:cubicBezTo>
                <a:lnTo>
                  <a:pt x="95252" y="514350"/>
                </a:lnTo>
                <a:cubicBezTo>
                  <a:pt x="42646" y="514350"/>
                  <a:pt x="0" y="471704"/>
                  <a:pt x="0" y="4190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190038" y="516572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5875" y="15875"/>
                </a:moveTo>
                <a:cubicBezTo>
                  <a:pt x="15875" y="11485"/>
                  <a:pt x="12328" y="7938"/>
                  <a:pt x="7938" y="7938"/>
                </a:cubicBezTo>
                <a:cubicBezTo>
                  <a:pt x="3547" y="7938"/>
                  <a:pt x="0" y="11485"/>
                  <a:pt x="0" y="15875"/>
                </a:cubicBezTo>
                <a:lnTo>
                  <a:pt x="0" y="99219"/>
                </a:lnTo>
                <a:cubicBezTo>
                  <a:pt x="0" y="110182"/>
                  <a:pt x="8880" y="119063"/>
                  <a:pt x="19844" y="119063"/>
                </a:cubicBezTo>
                <a:lnTo>
                  <a:pt x="119063" y="119063"/>
                </a:lnTo>
                <a:cubicBezTo>
                  <a:pt x="123453" y="119063"/>
                  <a:pt x="127000" y="115515"/>
                  <a:pt x="127000" y="111125"/>
                </a:cubicBezTo>
                <a:cubicBezTo>
                  <a:pt x="127000" y="106735"/>
                  <a:pt x="123453" y="103188"/>
                  <a:pt x="119063" y="103188"/>
                </a:cubicBezTo>
                <a:lnTo>
                  <a:pt x="19844" y="103188"/>
                </a:lnTo>
                <a:cubicBezTo>
                  <a:pt x="17661" y="103188"/>
                  <a:pt x="15875" y="101402"/>
                  <a:pt x="15875" y="99219"/>
                </a:cubicBezTo>
                <a:lnTo>
                  <a:pt x="15875" y="15875"/>
                </a:lnTo>
                <a:close/>
                <a:moveTo>
                  <a:pt x="116731" y="37356"/>
                </a:moveTo>
                <a:cubicBezTo>
                  <a:pt x="119831" y="34255"/>
                  <a:pt x="119831" y="29220"/>
                  <a:pt x="116731" y="26119"/>
                </a:cubicBezTo>
                <a:cubicBezTo>
                  <a:pt x="113630" y="23019"/>
                  <a:pt x="108595" y="23019"/>
                  <a:pt x="105494" y="26119"/>
                </a:cubicBezTo>
                <a:lnTo>
                  <a:pt x="79375" y="52263"/>
                </a:lnTo>
                <a:lnTo>
                  <a:pt x="65137" y="38050"/>
                </a:lnTo>
                <a:cubicBezTo>
                  <a:pt x="62037" y="34950"/>
                  <a:pt x="57001" y="34950"/>
                  <a:pt x="53901" y="38050"/>
                </a:cubicBezTo>
                <a:lnTo>
                  <a:pt x="30088" y="61863"/>
                </a:lnTo>
                <a:cubicBezTo>
                  <a:pt x="26988" y="64963"/>
                  <a:pt x="26988" y="69999"/>
                  <a:pt x="30088" y="73099"/>
                </a:cubicBezTo>
                <a:cubicBezTo>
                  <a:pt x="33189" y="76200"/>
                  <a:pt x="38224" y="76200"/>
                  <a:pt x="41325" y="73099"/>
                </a:cubicBezTo>
                <a:lnTo>
                  <a:pt x="59531" y="54893"/>
                </a:lnTo>
                <a:lnTo>
                  <a:pt x="73769" y="69131"/>
                </a:lnTo>
                <a:cubicBezTo>
                  <a:pt x="76870" y="72231"/>
                  <a:pt x="81905" y="72231"/>
                  <a:pt x="85006" y="69131"/>
                </a:cubicBezTo>
                <a:lnTo>
                  <a:pt x="116756" y="3738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0" name="Text 58"/>
          <p:cNvSpPr/>
          <p:nvPr/>
        </p:nvSpPr>
        <p:spPr>
          <a:xfrm>
            <a:off x="9396413" y="5149848"/>
            <a:ext cx="103981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Data Streaming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74163" y="5340348"/>
            <a:ext cx="2484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Stock prices, sports scores, IoT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43650" y="5667279"/>
            <a:ext cx="2633662" cy="514350"/>
          </a:xfrm>
          <a:custGeom>
            <a:avLst/>
            <a:gdLst/>
            <a:ahLst/>
            <a:cxnLst/>
            <a:rect l="l" t="t" r="r" b="b"/>
            <a:pathLst>
              <a:path w="2633662" h="514350">
                <a:moveTo>
                  <a:pt x="95252" y="0"/>
                </a:moveTo>
                <a:lnTo>
                  <a:pt x="2538410" y="0"/>
                </a:lnTo>
                <a:cubicBezTo>
                  <a:pt x="2591017" y="0"/>
                  <a:pt x="2633662" y="42646"/>
                  <a:pt x="2633662" y="95252"/>
                </a:cubicBezTo>
                <a:lnTo>
                  <a:pt x="2633662" y="419098"/>
                </a:lnTo>
                <a:cubicBezTo>
                  <a:pt x="2633662" y="471704"/>
                  <a:pt x="2591017" y="514350"/>
                  <a:pt x="2538410" y="514350"/>
                </a:cubicBezTo>
                <a:lnTo>
                  <a:pt x="95252" y="514350"/>
                </a:lnTo>
                <a:cubicBezTo>
                  <a:pt x="42646" y="514350"/>
                  <a:pt x="0" y="471704"/>
                  <a:pt x="0" y="4190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42075" y="5781577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79375" y="3969"/>
                </a:moveTo>
                <a:cubicBezTo>
                  <a:pt x="93613" y="3969"/>
                  <a:pt x="105172" y="15528"/>
                  <a:pt x="105172" y="29766"/>
                </a:cubicBezTo>
                <a:cubicBezTo>
                  <a:pt x="105172" y="44003"/>
                  <a:pt x="93613" y="55563"/>
                  <a:pt x="79375" y="55563"/>
                </a:cubicBezTo>
                <a:cubicBezTo>
                  <a:pt x="65137" y="55563"/>
                  <a:pt x="53578" y="44003"/>
                  <a:pt x="53578" y="29766"/>
                </a:cubicBezTo>
                <a:cubicBezTo>
                  <a:pt x="53578" y="15528"/>
                  <a:pt x="65137" y="3969"/>
                  <a:pt x="79375" y="3969"/>
                </a:cubicBezTo>
                <a:close/>
                <a:moveTo>
                  <a:pt x="23812" y="21828"/>
                </a:moveTo>
                <a:cubicBezTo>
                  <a:pt x="33669" y="21828"/>
                  <a:pt x="41672" y="29831"/>
                  <a:pt x="41672" y="39688"/>
                </a:cubicBezTo>
                <a:cubicBezTo>
                  <a:pt x="41672" y="49544"/>
                  <a:pt x="33669" y="57547"/>
                  <a:pt x="23812" y="57547"/>
                </a:cubicBezTo>
                <a:cubicBezTo>
                  <a:pt x="13956" y="57547"/>
                  <a:pt x="5953" y="49544"/>
                  <a:pt x="5953" y="39688"/>
                </a:cubicBezTo>
                <a:cubicBezTo>
                  <a:pt x="5953" y="29831"/>
                  <a:pt x="13956" y="21828"/>
                  <a:pt x="23812" y="21828"/>
                </a:cubicBezTo>
                <a:close/>
                <a:moveTo>
                  <a:pt x="0" y="103188"/>
                </a:moveTo>
                <a:cubicBezTo>
                  <a:pt x="0" y="85651"/>
                  <a:pt x="14213" y="71438"/>
                  <a:pt x="31750" y="71438"/>
                </a:cubicBezTo>
                <a:cubicBezTo>
                  <a:pt x="34925" y="71438"/>
                  <a:pt x="38001" y="71909"/>
                  <a:pt x="40903" y="72777"/>
                </a:cubicBezTo>
                <a:cubicBezTo>
                  <a:pt x="32742" y="81905"/>
                  <a:pt x="27781" y="93960"/>
                  <a:pt x="27781" y="107156"/>
                </a:cubicBezTo>
                <a:lnTo>
                  <a:pt x="27781" y="111125"/>
                </a:lnTo>
                <a:cubicBezTo>
                  <a:pt x="27781" y="113953"/>
                  <a:pt x="28377" y="116632"/>
                  <a:pt x="29443" y="119063"/>
                </a:cubicBezTo>
                <a:lnTo>
                  <a:pt x="7938" y="119063"/>
                </a:lnTo>
                <a:cubicBezTo>
                  <a:pt x="3547" y="119063"/>
                  <a:pt x="0" y="115515"/>
                  <a:pt x="0" y="111125"/>
                </a:cubicBezTo>
                <a:lnTo>
                  <a:pt x="0" y="103188"/>
                </a:lnTo>
                <a:close/>
                <a:moveTo>
                  <a:pt x="129307" y="119063"/>
                </a:moveTo>
                <a:cubicBezTo>
                  <a:pt x="130373" y="116632"/>
                  <a:pt x="130969" y="113953"/>
                  <a:pt x="130969" y="111125"/>
                </a:cubicBezTo>
                <a:lnTo>
                  <a:pt x="130969" y="107156"/>
                </a:lnTo>
                <a:cubicBezTo>
                  <a:pt x="130969" y="93960"/>
                  <a:pt x="126008" y="81905"/>
                  <a:pt x="117847" y="72777"/>
                </a:cubicBezTo>
                <a:cubicBezTo>
                  <a:pt x="120749" y="71909"/>
                  <a:pt x="123825" y="71438"/>
                  <a:pt x="127000" y="71438"/>
                </a:cubicBezTo>
                <a:cubicBezTo>
                  <a:pt x="144537" y="71438"/>
                  <a:pt x="158750" y="85651"/>
                  <a:pt x="158750" y="103188"/>
                </a:cubicBezTo>
                <a:lnTo>
                  <a:pt x="158750" y="111125"/>
                </a:lnTo>
                <a:cubicBezTo>
                  <a:pt x="158750" y="115515"/>
                  <a:pt x="155203" y="119063"/>
                  <a:pt x="150813" y="119063"/>
                </a:cubicBezTo>
                <a:lnTo>
                  <a:pt x="129307" y="119063"/>
                </a:lnTo>
                <a:close/>
                <a:moveTo>
                  <a:pt x="117078" y="39688"/>
                </a:moveTo>
                <a:cubicBezTo>
                  <a:pt x="117078" y="29831"/>
                  <a:pt x="125081" y="21828"/>
                  <a:pt x="134938" y="21828"/>
                </a:cubicBezTo>
                <a:cubicBezTo>
                  <a:pt x="144794" y="21828"/>
                  <a:pt x="152797" y="29831"/>
                  <a:pt x="152797" y="39687"/>
                </a:cubicBezTo>
                <a:cubicBezTo>
                  <a:pt x="152797" y="49544"/>
                  <a:pt x="144794" y="57547"/>
                  <a:pt x="134938" y="57547"/>
                </a:cubicBezTo>
                <a:cubicBezTo>
                  <a:pt x="125081" y="57547"/>
                  <a:pt x="117078" y="49544"/>
                  <a:pt x="117078" y="39688"/>
                </a:cubicBezTo>
                <a:close/>
                <a:moveTo>
                  <a:pt x="39688" y="107156"/>
                </a:moveTo>
                <a:cubicBezTo>
                  <a:pt x="39688" y="85229"/>
                  <a:pt x="57448" y="67469"/>
                  <a:pt x="79375" y="67469"/>
                </a:cubicBezTo>
                <a:cubicBezTo>
                  <a:pt x="101302" y="67469"/>
                  <a:pt x="119063" y="85229"/>
                  <a:pt x="119063" y="107156"/>
                </a:cubicBezTo>
                <a:lnTo>
                  <a:pt x="119063" y="111125"/>
                </a:lnTo>
                <a:cubicBezTo>
                  <a:pt x="119063" y="115515"/>
                  <a:pt x="115515" y="119063"/>
                  <a:pt x="111125" y="119063"/>
                </a:cubicBezTo>
                <a:lnTo>
                  <a:pt x="47625" y="119063"/>
                </a:lnTo>
                <a:cubicBezTo>
                  <a:pt x="43235" y="119063"/>
                  <a:pt x="39688" y="115515"/>
                  <a:pt x="39688" y="111125"/>
                </a:cubicBezTo>
                <a:lnTo>
                  <a:pt x="39688" y="10715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4" name="Text 62"/>
          <p:cNvSpPr/>
          <p:nvPr/>
        </p:nvSpPr>
        <p:spPr>
          <a:xfrm>
            <a:off x="6664325" y="5765702"/>
            <a:ext cx="1000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Collaborative Tools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442075" y="5956202"/>
            <a:ext cx="2484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editing, whiteboards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9075738" y="5667279"/>
            <a:ext cx="2633662" cy="514350"/>
          </a:xfrm>
          <a:custGeom>
            <a:avLst/>
            <a:gdLst/>
            <a:ahLst/>
            <a:cxnLst/>
            <a:rect l="l" t="t" r="r" b="b"/>
            <a:pathLst>
              <a:path w="2633662" h="514350">
                <a:moveTo>
                  <a:pt x="95252" y="0"/>
                </a:moveTo>
                <a:lnTo>
                  <a:pt x="2538410" y="0"/>
                </a:lnTo>
                <a:cubicBezTo>
                  <a:pt x="2591017" y="0"/>
                  <a:pt x="2633662" y="42646"/>
                  <a:pt x="2633662" y="95252"/>
                </a:cubicBezTo>
                <a:lnTo>
                  <a:pt x="2633662" y="419098"/>
                </a:lnTo>
                <a:cubicBezTo>
                  <a:pt x="2633662" y="471704"/>
                  <a:pt x="2591017" y="514350"/>
                  <a:pt x="2538410" y="514350"/>
                </a:cubicBezTo>
                <a:lnTo>
                  <a:pt x="95252" y="514350"/>
                </a:lnTo>
                <a:cubicBezTo>
                  <a:pt x="42646" y="514350"/>
                  <a:pt x="0" y="471704"/>
                  <a:pt x="0" y="41909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174163" y="5781577"/>
            <a:ext cx="158750" cy="127000"/>
          </a:xfrm>
          <a:custGeom>
            <a:avLst/>
            <a:gdLst/>
            <a:ahLst/>
            <a:cxnLst/>
            <a:rect l="l" t="t" r="r" b="b"/>
            <a:pathLst>
              <a:path w="158750" h="127000">
                <a:moveTo>
                  <a:pt x="111125" y="15875"/>
                </a:moveTo>
                <a:cubicBezTo>
                  <a:pt x="137418" y="15875"/>
                  <a:pt x="158750" y="37207"/>
                  <a:pt x="158750" y="63500"/>
                </a:cubicBezTo>
                <a:cubicBezTo>
                  <a:pt x="158750" y="89793"/>
                  <a:pt x="137418" y="111125"/>
                  <a:pt x="111125" y="111125"/>
                </a:cubicBezTo>
                <a:lnTo>
                  <a:pt x="47625" y="111125"/>
                </a:lnTo>
                <a:cubicBezTo>
                  <a:pt x="21332" y="111125"/>
                  <a:pt x="0" y="89793"/>
                  <a:pt x="0" y="63500"/>
                </a:cubicBezTo>
                <a:cubicBezTo>
                  <a:pt x="0" y="37207"/>
                  <a:pt x="21332" y="15875"/>
                  <a:pt x="47625" y="15875"/>
                </a:cubicBezTo>
                <a:lnTo>
                  <a:pt x="111125" y="15875"/>
                </a:lnTo>
                <a:close/>
                <a:moveTo>
                  <a:pt x="47625" y="43656"/>
                </a:moveTo>
                <a:cubicBezTo>
                  <a:pt x="44326" y="43656"/>
                  <a:pt x="41672" y="46310"/>
                  <a:pt x="41672" y="49609"/>
                </a:cubicBezTo>
                <a:lnTo>
                  <a:pt x="41672" y="57547"/>
                </a:lnTo>
                <a:lnTo>
                  <a:pt x="33734" y="57547"/>
                </a:lnTo>
                <a:cubicBezTo>
                  <a:pt x="30435" y="57547"/>
                  <a:pt x="27781" y="60201"/>
                  <a:pt x="27781" y="63500"/>
                </a:cubicBezTo>
                <a:cubicBezTo>
                  <a:pt x="27781" y="66799"/>
                  <a:pt x="30435" y="69453"/>
                  <a:pt x="33734" y="69453"/>
                </a:cubicBezTo>
                <a:lnTo>
                  <a:pt x="41672" y="69453"/>
                </a:lnTo>
                <a:lnTo>
                  <a:pt x="41672" y="77391"/>
                </a:lnTo>
                <a:cubicBezTo>
                  <a:pt x="41672" y="80690"/>
                  <a:pt x="44326" y="83344"/>
                  <a:pt x="47625" y="83344"/>
                </a:cubicBezTo>
                <a:cubicBezTo>
                  <a:pt x="50924" y="83344"/>
                  <a:pt x="53578" y="80690"/>
                  <a:pt x="53578" y="77391"/>
                </a:cubicBezTo>
                <a:lnTo>
                  <a:pt x="53578" y="69453"/>
                </a:lnTo>
                <a:lnTo>
                  <a:pt x="61516" y="69453"/>
                </a:lnTo>
                <a:cubicBezTo>
                  <a:pt x="64815" y="69453"/>
                  <a:pt x="67469" y="66799"/>
                  <a:pt x="67469" y="63500"/>
                </a:cubicBezTo>
                <a:cubicBezTo>
                  <a:pt x="67469" y="60201"/>
                  <a:pt x="64815" y="57547"/>
                  <a:pt x="61516" y="57547"/>
                </a:cubicBezTo>
                <a:lnTo>
                  <a:pt x="53578" y="57547"/>
                </a:lnTo>
                <a:lnTo>
                  <a:pt x="53578" y="49609"/>
                </a:lnTo>
                <a:cubicBezTo>
                  <a:pt x="53578" y="46310"/>
                  <a:pt x="50924" y="43656"/>
                  <a:pt x="47625" y="43656"/>
                </a:cubicBezTo>
                <a:close/>
                <a:moveTo>
                  <a:pt x="107156" y="67469"/>
                </a:moveTo>
                <a:cubicBezTo>
                  <a:pt x="102775" y="67469"/>
                  <a:pt x="99219" y="71025"/>
                  <a:pt x="99219" y="75406"/>
                </a:cubicBezTo>
                <a:cubicBezTo>
                  <a:pt x="99219" y="79787"/>
                  <a:pt x="102775" y="83344"/>
                  <a:pt x="107156" y="83344"/>
                </a:cubicBezTo>
                <a:cubicBezTo>
                  <a:pt x="111537" y="83344"/>
                  <a:pt x="115094" y="79787"/>
                  <a:pt x="115094" y="75406"/>
                </a:cubicBezTo>
                <a:cubicBezTo>
                  <a:pt x="115094" y="71025"/>
                  <a:pt x="111537" y="67469"/>
                  <a:pt x="107156" y="67469"/>
                </a:cubicBezTo>
                <a:close/>
                <a:moveTo>
                  <a:pt x="123031" y="43656"/>
                </a:moveTo>
                <a:cubicBezTo>
                  <a:pt x="118650" y="43656"/>
                  <a:pt x="115094" y="47213"/>
                  <a:pt x="115094" y="51594"/>
                </a:cubicBezTo>
                <a:cubicBezTo>
                  <a:pt x="115094" y="55975"/>
                  <a:pt x="118650" y="59531"/>
                  <a:pt x="123031" y="59531"/>
                </a:cubicBezTo>
                <a:cubicBezTo>
                  <a:pt x="127412" y="59531"/>
                  <a:pt x="130969" y="55975"/>
                  <a:pt x="130969" y="51594"/>
                </a:cubicBezTo>
                <a:cubicBezTo>
                  <a:pt x="130969" y="47213"/>
                  <a:pt x="127412" y="43656"/>
                  <a:pt x="123031" y="4365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8" name="Text 66"/>
          <p:cNvSpPr/>
          <p:nvPr/>
        </p:nvSpPr>
        <p:spPr>
          <a:xfrm>
            <a:off x="9396413" y="5765702"/>
            <a:ext cx="436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Gaming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174163" y="5956202"/>
            <a:ext cx="248443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Multiplayer game state sync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108d68bbc310f954fba459be260d9ef657949414.jpg"/>
          <p:cNvPicPr>
            <a:picLocks noChangeAspect="1"/>
          </p:cNvPicPr>
          <p:nvPr/>
        </p:nvPicPr>
        <p:blipFill>
          <a:blip r:embed="rId3">
            <a:alphaModFix amt="20000"/>
          </a:blip>
          <a:srcRect l="10296" r="1029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0675" y="320675"/>
            <a:ext cx="1236663" cy="292100"/>
          </a:xfrm>
          <a:custGeom>
            <a:avLst/>
            <a:gdLst/>
            <a:ahLst/>
            <a:cxnLst/>
            <a:rect l="l" t="t" r="r" b="b"/>
            <a:pathLst>
              <a:path w="1236663" h="292100">
                <a:moveTo>
                  <a:pt x="146050" y="0"/>
                </a:moveTo>
                <a:lnTo>
                  <a:pt x="1090613" y="0"/>
                </a:lnTo>
                <a:cubicBezTo>
                  <a:pt x="1171220" y="0"/>
                  <a:pt x="1236663" y="65443"/>
                  <a:pt x="1236663" y="146050"/>
                </a:cubicBezTo>
                <a:lnTo>
                  <a:pt x="1236663" y="146050"/>
                </a:lnTo>
                <a:cubicBezTo>
                  <a:pt x="1236663" y="226657"/>
                  <a:pt x="1171220" y="292100"/>
                  <a:pt x="1090613" y="292100"/>
                </a:cubicBezTo>
                <a:lnTo>
                  <a:pt x="146050" y="292100"/>
                </a:lnTo>
                <a:cubicBezTo>
                  <a:pt x="65443" y="292100"/>
                  <a:pt x="0" y="226657"/>
                  <a:pt x="0" y="146050"/>
                </a:cubicBezTo>
                <a:lnTo>
                  <a:pt x="0" y="146050"/>
                </a:lnTo>
                <a:cubicBezTo>
                  <a:pt x="0" y="65443"/>
                  <a:pt x="65443" y="0"/>
                  <a:pt x="14605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9780" y="411161"/>
            <a:ext cx="125016" cy="111125"/>
          </a:xfrm>
          <a:custGeom>
            <a:avLst/>
            <a:gdLst/>
            <a:ahLst/>
            <a:cxnLst/>
            <a:rect l="l" t="t" r="r" b="b"/>
            <a:pathLst>
              <a:path w="125016" h="111125">
                <a:moveTo>
                  <a:pt x="67174" y="-4102"/>
                </a:moveTo>
                <a:cubicBezTo>
                  <a:pt x="66284" y="-5838"/>
                  <a:pt x="64483" y="-6945"/>
                  <a:pt x="62530" y="-6945"/>
                </a:cubicBezTo>
                <a:cubicBezTo>
                  <a:pt x="60576" y="-6945"/>
                  <a:pt x="58775" y="-5838"/>
                  <a:pt x="57885" y="-4102"/>
                </a:cubicBezTo>
                <a:lnTo>
                  <a:pt x="41911" y="27195"/>
                </a:lnTo>
                <a:lnTo>
                  <a:pt x="7206" y="32708"/>
                </a:lnTo>
                <a:cubicBezTo>
                  <a:pt x="5274" y="33012"/>
                  <a:pt x="3668" y="34379"/>
                  <a:pt x="3060" y="36246"/>
                </a:cubicBezTo>
                <a:cubicBezTo>
                  <a:pt x="2453" y="38112"/>
                  <a:pt x="2952" y="40153"/>
                  <a:pt x="4319" y="41542"/>
                </a:cubicBezTo>
                <a:lnTo>
                  <a:pt x="29149" y="66393"/>
                </a:lnTo>
                <a:lnTo>
                  <a:pt x="23679" y="101098"/>
                </a:lnTo>
                <a:cubicBezTo>
                  <a:pt x="23375" y="103029"/>
                  <a:pt x="24178" y="104983"/>
                  <a:pt x="25763" y="106133"/>
                </a:cubicBezTo>
                <a:cubicBezTo>
                  <a:pt x="27347" y="107283"/>
                  <a:pt x="29431" y="107457"/>
                  <a:pt x="31189" y="106567"/>
                </a:cubicBezTo>
                <a:lnTo>
                  <a:pt x="62530" y="90636"/>
                </a:lnTo>
                <a:lnTo>
                  <a:pt x="93849" y="106567"/>
                </a:lnTo>
                <a:cubicBezTo>
                  <a:pt x="95585" y="107457"/>
                  <a:pt x="97690" y="107283"/>
                  <a:pt x="99275" y="106133"/>
                </a:cubicBezTo>
                <a:cubicBezTo>
                  <a:pt x="100859" y="104983"/>
                  <a:pt x="101662" y="103051"/>
                  <a:pt x="101358" y="101098"/>
                </a:cubicBezTo>
                <a:lnTo>
                  <a:pt x="95867" y="66393"/>
                </a:lnTo>
                <a:lnTo>
                  <a:pt x="120697" y="41542"/>
                </a:lnTo>
                <a:cubicBezTo>
                  <a:pt x="122086" y="40153"/>
                  <a:pt x="122563" y="38112"/>
                  <a:pt x="121955" y="36246"/>
                </a:cubicBezTo>
                <a:cubicBezTo>
                  <a:pt x="121348" y="34379"/>
                  <a:pt x="119763" y="33012"/>
                  <a:pt x="117810" y="32708"/>
                </a:cubicBezTo>
                <a:lnTo>
                  <a:pt x="83127" y="27195"/>
                </a:lnTo>
                <a:lnTo>
                  <a:pt x="67174" y="-410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3"/>
          <p:cNvSpPr/>
          <p:nvPr/>
        </p:nvSpPr>
        <p:spPr>
          <a:xfrm>
            <a:off x="653256" y="387348"/>
            <a:ext cx="825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17500" y="711205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&amp; Best Practices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17500" y="112395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Shape 6"/>
          <p:cNvSpPr/>
          <p:nvPr/>
        </p:nvSpPr>
        <p:spPr>
          <a:xfrm>
            <a:off x="320675" y="1285880"/>
            <a:ext cx="5689600" cy="3219333"/>
          </a:xfrm>
          <a:custGeom>
            <a:avLst/>
            <a:gdLst/>
            <a:ahLst/>
            <a:cxnLst/>
            <a:rect l="l" t="t" r="r" b="b"/>
            <a:pathLst>
              <a:path w="5689600" h="3379787">
                <a:moveTo>
                  <a:pt x="127012" y="0"/>
                </a:moveTo>
                <a:lnTo>
                  <a:pt x="5562588" y="0"/>
                </a:lnTo>
                <a:cubicBezTo>
                  <a:pt x="5632735" y="0"/>
                  <a:pt x="5689600" y="56865"/>
                  <a:pt x="5689600" y="127012"/>
                </a:cubicBezTo>
                <a:lnTo>
                  <a:pt x="5689600" y="3252775"/>
                </a:lnTo>
                <a:cubicBezTo>
                  <a:pt x="5689600" y="3322922"/>
                  <a:pt x="5632735" y="3379787"/>
                  <a:pt x="5562588" y="3379787"/>
                </a:cubicBezTo>
                <a:lnTo>
                  <a:pt x="127012" y="3379787"/>
                </a:lnTo>
                <a:cubicBezTo>
                  <a:pt x="56865" y="3379787"/>
                  <a:pt x="0" y="3322922"/>
                  <a:pt x="0" y="3252775"/>
                </a:cubicBezTo>
                <a:lnTo>
                  <a:pt x="0" y="127012"/>
                </a:lnTo>
                <a:cubicBezTo>
                  <a:pt x="0" y="56912"/>
                  <a:pt x="56912" y="0"/>
                  <a:pt x="127012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2600" y="144780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Integration Patterns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85775" y="1800228"/>
            <a:ext cx="5364163" cy="831850"/>
          </a:xfrm>
          <a:custGeom>
            <a:avLst/>
            <a:gdLst/>
            <a:ahLst/>
            <a:cxnLst/>
            <a:rect l="l" t="t" r="r" b="b"/>
            <a:pathLst>
              <a:path w="5364163" h="831850">
                <a:moveTo>
                  <a:pt x="95247" y="0"/>
                </a:moveTo>
                <a:lnTo>
                  <a:pt x="5268916" y="0"/>
                </a:lnTo>
                <a:cubicBezTo>
                  <a:pt x="5321519" y="0"/>
                  <a:pt x="5364163" y="42643"/>
                  <a:pt x="5364163" y="95247"/>
                </a:cubicBezTo>
                <a:lnTo>
                  <a:pt x="5364163" y="736603"/>
                </a:lnTo>
                <a:cubicBezTo>
                  <a:pt x="5364163" y="789207"/>
                  <a:pt x="5321519" y="831850"/>
                  <a:pt x="5268916" y="831850"/>
                </a:cubicBezTo>
                <a:lnTo>
                  <a:pt x="95247" y="831850"/>
                </a:lnTo>
                <a:cubicBezTo>
                  <a:pt x="42643" y="831850"/>
                  <a:pt x="0" y="789207"/>
                  <a:pt x="0" y="736603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723" y="1954214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94543" y="-2763"/>
                </a:moveTo>
                <a:cubicBezTo>
                  <a:pt x="97864" y="-363"/>
                  <a:pt x="99092" y="3990"/>
                  <a:pt x="97585" y="7786"/>
                </a:cubicBezTo>
                <a:lnTo>
                  <a:pt x="75707" y="62508"/>
                </a:lnTo>
                <a:lnTo>
                  <a:pt x="116086" y="62508"/>
                </a:lnTo>
                <a:cubicBezTo>
                  <a:pt x="119853" y="62508"/>
                  <a:pt x="123202" y="64852"/>
                  <a:pt x="124485" y="68396"/>
                </a:cubicBezTo>
                <a:cubicBezTo>
                  <a:pt x="125769" y="71940"/>
                  <a:pt x="124681" y="75902"/>
                  <a:pt x="121807" y="78302"/>
                </a:cubicBezTo>
                <a:lnTo>
                  <a:pt x="41439" y="145275"/>
                </a:lnTo>
                <a:cubicBezTo>
                  <a:pt x="38286" y="147898"/>
                  <a:pt x="33793" y="148037"/>
                  <a:pt x="30473" y="145638"/>
                </a:cubicBezTo>
                <a:cubicBezTo>
                  <a:pt x="27152" y="143238"/>
                  <a:pt x="25924" y="138885"/>
                  <a:pt x="27431" y="135089"/>
                </a:cubicBezTo>
                <a:lnTo>
                  <a:pt x="49309" y="80367"/>
                </a:lnTo>
                <a:lnTo>
                  <a:pt x="8930" y="80367"/>
                </a:lnTo>
                <a:cubicBezTo>
                  <a:pt x="5162" y="80367"/>
                  <a:pt x="1814" y="78023"/>
                  <a:pt x="530" y="74479"/>
                </a:cubicBezTo>
                <a:cubicBezTo>
                  <a:pt x="-753" y="70935"/>
                  <a:pt x="335" y="66973"/>
                  <a:pt x="3209" y="64573"/>
                </a:cubicBezTo>
                <a:lnTo>
                  <a:pt x="83576" y="-2400"/>
                </a:lnTo>
                <a:cubicBezTo>
                  <a:pt x="86730" y="-5023"/>
                  <a:pt x="91222" y="-5162"/>
                  <a:pt x="94543" y="-276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858044" y="1930402"/>
            <a:ext cx="1349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 + Lambda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15950" y="2184402"/>
            <a:ext cx="5159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architecture for REST APIs. API Gateway handles HTTP requests, Lambda executes business logic, DynamoDB stores data.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5775" y="2696351"/>
            <a:ext cx="5364163" cy="831850"/>
          </a:xfrm>
          <a:custGeom>
            <a:avLst/>
            <a:gdLst/>
            <a:ahLst/>
            <a:cxnLst/>
            <a:rect l="l" t="t" r="r" b="b"/>
            <a:pathLst>
              <a:path w="5364163" h="831850">
                <a:moveTo>
                  <a:pt x="95247" y="0"/>
                </a:moveTo>
                <a:lnTo>
                  <a:pt x="5268916" y="0"/>
                </a:lnTo>
                <a:cubicBezTo>
                  <a:pt x="5321519" y="0"/>
                  <a:pt x="5364163" y="42643"/>
                  <a:pt x="5364163" y="95247"/>
                </a:cubicBezTo>
                <a:lnTo>
                  <a:pt x="5364163" y="736603"/>
                </a:lnTo>
                <a:cubicBezTo>
                  <a:pt x="5364163" y="789207"/>
                  <a:pt x="5321519" y="831850"/>
                  <a:pt x="5268916" y="831850"/>
                </a:cubicBezTo>
                <a:lnTo>
                  <a:pt x="95247" y="831850"/>
                </a:lnTo>
                <a:cubicBezTo>
                  <a:pt x="42643" y="831850"/>
                  <a:pt x="0" y="789207"/>
                  <a:pt x="0" y="736603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4723" y="2850337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7859" y="8930"/>
                </a:moveTo>
                <a:cubicBezTo>
                  <a:pt x="8009" y="8930"/>
                  <a:pt x="0" y="16939"/>
                  <a:pt x="0" y="26789"/>
                </a:cubicBezTo>
                <a:lnTo>
                  <a:pt x="0" y="44648"/>
                </a:lnTo>
                <a:cubicBezTo>
                  <a:pt x="0" y="54499"/>
                  <a:pt x="8009" y="62508"/>
                  <a:pt x="17859" y="62508"/>
                </a:cubicBezTo>
                <a:lnTo>
                  <a:pt x="107156" y="62508"/>
                </a:lnTo>
                <a:cubicBezTo>
                  <a:pt x="117007" y="62508"/>
                  <a:pt x="125016" y="54499"/>
                  <a:pt x="125016" y="44648"/>
                </a:cubicBezTo>
                <a:lnTo>
                  <a:pt x="125016" y="26789"/>
                </a:lnTo>
                <a:cubicBezTo>
                  <a:pt x="125016" y="16939"/>
                  <a:pt x="117007" y="8930"/>
                  <a:pt x="107156" y="8930"/>
                </a:cubicBezTo>
                <a:lnTo>
                  <a:pt x="17859" y="8930"/>
                </a:lnTo>
                <a:close/>
                <a:moveTo>
                  <a:pt x="78135" y="29021"/>
                </a:moveTo>
                <a:cubicBezTo>
                  <a:pt x="81831" y="29021"/>
                  <a:pt x="84832" y="32022"/>
                  <a:pt x="84832" y="35719"/>
                </a:cubicBezTo>
                <a:cubicBezTo>
                  <a:pt x="84832" y="39415"/>
                  <a:pt x="81831" y="42416"/>
                  <a:pt x="78135" y="42416"/>
                </a:cubicBezTo>
                <a:cubicBezTo>
                  <a:pt x="74438" y="42416"/>
                  <a:pt x="71438" y="39415"/>
                  <a:pt x="71438" y="35719"/>
                </a:cubicBezTo>
                <a:cubicBezTo>
                  <a:pt x="71438" y="32022"/>
                  <a:pt x="74438" y="29021"/>
                  <a:pt x="78135" y="29021"/>
                </a:cubicBezTo>
                <a:close/>
                <a:moveTo>
                  <a:pt x="93762" y="35719"/>
                </a:moveTo>
                <a:cubicBezTo>
                  <a:pt x="93762" y="32022"/>
                  <a:pt x="96763" y="29021"/>
                  <a:pt x="100459" y="29021"/>
                </a:cubicBezTo>
                <a:cubicBezTo>
                  <a:pt x="104155" y="29021"/>
                  <a:pt x="107156" y="32022"/>
                  <a:pt x="107156" y="35719"/>
                </a:cubicBezTo>
                <a:cubicBezTo>
                  <a:pt x="107156" y="39415"/>
                  <a:pt x="104155" y="42416"/>
                  <a:pt x="100459" y="42416"/>
                </a:cubicBezTo>
                <a:cubicBezTo>
                  <a:pt x="96763" y="42416"/>
                  <a:pt x="93762" y="39415"/>
                  <a:pt x="93762" y="35719"/>
                </a:cubicBezTo>
                <a:close/>
                <a:moveTo>
                  <a:pt x="17859" y="80367"/>
                </a:moveTo>
                <a:cubicBezTo>
                  <a:pt x="8009" y="80367"/>
                  <a:pt x="0" y="88376"/>
                  <a:pt x="0" y="98227"/>
                </a:cubicBezTo>
                <a:lnTo>
                  <a:pt x="0" y="116086"/>
                </a:lnTo>
                <a:cubicBezTo>
                  <a:pt x="0" y="125936"/>
                  <a:pt x="8009" y="133945"/>
                  <a:pt x="17859" y="133945"/>
                </a:cubicBezTo>
                <a:lnTo>
                  <a:pt x="107156" y="133945"/>
                </a:lnTo>
                <a:cubicBezTo>
                  <a:pt x="117007" y="133945"/>
                  <a:pt x="125016" y="125936"/>
                  <a:pt x="125016" y="116086"/>
                </a:cubicBezTo>
                <a:lnTo>
                  <a:pt x="125016" y="98227"/>
                </a:lnTo>
                <a:cubicBezTo>
                  <a:pt x="125016" y="88376"/>
                  <a:pt x="117007" y="80367"/>
                  <a:pt x="107156" y="80367"/>
                </a:cubicBezTo>
                <a:lnTo>
                  <a:pt x="17859" y="80367"/>
                </a:lnTo>
                <a:close/>
                <a:moveTo>
                  <a:pt x="78135" y="100459"/>
                </a:moveTo>
                <a:cubicBezTo>
                  <a:pt x="81831" y="100459"/>
                  <a:pt x="84832" y="103460"/>
                  <a:pt x="84832" y="107156"/>
                </a:cubicBezTo>
                <a:cubicBezTo>
                  <a:pt x="84832" y="110853"/>
                  <a:pt x="81831" y="113854"/>
                  <a:pt x="78135" y="113854"/>
                </a:cubicBezTo>
                <a:cubicBezTo>
                  <a:pt x="74438" y="113854"/>
                  <a:pt x="71438" y="110853"/>
                  <a:pt x="71438" y="107156"/>
                </a:cubicBezTo>
                <a:cubicBezTo>
                  <a:pt x="71438" y="103460"/>
                  <a:pt x="74438" y="100459"/>
                  <a:pt x="78135" y="100459"/>
                </a:cubicBezTo>
                <a:close/>
                <a:moveTo>
                  <a:pt x="93762" y="107156"/>
                </a:moveTo>
                <a:cubicBezTo>
                  <a:pt x="93762" y="103460"/>
                  <a:pt x="96763" y="100459"/>
                  <a:pt x="100459" y="100459"/>
                </a:cubicBezTo>
                <a:cubicBezTo>
                  <a:pt x="104155" y="100459"/>
                  <a:pt x="107156" y="103460"/>
                  <a:pt x="107156" y="107156"/>
                </a:cubicBezTo>
                <a:cubicBezTo>
                  <a:pt x="107156" y="110853"/>
                  <a:pt x="104155" y="113854"/>
                  <a:pt x="100459" y="113854"/>
                </a:cubicBezTo>
                <a:cubicBezTo>
                  <a:pt x="96763" y="113854"/>
                  <a:pt x="93762" y="110853"/>
                  <a:pt x="93762" y="10715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858044" y="2826524"/>
            <a:ext cx="1127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ALB + Auto Scaling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5950" y="3080524"/>
            <a:ext cx="5159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web applications with automatic scaling. ALB distributes traffic, ASG adjusts capacity based on demand.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85775" y="3592482"/>
            <a:ext cx="5364163" cy="831850"/>
          </a:xfrm>
          <a:custGeom>
            <a:avLst/>
            <a:gdLst/>
            <a:ahLst/>
            <a:cxnLst/>
            <a:rect l="l" t="t" r="r" b="b"/>
            <a:pathLst>
              <a:path w="5364163" h="831850">
                <a:moveTo>
                  <a:pt x="95247" y="0"/>
                </a:moveTo>
                <a:lnTo>
                  <a:pt x="5268916" y="0"/>
                </a:lnTo>
                <a:cubicBezTo>
                  <a:pt x="5321519" y="0"/>
                  <a:pt x="5364163" y="42643"/>
                  <a:pt x="5364163" y="95247"/>
                </a:cubicBezTo>
                <a:lnTo>
                  <a:pt x="5364163" y="736603"/>
                </a:lnTo>
                <a:cubicBezTo>
                  <a:pt x="5364163" y="789207"/>
                  <a:pt x="5321519" y="831850"/>
                  <a:pt x="5268916" y="831850"/>
                </a:cubicBezTo>
                <a:lnTo>
                  <a:pt x="95247" y="831850"/>
                </a:lnTo>
                <a:cubicBezTo>
                  <a:pt x="42643" y="831850"/>
                  <a:pt x="0" y="789207"/>
                  <a:pt x="0" y="736603"/>
                </a:cubicBezTo>
                <a:lnTo>
                  <a:pt x="0" y="95247"/>
                </a:lnTo>
                <a:cubicBezTo>
                  <a:pt x="0" y="42643"/>
                  <a:pt x="42643" y="0"/>
                  <a:pt x="95247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3653" y="3746468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35719" y="26789"/>
                </a:moveTo>
                <a:lnTo>
                  <a:pt x="35719" y="44648"/>
                </a:lnTo>
                <a:lnTo>
                  <a:pt x="71438" y="44648"/>
                </a:lnTo>
                <a:lnTo>
                  <a:pt x="71438" y="26789"/>
                </a:lnTo>
                <a:cubicBezTo>
                  <a:pt x="71438" y="16939"/>
                  <a:pt x="63429" y="8930"/>
                  <a:pt x="53578" y="8930"/>
                </a:cubicBezTo>
                <a:cubicBezTo>
                  <a:pt x="43728" y="8930"/>
                  <a:pt x="35719" y="16939"/>
                  <a:pt x="35719" y="26789"/>
                </a:cubicBezTo>
                <a:close/>
                <a:moveTo>
                  <a:pt x="17859" y="44648"/>
                </a:moveTo>
                <a:lnTo>
                  <a:pt x="17859" y="26789"/>
                </a:lnTo>
                <a:cubicBezTo>
                  <a:pt x="17859" y="7060"/>
                  <a:pt x="33849" y="-8930"/>
                  <a:pt x="53578" y="-8930"/>
                </a:cubicBezTo>
                <a:cubicBezTo>
                  <a:pt x="73307" y="-8930"/>
                  <a:pt x="89297" y="7060"/>
                  <a:pt x="89297" y="26789"/>
                </a:cubicBezTo>
                <a:lnTo>
                  <a:pt x="89297" y="44648"/>
                </a:lnTo>
                <a:cubicBezTo>
                  <a:pt x="99147" y="44648"/>
                  <a:pt x="107156" y="52657"/>
                  <a:pt x="107156" y="62508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62508"/>
                </a:lnTo>
                <a:cubicBezTo>
                  <a:pt x="0" y="52657"/>
                  <a:pt x="8009" y="44648"/>
                  <a:pt x="17859" y="4464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Text 18"/>
          <p:cNvSpPr/>
          <p:nvPr/>
        </p:nvSpPr>
        <p:spPr>
          <a:xfrm>
            <a:off x="858044" y="3722655"/>
            <a:ext cx="105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NLB + PrivateLink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5950" y="3976655"/>
            <a:ext cx="51593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service exposure with static IPs. NLB provides entry point, PrivateLink enables private connectivity.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20675" y="4629468"/>
            <a:ext cx="5689600" cy="2104288"/>
          </a:xfrm>
          <a:custGeom>
            <a:avLst/>
            <a:gdLst/>
            <a:ahLst/>
            <a:cxnLst/>
            <a:rect l="l" t="t" r="r" b="b"/>
            <a:pathLst>
              <a:path w="5689600" h="2339975">
                <a:moveTo>
                  <a:pt x="126990" y="0"/>
                </a:moveTo>
                <a:lnTo>
                  <a:pt x="5562610" y="0"/>
                </a:lnTo>
                <a:cubicBezTo>
                  <a:pt x="5632744" y="0"/>
                  <a:pt x="5689600" y="56856"/>
                  <a:pt x="5689600" y="126990"/>
                </a:cubicBezTo>
                <a:lnTo>
                  <a:pt x="5689600" y="2212985"/>
                </a:lnTo>
                <a:cubicBezTo>
                  <a:pt x="5689600" y="2283119"/>
                  <a:pt x="5632744" y="2339975"/>
                  <a:pt x="5562610" y="2339975"/>
                </a:cubicBezTo>
                <a:lnTo>
                  <a:pt x="126990" y="2339975"/>
                </a:lnTo>
                <a:cubicBezTo>
                  <a:pt x="56856" y="2339975"/>
                  <a:pt x="0" y="2283119"/>
                  <a:pt x="0" y="2212985"/>
                </a:cubicBezTo>
                <a:lnTo>
                  <a:pt x="0" y="126990"/>
                </a:lnTo>
                <a:cubicBezTo>
                  <a:pt x="0" y="56903"/>
                  <a:pt x="56903" y="0"/>
                  <a:pt x="126990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2600" y="4791390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&amp; Observability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02444" y="517239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7859" y="17859"/>
                </a:moveTo>
                <a:cubicBezTo>
                  <a:pt x="17859" y="12920"/>
                  <a:pt x="13869" y="8930"/>
                  <a:pt x="8930" y="8930"/>
                </a:cubicBezTo>
                <a:cubicBezTo>
                  <a:pt x="3990" y="8930"/>
                  <a:pt x="0" y="12920"/>
                  <a:pt x="0" y="17859"/>
                </a:cubicBezTo>
                <a:lnTo>
                  <a:pt x="0" y="111621"/>
                </a:lnTo>
                <a:cubicBezTo>
                  <a:pt x="0" y="123955"/>
                  <a:pt x="9990" y="133945"/>
                  <a:pt x="22324" y="133945"/>
                </a:cubicBezTo>
                <a:lnTo>
                  <a:pt x="133945" y="133945"/>
                </a:lnTo>
                <a:cubicBezTo>
                  <a:pt x="138885" y="133945"/>
                  <a:pt x="142875" y="129955"/>
                  <a:pt x="142875" y="125016"/>
                </a:cubicBezTo>
                <a:cubicBezTo>
                  <a:pt x="142875" y="120076"/>
                  <a:pt x="138885" y="116086"/>
                  <a:pt x="133945" y="116086"/>
                </a:cubicBezTo>
                <a:lnTo>
                  <a:pt x="22324" y="116086"/>
                </a:lnTo>
                <a:cubicBezTo>
                  <a:pt x="19869" y="116086"/>
                  <a:pt x="17859" y="114077"/>
                  <a:pt x="17859" y="111621"/>
                </a:cubicBezTo>
                <a:lnTo>
                  <a:pt x="17859" y="17859"/>
                </a:lnTo>
                <a:close/>
                <a:moveTo>
                  <a:pt x="131322" y="42025"/>
                </a:moveTo>
                <a:cubicBezTo>
                  <a:pt x="134810" y="38537"/>
                  <a:pt x="134810" y="32872"/>
                  <a:pt x="131322" y="29384"/>
                </a:cubicBezTo>
                <a:cubicBezTo>
                  <a:pt x="127834" y="25896"/>
                  <a:pt x="122169" y="25896"/>
                  <a:pt x="118681" y="29384"/>
                </a:cubicBezTo>
                <a:lnTo>
                  <a:pt x="89297" y="58796"/>
                </a:lnTo>
                <a:lnTo>
                  <a:pt x="73279" y="42807"/>
                </a:lnTo>
                <a:cubicBezTo>
                  <a:pt x="69791" y="39319"/>
                  <a:pt x="64126" y="39319"/>
                  <a:pt x="60638" y="42807"/>
                </a:cubicBezTo>
                <a:lnTo>
                  <a:pt x="33849" y="69596"/>
                </a:lnTo>
                <a:cubicBezTo>
                  <a:pt x="30361" y="73084"/>
                  <a:pt x="30361" y="78749"/>
                  <a:pt x="33849" y="82237"/>
                </a:cubicBezTo>
                <a:cubicBezTo>
                  <a:pt x="37337" y="85725"/>
                  <a:pt x="43002" y="85725"/>
                  <a:pt x="46490" y="82237"/>
                </a:cubicBezTo>
                <a:lnTo>
                  <a:pt x="66973" y="61754"/>
                </a:lnTo>
                <a:lnTo>
                  <a:pt x="82990" y="77772"/>
                </a:lnTo>
                <a:cubicBezTo>
                  <a:pt x="86478" y="81260"/>
                  <a:pt x="92143" y="81260"/>
                  <a:pt x="95631" y="77772"/>
                </a:cubicBezTo>
                <a:lnTo>
                  <a:pt x="131350" y="42053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3"/>
          <p:cNvSpPr/>
          <p:nvPr/>
        </p:nvSpPr>
        <p:spPr>
          <a:xfrm>
            <a:off x="756444" y="5140640"/>
            <a:ext cx="336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Metrics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56444" y="5331140"/>
            <a:ext cx="3357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latency, error rates, request counts, and healthy host counts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02444" y="558514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5540" y="0"/>
                  <a:pt x="79307" y="2260"/>
                  <a:pt x="81260" y="5860"/>
                </a:cubicBezTo>
                <a:lnTo>
                  <a:pt x="141536" y="117481"/>
                </a:lnTo>
                <a:cubicBezTo>
                  <a:pt x="143405" y="120941"/>
                  <a:pt x="143321" y="125127"/>
                  <a:pt x="141312" y="128504"/>
                </a:cubicBezTo>
                <a:cubicBezTo>
                  <a:pt x="139303" y="131880"/>
                  <a:pt x="135648" y="133945"/>
                  <a:pt x="131713" y="133945"/>
                </a:cubicBezTo>
                <a:lnTo>
                  <a:pt x="11162" y="133945"/>
                </a:lnTo>
                <a:cubicBezTo>
                  <a:pt x="7227" y="133945"/>
                  <a:pt x="3600" y="131880"/>
                  <a:pt x="1563" y="128504"/>
                </a:cubicBezTo>
                <a:cubicBezTo>
                  <a:pt x="-474" y="125127"/>
                  <a:pt x="-530" y="120941"/>
                  <a:pt x="1339" y="117481"/>
                </a:cubicBezTo>
                <a:lnTo>
                  <a:pt x="61615" y="5860"/>
                </a:lnTo>
                <a:cubicBezTo>
                  <a:pt x="63568" y="2260"/>
                  <a:pt x="67335" y="0"/>
                  <a:pt x="71438" y="0"/>
                </a:cubicBezTo>
                <a:close/>
                <a:moveTo>
                  <a:pt x="71438" y="46881"/>
                </a:moveTo>
                <a:cubicBezTo>
                  <a:pt x="67726" y="46881"/>
                  <a:pt x="64740" y="49867"/>
                  <a:pt x="64740" y="53578"/>
                </a:cubicBezTo>
                <a:lnTo>
                  <a:pt x="64740" y="84832"/>
                </a:lnTo>
                <a:cubicBezTo>
                  <a:pt x="64740" y="88543"/>
                  <a:pt x="67726" y="91529"/>
                  <a:pt x="71438" y="91529"/>
                </a:cubicBezTo>
                <a:cubicBezTo>
                  <a:pt x="75149" y="91529"/>
                  <a:pt x="78135" y="88543"/>
                  <a:pt x="78135" y="84832"/>
                </a:cubicBezTo>
                <a:lnTo>
                  <a:pt x="78135" y="53578"/>
                </a:lnTo>
                <a:cubicBezTo>
                  <a:pt x="78135" y="49867"/>
                  <a:pt x="75149" y="46881"/>
                  <a:pt x="71438" y="46881"/>
                </a:cubicBezTo>
                <a:close/>
                <a:moveTo>
                  <a:pt x="78888" y="107156"/>
                </a:moveTo>
                <a:cubicBezTo>
                  <a:pt x="79058" y="104391"/>
                  <a:pt x="77678" y="101759"/>
                  <a:pt x="75308" y="100325"/>
                </a:cubicBezTo>
                <a:cubicBezTo>
                  <a:pt x="72937" y="98891"/>
                  <a:pt x="69966" y="98891"/>
                  <a:pt x="67595" y="100325"/>
                </a:cubicBezTo>
                <a:cubicBezTo>
                  <a:pt x="65224" y="101759"/>
                  <a:pt x="63845" y="104391"/>
                  <a:pt x="64015" y="107156"/>
                </a:cubicBezTo>
                <a:cubicBezTo>
                  <a:pt x="63845" y="109922"/>
                  <a:pt x="65224" y="112553"/>
                  <a:pt x="67595" y="113987"/>
                </a:cubicBezTo>
                <a:cubicBezTo>
                  <a:pt x="69966" y="115421"/>
                  <a:pt x="72937" y="115421"/>
                  <a:pt x="75308" y="113987"/>
                </a:cubicBezTo>
                <a:cubicBezTo>
                  <a:pt x="77678" y="112553"/>
                  <a:pt x="79058" y="109922"/>
                  <a:pt x="78888" y="10715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Text 26"/>
          <p:cNvSpPr/>
          <p:nvPr/>
        </p:nvSpPr>
        <p:spPr>
          <a:xfrm>
            <a:off x="756444" y="5553390"/>
            <a:ext cx="3206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 Alarms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56444" y="5743890"/>
            <a:ext cx="319881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 thresholds for automatic notifications on performance issues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02444" y="599789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116086" y="58043"/>
                </a:moveTo>
                <a:cubicBezTo>
                  <a:pt x="116086" y="70851"/>
                  <a:pt x="111928" y="82683"/>
                  <a:pt x="104924" y="92283"/>
                </a:cubicBezTo>
                <a:lnTo>
                  <a:pt x="140252" y="127639"/>
                </a:lnTo>
                <a:cubicBezTo>
                  <a:pt x="143740" y="131127"/>
                  <a:pt x="143740" y="136792"/>
                  <a:pt x="140252" y="140280"/>
                </a:cubicBezTo>
                <a:cubicBezTo>
                  <a:pt x="136764" y="143768"/>
                  <a:pt x="131099" y="143768"/>
                  <a:pt x="127611" y="140280"/>
                </a:cubicBezTo>
                <a:lnTo>
                  <a:pt x="92283" y="104924"/>
                </a:lnTo>
                <a:cubicBezTo>
                  <a:pt x="82683" y="111928"/>
                  <a:pt x="70851" y="116086"/>
                  <a:pt x="58043" y="116086"/>
                </a:cubicBezTo>
                <a:cubicBezTo>
                  <a:pt x="25980" y="116086"/>
                  <a:pt x="0" y="90106"/>
                  <a:pt x="0" y="58043"/>
                </a:cubicBezTo>
                <a:cubicBezTo>
                  <a:pt x="0" y="25980"/>
                  <a:pt x="25980" y="0"/>
                  <a:pt x="58043" y="0"/>
                </a:cubicBezTo>
                <a:cubicBezTo>
                  <a:pt x="90106" y="0"/>
                  <a:pt x="116086" y="25980"/>
                  <a:pt x="116086" y="58043"/>
                </a:cubicBezTo>
                <a:close/>
                <a:moveTo>
                  <a:pt x="58043" y="98227"/>
                </a:moveTo>
                <a:cubicBezTo>
                  <a:pt x="80221" y="98227"/>
                  <a:pt x="98227" y="80221"/>
                  <a:pt x="98227" y="58043"/>
                </a:cubicBezTo>
                <a:cubicBezTo>
                  <a:pt x="98227" y="35865"/>
                  <a:pt x="80221" y="17859"/>
                  <a:pt x="58043" y="17859"/>
                </a:cubicBezTo>
                <a:cubicBezTo>
                  <a:pt x="35865" y="17859"/>
                  <a:pt x="17859" y="35865"/>
                  <a:pt x="17859" y="58043"/>
                </a:cubicBezTo>
                <a:cubicBezTo>
                  <a:pt x="17859" y="80221"/>
                  <a:pt x="35865" y="98227"/>
                  <a:pt x="58043" y="982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29"/>
          <p:cNvSpPr/>
          <p:nvPr/>
        </p:nvSpPr>
        <p:spPr>
          <a:xfrm>
            <a:off x="756444" y="5966140"/>
            <a:ext cx="2325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X-Ray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56444" y="6156640"/>
            <a:ext cx="2317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tracing for distributed applications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502444" y="6410640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2721" y="0"/>
                  <a:pt x="74005" y="279"/>
                  <a:pt x="75177" y="809"/>
                </a:cubicBezTo>
                <a:lnTo>
                  <a:pt x="127750" y="23106"/>
                </a:lnTo>
                <a:cubicBezTo>
                  <a:pt x="133890" y="25701"/>
                  <a:pt x="138466" y="31756"/>
                  <a:pt x="138438" y="39067"/>
                </a:cubicBezTo>
                <a:cubicBezTo>
                  <a:pt x="138299" y="66749"/>
                  <a:pt x="126913" y="117397"/>
                  <a:pt x="78832" y="140419"/>
                </a:cubicBezTo>
                <a:cubicBezTo>
                  <a:pt x="74172" y="142652"/>
                  <a:pt x="68759" y="142652"/>
                  <a:pt x="64098" y="140419"/>
                </a:cubicBezTo>
                <a:cubicBezTo>
                  <a:pt x="15990" y="117397"/>
                  <a:pt x="4632" y="66749"/>
                  <a:pt x="4493" y="39067"/>
                </a:cubicBezTo>
                <a:cubicBezTo>
                  <a:pt x="4465" y="31756"/>
                  <a:pt x="9041" y="25701"/>
                  <a:pt x="15180" y="23106"/>
                </a:cubicBezTo>
                <a:lnTo>
                  <a:pt x="67726" y="809"/>
                </a:lnTo>
                <a:cubicBezTo>
                  <a:pt x="68898" y="279"/>
                  <a:pt x="70154" y="0"/>
                  <a:pt x="71438" y="0"/>
                </a:cubicBezTo>
                <a:close/>
                <a:moveTo>
                  <a:pt x="71438" y="18641"/>
                </a:moveTo>
                <a:lnTo>
                  <a:pt x="71438" y="124151"/>
                </a:lnTo>
                <a:cubicBezTo>
                  <a:pt x="109947" y="105510"/>
                  <a:pt x="120300" y="64210"/>
                  <a:pt x="120551" y="39486"/>
                </a:cubicBezTo>
                <a:lnTo>
                  <a:pt x="71438" y="18669"/>
                </a:lnTo>
                <a:lnTo>
                  <a:pt x="71438" y="1866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2"/>
          <p:cNvSpPr/>
          <p:nvPr/>
        </p:nvSpPr>
        <p:spPr>
          <a:xfrm>
            <a:off x="756444" y="6378890"/>
            <a:ext cx="2913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WAF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56444" y="6569390"/>
            <a:ext cx="2905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 APIs from common web exploits and DDoS attacks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6178550" y="1285881"/>
            <a:ext cx="5689600" cy="3471687"/>
          </a:xfrm>
          <a:custGeom>
            <a:avLst/>
            <a:gdLst/>
            <a:ahLst/>
            <a:cxnLst/>
            <a:rect l="l" t="t" r="r" b="b"/>
            <a:pathLst>
              <a:path w="5689600" h="3673475">
                <a:moveTo>
                  <a:pt x="126992" y="0"/>
                </a:moveTo>
                <a:lnTo>
                  <a:pt x="5562608" y="0"/>
                </a:lnTo>
                <a:cubicBezTo>
                  <a:pt x="5632744" y="0"/>
                  <a:pt x="5689600" y="56856"/>
                  <a:pt x="5689600" y="126992"/>
                </a:cubicBezTo>
                <a:lnTo>
                  <a:pt x="5689600" y="3546483"/>
                </a:lnTo>
                <a:cubicBezTo>
                  <a:pt x="5689600" y="3616619"/>
                  <a:pt x="5632744" y="3673475"/>
                  <a:pt x="5562608" y="3673475"/>
                </a:cubicBezTo>
                <a:lnTo>
                  <a:pt x="126992" y="3673475"/>
                </a:lnTo>
                <a:cubicBezTo>
                  <a:pt x="56856" y="3673475"/>
                  <a:pt x="0" y="3616619"/>
                  <a:pt x="0" y="3546483"/>
                </a:cubicBezTo>
                <a:lnTo>
                  <a:pt x="0" y="126992"/>
                </a:lnTo>
                <a:cubicBezTo>
                  <a:pt x="0" y="56903"/>
                  <a:pt x="56903" y="0"/>
                  <a:pt x="126992" y="0"/>
                </a:cubicBezTo>
                <a:close/>
              </a:path>
            </a:pathLst>
          </a:custGeom>
          <a:solidFill>
            <a:srgbClr val="262626">
              <a:alpha val="90196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40475" y="1447803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Optimization Strategies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343650" y="1800228"/>
            <a:ext cx="5364163" cy="673100"/>
          </a:xfrm>
          <a:custGeom>
            <a:avLst/>
            <a:gdLst/>
            <a:ahLst/>
            <a:cxnLst/>
            <a:rect l="l" t="t" r="r" b="b"/>
            <a:pathLst>
              <a:path w="5364163" h="673100">
                <a:moveTo>
                  <a:pt x="95250" y="0"/>
                </a:moveTo>
                <a:lnTo>
                  <a:pt x="5268912" y="0"/>
                </a:lnTo>
                <a:cubicBezTo>
                  <a:pt x="5321517" y="0"/>
                  <a:pt x="5364163" y="42645"/>
                  <a:pt x="5364163" y="95250"/>
                </a:cubicBezTo>
                <a:lnTo>
                  <a:pt x="5364163" y="577850"/>
                </a:lnTo>
                <a:cubicBezTo>
                  <a:pt x="5364163" y="630455"/>
                  <a:pt x="5321517" y="673100"/>
                  <a:pt x="5268912" y="673100"/>
                </a:cubicBezTo>
                <a:lnTo>
                  <a:pt x="95250" y="673100"/>
                </a:lnTo>
                <a:cubicBezTo>
                  <a:pt x="42645" y="673100"/>
                  <a:pt x="0" y="630455"/>
                  <a:pt x="0" y="5778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20458" y="1954214"/>
            <a:ext cx="89297" cy="142875"/>
          </a:xfrm>
          <a:custGeom>
            <a:avLst/>
            <a:gdLst/>
            <a:ahLst/>
            <a:cxnLst/>
            <a:rect l="l" t="t" r="r" b="b"/>
            <a:pathLst>
              <a:path w="89297" h="142875">
                <a:moveTo>
                  <a:pt x="37951" y="6697"/>
                </a:moveTo>
                <a:cubicBezTo>
                  <a:pt x="37951" y="2986"/>
                  <a:pt x="40937" y="0"/>
                  <a:pt x="44648" y="0"/>
                </a:cubicBezTo>
                <a:cubicBezTo>
                  <a:pt x="48360" y="0"/>
                  <a:pt x="51346" y="2986"/>
                  <a:pt x="51346" y="6697"/>
                </a:cubicBezTo>
                <a:lnTo>
                  <a:pt x="51346" y="17859"/>
                </a:lnTo>
                <a:lnTo>
                  <a:pt x="66973" y="17859"/>
                </a:lnTo>
                <a:cubicBezTo>
                  <a:pt x="71912" y="17859"/>
                  <a:pt x="75902" y="21850"/>
                  <a:pt x="75902" y="26789"/>
                </a:cubicBezTo>
                <a:cubicBezTo>
                  <a:pt x="75902" y="31728"/>
                  <a:pt x="71912" y="35719"/>
                  <a:pt x="66973" y="35719"/>
                </a:cubicBezTo>
                <a:lnTo>
                  <a:pt x="34909" y="35719"/>
                </a:lnTo>
                <a:cubicBezTo>
                  <a:pt x="27961" y="35719"/>
                  <a:pt x="22324" y="41356"/>
                  <a:pt x="22324" y="48304"/>
                </a:cubicBezTo>
                <a:cubicBezTo>
                  <a:pt x="22324" y="54583"/>
                  <a:pt x="26929" y="59885"/>
                  <a:pt x="33124" y="60778"/>
                </a:cubicBezTo>
                <a:lnTo>
                  <a:pt x="58685" y="64433"/>
                </a:lnTo>
                <a:cubicBezTo>
                  <a:pt x="73698" y="66582"/>
                  <a:pt x="84832" y="79418"/>
                  <a:pt x="84832" y="94571"/>
                </a:cubicBezTo>
                <a:cubicBezTo>
                  <a:pt x="84832" y="111398"/>
                  <a:pt x="71186" y="125016"/>
                  <a:pt x="54387" y="125016"/>
                </a:cubicBezTo>
                <a:lnTo>
                  <a:pt x="51346" y="125016"/>
                </a:lnTo>
                <a:lnTo>
                  <a:pt x="51346" y="136178"/>
                </a:lnTo>
                <a:cubicBezTo>
                  <a:pt x="51346" y="139889"/>
                  <a:pt x="48360" y="142875"/>
                  <a:pt x="44648" y="142875"/>
                </a:cubicBezTo>
                <a:cubicBezTo>
                  <a:pt x="40937" y="142875"/>
                  <a:pt x="37951" y="139889"/>
                  <a:pt x="37951" y="136178"/>
                </a:cubicBezTo>
                <a:lnTo>
                  <a:pt x="37951" y="125016"/>
                </a:lnTo>
                <a:lnTo>
                  <a:pt x="17859" y="125016"/>
                </a:lnTo>
                <a:cubicBezTo>
                  <a:pt x="12920" y="125016"/>
                  <a:pt x="8930" y="121025"/>
                  <a:pt x="8930" y="116086"/>
                </a:cubicBezTo>
                <a:cubicBezTo>
                  <a:pt x="8930" y="111147"/>
                  <a:pt x="12920" y="107156"/>
                  <a:pt x="17859" y="107156"/>
                </a:cubicBezTo>
                <a:lnTo>
                  <a:pt x="54387" y="107156"/>
                </a:lnTo>
                <a:cubicBezTo>
                  <a:pt x="61336" y="107156"/>
                  <a:pt x="66973" y="101519"/>
                  <a:pt x="66973" y="94571"/>
                </a:cubicBezTo>
                <a:cubicBezTo>
                  <a:pt x="66973" y="88292"/>
                  <a:pt x="62368" y="82990"/>
                  <a:pt x="56173" y="82097"/>
                </a:cubicBezTo>
                <a:lnTo>
                  <a:pt x="30612" y="78442"/>
                </a:lnTo>
                <a:cubicBezTo>
                  <a:pt x="15599" y="76321"/>
                  <a:pt x="4465" y="63457"/>
                  <a:pt x="4465" y="48304"/>
                </a:cubicBezTo>
                <a:cubicBezTo>
                  <a:pt x="4465" y="31505"/>
                  <a:pt x="18111" y="17859"/>
                  <a:pt x="34909" y="17859"/>
                </a:cubicBezTo>
                <a:lnTo>
                  <a:pt x="37951" y="17859"/>
                </a:lnTo>
                <a:lnTo>
                  <a:pt x="37951" y="669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Text 38"/>
          <p:cNvSpPr/>
          <p:nvPr/>
        </p:nvSpPr>
        <p:spPr>
          <a:xfrm>
            <a:off x="6715919" y="1930402"/>
            <a:ext cx="120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Right-Size Instances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6473825" y="2184402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appropriate instance types and leverage Spot Instances for non-critical workloads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6343650" y="2537601"/>
            <a:ext cx="5364163" cy="673100"/>
          </a:xfrm>
          <a:custGeom>
            <a:avLst/>
            <a:gdLst/>
            <a:ahLst/>
            <a:cxnLst/>
            <a:rect l="l" t="t" r="r" b="b"/>
            <a:pathLst>
              <a:path w="5364163" h="673100">
                <a:moveTo>
                  <a:pt x="95250" y="0"/>
                </a:moveTo>
                <a:lnTo>
                  <a:pt x="5268912" y="0"/>
                </a:lnTo>
                <a:cubicBezTo>
                  <a:pt x="5321517" y="0"/>
                  <a:pt x="5364163" y="42645"/>
                  <a:pt x="5364163" y="95250"/>
                </a:cubicBezTo>
                <a:lnTo>
                  <a:pt x="5364163" y="577850"/>
                </a:lnTo>
                <a:cubicBezTo>
                  <a:pt x="5364163" y="630455"/>
                  <a:pt x="5321517" y="673100"/>
                  <a:pt x="5268912" y="673100"/>
                </a:cubicBezTo>
                <a:lnTo>
                  <a:pt x="95250" y="673100"/>
                </a:lnTo>
                <a:cubicBezTo>
                  <a:pt x="42645" y="673100"/>
                  <a:pt x="0" y="630455"/>
                  <a:pt x="0" y="5778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493669" y="2691587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8930" y="8930"/>
                </a:moveTo>
                <a:cubicBezTo>
                  <a:pt x="13869" y="8930"/>
                  <a:pt x="17859" y="12920"/>
                  <a:pt x="17859" y="17859"/>
                </a:cubicBezTo>
                <a:lnTo>
                  <a:pt x="17859" y="111621"/>
                </a:lnTo>
                <a:cubicBezTo>
                  <a:pt x="17859" y="114077"/>
                  <a:pt x="19869" y="116086"/>
                  <a:pt x="22324" y="116086"/>
                </a:cubicBezTo>
                <a:lnTo>
                  <a:pt x="133945" y="116086"/>
                </a:lnTo>
                <a:cubicBezTo>
                  <a:pt x="138885" y="116086"/>
                  <a:pt x="142875" y="120076"/>
                  <a:pt x="142875" y="125016"/>
                </a:cubicBezTo>
                <a:cubicBezTo>
                  <a:pt x="142875" y="129955"/>
                  <a:pt x="138885" y="133945"/>
                  <a:pt x="133945" y="133945"/>
                </a:cubicBezTo>
                <a:lnTo>
                  <a:pt x="22324" y="133945"/>
                </a:lnTo>
                <a:cubicBezTo>
                  <a:pt x="9990" y="133945"/>
                  <a:pt x="0" y="123955"/>
                  <a:pt x="0" y="111621"/>
                </a:cubicBezTo>
                <a:lnTo>
                  <a:pt x="0" y="17859"/>
                </a:lnTo>
                <a:cubicBezTo>
                  <a:pt x="0" y="12920"/>
                  <a:pt x="3990" y="8930"/>
                  <a:pt x="8930" y="8930"/>
                </a:cubicBezTo>
                <a:close/>
                <a:moveTo>
                  <a:pt x="66973" y="26789"/>
                </a:moveTo>
                <a:cubicBezTo>
                  <a:pt x="68842" y="26789"/>
                  <a:pt x="70628" y="27570"/>
                  <a:pt x="71912" y="28966"/>
                </a:cubicBezTo>
                <a:lnTo>
                  <a:pt x="91753" y="50592"/>
                </a:lnTo>
                <a:lnTo>
                  <a:pt x="104645" y="37672"/>
                </a:lnTo>
                <a:cubicBezTo>
                  <a:pt x="107268" y="35049"/>
                  <a:pt x="111509" y="35049"/>
                  <a:pt x="114105" y="37672"/>
                </a:cubicBezTo>
                <a:lnTo>
                  <a:pt x="131964" y="55531"/>
                </a:lnTo>
                <a:cubicBezTo>
                  <a:pt x="133220" y="56787"/>
                  <a:pt x="133917" y="58489"/>
                  <a:pt x="133917" y="60275"/>
                </a:cubicBezTo>
                <a:lnTo>
                  <a:pt x="133917" y="91529"/>
                </a:lnTo>
                <a:cubicBezTo>
                  <a:pt x="133917" y="95241"/>
                  <a:pt x="130932" y="98227"/>
                  <a:pt x="127220" y="98227"/>
                </a:cubicBezTo>
                <a:lnTo>
                  <a:pt x="42388" y="98227"/>
                </a:lnTo>
                <a:cubicBezTo>
                  <a:pt x="38677" y="98227"/>
                  <a:pt x="35691" y="95241"/>
                  <a:pt x="35691" y="91529"/>
                </a:cubicBezTo>
                <a:lnTo>
                  <a:pt x="35691" y="60275"/>
                </a:lnTo>
                <a:cubicBezTo>
                  <a:pt x="35691" y="58601"/>
                  <a:pt x="36333" y="56983"/>
                  <a:pt x="37449" y="55755"/>
                </a:cubicBezTo>
                <a:lnTo>
                  <a:pt x="62006" y="28966"/>
                </a:lnTo>
                <a:cubicBezTo>
                  <a:pt x="63261" y="27570"/>
                  <a:pt x="65075" y="26789"/>
                  <a:pt x="66945" y="2678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2"/>
          <p:cNvSpPr/>
          <p:nvPr/>
        </p:nvSpPr>
        <p:spPr>
          <a:xfrm>
            <a:off x="6715919" y="2667774"/>
            <a:ext cx="1468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Scaling Policies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473825" y="2921774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target tracking with appropriate cooldown periods to prevent oscillation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43650" y="3274982"/>
            <a:ext cx="5364163" cy="673100"/>
          </a:xfrm>
          <a:custGeom>
            <a:avLst/>
            <a:gdLst/>
            <a:ahLst/>
            <a:cxnLst/>
            <a:rect l="l" t="t" r="r" b="b"/>
            <a:pathLst>
              <a:path w="5364163" h="673100">
                <a:moveTo>
                  <a:pt x="95250" y="0"/>
                </a:moveTo>
                <a:lnTo>
                  <a:pt x="5268912" y="0"/>
                </a:lnTo>
                <a:cubicBezTo>
                  <a:pt x="5321517" y="0"/>
                  <a:pt x="5364163" y="42645"/>
                  <a:pt x="5364163" y="95250"/>
                </a:cubicBezTo>
                <a:lnTo>
                  <a:pt x="5364163" y="577850"/>
                </a:lnTo>
                <a:cubicBezTo>
                  <a:pt x="5364163" y="630455"/>
                  <a:pt x="5321517" y="673100"/>
                  <a:pt x="5268912" y="673100"/>
                </a:cubicBezTo>
                <a:lnTo>
                  <a:pt x="95250" y="673100"/>
                </a:lnTo>
                <a:cubicBezTo>
                  <a:pt x="42645" y="673100"/>
                  <a:pt x="0" y="630455"/>
                  <a:pt x="0" y="5778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502599" y="3428968"/>
            <a:ext cx="125016" cy="142875"/>
          </a:xfrm>
          <a:custGeom>
            <a:avLst/>
            <a:gdLst/>
            <a:ahLst/>
            <a:cxnLst/>
            <a:rect l="l" t="t" r="r" b="b"/>
            <a:pathLst>
              <a:path w="125016" h="142875">
                <a:moveTo>
                  <a:pt x="125016" y="57429"/>
                </a:moveTo>
                <a:cubicBezTo>
                  <a:pt x="120886" y="60164"/>
                  <a:pt x="116142" y="62368"/>
                  <a:pt x="111203" y="64126"/>
                </a:cubicBezTo>
                <a:cubicBezTo>
                  <a:pt x="98087" y="68814"/>
                  <a:pt x="80869" y="71438"/>
                  <a:pt x="62508" y="71438"/>
                </a:cubicBezTo>
                <a:cubicBezTo>
                  <a:pt x="44146" y="71438"/>
                  <a:pt x="26901" y="68786"/>
                  <a:pt x="13813" y="64126"/>
                </a:cubicBezTo>
                <a:cubicBezTo>
                  <a:pt x="8902" y="62368"/>
                  <a:pt x="4130" y="60164"/>
                  <a:pt x="0" y="57429"/>
                </a:cubicBezTo>
                <a:lnTo>
                  <a:pt x="0" y="80367"/>
                </a:lnTo>
                <a:cubicBezTo>
                  <a:pt x="0" y="92701"/>
                  <a:pt x="27989" y="102691"/>
                  <a:pt x="62508" y="102691"/>
                </a:cubicBezTo>
                <a:cubicBezTo>
                  <a:pt x="97027" y="102691"/>
                  <a:pt x="125016" y="92701"/>
                  <a:pt x="125016" y="80367"/>
                </a:cubicBezTo>
                <a:lnTo>
                  <a:pt x="125016" y="57429"/>
                </a:lnTo>
                <a:close/>
                <a:moveTo>
                  <a:pt x="125016" y="35719"/>
                </a:moveTo>
                <a:lnTo>
                  <a:pt x="125016" y="22324"/>
                </a:lnTo>
                <a:cubicBezTo>
                  <a:pt x="125016" y="9990"/>
                  <a:pt x="97027" y="0"/>
                  <a:pt x="62508" y="0"/>
                </a:cubicBezTo>
                <a:cubicBezTo>
                  <a:pt x="27989" y="0"/>
                  <a:pt x="0" y="9990"/>
                  <a:pt x="0" y="22324"/>
                </a:cubicBezTo>
                <a:lnTo>
                  <a:pt x="0" y="35719"/>
                </a:lnTo>
                <a:cubicBezTo>
                  <a:pt x="0" y="48053"/>
                  <a:pt x="27989" y="58043"/>
                  <a:pt x="62508" y="58043"/>
                </a:cubicBezTo>
                <a:cubicBezTo>
                  <a:pt x="97027" y="58043"/>
                  <a:pt x="125016" y="48053"/>
                  <a:pt x="125016" y="35719"/>
                </a:cubicBezTo>
                <a:close/>
                <a:moveTo>
                  <a:pt x="111203" y="108775"/>
                </a:moveTo>
                <a:cubicBezTo>
                  <a:pt x="98115" y="113435"/>
                  <a:pt x="80897" y="116086"/>
                  <a:pt x="62508" y="116086"/>
                </a:cubicBezTo>
                <a:cubicBezTo>
                  <a:pt x="44118" y="116086"/>
                  <a:pt x="26901" y="113435"/>
                  <a:pt x="13813" y="108775"/>
                </a:cubicBezTo>
                <a:cubicBezTo>
                  <a:pt x="8902" y="107017"/>
                  <a:pt x="4130" y="104812"/>
                  <a:pt x="0" y="102077"/>
                </a:cubicBezTo>
                <a:lnTo>
                  <a:pt x="0" y="120551"/>
                </a:lnTo>
                <a:cubicBezTo>
                  <a:pt x="0" y="132885"/>
                  <a:pt x="27989" y="142875"/>
                  <a:pt x="62508" y="142875"/>
                </a:cubicBezTo>
                <a:cubicBezTo>
                  <a:pt x="97027" y="142875"/>
                  <a:pt x="125016" y="132885"/>
                  <a:pt x="125016" y="120551"/>
                </a:cubicBezTo>
                <a:lnTo>
                  <a:pt x="125016" y="102077"/>
                </a:lnTo>
                <a:cubicBezTo>
                  <a:pt x="120886" y="104812"/>
                  <a:pt x="116142" y="107017"/>
                  <a:pt x="111203" y="1087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6"/>
          <p:cNvSpPr/>
          <p:nvPr/>
        </p:nvSpPr>
        <p:spPr>
          <a:xfrm>
            <a:off x="6715919" y="3405155"/>
            <a:ext cx="93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Caching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6473825" y="3659155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API responses to reduce backend load and improve performance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343650" y="4012355"/>
            <a:ext cx="5364163" cy="673100"/>
          </a:xfrm>
          <a:custGeom>
            <a:avLst/>
            <a:gdLst/>
            <a:ahLst/>
            <a:cxnLst/>
            <a:rect l="l" t="t" r="r" b="b"/>
            <a:pathLst>
              <a:path w="5364163" h="673100">
                <a:moveTo>
                  <a:pt x="95250" y="0"/>
                </a:moveTo>
                <a:lnTo>
                  <a:pt x="5268912" y="0"/>
                </a:lnTo>
                <a:cubicBezTo>
                  <a:pt x="5321517" y="0"/>
                  <a:pt x="5364163" y="42645"/>
                  <a:pt x="5364163" y="95250"/>
                </a:cubicBezTo>
                <a:lnTo>
                  <a:pt x="5364163" y="577850"/>
                </a:lnTo>
                <a:cubicBezTo>
                  <a:pt x="5364163" y="630455"/>
                  <a:pt x="5321517" y="673100"/>
                  <a:pt x="5268912" y="673100"/>
                </a:cubicBezTo>
                <a:lnTo>
                  <a:pt x="95250" y="673100"/>
                </a:lnTo>
                <a:cubicBezTo>
                  <a:pt x="42645" y="673100"/>
                  <a:pt x="0" y="630455"/>
                  <a:pt x="0" y="5778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84739" y="4166341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00682" y="335"/>
                </a:moveTo>
                <a:cubicBezTo>
                  <a:pt x="95938" y="-1032"/>
                  <a:pt x="90999" y="1730"/>
                  <a:pt x="89632" y="6474"/>
                </a:cubicBezTo>
                <a:lnTo>
                  <a:pt x="53913" y="131490"/>
                </a:lnTo>
                <a:cubicBezTo>
                  <a:pt x="52546" y="136234"/>
                  <a:pt x="55308" y="141173"/>
                  <a:pt x="60052" y="142540"/>
                </a:cubicBezTo>
                <a:cubicBezTo>
                  <a:pt x="64796" y="143907"/>
                  <a:pt x="69735" y="141145"/>
                  <a:pt x="71103" y="136401"/>
                </a:cubicBezTo>
                <a:lnTo>
                  <a:pt x="106821" y="11385"/>
                </a:lnTo>
                <a:cubicBezTo>
                  <a:pt x="108189" y="6641"/>
                  <a:pt x="105426" y="1702"/>
                  <a:pt x="100682" y="335"/>
                </a:cubicBezTo>
                <a:close/>
                <a:moveTo>
                  <a:pt x="118709" y="38314"/>
                </a:moveTo>
                <a:cubicBezTo>
                  <a:pt x="115221" y="41802"/>
                  <a:pt x="115221" y="47467"/>
                  <a:pt x="118709" y="50955"/>
                </a:cubicBezTo>
                <a:lnTo>
                  <a:pt x="139192" y="71438"/>
                </a:lnTo>
                <a:lnTo>
                  <a:pt x="118709" y="91920"/>
                </a:lnTo>
                <a:cubicBezTo>
                  <a:pt x="115221" y="95408"/>
                  <a:pt x="115221" y="101073"/>
                  <a:pt x="118709" y="104561"/>
                </a:cubicBezTo>
                <a:cubicBezTo>
                  <a:pt x="122197" y="108049"/>
                  <a:pt x="127862" y="108049"/>
                  <a:pt x="131350" y="104561"/>
                </a:cubicBezTo>
                <a:lnTo>
                  <a:pt x="158139" y="77772"/>
                </a:lnTo>
                <a:cubicBezTo>
                  <a:pt x="161627" y="74284"/>
                  <a:pt x="161627" y="68619"/>
                  <a:pt x="158139" y="65131"/>
                </a:cubicBezTo>
                <a:lnTo>
                  <a:pt x="131350" y="38342"/>
                </a:lnTo>
                <a:cubicBezTo>
                  <a:pt x="127862" y="34854"/>
                  <a:pt x="122197" y="34854"/>
                  <a:pt x="118709" y="38342"/>
                </a:cubicBezTo>
                <a:close/>
                <a:moveTo>
                  <a:pt x="42053" y="38314"/>
                </a:moveTo>
                <a:cubicBezTo>
                  <a:pt x="38565" y="34826"/>
                  <a:pt x="32900" y="34826"/>
                  <a:pt x="29412" y="38314"/>
                </a:cubicBezTo>
                <a:lnTo>
                  <a:pt x="2623" y="65103"/>
                </a:lnTo>
                <a:cubicBezTo>
                  <a:pt x="-865" y="68591"/>
                  <a:pt x="-865" y="74256"/>
                  <a:pt x="2623" y="77744"/>
                </a:cubicBezTo>
                <a:lnTo>
                  <a:pt x="29412" y="104533"/>
                </a:lnTo>
                <a:cubicBezTo>
                  <a:pt x="32900" y="108021"/>
                  <a:pt x="38565" y="108021"/>
                  <a:pt x="42053" y="104533"/>
                </a:cubicBezTo>
                <a:cubicBezTo>
                  <a:pt x="45541" y="101045"/>
                  <a:pt x="45541" y="95380"/>
                  <a:pt x="42053" y="91892"/>
                </a:cubicBezTo>
                <a:lnTo>
                  <a:pt x="21571" y="71438"/>
                </a:lnTo>
                <a:lnTo>
                  <a:pt x="42025" y="50955"/>
                </a:lnTo>
                <a:cubicBezTo>
                  <a:pt x="45514" y="47467"/>
                  <a:pt x="45514" y="41802"/>
                  <a:pt x="42025" y="3831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3" name="Text 50"/>
          <p:cNvSpPr/>
          <p:nvPr/>
        </p:nvSpPr>
        <p:spPr>
          <a:xfrm>
            <a:off x="6715919" y="4142528"/>
            <a:ext cx="9128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HTTP APIs</a:t>
            </a:r>
            <a:endParaRPr lang="en-US" sz="1600" dirty="0"/>
          </a:p>
        </p:txBody>
      </p:sp>
      <p:sp>
        <p:nvSpPr>
          <p:cNvPr id="54" name="Text 51"/>
          <p:cNvSpPr/>
          <p:nvPr/>
        </p:nvSpPr>
        <p:spPr>
          <a:xfrm>
            <a:off x="6473825" y="4396528"/>
            <a:ext cx="515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Prefer HTTP APIs over REST APIs for 71% cost savings when advanced features not needed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6178550" y="4853274"/>
            <a:ext cx="5689600" cy="1930852"/>
          </a:xfrm>
          <a:custGeom>
            <a:avLst/>
            <a:gdLst/>
            <a:ahLst/>
            <a:cxnLst/>
            <a:rect l="l" t="t" r="r" b="b"/>
            <a:pathLst>
              <a:path w="5689600" h="2038350">
                <a:moveTo>
                  <a:pt x="127010" y="0"/>
                </a:moveTo>
                <a:lnTo>
                  <a:pt x="5562590" y="0"/>
                </a:lnTo>
                <a:cubicBezTo>
                  <a:pt x="5632736" y="0"/>
                  <a:pt x="5689600" y="56864"/>
                  <a:pt x="5689600" y="127010"/>
                </a:cubicBezTo>
                <a:lnTo>
                  <a:pt x="5689600" y="1911340"/>
                </a:lnTo>
                <a:cubicBezTo>
                  <a:pt x="5689600" y="1981486"/>
                  <a:pt x="5632736" y="2038350"/>
                  <a:pt x="5562590" y="2038350"/>
                </a:cubicBezTo>
                <a:lnTo>
                  <a:pt x="127010" y="2038350"/>
                </a:lnTo>
                <a:cubicBezTo>
                  <a:pt x="56911" y="2038350"/>
                  <a:pt x="0" y="1981439"/>
                  <a:pt x="0" y="1911340"/>
                </a:cubicBezTo>
                <a:lnTo>
                  <a:pt x="0" y="127010"/>
                </a:lnTo>
                <a:cubicBezTo>
                  <a:pt x="0" y="56911"/>
                  <a:pt x="56911" y="0"/>
                  <a:pt x="12701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340475" y="5015197"/>
            <a:ext cx="544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6340475" y="538032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8" name="Shape 55"/>
          <p:cNvSpPr/>
          <p:nvPr/>
        </p:nvSpPr>
        <p:spPr>
          <a:xfrm>
            <a:off x="6420842" y="545176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FEFEF"/>
          </a:solidFill>
          <a:ln/>
        </p:spPr>
      </p:sp>
      <p:sp>
        <p:nvSpPr>
          <p:cNvPr id="59" name="Text 56"/>
          <p:cNvSpPr/>
          <p:nvPr/>
        </p:nvSpPr>
        <p:spPr>
          <a:xfrm>
            <a:off x="6689725" y="5364447"/>
            <a:ext cx="5008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ensures optimal capacity with automatic health monitoring and replacement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6340475" y="574544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1" name="Shape 58"/>
          <p:cNvSpPr/>
          <p:nvPr/>
        </p:nvSpPr>
        <p:spPr>
          <a:xfrm>
            <a:off x="6420842" y="581688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FEFEF"/>
          </a:solidFill>
          <a:ln/>
        </p:spPr>
      </p:sp>
      <p:sp>
        <p:nvSpPr>
          <p:cNvPr id="62" name="Text 59"/>
          <p:cNvSpPr/>
          <p:nvPr/>
        </p:nvSpPr>
        <p:spPr>
          <a:xfrm>
            <a:off x="6689725" y="5729572"/>
            <a:ext cx="4730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 Balancers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distribute traffic intelligently with health checks and SSL termination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6340475" y="6110572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4" name="Shape 61"/>
          <p:cNvSpPr/>
          <p:nvPr/>
        </p:nvSpPr>
        <p:spPr>
          <a:xfrm>
            <a:off x="6420842" y="6182010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FEFEF"/>
          </a:solidFill>
          <a:ln/>
        </p:spPr>
      </p:sp>
      <p:sp>
        <p:nvSpPr>
          <p:cNvPr id="65" name="Text 62"/>
          <p:cNvSpPr/>
          <p:nvPr/>
        </p:nvSpPr>
        <p:spPr>
          <a:xfrm>
            <a:off x="6689725" y="6094697"/>
            <a:ext cx="4699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Gateway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provides secure, scalable API management with throttling and caching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6340475" y="647569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0"/>
                </a:moveTo>
                <a:lnTo>
                  <a:pt x="190500" y="0"/>
                </a:lnTo>
                <a:cubicBezTo>
                  <a:pt x="225547" y="0"/>
                  <a:pt x="254000" y="28453"/>
                  <a:pt x="254000" y="63500"/>
                </a:cubicBezTo>
                <a:lnTo>
                  <a:pt x="254000" y="190500"/>
                </a:lnTo>
                <a:cubicBezTo>
                  <a:pt x="254000" y="225547"/>
                  <a:pt x="225547" y="254000"/>
                  <a:pt x="190500" y="254000"/>
                </a:cubicBezTo>
                <a:lnTo>
                  <a:pt x="63500" y="254000"/>
                </a:lnTo>
                <a:cubicBezTo>
                  <a:pt x="28453" y="254000"/>
                  <a:pt x="0" y="225547"/>
                  <a:pt x="0" y="1905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7" name="Shape 64"/>
          <p:cNvSpPr/>
          <p:nvPr/>
        </p:nvSpPr>
        <p:spPr>
          <a:xfrm>
            <a:off x="6420842" y="6547135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EFEFEF"/>
          </a:solidFill>
          <a:ln/>
        </p:spPr>
      </p:sp>
      <p:sp>
        <p:nvSpPr>
          <p:cNvPr id="68" name="Text 65"/>
          <p:cNvSpPr/>
          <p:nvPr/>
        </p:nvSpPr>
        <p:spPr>
          <a:xfrm>
            <a:off x="6689725" y="6459822"/>
            <a:ext cx="433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Together</a:t>
            </a:r>
            <a:r>
              <a:rPr lang="en-US" sz="10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they form a resilient, scalable, and cost-effective cloud architecture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2783</Words>
  <Application>Microsoft Office PowerPoint</Application>
  <PresentationFormat>Widescreen</PresentationFormat>
  <Paragraphs>518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Infrastructure Services</dc:title>
  <dc:subject>AWS Infrastructure Services</dc:subject>
  <dc:creator>Kimi</dc:creator>
  <cp:lastModifiedBy>Atom Code</cp:lastModifiedBy>
  <cp:revision>2</cp:revision>
  <dcterms:created xsi:type="dcterms:W3CDTF">2026-03-05T04:03:10Z</dcterms:created>
  <dcterms:modified xsi:type="dcterms:W3CDTF">2026-03-05T05:57:39Z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{"Label":"AWS Infrastructure Services","ContentProducer":"001191110108MACG2KBH8F10000","ProduceID":"19cbc1e3-e0c2-8626-8000-00007a0aaed8","ReservedCode1":"","ContentPropagator":"001191110108MACG2KBH8F20000","PropagateID":"19cbc1e3-e0c2-8626-8000-00007a0aaed8","ReservedCode2":""}</vt:lpwstr>
  </property>
</Properties>
</file>