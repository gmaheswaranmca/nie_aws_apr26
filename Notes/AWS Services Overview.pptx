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embeddedFontLst>
    <p:embeddedFont>
      <p:font typeface="Liter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3258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0602d9793cc67b561e85147afccd615a38e269e9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11" r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224915"/>
            <a:ext cx="2769870" cy="388620"/>
          </a:xfrm>
          <a:custGeom>
            <a:avLst/>
            <a:gdLst/>
            <a:ahLst/>
            <a:cxnLst/>
            <a:rect l="l" t="t" r="r" b="b"/>
            <a:pathLst>
              <a:path w="2769870" h="388620">
                <a:moveTo>
                  <a:pt x="76201" y="0"/>
                </a:moveTo>
                <a:lnTo>
                  <a:pt x="2693669" y="0"/>
                </a:lnTo>
                <a:cubicBezTo>
                  <a:pt x="2735754" y="0"/>
                  <a:pt x="2769870" y="34116"/>
                  <a:pt x="2769870" y="76201"/>
                </a:cubicBezTo>
                <a:lnTo>
                  <a:pt x="2769870" y="312419"/>
                </a:lnTo>
                <a:cubicBezTo>
                  <a:pt x="2769870" y="354504"/>
                  <a:pt x="2735754" y="388620"/>
                  <a:pt x="269366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1020" y="1304925"/>
            <a:ext cx="25365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COMPUTING PLATFORM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50745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Services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4208145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Guide to Amazon Web Services Categories and Primary Offerings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92906" y="542734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733425" y="5408295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 Services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37398" y="54273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32" y="104180"/>
                </a:moveTo>
                <a:lnTo>
                  <a:pt x="59903" y="104180"/>
                </a:lnTo>
                <a:cubicBezTo>
                  <a:pt x="60982" y="128178"/>
                  <a:pt x="66303" y="150279"/>
                  <a:pt x="73856" y="166464"/>
                </a:cubicBezTo>
                <a:cubicBezTo>
                  <a:pt x="78098" y="175580"/>
                  <a:pt x="82674" y="182017"/>
                  <a:pt x="86916" y="185961"/>
                </a:cubicBezTo>
                <a:cubicBezTo>
                  <a:pt x="91083" y="189867"/>
                  <a:pt x="93948" y="190500"/>
                  <a:pt x="95436" y="190500"/>
                </a:cubicBezTo>
                <a:cubicBezTo>
                  <a:pt x="96924" y="190500"/>
                  <a:pt x="99789" y="189867"/>
                  <a:pt x="103956" y="185961"/>
                </a:cubicBezTo>
                <a:cubicBezTo>
                  <a:pt x="108198" y="182017"/>
                  <a:pt x="112775" y="175543"/>
                  <a:pt x="117016" y="166464"/>
                </a:cubicBezTo>
                <a:cubicBezTo>
                  <a:pt x="124569" y="150279"/>
                  <a:pt x="129890" y="128178"/>
                  <a:pt x="130969" y="104180"/>
                </a:cubicBezTo>
                <a:close/>
                <a:moveTo>
                  <a:pt x="59866" y="86320"/>
                </a:moveTo>
                <a:lnTo>
                  <a:pt x="130894" y="86320"/>
                </a:lnTo>
                <a:cubicBezTo>
                  <a:pt x="129853" y="62322"/>
                  <a:pt x="124532" y="40221"/>
                  <a:pt x="116979" y="24036"/>
                </a:cubicBezTo>
                <a:cubicBezTo>
                  <a:pt x="112737" y="14957"/>
                  <a:pt x="108161" y="8483"/>
                  <a:pt x="103919" y="4539"/>
                </a:cubicBezTo>
                <a:cubicBezTo>
                  <a:pt x="99752" y="633"/>
                  <a:pt x="96887" y="0"/>
                  <a:pt x="95399" y="0"/>
                </a:cubicBezTo>
                <a:cubicBezTo>
                  <a:pt x="93911" y="0"/>
                  <a:pt x="91046" y="633"/>
                  <a:pt x="86878" y="4539"/>
                </a:cubicBezTo>
                <a:cubicBezTo>
                  <a:pt x="82637" y="8483"/>
                  <a:pt x="78060" y="14957"/>
                  <a:pt x="73819" y="24036"/>
                </a:cubicBezTo>
                <a:cubicBezTo>
                  <a:pt x="66266" y="40221"/>
                  <a:pt x="60945" y="62322"/>
                  <a:pt x="59866" y="86320"/>
                </a:cubicBezTo>
                <a:close/>
                <a:moveTo>
                  <a:pt x="42007" y="86320"/>
                </a:moveTo>
                <a:cubicBezTo>
                  <a:pt x="43309" y="54471"/>
                  <a:pt x="51532" y="24892"/>
                  <a:pt x="63550" y="5469"/>
                </a:cubicBezTo>
                <a:cubicBezTo>
                  <a:pt x="29282" y="17599"/>
                  <a:pt x="4056" y="48816"/>
                  <a:pt x="558" y="86320"/>
                </a:cubicBezTo>
                <a:lnTo>
                  <a:pt x="42007" y="86320"/>
                </a:lnTo>
                <a:close/>
                <a:moveTo>
                  <a:pt x="558" y="104180"/>
                </a:moveTo>
                <a:cubicBezTo>
                  <a:pt x="4056" y="141684"/>
                  <a:pt x="29282" y="172901"/>
                  <a:pt x="63550" y="185031"/>
                </a:cubicBezTo>
                <a:cubicBezTo>
                  <a:pt x="51532" y="165608"/>
                  <a:pt x="43309" y="136029"/>
                  <a:pt x="42007" y="104180"/>
                </a:cubicBezTo>
                <a:lnTo>
                  <a:pt x="558" y="104180"/>
                </a:lnTo>
                <a:close/>
                <a:moveTo>
                  <a:pt x="148791" y="104180"/>
                </a:moveTo>
                <a:cubicBezTo>
                  <a:pt x="147489" y="136029"/>
                  <a:pt x="139266" y="165608"/>
                  <a:pt x="127248" y="185031"/>
                </a:cubicBezTo>
                <a:cubicBezTo>
                  <a:pt x="161516" y="172864"/>
                  <a:pt x="186742" y="141684"/>
                  <a:pt x="190240" y="104180"/>
                </a:cubicBezTo>
                <a:lnTo>
                  <a:pt x="148791" y="104180"/>
                </a:lnTo>
                <a:close/>
                <a:moveTo>
                  <a:pt x="190240" y="86320"/>
                </a:moveTo>
                <a:cubicBezTo>
                  <a:pt x="186742" y="48816"/>
                  <a:pt x="161516" y="17599"/>
                  <a:pt x="127248" y="5469"/>
                </a:cubicBezTo>
                <a:cubicBezTo>
                  <a:pt x="139266" y="24892"/>
                  <a:pt x="147489" y="54471"/>
                  <a:pt x="148791" y="86320"/>
                </a:cubicBezTo>
                <a:lnTo>
                  <a:pt x="190240" y="8632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2366010" y="5408295"/>
            <a:ext cx="145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Infrastructure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073485" y="542734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0"/>
          <p:cNvSpPr/>
          <p:nvPr/>
        </p:nvSpPr>
        <p:spPr>
          <a:xfrm>
            <a:off x="4402098" y="5408295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Security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13510"/>
            <a:ext cx="3674745" cy="1722120"/>
          </a:xfrm>
          <a:custGeom>
            <a:avLst/>
            <a:gdLst/>
            <a:ahLst/>
            <a:cxnLst/>
            <a:rect l="l" t="t" r="r" b="b"/>
            <a:pathLst>
              <a:path w="3674745" h="17221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607823"/>
                </a:lnTo>
                <a:cubicBezTo>
                  <a:pt x="3674745" y="1670947"/>
                  <a:pt x="3623572" y="1722120"/>
                  <a:pt x="3560448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645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46879" y="1741170"/>
            <a:ext cx="29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26820" y="164592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AWS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26820" y="1988820"/>
            <a:ext cx="26765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overview, global infrastructure, and foundational concepts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58270" y="1413510"/>
            <a:ext cx="3674745" cy="1722120"/>
          </a:xfrm>
          <a:custGeom>
            <a:avLst/>
            <a:gdLst/>
            <a:ahLst/>
            <a:cxnLst/>
            <a:rect l="l" t="t" r="r" b="b"/>
            <a:pathLst>
              <a:path w="3674745" h="17221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607823"/>
                </a:lnTo>
                <a:cubicBezTo>
                  <a:pt x="3674745" y="1670947"/>
                  <a:pt x="3623572" y="1722120"/>
                  <a:pt x="3560448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90680" y="1645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603075" y="1741170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100281" y="164592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Services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00281" y="1988820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EC2, Lambda, ECS, EKS, and container orchestration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1731" y="1413510"/>
            <a:ext cx="3674745" cy="1722120"/>
          </a:xfrm>
          <a:custGeom>
            <a:avLst/>
            <a:gdLst/>
            <a:ahLst/>
            <a:cxnLst/>
            <a:rect l="l" t="t" r="r" b="b"/>
            <a:pathLst>
              <a:path w="3674745" h="1722120">
                <a:moveTo>
                  <a:pt x="114297" y="0"/>
                </a:moveTo>
                <a:lnTo>
                  <a:pt x="3560448" y="0"/>
                </a:lnTo>
                <a:cubicBezTo>
                  <a:pt x="3623572" y="0"/>
                  <a:pt x="3674745" y="51173"/>
                  <a:pt x="3674745" y="114297"/>
                </a:cubicBezTo>
                <a:lnTo>
                  <a:pt x="3674745" y="1607823"/>
                </a:lnTo>
                <a:cubicBezTo>
                  <a:pt x="3674745" y="1670947"/>
                  <a:pt x="3623572" y="1722120"/>
                  <a:pt x="3560448" y="1722120"/>
                </a:cubicBezTo>
                <a:lnTo>
                  <a:pt x="114297" y="1722120"/>
                </a:lnTo>
                <a:cubicBezTo>
                  <a:pt x="51173" y="1722120"/>
                  <a:pt x="0" y="1670947"/>
                  <a:pt x="0" y="160782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4141" y="16459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475702" y="1741170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73741" y="1645920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Services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73741" y="1988820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S3, EBS, EFS, Glacier, and data persistence solutions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810" y="3331131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" y="35635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28901" y="365879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26820" y="356354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Services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26820" y="390644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RDS, Aurora, DynamoDB, Redshift, and data management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58270" y="3331131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90680" y="35635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4603552" y="3658791"/>
            <a:ext cx="323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100281" y="356354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 &amp; CDN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00281" y="390644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VPC, CloudFront, Route 53, and connectivity solutions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3331131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4141" y="35635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474988" y="365879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973741" y="356354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Identity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73741" y="390644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IAM, KMS, Shield, WAF, and compliance services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84810" y="5001220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7220" y="52336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6283" y="5328881"/>
            <a:ext cx="314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26820" y="523363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&amp; ML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26820" y="557653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Redshift, Athena, SageMaker, and data intelligence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258270" y="5001220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90680" y="52336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599980" y="532888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00281" y="523363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Tools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100281" y="557653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CodeCommit, CodeBuild, CodePipeline, and DevOps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31731" y="5001220"/>
            <a:ext cx="3674745" cy="1474470"/>
          </a:xfrm>
          <a:custGeom>
            <a:avLst/>
            <a:gdLst/>
            <a:ahLst/>
            <a:cxnLst/>
            <a:rect l="l" t="t" r="r" b="b"/>
            <a:pathLst>
              <a:path w="3674745" h="1474470">
                <a:moveTo>
                  <a:pt x="114301" y="0"/>
                </a:moveTo>
                <a:lnTo>
                  <a:pt x="3560444" y="0"/>
                </a:lnTo>
                <a:cubicBezTo>
                  <a:pt x="3623571" y="0"/>
                  <a:pt x="3674745" y="51174"/>
                  <a:pt x="3674745" y="114301"/>
                </a:cubicBezTo>
                <a:lnTo>
                  <a:pt x="3674745" y="1360169"/>
                </a:lnTo>
                <a:cubicBezTo>
                  <a:pt x="3674745" y="1423296"/>
                  <a:pt x="3623571" y="1474470"/>
                  <a:pt x="3560444" y="1474470"/>
                </a:cubicBezTo>
                <a:lnTo>
                  <a:pt x="114301" y="1474470"/>
                </a:lnTo>
                <a:cubicBezTo>
                  <a:pt x="51174" y="1474470"/>
                  <a:pt x="0" y="1423296"/>
                  <a:pt x="0" y="13601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64141" y="52336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8474988" y="5328881"/>
            <a:ext cx="333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973741" y="5233631"/>
            <a:ext cx="2695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 &amp; IoT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973741" y="5576531"/>
            <a:ext cx="26765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CloudWatch, CloudFormation, IoT Core, and governance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 / INTRODUCTION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AWS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61110"/>
            <a:ext cx="5589270" cy="2122170"/>
          </a:xfrm>
          <a:custGeom>
            <a:avLst/>
            <a:gdLst/>
            <a:ahLst/>
            <a:cxnLst/>
            <a:rect l="l" t="t" r="r" b="b"/>
            <a:pathLst>
              <a:path w="5589270" h="2122170">
                <a:moveTo>
                  <a:pt x="114300" y="0"/>
                </a:moveTo>
                <a:lnTo>
                  <a:pt x="5474970" y="0"/>
                </a:lnTo>
                <a:cubicBezTo>
                  <a:pt x="5538096" y="0"/>
                  <a:pt x="5589270" y="51174"/>
                  <a:pt x="5589270" y="114300"/>
                </a:cubicBezTo>
                <a:lnTo>
                  <a:pt x="5589270" y="2007870"/>
                </a:lnTo>
                <a:cubicBezTo>
                  <a:pt x="5589270" y="2070954"/>
                  <a:pt x="5538054" y="2122170"/>
                  <a:pt x="5474970" y="2122170"/>
                </a:cubicBezTo>
                <a:lnTo>
                  <a:pt x="114300" y="2122170"/>
                </a:lnTo>
                <a:cubicBezTo>
                  <a:pt x="51174" y="2122170"/>
                  <a:pt x="0" y="2070996"/>
                  <a:pt x="0" y="20078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1508" y="151257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017270" y="1493520"/>
            <a:ext cx="1638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Evolution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7220" y="1912620"/>
            <a:ext cx="52006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Web Services launched in 2006, pioneering cloud computing with the first service, Amazon S3. Today, AWS offers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 services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compute, storage, databases, networking, machine learning, and more. With data centers in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 regions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worldwide, AWS powers hundreds of thousands of businesses in 190+ countries.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4810" y="3581400"/>
            <a:ext cx="5589270" cy="1798320"/>
          </a:xfrm>
          <a:custGeom>
            <a:avLst/>
            <a:gdLst/>
            <a:ahLst/>
            <a:cxnLst/>
            <a:rect l="l" t="t" r="r" b="b"/>
            <a:pathLst>
              <a:path w="5589270" h="1798320">
                <a:moveTo>
                  <a:pt x="114301" y="0"/>
                </a:moveTo>
                <a:lnTo>
                  <a:pt x="5474969" y="0"/>
                </a:lnTo>
                <a:cubicBezTo>
                  <a:pt x="5538096" y="0"/>
                  <a:pt x="5589270" y="51174"/>
                  <a:pt x="5589270" y="114301"/>
                </a:cubicBezTo>
                <a:lnTo>
                  <a:pt x="5589270" y="1684019"/>
                </a:lnTo>
                <a:cubicBezTo>
                  <a:pt x="5589270" y="1747103"/>
                  <a:pt x="5538053" y="1798320"/>
                  <a:pt x="5474969" y="1798320"/>
                </a:cubicBezTo>
                <a:lnTo>
                  <a:pt x="114301" y="1798320"/>
                </a:lnTo>
                <a:cubicBezTo>
                  <a:pt x="51174" y="1798320"/>
                  <a:pt x="0" y="1747146"/>
                  <a:pt x="0" y="1684019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5795" y="38328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17270" y="3813810"/>
            <a:ext cx="2028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Foundational Pillars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" y="43091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769620" y="4232910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38500" y="43091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3390900" y="4232910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" y="4652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769620" y="4575810"/>
            <a:ext cx="790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38500" y="465201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3390900" y="4575810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" y="49949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769620" y="4918711"/>
            <a:ext cx="638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38500" y="4994911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38100"/>
                </a:lnTo>
                <a:cubicBezTo>
                  <a:pt x="76200" y="59128"/>
                  <a:pt x="59128" y="76200"/>
                  <a:pt x="38100" y="76200"/>
                </a:cubicBezTo>
                <a:lnTo>
                  <a:pt x="38100" y="76200"/>
                </a:lnTo>
                <a:cubicBezTo>
                  <a:pt x="17072" y="76200"/>
                  <a:pt x="0" y="59128"/>
                  <a:pt x="0" y="38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3390900" y="4918711"/>
            <a:ext cx="97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14110" y="1261110"/>
            <a:ext cx="5589270" cy="2179320"/>
          </a:xfrm>
          <a:custGeom>
            <a:avLst/>
            <a:gdLst/>
            <a:ahLst/>
            <a:cxnLst/>
            <a:rect l="l" t="t" r="r" b="b"/>
            <a:pathLst>
              <a:path w="5589270" h="2179320">
                <a:moveTo>
                  <a:pt x="114305" y="0"/>
                </a:moveTo>
                <a:lnTo>
                  <a:pt x="5474965" y="0"/>
                </a:lnTo>
                <a:cubicBezTo>
                  <a:pt x="5538094" y="0"/>
                  <a:pt x="5589270" y="51176"/>
                  <a:pt x="5589270" y="114305"/>
                </a:cubicBezTo>
                <a:lnTo>
                  <a:pt x="5589270" y="2065015"/>
                </a:lnTo>
                <a:cubicBezTo>
                  <a:pt x="5589270" y="2128144"/>
                  <a:pt x="5538094" y="2179320"/>
                  <a:pt x="5474965" y="2179320"/>
                </a:cubicBezTo>
                <a:lnTo>
                  <a:pt x="114305" y="2179320"/>
                </a:lnTo>
                <a:cubicBezTo>
                  <a:pt x="51176" y="2179320"/>
                  <a:pt x="0" y="2128144"/>
                  <a:pt x="0" y="2065015"/>
                </a:cubicBezTo>
                <a:lnTo>
                  <a:pt x="0" y="114305"/>
                </a:lnTo>
                <a:cubicBezTo>
                  <a:pt x="0" y="51176"/>
                  <a:pt x="51176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17957" y="151257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6846570" y="1493520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Pay-As-You-Go Model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46520" y="1912620"/>
            <a:ext cx="52006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replaces upfront capital expenses with on-demand, low-cost pricing. Businesses no longer need to plan infrastructure weeks in advance—resources are delivered in minutes and scale automatically.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50330" y="2811780"/>
            <a:ext cx="1341120" cy="388620"/>
          </a:xfrm>
          <a:custGeom>
            <a:avLst/>
            <a:gdLst/>
            <a:ahLst/>
            <a:cxnLst/>
            <a:rect l="l" t="t" r="r" b="b"/>
            <a:pathLst>
              <a:path w="1341120" h="388620">
                <a:moveTo>
                  <a:pt x="76201" y="0"/>
                </a:moveTo>
                <a:lnTo>
                  <a:pt x="1264919" y="0"/>
                </a:lnTo>
                <a:cubicBezTo>
                  <a:pt x="1307004" y="0"/>
                  <a:pt x="1341120" y="34116"/>
                  <a:pt x="1341120" y="76201"/>
                </a:cubicBezTo>
                <a:lnTo>
                  <a:pt x="1341120" y="312419"/>
                </a:lnTo>
                <a:cubicBezTo>
                  <a:pt x="1341120" y="354504"/>
                  <a:pt x="1307004" y="388620"/>
                  <a:pt x="1264919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6540" y="2914650"/>
            <a:ext cx="109097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Upfront Costs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947065" y="2811780"/>
            <a:ext cx="1083945" cy="388620"/>
          </a:xfrm>
          <a:custGeom>
            <a:avLst/>
            <a:gdLst/>
            <a:ahLst/>
            <a:cxnLst/>
            <a:rect l="l" t="t" r="r" b="b"/>
            <a:pathLst>
              <a:path w="1083945" h="388620">
                <a:moveTo>
                  <a:pt x="76201" y="0"/>
                </a:moveTo>
                <a:lnTo>
                  <a:pt x="1007744" y="0"/>
                </a:lnTo>
                <a:cubicBezTo>
                  <a:pt x="1049829" y="0"/>
                  <a:pt x="1083945" y="34116"/>
                  <a:pt x="1083945" y="76201"/>
                </a:cubicBezTo>
                <a:lnTo>
                  <a:pt x="1083945" y="312419"/>
                </a:lnTo>
                <a:cubicBezTo>
                  <a:pt x="1083945" y="354504"/>
                  <a:pt x="1049829" y="388620"/>
                  <a:pt x="100774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3275" y="2914650"/>
            <a:ext cx="8358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214110" y="3634741"/>
            <a:ext cx="5589270" cy="2122170"/>
          </a:xfrm>
          <a:custGeom>
            <a:avLst/>
            <a:gdLst/>
            <a:ahLst/>
            <a:cxnLst/>
            <a:rect l="l" t="t" r="r" b="b"/>
            <a:pathLst>
              <a:path w="5589270" h="2122170">
                <a:moveTo>
                  <a:pt x="114300" y="0"/>
                </a:moveTo>
                <a:lnTo>
                  <a:pt x="5474970" y="0"/>
                </a:lnTo>
                <a:cubicBezTo>
                  <a:pt x="5538096" y="0"/>
                  <a:pt x="5589270" y="51174"/>
                  <a:pt x="5589270" y="114300"/>
                </a:cubicBezTo>
                <a:lnTo>
                  <a:pt x="5589270" y="2007870"/>
                </a:lnTo>
                <a:cubicBezTo>
                  <a:pt x="5589270" y="2070954"/>
                  <a:pt x="5538054" y="2122170"/>
                  <a:pt x="5474970" y="2122170"/>
                </a:cubicBezTo>
                <a:lnTo>
                  <a:pt x="114300" y="2122170"/>
                </a:lnTo>
                <a:cubicBezTo>
                  <a:pt x="51174" y="2122170"/>
                  <a:pt x="0" y="2070996"/>
                  <a:pt x="0" y="20078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5095" y="3886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6846570" y="3867150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Responsibility Model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46520" y="4286250"/>
            <a:ext cx="52006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Responsibility: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Protecting infrastructure (hardware, software, networking).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Responsibility: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Managing applications, data handling, user access controls, and application architecture security.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COMPUTE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Services: The Processing Power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 your code and applications get executed—virtual servers, serverless functions, and container orchestration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3674745" cy="3655695"/>
          </a:xfrm>
          <a:custGeom>
            <a:avLst/>
            <a:gdLst/>
            <a:ahLst/>
            <a:cxnLst/>
            <a:rect l="l" t="t" r="r" b="b"/>
            <a:pathLst>
              <a:path w="3674745" h="3655695">
                <a:moveTo>
                  <a:pt x="114314" y="0"/>
                </a:moveTo>
                <a:lnTo>
                  <a:pt x="3560431" y="0"/>
                </a:lnTo>
                <a:cubicBezTo>
                  <a:pt x="3623565" y="0"/>
                  <a:pt x="3674745" y="51180"/>
                  <a:pt x="3674745" y="114314"/>
                </a:cubicBezTo>
                <a:lnTo>
                  <a:pt x="3674745" y="3541381"/>
                </a:lnTo>
                <a:cubicBezTo>
                  <a:pt x="3674745" y="3604515"/>
                  <a:pt x="3623565" y="3655695"/>
                  <a:pt x="3560431" y="3655695"/>
                </a:cubicBezTo>
                <a:lnTo>
                  <a:pt x="114314" y="3655695"/>
                </a:lnTo>
                <a:cubicBezTo>
                  <a:pt x="51180" y="3655695"/>
                  <a:pt x="0" y="3604515"/>
                  <a:pt x="0" y="3541381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476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59531"/>
                </a:lnTo>
                <a:cubicBezTo>
                  <a:pt x="0" y="72665"/>
                  <a:pt x="10678" y="83344"/>
                  <a:pt x="23812" y="83344"/>
                </a:cubicBezTo>
                <a:lnTo>
                  <a:pt x="142875" y="83344"/>
                </a:lnTo>
                <a:cubicBezTo>
                  <a:pt x="156009" y="83344"/>
                  <a:pt x="166688" y="72665"/>
                  <a:pt x="166688" y="59531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04180" y="38695"/>
                </a:moveTo>
                <a:cubicBezTo>
                  <a:pt x="109108" y="38695"/>
                  <a:pt x="113109" y="42697"/>
                  <a:pt x="113109" y="47625"/>
                </a:cubicBezTo>
                <a:cubicBezTo>
                  <a:pt x="113109" y="52553"/>
                  <a:pt x="109108" y="56555"/>
                  <a:pt x="104180" y="56555"/>
                </a:cubicBezTo>
                <a:cubicBezTo>
                  <a:pt x="99251" y="56555"/>
                  <a:pt x="95250" y="52553"/>
                  <a:pt x="95250" y="47625"/>
                </a:cubicBezTo>
                <a:cubicBezTo>
                  <a:pt x="95250" y="42697"/>
                  <a:pt x="99251" y="38695"/>
                  <a:pt x="104180" y="38695"/>
                </a:cubicBezTo>
                <a:close/>
                <a:moveTo>
                  <a:pt x="125016" y="47625"/>
                </a:moveTo>
                <a:cubicBezTo>
                  <a:pt x="125016" y="42697"/>
                  <a:pt x="129017" y="38695"/>
                  <a:pt x="133945" y="38695"/>
                </a:cubicBezTo>
                <a:cubicBezTo>
                  <a:pt x="138874" y="38695"/>
                  <a:pt x="142875" y="42697"/>
                  <a:pt x="142875" y="47625"/>
                </a:cubicBezTo>
                <a:cubicBezTo>
                  <a:pt x="142875" y="52553"/>
                  <a:pt x="138874" y="56555"/>
                  <a:pt x="133945" y="56555"/>
                </a:cubicBezTo>
                <a:cubicBezTo>
                  <a:pt x="129017" y="56555"/>
                  <a:pt x="125016" y="52553"/>
                  <a:pt x="125016" y="47625"/>
                </a:cubicBezTo>
                <a:close/>
                <a:moveTo>
                  <a:pt x="23812" y="107156"/>
                </a:move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lose/>
                <a:moveTo>
                  <a:pt x="104180" y="133945"/>
                </a:moveTo>
                <a:cubicBezTo>
                  <a:pt x="109108" y="133945"/>
                  <a:pt x="113109" y="137947"/>
                  <a:pt x="113109" y="142875"/>
                </a:cubicBezTo>
                <a:cubicBezTo>
                  <a:pt x="113109" y="147803"/>
                  <a:pt x="109108" y="151805"/>
                  <a:pt x="104180" y="151805"/>
                </a:cubicBezTo>
                <a:cubicBezTo>
                  <a:pt x="99251" y="151805"/>
                  <a:pt x="95250" y="147803"/>
                  <a:pt x="95250" y="142875"/>
                </a:cubicBezTo>
                <a:cubicBezTo>
                  <a:pt x="95250" y="137947"/>
                  <a:pt x="99251" y="133945"/>
                  <a:pt x="104180" y="133945"/>
                </a:cubicBezTo>
                <a:close/>
                <a:moveTo>
                  <a:pt x="125016" y="142875"/>
                </a:moveTo>
                <a:cubicBezTo>
                  <a:pt x="125016" y="137947"/>
                  <a:pt x="129017" y="133945"/>
                  <a:pt x="133945" y="133945"/>
                </a:cubicBezTo>
                <a:cubicBezTo>
                  <a:pt x="138874" y="133945"/>
                  <a:pt x="142875" y="137947"/>
                  <a:pt x="142875" y="142875"/>
                </a:cubicBezTo>
                <a:cubicBezTo>
                  <a:pt x="142875" y="147803"/>
                  <a:pt x="138874" y="151805"/>
                  <a:pt x="133945" y="151805"/>
                </a:cubicBezTo>
                <a:cubicBezTo>
                  <a:pt x="129017" y="151805"/>
                  <a:pt x="125016" y="147803"/>
                  <a:pt x="125016" y="14287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36420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EC2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 Compute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446020"/>
            <a:ext cx="3286125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servers in the cloud with total control over OS, memory, storage, and networking. Choose from 500+ instance types optimized for compute, memory, storage, or GPU workloads.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04" y="4333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08" y="4305300"/>
            <a:ext cx="1971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OS control (Linux/Windows)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04" y="4600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4572000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 groups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04" y="4867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08" y="4838700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per hour/second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604010"/>
            <a:ext cx="3674745" cy="3655695"/>
          </a:xfrm>
          <a:custGeom>
            <a:avLst/>
            <a:gdLst/>
            <a:ahLst/>
            <a:cxnLst/>
            <a:rect l="l" t="t" r="r" b="b"/>
            <a:pathLst>
              <a:path w="3674745" h="3655695">
                <a:moveTo>
                  <a:pt x="114314" y="0"/>
                </a:moveTo>
                <a:lnTo>
                  <a:pt x="3560431" y="0"/>
                </a:lnTo>
                <a:cubicBezTo>
                  <a:pt x="3623565" y="0"/>
                  <a:pt x="3674745" y="51180"/>
                  <a:pt x="3674745" y="114314"/>
                </a:cubicBezTo>
                <a:lnTo>
                  <a:pt x="3674745" y="3541381"/>
                </a:lnTo>
                <a:cubicBezTo>
                  <a:pt x="3674745" y="3604515"/>
                  <a:pt x="3623565" y="3655695"/>
                  <a:pt x="3560431" y="3655695"/>
                </a:cubicBezTo>
                <a:lnTo>
                  <a:pt x="114314" y="3655695"/>
                </a:lnTo>
                <a:cubicBezTo>
                  <a:pt x="51180" y="3655695"/>
                  <a:pt x="0" y="3604515"/>
                  <a:pt x="0" y="3541381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068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35937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26057" y="-3683"/>
                </a:moveTo>
                <a:cubicBezTo>
                  <a:pt x="130485" y="-484"/>
                  <a:pt x="132122" y="5321"/>
                  <a:pt x="130113" y="10381"/>
                </a:cubicBezTo>
                <a:lnTo>
                  <a:pt x="100943" y="83344"/>
                </a:lnTo>
                <a:lnTo>
                  <a:pt x="154781" y="83344"/>
                </a:lnTo>
                <a:cubicBezTo>
                  <a:pt x="159804" y="83344"/>
                  <a:pt x="164269" y="86469"/>
                  <a:pt x="165981" y="91194"/>
                </a:cubicBezTo>
                <a:cubicBezTo>
                  <a:pt x="167692" y="95920"/>
                  <a:pt x="166241" y="101203"/>
                  <a:pt x="162409" y="104403"/>
                </a:cubicBezTo>
                <a:lnTo>
                  <a:pt x="55252" y="193700"/>
                </a:lnTo>
                <a:cubicBezTo>
                  <a:pt x="51048" y="197197"/>
                  <a:pt x="45058" y="197383"/>
                  <a:pt x="40630" y="194183"/>
                </a:cubicBezTo>
                <a:cubicBezTo>
                  <a:pt x="36202" y="190984"/>
                  <a:pt x="34565" y="185179"/>
                  <a:pt x="36575" y="180119"/>
                </a:cubicBezTo>
                <a:lnTo>
                  <a:pt x="65745" y="107156"/>
                </a:lnTo>
                <a:lnTo>
                  <a:pt x="11906" y="107156"/>
                </a:lnTo>
                <a:cubicBezTo>
                  <a:pt x="6883" y="107156"/>
                  <a:pt x="2418" y="104031"/>
                  <a:pt x="707" y="99306"/>
                </a:cubicBezTo>
                <a:cubicBezTo>
                  <a:pt x="-1005" y="94580"/>
                  <a:pt x="446" y="89297"/>
                  <a:pt x="4279" y="86097"/>
                </a:cubicBezTo>
                <a:lnTo>
                  <a:pt x="111435" y="-3200"/>
                </a:lnTo>
                <a:cubicBezTo>
                  <a:pt x="115639" y="-6697"/>
                  <a:pt x="121630" y="-6883"/>
                  <a:pt x="126057" y="-368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62181" y="1836420"/>
            <a:ext cx="1400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Lambda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2181" y="2103120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Computing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0680" y="2446020"/>
            <a:ext cx="3286125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code without managing servers. Upload your functions and AWS handles provisioning, patching, and scaling automatically. Ideal for event-driven architectures and microservices.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8065" y="4333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3568" y="4305300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Sub-second billing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8065" y="4600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3568" y="4572000"/>
            <a:ext cx="1123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scaling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8065" y="4867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3568" y="4838700"/>
            <a:ext cx="1304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Event-driven triggers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1604010"/>
            <a:ext cx="3674745" cy="3655695"/>
          </a:xfrm>
          <a:custGeom>
            <a:avLst/>
            <a:gdLst/>
            <a:ahLst/>
            <a:cxnLst/>
            <a:rect l="l" t="t" r="r" b="b"/>
            <a:pathLst>
              <a:path w="3674745" h="3655695">
                <a:moveTo>
                  <a:pt x="114314" y="0"/>
                </a:moveTo>
                <a:lnTo>
                  <a:pt x="3560431" y="0"/>
                </a:lnTo>
                <a:cubicBezTo>
                  <a:pt x="3623565" y="0"/>
                  <a:pt x="3674745" y="51180"/>
                  <a:pt x="3674745" y="114314"/>
                </a:cubicBezTo>
                <a:lnTo>
                  <a:pt x="3674745" y="3541381"/>
                </a:lnTo>
                <a:cubicBezTo>
                  <a:pt x="3674745" y="3604515"/>
                  <a:pt x="3623565" y="3655695"/>
                  <a:pt x="3560431" y="3655695"/>
                </a:cubicBezTo>
                <a:lnTo>
                  <a:pt x="114314" y="3655695"/>
                </a:lnTo>
                <a:cubicBezTo>
                  <a:pt x="51180" y="3655695"/>
                  <a:pt x="0" y="3604515"/>
                  <a:pt x="0" y="3541381"/>
                </a:cubicBezTo>
                <a:lnTo>
                  <a:pt x="0" y="114314"/>
                </a:lnTo>
                <a:cubicBezTo>
                  <a:pt x="0" y="51222"/>
                  <a:pt x="51222" y="0"/>
                  <a:pt x="11431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41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73678" y="19697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08471" y="88255"/>
                </a:moveTo>
                <a:cubicBezTo>
                  <a:pt x="212341" y="92646"/>
                  <a:pt x="219001" y="93613"/>
                  <a:pt x="224024" y="90301"/>
                </a:cubicBezTo>
                <a:cubicBezTo>
                  <a:pt x="229493" y="86655"/>
                  <a:pt x="230981" y="79251"/>
                  <a:pt x="227335" y="73782"/>
                </a:cubicBezTo>
                <a:lnTo>
                  <a:pt x="209476" y="46992"/>
                </a:lnTo>
                <a:cubicBezTo>
                  <a:pt x="208434" y="45430"/>
                  <a:pt x="207020" y="44128"/>
                  <a:pt x="205346" y="43197"/>
                </a:cubicBezTo>
                <a:lnTo>
                  <a:pt x="130746" y="1749"/>
                </a:lnTo>
                <a:cubicBezTo>
                  <a:pt x="123565" y="-2232"/>
                  <a:pt x="114821" y="-2232"/>
                  <a:pt x="107603" y="1749"/>
                </a:cubicBezTo>
                <a:lnTo>
                  <a:pt x="33040" y="43160"/>
                </a:lnTo>
                <a:cubicBezTo>
                  <a:pt x="31031" y="44276"/>
                  <a:pt x="29431" y="45913"/>
                  <a:pt x="28352" y="47923"/>
                </a:cubicBezTo>
                <a:lnTo>
                  <a:pt x="10306" y="81372"/>
                </a:lnTo>
                <a:cubicBezTo>
                  <a:pt x="5618" y="90078"/>
                  <a:pt x="8892" y="100905"/>
                  <a:pt x="17599" y="105594"/>
                </a:cubicBezTo>
                <a:lnTo>
                  <a:pt x="29877" y="112179"/>
                </a:lnTo>
                <a:lnTo>
                  <a:pt x="29877" y="132011"/>
                </a:lnTo>
                <a:cubicBezTo>
                  <a:pt x="29877" y="140568"/>
                  <a:pt x="34491" y="148493"/>
                  <a:pt x="41932" y="152735"/>
                </a:cubicBezTo>
                <a:lnTo>
                  <a:pt x="107417" y="189830"/>
                </a:lnTo>
                <a:cubicBezTo>
                  <a:pt x="114709" y="193960"/>
                  <a:pt x="123602" y="193960"/>
                  <a:pt x="130894" y="189830"/>
                </a:cubicBezTo>
                <a:lnTo>
                  <a:pt x="196379" y="152735"/>
                </a:lnTo>
                <a:cubicBezTo>
                  <a:pt x="203857" y="148493"/>
                  <a:pt x="208434" y="140605"/>
                  <a:pt x="208434" y="132011"/>
                </a:cubicBezTo>
                <a:lnTo>
                  <a:pt x="208434" y="88292"/>
                </a:lnTo>
                <a:close/>
                <a:moveTo>
                  <a:pt x="119174" y="84609"/>
                </a:moveTo>
                <a:lnTo>
                  <a:pt x="63326" y="53578"/>
                </a:lnTo>
                <a:lnTo>
                  <a:pt x="119174" y="22547"/>
                </a:lnTo>
                <a:lnTo>
                  <a:pt x="175022" y="53578"/>
                </a:lnTo>
                <a:lnTo>
                  <a:pt x="119174" y="84609"/>
                </a:lnTo>
                <a:close/>
                <a:moveTo>
                  <a:pt x="103733" y="103287"/>
                </a:moveTo>
                <a:lnTo>
                  <a:pt x="95808" y="120476"/>
                </a:lnTo>
                <a:lnTo>
                  <a:pt x="34119" y="87437"/>
                </a:lnTo>
                <a:lnTo>
                  <a:pt x="43569" y="69875"/>
                </a:lnTo>
                <a:lnTo>
                  <a:pt x="103733" y="10328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935641" y="1836420"/>
            <a:ext cx="1743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ECS &amp; EKS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5641" y="2103120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Container Orchestration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4141" y="2446020"/>
            <a:ext cx="3286125" cy="1704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Run and manage Docker containers at scale. ECS is AWS-native; EKS provides managed Kubernetes. Both support Fargate for serverless container execution without VM management.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91525" y="43338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607028" y="430530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Docker container support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1525" y="46005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607028" y="4572000"/>
            <a:ext cx="1819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 &amp; load balancing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1525" y="4867275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607028" y="4838700"/>
            <a:ext cx="1543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Fargate serverless option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459730"/>
            <a:ext cx="11418570" cy="1017270"/>
          </a:xfrm>
          <a:custGeom>
            <a:avLst/>
            <a:gdLst/>
            <a:ahLst/>
            <a:cxnLst/>
            <a:rect l="l" t="t" r="r" b="b"/>
            <a:pathLst>
              <a:path w="11418570" h="101727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902970"/>
                </a:lnTo>
                <a:cubicBezTo>
                  <a:pt x="11418570" y="966096"/>
                  <a:pt x="11367396" y="1017270"/>
                  <a:pt x="11304270" y="1017270"/>
                </a:cubicBezTo>
                <a:lnTo>
                  <a:pt x="114300" y="1017270"/>
                </a:lnTo>
                <a:cubicBezTo>
                  <a:pt x="51174" y="1017270"/>
                  <a:pt x="0" y="966096"/>
                  <a:pt x="0" y="9029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6745" y="587121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68812" y="5661661"/>
            <a:ext cx="7105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Parallels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8812" y="5890261"/>
            <a:ext cx="7096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IaaS (EC2) → Serverless (Lambda) → Containers (ECS/EKS) — Choose based on control needs &amp; operational overhead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98619" y="5657851"/>
            <a:ext cx="1303020" cy="617220"/>
          </a:xfrm>
          <a:custGeom>
            <a:avLst/>
            <a:gdLst/>
            <a:ahLst/>
            <a:cxnLst/>
            <a:rect l="l" t="t" r="r" b="b"/>
            <a:pathLst>
              <a:path w="1303020" h="617220">
                <a:moveTo>
                  <a:pt x="76202" y="0"/>
                </a:moveTo>
                <a:lnTo>
                  <a:pt x="1226818" y="0"/>
                </a:lnTo>
                <a:cubicBezTo>
                  <a:pt x="1268903" y="0"/>
                  <a:pt x="1303020" y="34117"/>
                  <a:pt x="1303020" y="76202"/>
                </a:cubicBezTo>
                <a:lnTo>
                  <a:pt x="1303020" y="541018"/>
                </a:lnTo>
                <a:cubicBezTo>
                  <a:pt x="1303020" y="583103"/>
                  <a:pt x="1268903" y="617220"/>
                  <a:pt x="1226818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54829" y="5760720"/>
            <a:ext cx="64008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 Beanstalk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419987" y="5657851"/>
            <a:ext cx="1093470" cy="617220"/>
          </a:xfrm>
          <a:custGeom>
            <a:avLst/>
            <a:gdLst/>
            <a:ahLst/>
            <a:cxnLst/>
            <a:rect l="l" t="t" r="r" b="b"/>
            <a:pathLst>
              <a:path w="1093470" h="617220">
                <a:moveTo>
                  <a:pt x="76202" y="0"/>
                </a:moveTo>
                <a:lnTo>
                  <a:pt x="1017268" y="0"/>
                </a:lnTo>
                <a:cubicBezTo>
                  <a:pt x="1059353" y="0"/>
                  <a:pt x="1093470" y="34117"/>
                  <a:pt x="1093470" y="76202"/>
                </a:cubicBezTo>
                <a:lnTo>
                  <a:pt x="1093470" y="541018"/>
                </a:lnTo>
                <a:cubicBezTo>
                  <a:pt x="1093470" y="583103"/>
                  <a:pt x="1059353" y="617220"/>
                  <a:pt x="1017268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76197" y="5760720"/>
            <a:ext cx="5181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Fargate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630733" y="5657851"/>
            <a:ext cx="979170" cy="617220"/>
          </a:xfrm>
          <a:custGeom>
            <a:avLst/>
            <a:gdLst/>
            <a:ahLst/>
            <a:cxnLst/>
            <a:rect l="l" t="t" r="r" b="b"/>
            <a:pathLst>
              <a:path w="979170" h="617220">
                <a:moveTo>
                  <a:pt x="76202" y="0"/>
                </a:moveTo>
                <a:lnTo>
                  <a:pt x="902968" y="0"/>
                </a:lnTo>
                <a:cubicBezTo>
                  <a:pt x="945053" y="0"/>
                  <a:pt x="979170" y="34117"/>
                  <a:pt x="979170" y="76202"/>
                </a:cubicBezTo>
                <a:lnTo>
                  <a:pt x="979170" y="541018"/>
                </a:lnTo>
                <a:cubicBezTo>
                  <a:pt x="979170" y="583103"/>
                  <a:pt x="945053" y="617220"/>
                  <a:pt x="902968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6944" y="5760720"/>
            <a:ext cx="4070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Batch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STORAGE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Services: Data Persistence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Reliable, scalable, and secure storage solutions for every use case—from object storage to block volumes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5608320" cy="2855595"/>
          </a:xfrm>
          <a:custGeom>
            <a:avLst/>
            <a:gdLst/>
            <a:ahLst/>
            <a:cxnLst/>
            <a:rect l="l" t="t" r="r" b="b"/>
            <a:pathLst>
              <a:path w="5608320" h="2855595">
                <a:moveTo>
                  <a:pt x="114309" y="0"/>
                </a:moveTo>
                <a:lnTo>
                  <a:pt x="5494011" y="0"/>
                </a:lnTo>
                <a:cubicBezTo>
                  <a:pt x="5557142" y="0"/>
                  <a:pt x="5608320" y="51178"/>
                  <a:pt x="5608320" y="114309"/>
                </a:cubicBezTo>
                <a:lnTo>
                  <a:pt x="5608320" y="2741286"/>
                </a:lnTo>
                <a:cubicBezTo>
                  <a:pt x="5608320" y="2804417"/>
                  <a:pt x="5557142" y="2855595"/>
                  <a:pt x="5494011" y="2855595"/>
                </a:cubicBezTo>
                <a:lnTo>
                  <a:pt x="114309" y="2855595"/>
                </a:lnTo>
                <a:cubicBezTo>
                  <a:pt x="51178" y="2855595"/>
                  <a:pt x="0" y="2804417"/>
                  <a:pt x="0" y="2741286"/>
                </a:cubicBezTo>
                <a:lnTo>
                  <a:pt x="0" y="114309"/>
                </a:lnTo>
                <a:cubicBezTo>
                  <a:pt x="0" y="51178"/>
                  <a:pt x="51178" y="0"/>
                  <a:pt x="11430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66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125016"/>
                </a:moveTo>
                <a:cubicBezTo>
                  <a:pt x="0" y="154595"/>
                  <a:pt x="23999" y="178594"/>
                  <a:pt x="53578" y="178594"/>
                </a:cubicBezTo>
                <a:lnTo>
                  <a:pt x="166688" y="178594"/>
                </a:lnTo>
                <a:cubicBezTo>
                  <a:pt x="192993" y="178594"/>
                  <a:pt x="214313" y="157274"/>
                  <a:pt x="214313" y="130969"/>
                </a:cubicBezTo>
                <a:cubicBezTo>
                  <a:pt x="214313" y="111770"/>
                  <a:pt x="202964" y="95213"/>
                  <a:pt x="186593" y="87697"/>
                </a:cubicBezTo>
                <a:cubicBezTo>
                  <a:pt x="189086" y="82823"/>
                  <a:pt x="190500" y="77279"/>
                  <a:pt x="190500" y="71438"/>
                </a:cubicBezTo>
                <a:cubicBezTo>
                  <a:pt x="190500" y="51718"/>
                  <a:pt x="174501" y="35719"/>
                  <a:pt x="154781" y="35719"/>
                </a:cubicBezTo>
                <a:cubicBezTo>
                  <a:pt x="148196" y="35719"/>
                  <a:pt x="142056" y="37505"/>
                  <a:pt x="136773" y="40593"/>
                </a:cubicBezTo>
                <a:cubicBezTo>
                  <a:pt x="127806" y="23552"/>
                  <a:pt x="109910" y="11906"/>
                  <a:pt x="89297" y="11906"/>
                </a:cubicBezTo>
                <a:cubicBezTo>
                  <a:pt x="59717" y="11906"/>
                  <a:pt x="35719" y="35905"/>
                  <a:pt x="35719" y="65484"/>
                </a:cubicBezTo>
                <a:cubicBezTo>
                  <a:pt x="35719" y="68461"/>
                  <a:pt x="35979" y="71400"/>
                  <a:pt x="36426" y="74228"/>
                </a:cubicBezTo>
                <a:cubicBezTo>
                  <a:pt x="15255" y="81372"/>
                  <a:pt x="0" y="101426"/>
                  <a:pt x="0" y="12501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36420"/>
            <a:ext cx="1457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S3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Simple Storage 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44602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 storage with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99.999999999% (11 nines)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durability. Store and retrieve any amount of data from anywhere. Perfect for backups, data lakes, static websites, and media files.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1030" y="3345180"/>
            <a:ext cx="2512695" cy="617220"/>
          </a:xfrm>
          <a:custGeom>
            <a:avLst/>
            <a:gdLst/>
            <a:ahLst/>
            <a:cxnLst/>
            <a:rect l="l" t="t" r="r" b="b"/>
            <a:pathLst>
              <a:path w="2512695" h="617220">
                <a:moveTo>
                  <a:pt x="76202" y="0"/>
                </a:moveTo>
                <a:lnTo>
                  <a:pt x="2436493" y="0"/>
                </a:lnTo>
                <a:cubicBezTo>
                  <a:pt x="2478578" y="0"/>
                  <a:pt x="2512695" y="34117"/>
                  <a:pt x="2512695" y="76202"/>
                </a:cubicBezTo>
                <a:lnTo>
                  <a:pt x="2512695" y="541018"/>
                </a:lnTo>
                <a:cubicBezTo>
                  <a:pt x="2512695" y="583103"/>
                  <a:pt x="2478578" y="617220"/>
                  <a:pt x="24364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9140" y="3463291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Classes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9140" y="3691891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Standard, IA, Glacier, Deep Archive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1835" y="3345180"/>
            <a:ext cx="2512695" cy="617220"/>
          </a:xfrm>
          <a:custGeom>
            <a:avLst/>
            <a:gdLst/>
            <a:ahLst/>
            <a:cxnLst/>
            <a:rect l="l" t="t" r="r" b="b"/>
            <a:pathLst>
              <a:path w="2512695" h="617220">
                <a:moveTo>
                  <a:pt x="76202" y="0"/>
                </a:moveTo>
                <a:lnTo>
                  <a:pt x="2436493" y="0"/>
                </a:lnTo>
                <a:cubicBezTo>
                  <a:pt x="2478578" y="0"/>
                  <a:pt x="2512695" y="34117"/>
                  <a:pt x="2512695" y="76202"/>
                </a:cubicBezTo>
                <a:lnTo>
                  <a:pt x="2512695" y="541018"/>
                </a:lnTo>
                <a:cubicBezTo>
                  <a:pt x="2512695" y="583103"/>
                  <a:pt x="2478578" y="617220"/>
                  <a:pt x="2436493" y="617220"/>
                </a:cubicBezTo>
                <a:lnTo>
                  <a:pt x="76202" y="617220"/>
                </a:lnTo>
                <a:cubicBezTo>
                  <a:pt x="34117" y="617220"/>
                  <a:pt x="0" y="583103"/>
                  <a:pt x="0" y="54101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69945" y="3463291"/>
            <a:ext cx="2343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69945" y="3691891"/>
            <a:ext cx="23336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Versioning, lifecycle policies, encryption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4810" y="4655821"/>
            <a:ext cx="5608320" cy="1817370"/>
          </a:xfrm>
          <a:custGeom>
            <a:avLst/>
            <a:gdLst/>
            <a:ahLst/>
            <a:cxnLst/>
            <a:rect l="l" t="t" r="r" b="b"/>
            <a:pathLst>
              <a:path w="5608320" h="1817370">
                <a:moveTo>
                  <a:pt x="114294" y="0"/>
                </a:moveTo>
                <a:lnTo>
                  <a:pt x="5494026" y="0"/>
                </a:lnTo>
                <a:cubicBezTo>
                  <a:pt x="5557149" y="0"/>
                  <a:pt x="5608320" y="51171"/>
                  <a:pt x="5608320" y="114294"/>
                </a:cubicBezTo>
                <a:lnTo>
                  <a:pt x="5608320" y="1703076"/>
                </a:lnTo>
                <a:cubicBezTo>
                  <a:pt x="5608320" y="1766199"/>
                  <a:pt x="5557149" y="1817370"/>
                  <a:pt x="549402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" y="488823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50570" y="50215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7231" y="0"/>
                </a:moveTo>
                <a:cubicBezTo>
                  <a:pt x="107231" y="-6586"/>
                  <a:pt x="101910" y="-11906"/>
                  <a:pt x="95324" y="-11906"/>
                </a:cubicBezTo>
                <a:cubicBezTo>
                  <a:pt x="88739" y="-11906"/>
                  <a:pt x="83418" y="-6586"/>
                  <a:pt x="83418" y="0"/>
                </a:cubicBezTo>
                <a:lnTo>
                  <a:pt x="83418" y="23106"/>
                </a:lnTo>
                <a:lnTo>
                  <a:pt x="77837" y="17525"/>
                </a:lnTo>
                <a:cubicBezTo>
                  <a:pt x="74340" y="14027"/>
                  <a:pt x="68684" y="14027"/>
                  <a:pt x="65224" y="17525"/>
                </a:cubicBezTo>
                <a:cubicBezTo>
                  <a:pt x="61764" y="21022"/>
                  <a:pt x="61726" y="26677"/>
                  <a:pt x="65224" y="30138"/>
                </a:cubicBezTo>
                <a:lnTo>
                  <a:pt x="83455" y="48369"/>
                </a:lnTo>
                <a:lnTo>
                  <a:pt x="83455" y="74637"/>
                </a:lnTo>
                <a:lnTo>
                  <a:pt x="60685" y="61503"/>
                </a:lnTo>
                <a:lnTo>
                  <a:pt x="54025" y="36612"/>
                </a:lnTo>
                <a:cubicBezTo>
                  <a:pt x="52760" y="31849"/>
                  <a:pt x="47848" y="29021"/>
                  <a:pt x="43086" y="30287"/>
                </a:cubicBezTo>
                <a:cubicBezTo>
                  <a:pt x="38323" y="31552"/>
                  <a:pt x="35458" y="36463"/>
                  <a:pt x="36723" y="41225"/>
                </a:cubicBezTo>
                <a:lnTo>
                  <a:pt x="38770" y="48853"/>
                </a:lnTo>
                <a:lnTo>
                  <a:pt x="18790" y="37319"/>
                </a:lnTo>
                <a:cubicBezTo>
                  <a:pt x="13097" y="34044"/>
                  <a:pt x="5804" y="35979"/>
                  <a:pt x="2530" y="41672"/>
                </a:cubicBezTo>
                <a:cubicBezTo>
                  <a:pt x="-744" y="47365"/>
                  <a:pt x="1191" y="54657"/>
                  <a:pt x="6883" y="57931"/>
                </a:cubicBezTo>
                <a:lnTo>
                  <a:pt x="26863" y="69466"/>
                </a:lnTo>
                <a:lnTo>
                  <a:pt x="19236" y="71512"/>
                </a:lnTo>
                <a:cubicBezTo>
                  <a:pt x="14474" y="72777"/>
                  <a:pt x="11646" y="77688"/>
                  <a:pt x="12911" y="82451"/>
                </a:cubicBezTo>
                <a:cubicBezTo>
                  <a:pt x="14176" y="87213"/>
                  <a:pt x="19087" y="90041"/>
                  <a:pt x="23850" y="88776"/>
                </a:cubicBezTo>
                <a:lnTo>
                  <a:pt x="48741" y="82116"/>
                </a:lnTo>
                <a:lnTo>
                  <a:pt x="71512" y="95250"/>
                </a:lnTo>
                <a:lnTo>
                  <a:pt x="48741" y="108384"/>
                </a:lnTo>
                <a:lnTo>
                  <a:pt x="23850" y="101724"/>
                </a:lnTo>
                <a:cubicBezTo>
                  <a:pt x="19087" y="100459"/>
                  <a:pt x="14176" y="103287"/>
                  <a:pt x="12911" y="108049"/>
                </a:cubicBezTo>
                <a:cubicBezTo>
                  <a:pt x="11646" y="112812"/>
                  <a:pt x="14474" y="117723"/>
                  <a:pt x="19236" y="118988"/>
                </a:cubicBezTo>
                <a:lnTo>
                  <a:pt x="26863" y="121034"/>
                </a:lnTo>
                <a:lnTo>
                  <a:pt x="6883" y="132569"/>
                </a:lnTo>
                <a:cubicBezTo>
                  <a:pt x="1191" y="135843"/>
                  <a:pt x="-744" y="143135"/>
                  <a:pt x="2530" y="148828"/>
                </a:cubicBezTo>
                <a:cubicBezTo>
                  <a:pt x="5804" y="154521"/>
                  <a:pt x="13097" y="156493"/>
                  <a:pt x="18790" y="153181"/>
                </a:cubicBezTo>
                <a:lnTo>
                  <a:pt x="38770" y="141647"/>
                </a:lnTo>
                <a:lnTo>
                  <a:pt x="36723" y="149275"/>
                </a:lnTo>
                <a:cubicBezTo>
                  <a:pt x="35458" y="154037"/>
                  <a:pt x="38286" y="158948"/>
                  <a:pt x="43049" y="160213"/>
                </a:cubicBezTo>
                <a:cubicBezTo>
                  <a:pt x="47811" y="161479"/>
                  <a:pt x="52722" y="158651"/>
                  <a:pt x="53987" y="153888"/>
                </a:cubicBezTo>
                <a:lnTo>
                  <a:pt x="60647" y="128997"/>
                </a:lnTo>
                <a:lnTo>
                  <a:pt x="83418" y="115863"/>
                </a:lnTo>
                <a:lnTo>
                  <a:pt x="83418" y="142131"/>
                </a:lnTo>
                <a:lnTo>
                  <a:pt x="65187" y="160362"/>
                </a:lnTo>
                <a:cubicBezTo>
                  <a:pt x="61689" y="163860"/>
                  <a:pt x="61689" y="169515"/>
                  <a:pt x="65187" y="172975"/>
                </a:cubicBezTo>
                <a:cubicBezTo>
                  <a:pt x="68684" y="176436"/>
                  <a:pt x="74340" y="176473"/>
                  <a:pt x="77800" y="172975"/>
                </a:cubicBezTo>
                <a:lnTo>
                  <a:pt x="83381" y="167394"/>
                </a:lnTo>
                <a:lnTo>
                  <a:pt x="83381" y="190500"/>
                </a:lnTo>
                <a:cubicBezTo>
                  <a:pt x="83381" y="197086"/>
                  <a:pt x="88702" y="202406"/>
                  <a:pt x="95287" y="202406"/>
                </a:cubicBezTo>
                <a:cubicBezTo>
                  <a:pt x="101873" y="202406"/>
                  <a:pt x="107193" y="197086"/>
                  <a:pt x="107193" y="190500"/>
                </a:cubicBezTo>
                <a:lnTo>
                  <a:pt x="107193" y="167394"/>
                </a:lnTo>
                <a:lnTo>
                  <a:pt x="112775" y="172975"/>
                </a:lnTo>
                <a:cubicBezTo>
                  <a:pt x="116272" y="176473"/>
                  <a:pt x="121927" y="176473"/>
                  <a:pt x="125388" y="172975"/>
                </a:cubicBezTo>
                <a:cubicBezTo>
                  <a:pt x="128848" y="169478"/>
                  <a:pt x="128885" y="163823"/>
                  <a:pt x="125388" y="160362"/>
                </a:cubicBezTo>
                <a:lnTo>
                  <a:pt x="107156" y="142131"/>
                </a:lnTo>
                <a:lnTo>
                  <a:pt x="107156" y="115863"/>
                </a:lnTo>
                <a:lnTo>
                  <a:pt x="129927" y="128997"/>
                </a:lnTo>
                <a:lnTo>
                  <a:pt x="136587" y="153888"/>
                </a:lnTo>
                <a:cubicBezTo>
                  <a:pt x="137852" y="158651"/>
                  <a:pt x="142763" y="161479"/>
                  <a:pt x="147526" y="160213"/>
                </a:cubicBezTo>
                <a:cubicBezTo>
                  <a:pt x="152288" y="158948"/>
                  <a:pt x="155116" y="154037"/>
                  <a:pt x="153851" y="149275"/>
                </a:cubicBezTo>
                <a:lnTo>
                  <a:pt x="151805" y="141647"/>
                </a:lnTo>
                <a:lnTo>
                  <a:pt x="171785" y="153181"/>
                </a:lnTo>
                <a:cubicBezTo>
                  <a:pt x="177478" y="156456"/>
                  <a:pt x="184770" y="154521"/>
                  <a:pt x="188044" y="148828"/>
                </a:cubicBezTo>
                <a:cubicBezTo>
                  <a:pt x="191319" y="143135"/>
                  <a:pt x="189384" y="135843"/>
                  <a:pt x="183691" y="132569"/>
                </a:cubicBezTo>
                <a:lnTo>
                  <a:pt x="163711" y="121034"/>
                </a:lnTo>
                <a:lnTo>
                  <a:pt x="171338" y="118988"/>
                </a:lnTo>
                <a:cubicBezTo>
                  <a:pt x="176101" y="117723"/>
                  <a:pt x="178929" y="112812"/>
                  <a:pt x="177664" y="108049"/>
                </a:cubicBezTo>
                <a:cubicBezTo>
                  <a:pt x="176399" y="103287"/>
                  <a:pt x="171487" y="100459"/>
                  <a:pt x="166725" y="101724"/>
                </a:cubicBezTo>
                <a:lnTo>
                  <a:pt x="141833" y="108384"/>
                </a:lnTo>
                <a:lnTo>
                  <a:pt x="119062" y="95250"/>
                </a:lnTo>
                <a:lnTo>
                  <a:pt x="141833" y="82116"/>
                </a:lnTo>
                <a:lnTo>
                  <a:pt x="166725" y="88776"/>
                </a:lnTo>
                <a:cubicBezTo>
                  <a:pt x="171487" y="90041"/>
                  <a:pt x="176399" y="87213"/>
                  <a:pt x="177664" y="82451"/>
                </a:cubicBezTo>
                <a:cubicBezTo>
                  <a:pt x="178929" y="77688"/>
                  <a:pt x="176101" y="72777"/>
                  <a:pt x="171338" y="71512"/>
                </a:cubicBezTo>
                <a:lnTo>
                  <a:pt x="163711" y="69466"/>
                </a:lnTo>
                <a:lnTo>
                  <a:pt x="183691" y="57931"/>
                </a:lnTo>
                <a:cubicBezTo>
                  <a:pt x="189384" y="54657"/>
                  <a:pt x="191356" y="47365"/>
                  <a:pt x="188044" y="41672"/>
                </a:cubicBezTo>
                <a:cubicBezTo>
                  <a:pt x="184733" y="35979"/>
                  <a:pt x="177478" y="34044"/>
                  <a:pt x="171785" y="37319"/>
                </a:cubicBezTo>
                <a:lnTo>
                  <a:pt x="151805" y="48853"/>
                </a:lnTo>
                <a:lnTo>
                  <a:pt x="153851" y="41225"/>
                </a:lnTo>
                <a:cubicBezTo>
                  <a:pt x="155116" y="36463"/>
                  <a:pt x="152288" y="31552"/>
                  <a:pt x="147526" y="30287"/>
                </a:cubicBezTo>
                <a:cubicBezTo>
                  <a:pt x="142763" y="29021"/>
                  <a:pt x="137852" y="31849"/>
                  <a:pt x="136587" y="36612"/>
                </a:cubicBezTo>
                <a:lnTo>
                  <a:pt x="129927" y="61503"/>
                </a:lnTo>
                <a:lnTo>
                  <a:pt x="107156" y="74637"/>
                </a:lnTo>
                <a:lnTo>
                  <a:pt x="107156" y="48369"/>
                </a:lnTo>
                <a:lnTo>
                  <a:pt x="125388" y="30138"/>
                </a:lnTo>
                <a:cubicBezTo>
                  <a:pt x="128885" y="26640"/>
                  <a:pt x="128885" y="20985"/>
                  <a:pt x="125388" y="17525"/>
                </a:cubicBezTo>
                <a:cubicBezTo>
                  <a:pt x="121890" y="14064"/>
                  <a:pt x="116235" y="14027"/>
                  <a:pt x="112775" y="17525"/>
                </a:cubicBezTo>
                <a:lnTo>
                  <a:pt x="107193" y="23106"/>
                </a:lnTo>
                <a:lnTo>
                  <a:pt x="107193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4888230"/>
            <a:ext cx="1409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Glacier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5154930"/>
            <a:ext cx="138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 Archival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" y="549783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Extremely low-cost storage for data archiving and long-term backup. Retrieval times range from minutes to hours. Ideal for compliance data and historical records.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5060" y="1604010"/>
            <a:ext cx="5608320" cy="2293620"/>
          </a:xfrm>
          <a:custGeom>
            <a:avLst/>
            <a:gdLst/>
            <a:ahLst/>
            <a:cxnLst/>
            <a:rect l="l" t="t" r="r" b="b"/>
            <a:pathLst>
              <a:path w="5608320" h="2293620">
                <a:moveTo>
                  <a:pt x="114291" y="0"/>
                </a:moveTo>
                <a:lnTo>
                  <a:pt x="5494029" y="0"/>
                </a:lnTo>
                <a:cubicBezTo>
                  <a:pt x="5557150" y="0"/>
                  <a:pt x="5608320" y="51170"/>
                  <a:pt x="5608320" y="114291"/>
                </a:cubicBezTo>
                <a:lnTo>
                  <a:pt x="5608320" y="2179329"/>
                </a:lnTo>
                <a:cubicBezTo>
                  <a:pt x="5608320" y="2242450"/>
                  <a:pt x="5557150" y="2293620"/>
                  <a:pt x="5494029" y="2293620"/>
                </a:cubicBezTo>
                <a:lnTo>
                  <a:pt x="114291" y="2293620"/>
                </a:lnTo>
                <a:cubicBezTo>
                  <a:pt x="51170" y="2293620"/>
                  <a:pt x="0" y="2242450"/>
                  <a:pt x="0" y="21793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2747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572726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3812" y="11906"/>
                </a:moveTo>
                <a:cubicBezTo>
                  <a:pt x="10678" y="11906"/>
                  <a:pt x="0" y="22585"/>
                  <a:pt x="0" y="35719"/>
                </a:cubicBezTo>
                <a:lnTo>
                  <a:pt x="0" y="96775"/>
                </a:lnTo>
                <a:cubicBezTo>
                  <a:pt x="6734" y="92050"/>
                  <a:pt x="14957" y="89297"/>
                  <a:pt x="23812" y="89297"/>
                </a:cubicBezTo>
                <a:lnTo>
                  <a:pt x="142875" y="89297"/>
                </a:lnTo>
                <a:cubicBezTo>
                  <a:pt x="151730" y="89297"/>
                  <a:pt x="159953" y="92050"/>
                  <a:pt x="166688" y="96775"/>
                </a:cubicBezTo>
                <a:lnTo>
                  <a:pt x="166688" y="35719"/>
                </a:lnTo>
                <a:cubicBezTo>
                  <a:pt x="166688" y="22585"/>
                  <a:pt x="156009" y="11906"/>
                  <a:pt x="142875" y="11906"/>
                </a:cubicBezTo>
                <a:lnTo>
                  <a:pt x="23812" y="11906"/>
                </a:lnTo>
                <a:close/>
                <a:moveTo>
                  <a:pt x="166688" y="130969"/>
                </a:moveTo>
                <a:cubicBezTo>
                  <a:pt x="166688" y="117835"/>
                  <a:pt x="156009" y="107156"/>
                  <a:pt x="142875" y="107156"/>
                </a:cubicBezTo>
                <a:lnTo>
                  <a:pt x="23812" y="107156"/>
                </a:lnTo>
                <a:cubicBezTo>
                  <a:pt x="10678" y="107156"/>
                  <a:pt x="0" y="117835"/>
                  <a:pt x="0" y="130969"/>
                </a:cubicBez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130969"/>
                </a:lnTo>
                <a:close/>
                <a:moveTo>
                  <a:pt x="83344" y="142875"/>
                </a:moveTo>
                <a:cubicBezTo>
                  <a:pt x="83344" y="136304"/>
                  <a:pt x="88679" y="130969"/>
                  <a:pt x="95250" y="130969"/>
                </a:cubicBezTo>
                <a:cubicBezTo>
                  <a:pt x="101821" y="130969"/>
                  <a:pt x="107156" y="136304"/>
                  <a:pt x="107156" y="142875"/>
                </a:cubicBezTo>
                <a:cubicBezTo>
                  <a:pt x="107156" y="149446"/>
                  <a:pt x="101821" y="154781"/>
                  <a:pt x="95250" y="154781"/>
                </a:cubicBezTo>
                <a:cubicBezTo>
                  <a:pt x="88679" y="154781"/>
                  <a:pt x="83344" y="149446"/>
                  <a:pt x="83344" y="142875"/>
                </a:cubicBezTo>
                <a:close/>
                <a:moveTo>
                  <a:pt x="130969" y="130969"/>
                </a:moveTo>
                <a:cubicBezTo>
                  <a:pt x="137540" y="130969"/>
                  <a:pt x="142875" y="136304"/>
                  <a:pt x="142875" y="142875"/>
                </a:cubicBezTo>
                <a:cubicBezTo>
                  <a:pt x="142875" y="149446"/>
                  <a:pt x="137540" y="154781"/>
                  <a:pt x="130969" y="154781"/>
                </a:cubicBezTo>
                <a:cubicBezTo>
                  <a:pt x="124398" y="154781"/>
                  <a:pt x="119063" y="149446"/>
                  <a:pt x="119063" y="142875"/>
                </a:cubicBezTo>
                <a:cubicBezTo>
                  <a:pt x="119063" y="136304"/>
                  <a:pt x="124398" y="130969"/>
                  <a:pt x="130969" y="13096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6998970" y="1836420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EBS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98970" y="2103120"/>
            <a:ext cx="115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 Block Store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427470" y="244602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block storage volumes for EC2 instances. Like a virtual hard drive attached to your server. Choose from SSD (gp3, io2) or HDD (st1, sc1) volume types based on performance needs.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31280" y="3345180"/>
            <a:ext cx="941070" cy="312420"/>
          </a:xfrm>
          <a:custGeom>
            <a:avLst/>
            <a:gdLst/>
            <a:ahLst/>
            <a:cxnLst/>
            <a:rect l="l" t="t" r="r" b="b"/>
            <a:pathLst>
              <a:path w="941070" h="312420">
                <a:moveTo>
                  <a:pt x="76199" y="0"/>
                </a:moveTo>
                <a:lnTo>
                  <a:pt x="864871" y="0"/>
                </a:lnTo>
                <a:cubicBezTo>
                  <a:pt x="906954" y="0"/>
                  <a:pt x="941070" y="34116"/>
                  <a:pt x="941070" y="76199"/>
                </a:cubicBezTo>
                <a:lnTo>
                  <a:pt x="941070" y="236221"/>
                </a:lnTo>
                <a:cubicBezTo>
                  <a:pt x="941070" y="278304"/>
                  <a:pt x="906954" y="312420"/>
                  <a:pt x="86487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49390" y="3432811"/>
            <a:ext cx="760809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Boot Volumes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454980" y="3345180"/>
            <a:ext cx="769620" cy="312420"/>
          </a:xfrm>
          <a:custGeom>
            <a:avLst/>
            <a:gdLst/>
            <a:ahLst/>
            <a:cxnLst/>
            <a:rect l="l" t="t" r="r" b="b"/>
            <a:pathLst>
              <a:path w="769620" h="312420">
                <a:moveTo>
                  <a:pt x="76199" y="0"/>
                </a:moveTo>
                <a:lnTo>
                  <a:pt x="693421" y="0"/>
                </a:lnTo>
                <a:cubicBezTo>
                  <a:pt x="735504" y="0"/>
                  <a:pt x="769620" y="34116"/>
                  <a:pt x="769620" y="76199"/>
                </a:cubicBezTo>
                <a:lnTo>
                  <a:pt x="769620" y="236221"/>
                </a:lnTo>
                <a:cubicBezTo>
                  <a:pt x="769620" y="278304"/>
                  <a:pt x="735504" y="312420"/>
                  <a:pt x="6934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3089" y="3432811"/>
            <a:ext cx="59007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07943" y="3345180"/>
            <a:ext cx="769620" cy="312420"/>
          </a:xfrm>
          <a:custGeom>
            <a:avLst/>
            <a:gdLst/>
            <a:ahLst/>
            <a:cxnLst/>
            <a:rect l="l" t="t" r="r" b="b"/>
            <a:pathLst>
              <a:path w="769620" h="312420">
                <a:moveTo>
                  <a:pt x="76199" y="0"/>
                </a:moveTo>
                <a:lnTo>
                  <a:pt x="693421" y="0"/>
                </a:lnTo>
                <a:cubicBezTo>
                  <a:pt x="735504" y="0"/>
                  <a:pt x="769620" y="34116"/>
                  <a:pt x="769620" y="76199"/>
                </a:cubicBezTo>
                <a:lnTo>
                  <a:pt x="769620" y="236221"/>
                </a:lnTo>
                <a:cubicBezTo>
                  <a:pt x="769620" y="278304"/>
                  <a:pt x="735504" y="312420"/>
                  <a:pt x="69342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26053" y="3432811"/>
            <a:ext cx="59150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Snapshots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5060" y="4091940"/>
            <a:ext cx="5608320" cy="2293620"/>
          </a:xfrm>
          <a:custGeom>
            <a:avLst/>
            <a:gdLst/>
            <a:ahLst/>
            <a:cxnLst/>
            <a:rect l="l" t="t" r="r" b="b"/>
            <a:pathLst>
              <a:path w="5608320" h="2293620">
                <a:moveTo>
                  <a:pt x="114291" y="0"/>
                </a:moveTo>
                <a:lnTo>
                  <a:pt x="5494029" y="0"/>
                </a:lnTo>
                <a:cubicBezTo>
                  <a:pt x="5557150" y="0"/>
                  <a:pt x="5608320" y="51170"/>
                  <a:pt x="5608320" y="114291"/>
                </a:cubicBezTo>
                <a:lnTo>
                  <a:pt x="5608320" y="2179329"/>
                </a:lnTo>
                <a:cubicBezTo>
                  <a:pt x="5608320" y="2242450"/>
                  <a:pt x="5557150" y="2293620"/>
                  <a:pt x="5494029" y="2293620"/>
                </a:cubicBezTo>
                <a:lnTo>
                  <a:pt x="114291" y="2293620"/>
                </a:lnTo>
                <a:cubicBezTo>
                  <a:pt x="51170" y="2293620"/>
                  <a:pt x="0" y="2242450"/>
                  <a:pt x="0" y="21793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27470" y="43243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48914" y="4457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0836" y="83939"/>
                </a:moveTo>
                <a:lnTo>
                  <a:pt x="12055" y="110207"/>
                </a:lnTo>
                <a:lnTo>
                  <a:pt x="12055" y="35719"/>
                </a:lnTo>
                <a:cubicBezTo>
                  <a:pt x="12055" y="22585"/>
                  <a:pt x="22733" y="11906"/>
                  <a:pt x="35868" y="11906"/>
                </a:cubicBezTo>
                <a:lnTo>
                  <a:pt x="87474" y="11906"/>
                </a:lnTo>
                <a:cubicBezTo>
                  <a:pt x="92608" y="11906"/>
                  <a:pt x="97631" y="13581"/>
                  <a:pt x="101761" y="16669"/>
                </a:cubicBezTo>
                <a:lnTo>
                  <a:pt x="116049" y="27384"/>
                </a:lnTo>
                <a:cubicBezTo>
                  <a:pt x="118095" y="28947"/>
                  <a:pt x="120625" y="29766"/>
                  <a:pt x="123192" y="29766"/>
                </a:cubicBezTo>
                <a:lnTo>
                  <a:pt x="166836" y="29766"/>
                </a:lnTo>
                <a:cubicBezTo>
                  <a:pt x="179970" y="29766"/>
                  <a:pt x="190649" y="40444"/>
                  <a:pt x="190649" y="53578"/>
                </a:cubicBezTo>
                <a:lnTo>
                  <a:pt x="190649" y="59531"/>
                </a:lnTo>
                <a:lnTo>
                  <a:pt x="54694" y="59531"/>
                </a:lnTo>
                <a:cubicBezTo>
                  <a:pt x="39328" y="59531"/>
                  <a:pt x="25673" y="69354"/>
                  <a:pt x="20799" y="83939"/>
                </a:cubicBezTo>
                <a:close/>
                <a:moveTo>
                  <a:pt x="177775" y="166688"/>
                </a:moveTo>
                <a:lnTo>
                  <a:pt x="36835" y="166688"/>
                </a:lnTo>
                <a:cubicBezTo>
                  <a:pt x="24631" y="166688"/>
                  <a:pt x="16036" y="154744"/>
                  <a:pt x="19906" y="143173"/>
                </a:cubicBezTo>
                <a:lnTo>
                  <a:pt x="37765" y="89595"/>
                </a:lnTo>
                <a:cubicBezTo>
                  <a:pt x="40184" y="82302"/>
                  <a:pt x="47030" y="77391"/>
                  <a:pt x="54694" y="77391"/>
                </a:cubicBezTo>
                <a:lnTo>
                  <a:pt x="195635" y="77391"/>
                </a:lnTo>
                <a:cubicBezTo>
                  <a:pt x="207838" y="77391"/>
                  <a:pt x="216433" y="89334"/>
                  <a:pt x="212564" y="100905"/>
                </a:cubicBezTo>
                <a:lnTo>
                  <a:pt x="194704" y="154484"/>
                </a:lnTo>
                <a:cubicBezTo>
                  <a:pt x="192286" y="161776"/>
                  <a:pt x="185440" y="166688"/>
                  <a:pt x="177775" y="16668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998970" y="432435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EFS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98970" y="4591050"/>
            <a:ext cx="1171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Elastic File System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27470" y="4933950"/>
            <a:ext cx="52197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NFS service for shared file storage. Accessible by thousands of EC2 instances simultaneously. Automatically scales as you add or remove files.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1280" y="5833110"/>
            <a:ext cx="1331595" cy="312420"/>
          </a:xfrm>
          <a:custGeom>
            <a:avLst/>
            <a:gdLst/>
            <a:ahLst/>
            <a:cxnLst/>
            <a:rect l="l" t="t" r="r" b="b"/>
            <a:pathLst>
              <a:path w="1331595" h="312420">
                <a:moveTo>
                  <a:pt x="76199" y="0"/>
                </a:moveTo>
                <a:lnTo>
                  <a:pt x="1255396" y="0"/>
                </a:lnTo>
                <a:cubicBezTo>
                  <a:pt x="1297479" y="0"/>
                  <a:pt x="1331595" y="34116"/>
                  <a:pt x="1331595" y="76199"/>
                </a:cubicBezTo>
                <a:lnTo>
                  <a:pt x="1331595" y="236221"/>
                </a:lnTo>
                <a:cubicBezTo>
                  <a:pt x="1331595" y="278304"/>
                  <a:pt x="1297479" y="312420"/>
                  <a:pt x="1255396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49390" y="5920741"/>
            <a:ext cx="115538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Management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849553" y="5833110"/>
            <a:ext cx="1017270" cy="312420"/>
          </a:xfrm>
          <a:custGeom>
            <a:avLst/>
            <a:gdLst/>
            <a:ahLst/>
            <a:cxnLst/>
            <a:rect l="l" t="t" r="r" b="b"/>
            <a:pathLst>
              <a:path w="1017270" h="312420">
                <a:moveTo>
                  <a:pt x="76199" y="0"/>
                </a:moveTo>
                <a:lnTo>
                  <a:pt x="941071" y="0"/>
                </a:lnTo>
                <a:cubicBezTo>
                  <a:pt x="983154" y="0"/>
                  <a:pt x="1017270" y="34116"/>
                  <a:pt x="1017270" y="76199"/>
                </a:cubicBezTo>
                <a:lnTo>
                  <a:pt x="1017270" y="236221"/>
                </a:lnTo>
                <a:cubicBezTo>
                  <a:pt x="1017270" y="278304"/>
                  <a:pt x="983154" y="312420"/>
                  <a:pt x="941071" y="312420"/>
                </a:cubicBezTo>
                <a:lnTo>
                  <a:pt x="76199" y="312420"/>
                </a:lnTo>
                <a:cubicBezTo>
                  <a:pt x="34144" y="312420"/>
                  <a:pt x="0" y="278276"/>
                  <a:pt x="0" y="23622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67662" y="5920741"/>
            <a:ext cx="83486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Shared Storage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DATABASES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Services: Data Management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database solutions for relational, NoSQL, and data warehousing workloads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476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36420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Relational Database 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446020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relational databases supporting MySQL, PostgreSQL, MariaDB, Oracle, and SQL Server. Automated patching, backups, and scaling.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04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08" y="4053841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Multi-AZ replication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04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4320541"/>
            <a:ext cx="857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replicas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04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08" y="4587241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Automated backups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0680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12124" y="19697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62181" y="1836420"/>
            <a:ext cx="1381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Aurora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2181" y="210312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0680" y="2446020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MySQL and PostgreSQL-compatible relational database with up to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5x throughput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standard MySQL. Enterprise-grade performance at open-source cost.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8065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3568" y="4053841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 storage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8065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3568" y="4320541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databases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8065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3568" y="4587241"/>
            <a:ext cx="1085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option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4141" y="1836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509397" y="1969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59531"/>
                </a:moveTo>
                <a:lnTo>
                  <a:pt x="95250" y="95250"/>
                </a:lnTo>
                <a:lnTo>
                  <a:pt x="142875" y="95250"/>
                </a:lnTo>
                <a:lnTo>
                  <a:pt x="142875" y="59531"/>
                </a:lnTo>
                <a:lnTo>
                  <a:pt x="95250" y="59531"/>
                </a:lnTo>
                <a:close/>
                <a:moveTo>
                  <a:pt x="71438" y="59531"/>
                </a:moveTo>
                <a:lnTo>
                  <a:pt x="23812" y="59531"/>
                </a:lnTo>
                <a:lnTo>
                  <a:pt x="23812" y="95250"/>
                </a:lnTo>
                <a:lnTo>
                  <a:pt x="71438" y="95250"/>
                </a:lnTo>
                <a:lnTo>
                  <a:pt x="71438" y="59531"/>
                </a:lnTo>
                <a:close/>
                <a:moveTo>
                  <a:pt x="0" y="119063"/>
                </a:move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142875" y="11906"/>
                </a:lnTo>
                <a:cubicBezTo>
                  <a:pt x="156009" y="11906"/>
                  <a:pt x="166688" y="22585"/>
                  <a:pt x="166688" y="35719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119063"/>
                </a:lnTo>
                <a:close/>
                <a:moveTo>
                  <a:pt x="142875" y="119063"/>
                </a:moveTo>
                <a:lnTo>
                  <a:pt x="95250" y="119063"/>
                </a:lnTo>
                <a:lnTo>
                  <a:pt x="95250" y="154781"/>
                </a:lnTo>
                <a:lnTo>
                  <a:pt x="142875" y="154781"/>
                </a:lnTo>
                <a:lnTo>
                  <a:pt x="142875" y="119063"/>
                </a:lnTo>
                <a:close/>
                <a:moveTo>
                  <a:pt x="71438" y="154781"/>
                </a:moveTo>
                <a:lnTo>
                  <a:pt x="71438" y="119063"/>
                </a:lnTo>
                <a:lnTo>
                  <a:pt x="23812" y="119063"/>
                </a:lnTo>
                <a:lnTo>
                  <a:pt x="23812" y="154781"/>
                </a:lnTo>
                <a:lnTo>
                  <a:pt x="71438" y="15478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935641" y="1836420"/>
            <a:ext cx="1104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DynamoDB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5641" y="2103120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NoSQL Database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4141" y="2446020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NoSQL key-value and document database with </a:t>
            </a: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single-digit millisecond</a:t>
            </a: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performance at any scale. Handles 10+ trillion requests daily.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91525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607028" y="4053841"/>
            <a:ext cx="685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1525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607028" y="4320541"/>
            <a:ext cx="819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1525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607028" y="4587241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tables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208269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114298" y="0"/>
                </a:moveTo>
                <a:lnTo>
                  <a:pt x="5494022" y="0"/>
                </a:lnTo>
                <a:cubicBezTo>
                  <a:pt x="5557147" y="0"/>
                  <a:pt x="5608320" y="51173"/>
                  <a:pt x="5608320" y="114298"/>
                </a:cubicBezTo>
                <a:lnTo>
                  <a:pt x="5608320" y="1150622"/>
                </a:lnTo>
                <a:cubicBezTo>
                  <a:pt x="5608320" y="1213747"/>
                  <a:pt x="5557147" y="1264920"/>
                  <a:pt x="549402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1026" y="544068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52871"/>
                </a:moveTo>
                <a:lnTo>
                  <a:pt x="0" y="178594"/>
                </a:lnTo>
                <a:cubicBezTo>
                  <a:pt x="0" y="185179"/>
                  <a:pt x="5321" y="190500"/>
                  <a:pt x="11906" y="190500"/>
                </a:cubicBezTo>
                <a:cubicBezTo>
                  <a:pt x="18492" y="190500"/>
                  <a:pt x="23812" y="185179"/>
                  <a:pt x="23812" y="178594"/>
                </a:cubicBezTo>
                <a:lnTo>
                  <a:pt x="23812" y="89297"/>
                </a:lnTo>
                <a:cubicBezTo>
                  <a:pt x="23812" y="82711"/>
                  <a:pt x="29133" y="77391"/>
                  <a:pt x="35719" y="77391"/>
                </a:cubicBezTo>
                <a:lnTo>
                  <a:pt x="178594" y="77391"/>
                </a:lnTo>
                <a:cubicBezTo>
                  <a:pt x="185179" y="77391"/>
                  <a:pt x="190500" y="82711"/>
                  <a:pt x="190500" y="89297"/>
                </a:cubicBezTo>
                <a:lnTo>
                  <a:pt x="190500" y="178594"/>
                </a:lnTo>
                <a:cubicBezTo>
                  <a:pt x="190500" y="185179"/>
                  <a:pt x="195821" y="190500"/>
                  <a:pt x="202406" y="190500"/>
                </a:cubicBezTo>
                <a:cubicBezTo>
                  <a:pt x="208992" y="190500"/>
                  <a:pt x="214313" y="185179"/>
                  <a:pt x="214313" y="178594"/>
                </a:cubicBezTo>
                <a:lnTo>
                  <a:pt x="214313" y="52871"/>
                </a:lnTo>
                <a:cubicBezTo>
                  <a:pt x="214313" y="42639"/>
                  <a:pt x="207764" y="33524"/>
                  <a:pt x="198016" y="30287"/>
                </a:cubicBezTo>
                <a:lnTo>
                  <a:pt x="112812" y="1898"/>
                </a:lnTo>
                <a:cubicBezTo>
                  <a:pt x="109128" y="670"/>
                  <a:pt x="105184" y="670"/>
                  <a:pt x="101501" y="1898"/>
                </a:cubicBezTo>
                <a:lnTo>
                  <a:pt x="16297" y="30287"/>
                </a:lnTo>
                <a:cubicBezTo>
                  <a:pt x="6548" y="33524"/>
                  <a:pt x="0" y="42639"/>
                  <a:pt x="0" y="52871"/>
                </a:cubicBezTo>
                <a:close/>
                <a:moveTo>
                  <a:pt x="172641" y="95250"/>
                </a:moveTo>
                <a:lnTo>
                  <a:pt x="41672" y="95250"/>
                </a:lnTo>
                <a:lnTo>
                  <a:pt x="41672" y="119063"/>
                </a:lnTo>
                <a:lnTo>
                  <a:pt x="172641" y="119063"/>
                </a:lnTo>
                <a:lnTo>
                  <a:pt x="172641" y="95250"/>
                </a:lnTo>
                <a:close/>
                <a:moveTo>
                  <a:pt x="41672" y="154781"/>
                </a:moveTo>
                <a:lnTo>
                  <a:pt x="172641" y="154781"/>
                </a:lnTo>
                <a:lnTo>
                  <a:pt x="172641" y="130969"/>
                </a:lnTo>
                <a:lnTo>
                  <a:pt x="41672" y="130969"/>
                </a:lnTo>
                <a:lnTo>
                  <a:pt x="41672" y="154781"/>
                </a:lnTo>
                <a:close/>
                <a:moveTo>
                  <a:pt x="172641" y="166688"/>
                </a:moveTo>
                <a:lnTo>
                  <a:pt x="41672" y="166688"/>
                </a:lnTo>
                <a:lnTo>
                  <a:pt x="41672" y="190500"/>
                </a:lnTo>
                <a:lnTo>
                  <a:pt x="172641" y="190500"/>
                </a:lnTo>
                <a:lnTo>
                  <a:pt x="172641" y="16668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31545" y="5402582"/>
            <a:ext cx="1371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Redshift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9120" y="57835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Petabyte-scale cloud data warehouse for analytics. Run complex queries on vast datasets with columnar storage and massively parallel processing.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060" y="5208269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114298" y="0"/>
                </a:moveTo>
                <a:lnTo>
                  <a:pt x="5494022" y="0"/>
                </a:lnTo>
                <a:cubicBezTo>
                  <a:pt x="5557147" y="0"/>
                  <a:pt x="5608320" y="51173"/>
                  <a:pt x="5608320" y="114298"/>
                </a:cubicBezTo>
                <a:lnTo>
                  <a:pt x="5608320" y="1150622"/>
                </a:lnTo>
                <a:cubicBezTo>
                  <a:pt x="5608320" y="1213747"/>
                  <a:pt x="5557147" y="1264920"/>
                  <a:pt x="549402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36995" y="5440682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41795" y="5402582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DocumentDB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9370" y="57835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MongoDB-compatible document database service. Store, query, and index JSON data with MongoDB API compatibility.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644" y="326644"/>
            <a:ext cx="11595874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kern="0" spc="45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NETWORKING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644" y="555295"/>
            <a:ext cx="11685701" cy="326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 &amp; Content Delivery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26644" y="947269"/>
            <a:ext cx="11612206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Secure, scalable, and high-performance network infrastructure for global application delivery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9911" y="1375173"/>
            <a:ext cx="5681978" cy="2856505"/>
          </a:xfrm>
          <a:custGeom>
            <a:avLst/>
            <a:gdLst/>
            <a:ahLst/>
            <a:cxnLst/>
            <a:rect l="l" t="t" r="r" b="b"/>
            <a:pathLst>
              <a:path w="5681978" h="2856505">
                <a:moveTo>
                  <a:pt x="98007" y="0"/>
                </a:moveTo>
                <a:lnTo>
                  <a:pt x="5583972" y="0"/>
                </a:lnTo>
                <a:cubicBezTo>
                  <a:pt x="5638099" y="0"/>
                  <a:pt x="5681978" y="43879"/>
                  <a:pt x="5681978" y="98007"/>
                </a:cubicBezTo>
                <a:lnTo>
                  <a:pt x="5681978" y="2758498"/>
                </a:lnTo>
                <a:cubicBezTo>
                  <a:pt x="5681978" y="2812626"/>
                  <a:pt x="5638099" y="2856505"/>
                  <a:pt x="5583972" y="2856505"/>
                </a:cubicBezTo>
                <a:lnTo>
                  <a:pt x="98007" y="2856505"/>
                </a:lnTo>
                <a:cubicBezTo>
                  <a:pt x="43879" y="2856505"/>
                  <a:pt x="0" y="2812626"/>
                  <a:pt x="0" y="2758498"/>
                </a:cubicBezTo>
                <a:lnTo>
                  <a:pt x="0" y="98007"/>
                </a:lnTo>
                <a:cubicBezTo>
                  <a:pt x="0" y="43879"/>
                  <a:pt x="43879" y="0"/>
                  <a:pt x="9800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29164" y="1574428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65330" y="0"/>
                </a:moveTo>
                <a:lnTo>
                  <a:pt x="326643" y="0"/>
                </a:lnTo>
                <a:cubicBezTo>
                  <a:pt x="362724" y="0"/>
                  <a:pt x="391973" y="29249"/>
                  <a:pt x="391973" y="65330"/>
                </a:cubicBezTo>
                <a:lnTo>
                  <a:pt x="391973" y="326643"/>
                </a:lnTo>
                <a:cubicBezTo>
                  <a:pt x="391973" y="362724"/>
                  <a:pt x="362724" y="391973"/>
                  <a:pt x="326643" y="391973"/>
                </a:cubicBezTo>
                <a:lnTo>
                  <a:pt x="65330" y="391973"/>
                </a:lnTo>
                <a:cubicBezTo>
                  <a:pt x="29249" y="391973"/>
                  <a:pt x="0" y="362724"/>
                  <a:pt x="0" y="326643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3282" y="1688754"/>
            <a:ext cx="183737" cy="163322"/>
          </a:xfrm>
          <a:custGeom>
            <a:avLst/>
            <a:gdLst/>
            <a:ahLst/>
            <a:cxnLst/>
            <a:rect l="l" t="t" r="r" b="b"/>
            <a:pathLst>
              <a:path w="183737" h="163322">
                <a:moveTo>
                  <a:pt x="79109" y="28071"/>
                </a:moveTo>
                <a:lnTo>
                  <a:pt x="104628" y="28071"/>
                </a:lnTo>
                <a:lnTo>
                  <a:pt x="104628" y="43382"/>
                </a:lnTo>
                <a:lnTo>
                  <a:pt x="79109" y="43382"/>
                </a:lnTo>
                <a:lnTo>
                  <a:pt x="79109" y="28071"/>
                </a:lnTo>
                <a:close/>
                <a:moveTo>
                  <a:pt x="76557" y="10208"/>
                </a:moveTo>
                <a:cubicBezTo>
                  <a:pt x="68104" y="10208"/>
                  <a:pt x="61246" y="17066"/>
                  <a:pt x="61246" y="25519"/>
                </a:cubicBezTo>
                <a:lnTo>
                  <a:pt x="61246" y="45934"/>
                </a:lnTo>
                <a:cubicBezTo>
                  <a:pt x="61246" y="54388"/>
                  <a:pt x="68104" y="61246"/>
                  <a:pt x="76557" y="61246"/>
                </a:cubicBezTo>
                <a:lnTo>
                  <a:pt x="81661" y="61246"/>
                </a:lnTo>
                <a:lnTo>
                  <a:pt x="81661" y="71453"/>
                </a:lnTo>
                <a:lnTo>
                  <a:pt x="10208" y="71453"/>
                </a:lnTo>
                <a:cubicBezTo>
                  <a:pt x="4562" y="71453"/>
                  <a:pt x="0" y="76015"/>
                  <a:pt x="0" y="81661"/>
                </a:cubicBezTo>
                <a:cubicBezTo>
                  <a:pt x="0" y="87307"/>
                  <a:pt x="4562" y="91869"/>
                  <a:pt x="10208" y="91869"/>
                </a:cubicBezTo>
                <a:lnTo>
                  <a:pt x="40831" y="91869"/>
                </a:lnTo>
                <a:lnTo>
                  <a:pt x="40831" y="102076"/>
                </a:lnTo>
                <a:lnTo>
                  <a:pt x="35727" y="102076"/>
                </a:lnTo>
                <a:cubicBezTo>
                  <a:pt x="27274" y="102076"/>
                  <a:pt x="20415" y="108935"/>
                  <a:pt x="20415" y="117388"/>
                </a:cubicBezTo>
                <a:lnTo>
                  <a:pt x="20415" y="137803"/>
                </a:lnTo>
                <a:cubicBezTo>
                  <a:pt x="20415" y="146256"/>
                  <a:pt x="27274" y="153115"/>
                  <a:pt x="35727" y="153115"/>
                </a:cubicBezTo>
                <a:lnTo>
                  <a:pt x="66350" y="153115"/>
                </a:lnTo>
                <a:cubicBezTo>
                  <a:pt x="74803" y="153115"/>
                  <a:pt x="81661" y="146256"/>
                  <a:pt x="81661" y="137803"/>
                </a:cubicBezTo>
                <a:lnTo>
                  <a:pt x="81661" y="117388"/>
                </a:lnTo>
                <a:cubicBezTo>
                  <a:pt x="81661" y="108935"/>
                  <a:pt x="74803" y="102076"/>
                  <a:pt x="66350" y="102076"/>
                </a:cubicBezTo>
                <a:lnTo>
                  <a:pt x="61246" y="102076"/>
                </a:lnTo>
                <a:lnTo>
                  <a:pt x="61246" y="91869"/>
                </a:lnTo>
                <a:lnTo>
                  <a:pt x="122492" y="91869"/>
                </a:lnTo>
                <a:lnTo>
                  <a:pt x="122492" y="102076"/>
                </a:lnTo>
                <a:lnTo>
                  <a:pt x="117388" y="102076"/>
                </a:lnTo>
                <a:cubicBezTo>
                  <a:pt x="108935" y="102076"/>
                  <a:pt x="102076" y="108935"/>
                  <a:pt x="102076" y="117388"/>
                </a:cubicBezTo>
                <a:lnTo>
                  <a:pt x="102076" y="137803"/>
                </a:lnTo>
                <a:cubicBezTo>
                  <a:pt x="102076" y="146256"/>
                  <a:pt x="108935" y="153115"/>
                  <a:pt x="117388" y="153115"/>
                </a:cubicBezTo>
                <a:lnTo>
                  <a:pt x="148011" y="153115"/>
                </a:lnTo>
                <a:cubicBezTo>
                  <a:pt x="156464" y="153115"/>
                  <a:pt x="163322" y="146256"/>
                  <a:pt x="163322" y="137803"/>
                </a:cubicBezTo>
                <a:lnTo>
                  <a:pt x="163322" y="117388"/>
                </a:lnTo>
                <a:cubicBezTo>
                  <a:pt x="163322" y="108935"/>
                  <a:pt x="156464" y="102076"/>
                  <a:pt x="148011" y="102076"/>
                </a:cubicBezTo>
                <a:lnTo>
                  <a:pt x="142907" y="102076"/>
                </a:lnTo>
                <a:lnTo>
                  <a:pt x="142907" y="91869"/>
                </a:lnTo>
                <a:lnTo>
                  <a:pt x="173530" y="91869"/>
                </a:lnTo>
                <a:cubicBezTo>
                  <a:pt x="179176" y="91869"/>
                  <a:pt x="183737" y="87307"/>
                  <a:pt x="183737" y="81661"/>
                </a:cubicBezTo>
                <a:cubicBezTo>
                  <a:pt x="183737" y="76015"/>
                  <a:pt x="179176" y="71453"/>
                  <a:pt x="173530" y="71453"/>
                </a:cubicBezTo>
                <a:lnTo>
                  <a:pt x="102076" y="71453"/>
                </a:lnTo>
                <a:lnTo>
                  <a:pt x="102076" y="61246"/>
                </a:lnTo>
                <a:lnTo>
                  <a:pt x="107180" y="61246"/>
                </a:lnTo>
                <a:cubicBezTo>
                  <a:pt x="115633" y="61246"/>
                  <a:pt x="122492" y="54388"/>
                  <a:pt x="122492" y="45934"/>
                </a:cubicBezTo>
                <a:lnTo>
                  <a:pt x="122492" y="25519"/>
                </a:lnTo>
                <a:cubicBezTo>
                  <a:pt x="122492" y="17066"/>
                  <a:pt x="115633" y="10208"/>
                  <a:pt x="107180" y="10208"/>
                </a:cubicBezTo>
                <a:lnTo>
                  <a:pt x="76557" y="10208"/>
                </a:lnTo>
                <a:close/>
                <a:moveTo>
                  <a:pt x="142907" y="119940"/>
                </a:moveTo>
                <a:lnTo>
                  <a:pt x="145459" y="119940"/>
                </a:lnTo>
                <a:lnTo>
                  <a:pt x="145459" y="135251"/>
                </a:lnTo>
                <a:lnTo>
                  <a:pt x="119940" y="135251"/>
                </a:lnTo>
                <a:lnTo>
                  <a:pt x="119940" y="119940"/>
                </a:lnTo>
                <a:lnTo>
                  <a:pt x="142907" y="119940"/>
                </a:lnTo>
                <a:close/>
                <a:moveTo>
                  <a:pt x="61246" y="119940"/>
                </a:moveTo>
                <a:lnTo>
                  <a:pt x="63798" y="119940"/>
                </a:lnTo>
                <a:lnTo>
                  <a:pt x="63798" y="135251"/>
                </a:lnTo>
                <a:lnTo>
                  <a:pt x="38279" y="135251"/>
                </a:lnTo>
                <a:lnTo>
                  <a:pt x="38279" y="119940"/>
                </a:lnTo>
                <a:lnTo>
                  <a:pt x="61246" y="11994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19130" y="1574428"/>
            <a:ext cx="1110591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VPC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9130" y="1803079"/>
            <a:ext cx="108609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Private Cloud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9164" y="2097059"/>
            <a:ext cx="5348801" cy="6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 logically isolated section of AWS cloud where you can launch resources in a virtual network you define. Complete control over IP ranges, subnets, route tables, and network gateways.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2430" y="2867940"/>
            <a:ext cx="2587023" cy="529164"/>
          </a:xfrm>
          <a:custGeom>
            <a:avLst/>
            <a:gdLst/>
            <a:ahLst/>
            <a:cxnLst/>
            <a:rect l="l" t="t" r="r" b="b"/>
            <a:pathLst>
              <a:path w="2587023" h="529164">
                <a:moveTo>
                  <a:pt x="65331" y="0"/>
                </a:moveTo>
                <a:lnTo>
                  <a:pt x="2521693" y="0"/>
                </a:lnTo>
                <a:cubicBezTo>
                  <a:pt x="2557774" y="0"/>
                  <a:pt x="2587023" y="29249"/>
                  <a:pt x="2587023" y="65331"/>
                </a:cubicBezTo>
                <a:lnTo>
                  <a:pt x="2587023" y="463833"/>
                </a:lnTo>
                <a:cubicBezTo>
                  <a:pt x="2587023" y="499914"/>
                  <a:pt x="2557774" y="529164"/>
                  <a:pt x="2521693" y="529164"/>
                </a:cubicBezTo>
                <a:lnTo>
                  <a:pt x="65331" y="529164"/>
                </a:lnTo>
                <a:cubicBezTo>
                  <a:pt x="29249" y="529164"/>
                  <a:pt x="0" y="499914"/>
                  <a:pt x="0" y="463833"/>
                </a:cubicBezTo>
                <a:lnTo>
                  <a:pt x="0" y="65331"/>
                </a:lnTo>
                <a:cubicBezTo>
                  <a:pt x="0" y="29249"/>
                  <a:pt x="29249" y="0"/>
                  <a:pt x="653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90" y="2969198"/>
            <a:ext cx="244166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Subnets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3690" y="3165184"/>
            <a:ext cx="243350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&amp; private isolation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23367" y="2867940"/>
            <a:ext cx="2587023" cy="529164"/>
          </a:xfrm>
          <a:custGeom>
            <a:avLst/>
            <a:gdLst/>
            <a:ahLst/>
            <a:cxnLst/>
            <a:rect l="l" t="t" r="r" b="b"/>
            <a:pathLst>
              <a:path w="2587023" h="529164">
                <a:moveTo>
                  <a:pt x="65331" y="0"/>
                </a:moveTo>
                <a:lnTo>
                  <a:pt x="2521693" y="0"/>
                </a:lnTo>
                <a:cubicBezTo>
                  <a:pt x="2557774" y="0"/>
                  <a:pt x="2587023" y="29249"/>
                  <a:pt x="2587023" y="65331"/>
                </a:cubicBezTo>
                <a:lnTo>
                  <a:pt x="2587023" y="463833"/>
                </a:lnTo>
                <a:cubicBezTo>
                  <a:pt x="2587023" y="499914"/>
                  <a:pt x="2557774" y="529164"/>
                  <a:pt x="2521693" y="529164"/>
                </a:cubicBezTo>
                <a:lnTo>
                  <a:pt x="65331" y="529164"/>
                </a:lnTo>
                <a:cubicBezTo>
                  <a:pt x="29249" y="529164"/>
                  <a:pt x="0" y="499914"/>
                  <a:pt x="0" y="463833"/>
                </a:cubicBezTo>
                <a:lnTo>
                  <a:pt x="0" y="65331"/>
                </a:lnTo>
                <a:cubicBezTo>
                  <a:pt x="0" y="29249"/>
                  <a:pt x="29249" y="0"/>
                  <a:pt x="653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4627" y="2969198"/>
            <a:ext cx="244166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Groups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24627" y="3165184"/>
            <a:ext cx="243350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Instance-level firewall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2430" y="3501527"/>
            <a:ext cx="2587023" cy="529164"/>
          </a:xfrm>
          <a:custGeom>
            <a:avLst/>
            <a:gdLst/>
            <a:ahLst/>
            <a:cxnLst/>
            <a:rect l="l" t="t" r="r" b="b"/>
            <a:pathLst>
              <a:path w="2587023" h="529164">
                <a:moveTo>
                  <a:pt x="65331" y="0"/>
                </a:moveTo>
                <a:lnTo>
                  <a:pt x="2521693" y="0"/>
                </a:lnTo>
                <a:cubicBezTo>
                  <a:pt x="2557774" y="0"/>
                  <a:pt x="2587023" y="29249"/>
                  <a:pt x="2587023" y="65331"/>
                </a:cubicBezTo>
                <a:lnTo>
                  <a:pt x="2587023" y="463833"/>
                </a:lnTo>
                <a:cubicBezTo>
                  <a:pt x="2587023" y="499914"/>
                  <a:pt x="2557774" y="529164"/>
                  <a:pt x="2521693" y="529164"/>
                </a:cubicBezTo>
                <a:lnTo>
                  <a:pt x="65331" y="529164"/>
                </a:lnTo>
                <a:cubicBezTo>
                  <a:pt x="29249" y="529164"/>
                  <a:pt x="0" y="499914"/>
                  <a:pt x="0" y="463833"/>
                </a:cubicBezTo>
                <a:lnTo>
                  <a:pt x="0" y="65331"/>
                </a:lnTo>
                <a:cubicBezTo>
                  <a:pt x="0" y="29249"/>
                  <a:pt x="29249" y="0"/>
                  <a:pt x="653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90" y="3602785"/>
            <a:ext cx="244166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NACLs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3690" y="3798772"/>
            <a:ext cx="243350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Subnet-level controls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223367" y="3501527"/>
            <a:ext cx="2587023" cy="529164"/>
          </a:xfrm>
          <a:custGeom>
            <a:avLst/>
            <a:gdLst/>
            <a:ahLst/>
            <a:cxnLst/>
            <a:rect l="l" t="t" r="r" b="b"/>
            <a:pathLst>
              <a:path w="2587023" h="529164">
                <a:moveTo>
                  <a:pt x="65331" y="0"/>
                </a:moveTo>
                <a:lnTo>
                  <a:pt x="2521693" y="0"/>
                </a:lnTo>
                <a:cubicBezTo>
                  <a:pt x="2557774" y="0"/>
                  <a:pt x="2587023" y="29249"/>
                  <a:pt x="2587023" y="65331"/>
                </a:cubicBezTo>
                <a:lnTo>
                  <a:pt x="2587023" y="463833"/>
                </a:lnTo>
                <a:cubicBezTo>
                  <a:pt x="2587023" y="499914"/>
                  <a:pt x="2557774" y="529164"/>
                  <a:pt x="2521693" y="529164"/>
                </a:cubicBezTo>
                <a:lnTo>
                  <a:pt x="65331" y="529164"/>
                </a:lnTo>
                <a:cubicBezTo>
                  <a:pt x="29249" y="529164"/>
                  <a:pt x="0" y="499914"/>
                  <a:pt x="0" y="463833"/>
                </a:cubicBezTo>
                <a:lnTo>
                  <a:pt x="0" y="65331"/>
                </a:lnTo>
                <a:cubicBezTo>
                  <a:pt x="0" y="29249"/>
                  <a:pt x="29249" y="0"/>
                  <a:pt x="65331" y="0"/>
                </a:cubicBezTo>
                <a:close/>
              </a:path>
            </a:pathLst>
          </a:custGeom>
          <a:solidFill>
            <a:srgbClr val="191919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4627" y="3602785"/>
            <a:ext cx="2441666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Gateway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24627" y="3798772"/>
            <a:ext cx="2433500" cy="130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Outbound internet access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9911" y="4402961"/>
            <a:ext cx="5681978" cy="1558094"/>
          </a:xfrm>
          <a:custGeom>
            <a:avLst/>
            <a:gdLst/>
            <a:ahLst/>
            <a:cxnLst/>
            <a:rect l="l" t="t" r="r" b="b"/>
            <a:pathLst>
              <a:path w="5681978" h="1558094">
                <a:moveTo>
                  <a:pt x="97989" y="0"/>
                </a:moveTo>
                <a:lnTo>
                  <a:pt x="5583990" y="0"/>
                </a:lnTo>
                <a:cubicBezTo>
                  <a:pt x="5638107" y="0"/>
                  <a:pt x="5681978" y="43871"/>
                  <a:pt x="5681978" y="97989"/>
                </a:cubicBezTo>
                <a:lnTo>
                  <a:pt x="5681978" y="1460105"/>
                </a:lnTo>
                <a:cubicBezTo>
                  <a:pt x="5681978" y="1514223"/>
                  <a:pt x="5638107" y="1558094"/>
                  <a:pt x="5583990" y="1558094"/>
                </a:cubicBezTo>
                <a:lnTo>
                  <a:pt x="97989" y="1558094"/>
                </a:lnTo>
                <a:cubicBezTo>
                  <a:pt x="43871" y="1558094"/>
                  <a:pt x="0" y="1514223"/>
                  <a:pt x="0" y="1460105"/>
                </a:cubicBezTo>
                <a:lnTo>
                  <a:pt x="0" y="97989"/>
                </a:lnTo>
                <a:cubicBezTo>
                  <a:pt x="0" y="43871"/>
                  <a:pt x="43871" y="0"/>
                  <a:pt x="9798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9164" y="4602216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65330" y="0"/>
                </a:moveTo>
                <a:lnTo>
                  <a:pt x="326643" y="0"/>
                </a:lnTo>
                <a:cubicBezTo>
                  <a:pt x="362724" y="0"/>
                  <a:pt x="391973" y="29249"/>
                  <a:pt x="391973" y="65330"/>
                </a:cubicBezTo>
                <a:lnTo>
                  <a:pt x="391973" y="326643"/>
                </a:lnTo>
                <a:cubicBezTo>
                  <a:pt x="391973" y="362724"/>
                  <a:pt x="362724" y="391973"/>
                  <a:pt x="326643" y="391973"/>
                </a:cubicBezTo>
                <a:lnTo>
                  <a:pt x="65330" y="391973"/>
                </a:lnTo>
                <a:cubicBezTo>
                  <a:pt x="29249" y="391973"/>
                  <a:pt x="0" y="362724"/>
                  <a:pt x="0" y="326643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33282" y="4716542"/>
            <a:ext cx="183737" cy="163322"/>
          </a:xfrm>
          <a:custGeom>
            <a:avLst/>
            <a:gdLst/>
            <a:ahLst/>
            <a:cxnLst/>
            <a:rect l="l" t="t" r="r" b="b"/>
            <a:pathLst>
              <a:path w="183737" h="163322">
                <a:moveTo>
                  <a:pt x="133816" y="30623"/>
                </a:moveTo>
                <a:cubicBezTo>
                  <a:pt x="128521" y="30623"/>
                  <a:pt x="123385" y="32058"/>
                  <a:pt x="118887" y="34674"/>
                </a:cubicBezTo>
                <a:cubicBezTo>
                  <a:pt x="113847" y="29570"/>
                  <a:pt x="107978" y="25296"/>
                  <a:pt x="101502" y="22074"/>
                </a:cubicBezTo>
                <a:cubicBezTo>
                  <a:pt x="110498" y="14418"/>
                  <a:pt x="121949" y="10208"/>
                  <a:pt x="133816" y="10208"/>
                </a:cubicBezTo>
                <a:cubicBezTo>
                  <a:pt x="161376" y="10208"/>
                  <a:pt x="183737" y="32537"/>
                  <a:pt x="183737" y="60129"/>
                </a:cubicBezTo>
                <a:cubicBezTo>
                  <a:pt x="183737" y="73367"/>
                  <a:pt x="178474" y="86063"/>
                  <a:pt x="169128" y="95409"/>
                </a:cubicBezTo>
                <a:lnTo>
                  <a:pt x="146448" y="118090"/>
                </a:lnTo>
                <a:cubicBezTo>
                  <a:pt x="137101" y="127436"/>
                  <a:pt x="124406" y="132699"/>
                  <a:pt x="111168" y="132699"/>
                </a:cubicBezTo>
                <a:cubicBezTo>
                  <a:pt x="83607" y="132699"/>
                  <a:pt x="61246" y="110370"/>
                  <a:pt x="61246" y="82778"/>
                </a:cubicBezTo>
                <a:cubicBezTo>
                  <a:pt x="61246" y="82299"/>
                  <a:pt x="61246" y="81821"/>
                  <a:pt x="61278" y="81342"/>
                </a:cubicBezTo>
                <a:cubicBezTo>
                  <a:pt x="61437" y="75696"/>
                  <a:pt x="66126" y="71262"/>
                  <a:pt x="71772" y="71422"/>
                </a:cubicBezTo>
                <a:cubicBezTo>
                  <a:pt x="77419" y="71581"/>
                  <a:pt x="81852" y="76270"/>
                  <a:pt x="81693" y="81916"/>
                </a:cubicBezTo>
                <a:cubicBezTo>
                  <a:pt x="81693" y="82203"/>
                  <a:pt x="81693" y="82490"/>
                  <a:pt x="81693" y="82746"/>
                </a:cubicBezTo>
                <a:cubicBezTo>
                  <a:pt x="81693" y="99046"/>
                  <a:pt x="94899" y="112252"/>
                  <a:pt x="111199" y="112252"/>
                </a:cubicBezTo>
                <a:cubicBezTo>
                  <a:pt x="119015" y="112252"/>
                  <a:pt x="126511" y="109158"/>
                  <a:pt x="132061" y="103608"/>
                </a:cubicBezTo>
                <a:lnTo>
                  <a:pt x="154741" y="80927"/>
                </a:lnTo>
                <a:cubicBezTo>
                  <a:pt x="160260" y="75409"/>
                  <a:pt x="163386" y="67881"/>
                  <a:pt x="163386" y="60066"/>
                </a:cubicBezTo>
                <a:cubicBezTo>
                  <a:pt x="163386" y="43765"/>
                  <a:pt x="150180" y="30559"/>
                  <a:pt x="133880" y="30559"/>
                </a:cubicBezTo>
                <a:close/>
                <a:moveTo>
                  <a:pt x="87786" y="55281"/>
                </a:moveTo>
                <a:cubicBezTo>
                  <a:pt x="87180" y="55026"/>
                  <a:pt x="86574" y="54675"/>
                  <a:pt x="86031" y="54292"/>
                </a:cubicBezTo>
                <a:cubicBezTo>
                  <a:pt x="82012" y="52218"/>
                  <a:pt x="77419" y="51038"/>
                  <a:pt x="72602" y="51038"/>
                </a:cubicBezTo>
                <a:cubicBezTo>
                  <a:pt x="64787" y="51038"/>
                  <a:pt x="57290" y="54132"/>
                  <a:pt x="51740" y="59683"/>
                </a:cubicBezTo>
                <a:lnTo>
                  <a:pt x="29060" y="82363"/>
                </a:lnTo>
                <a:cubicBezTo>
                  <a:pt x="23541" y="87881"/>
                  <a:pt x="20415" y="95409"/>
                  <a:pt x="20415" y="103225"/>
                </a:cubicBezTo>
                <a:cubicBezTo>
                  <a:pt x="20415" y="119525"/>
                  <a:pt x="33621" y="132731"/>
                  <a:pt x="49922" y="132731"/>
                </a:cubicBezTo>
                <a:cubicBezTo>
                  <a:pt x="55185" y="132731"/>
                  <a:pt x="60321" y="131328"/>
                  <a:pt x="64818" y="128712"/>
                </a:cubicBezTo>
                <a:cubicBezTo>
                  <a:pt x="69859" y="133816"/>
                  <a:pt x="75728" y="138090"/>
                  <a:pt x="82235" y="141312"/>
                </a:cubicBezTo>
                <a:cubicBezTo>
                  <a:pt x="73240" y="148936"/>
                  <a:pt x="61820" y="153178"/>
                  <a:pt x="49922" y="153178"/>
                </a:cubicBezTo>
                <a:cubicBezTo>
                  <a:pt x="22361" y="153178"/>
                  <a:pt x="0" y="130849"/>
                  <a:pt x="0" y="103257"/>
                </a:cubicBezTo>
                <a:cubicBezTo>
                  <a:pt x="0" y="90019"/>
                  <a:pt x="5263" y="77323"/>
                  <a:pt x="14610" y="67976"/>
                </a:cubicBezTo>
                <a:lnTo>
                  <a:pt x="37290" y="45296"/>
                </a:lnTo>
                <a:cubicBezTo>
                  <a:pt x="46636" y="35950"/>
                  <a:pt x="59332" y="30687"/>
                  <a:pt x="72570" y="30687"/>
                </a:cubicBezTo>
                <a:cubicBezTo>
                  <a:pt x="100194" y="30687"/>
                  <a:pt x="122492" y="53207"/>
                  <a:pt x="122492" y="80736"/>
                </a:cubicBezTo>
                <a:cubicBezTo>
                  <a:pt x="122492" y="81151"/>
                  <a:pt x="122492" y="81565"/>
                  <a:pt x="122492" y="81980"/>
                </a:cubicBezTo>
                <a:cubicBezTo>
                  <a:pt x="122364" y="87626"/>
                  <a:pt x="117675" y="92060"/>
                  <a:pt x="112029" y="91933"/>
                </a:cubicBezTo>
                <a:cubicBezTo>
                  <a:pt x="106383" y="91805"/>
                  <a:pt x="101949" y="87116"/>
                  <a:pt x="102076" y="81470"/>
                </a:cubicBezTo>
                <a:cubicBezTo>
                  <a:pt x="102076" y="81215"/>
                  <a:pt x="102076" y="80991"/>
                  <a:pt x="102076" y="80736"/>
                </a:cubicBezTo>
                <a:cubicBezTo>
                  <a:pt x="102076" y="69986"/>
                  <a:pt x="96335" y="60544"/>
                  <a:pt x="87786" y="5534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1019130" y="4602216"/>
            <a:ext cx="1567893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Direct Connect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9130" y="4830867"/>
            <a:ext cx="1543395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Dedicated Connectivity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9164" y="5124847"/>
            <a:ext cx="5348801" cy="6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Establish a dedicated network connection from your premises to AWS. Provides increased bandwidth, consistent performance, and reduced network costs compared to internet-based connections.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82255" y="1375173"/>
            <a:ext cx="5681978" cy="1754080"/>
          </a:xfrm>
          <a:custGeom>
            <a:avLst/>
            <a:gdLst/>
            <a:ahLst/>
            <a:cxnLst/>
            <a:rect l="l" t="t" r="r" b="b"/>
            <a:pathLst>
              <a:path w="5681978" h="1754080">
                <a:moveTo>
                  <a:pt x="98000" y="0"/>
                </a:moveTo>
                <a:lnTo>
                  <a:pt x="5583978" y="0"/>
                </a:lnTo>
                <a:cubicBezTo>
                  <a:pt x="5638102" y="0"/>
                  <a:pt x="5681978" y="43876"/>
                  <a:pt x="5681978" y="98000"/>
                </a:cubicBezTo>
                <a:lnTo>
                  <a:pt x="5681978" y="1656080"/>
                </a:lnTo>
                <a:cubicBezTo>
                  <a:pt x="5681978" y="1710204"/>
                  <a:pt x="5638102" y="1754080"/>
                  <a:pt x="5583978" y="1754080"/>
                </a:cubicBezTo>
                <a:lnTo>
                  <a:pt x="98000" y="1754080"/>
                </a:lnTo>
                <a:cubicBezTo>
                  <a:pt x="43876" y="1754080"/>
                  <a:pt x="0" y="1710204"/>
                  <a:pt x="0" y="1656080"/>
                </a:cubicBezTo>
                <a:lnTo>
                  <a:pt x="0" y="98000"/>
                </a:lnTo>
                <a:cubicBezTo>
                  <a:pt x="0" y="43913"/>
                  <a:pt x="43913" y="0"/>
                  <a:pt x="98000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1508" y="1574428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65330" y="0"/>
                </a:moveTo>
                <a:lnTo>
                  <a:pt x="326643" y="0"/>
                </a:lnTo>
                <a:cubicBezTo>
                  <a:pt x="362724" y="0"/>
                  <a:pt x="391973" y="29249"/>
                  <a:pt x="391973" y="65330"/>
                </a:cubicBezTo>
                <a:lnTo>
                  <a:pt x="391973" y="326643"/>
                </a:lnTo>
                <a:cubicBezTo>
                  <a:pt x="391973" y="362724"/>
                  <a:pt x="362724" y="391973"/>
                  <a:pt x="326643" y="391973"/>
                </a:cubicBezTo>
                <a:lnTo>
                  <a:pt x="65330" y="391973"/>
                </a:lnTo>
                <a:cubicBezTo>
                  <a:pt x="29249" y="391973"/>
                  <a:pt x="0" y="362724"/>
                  <a:pt x="0" y="326643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495833" y="1688754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112252" y="89317"/>
                </a:moveTo>
                <a:lnTo>
                  <a:pt x="51357" y="89317"/>
                </a:lnTo>
                <a:cubicBezTo>
                  <a:pt x="52282" y="109892"/>
                  <a:pt x="56844" y="128840"/>
                  <a:pt x="63319" y="142716"/>
                </a:cubicBezTo>
                <a:cubicBezTo>
                  <a:pt x="66956" y="150531"/>
                  <a:pt x="70879" y="156049"/>
                  <a:pt x="74516" y="159431"/>
                </a:cubicBezTo>
                <a:cubicBezTo>
                  <a:pt x="78088" y="162780"/>
                  <a:pt x="80545" y="163322"/>
                  <a:pt x="81821" y="163322"/>
                </a:cubicBezTo>
                <a:cubicBezTo>
                  <a:pt x="83097" y="163322"/>
                  <a:pt x="85553" y="162780"/>
                  <a:pt x="89125" y="159431"/>
                </a:cubicBezTo>
                <a:cubicBezTo>
                  <a:pt x="92762" y="156049"/>
                  <a:pt x="96685" y="150499"/>
                  <a:pt x="100322" y="142716"/>
                </a:cubicBezTo>
                <a:cubicBezTo>
                  <a:pt x="106797" y="128840"/>
                  <a:pt x="111359" y="109892"/>
                  <a:pt x="112284" y="89317"/>
                </a:cubicBezTo>
                <a:close/>
                <a:moveTo>
                  <a:pt x="51325" y="74005"/>
                </a:moveTo>
                <a:lnTo>
                  <a:pt x="112220" y="74005"/>
                </a:lnTo>
                <a:cubicBezTo>
                  <a:pt x="111327" y="53431"/>
                  <a:pt x="106765" y="34483"/>
                  <a:pt x="100290" y="20607"/>
                </a:cubicBezTo>
                <a:cubicBezTo>
                  <a:pt x="96654" y="12823"/>
                  <a:pt x="92730" y="7273"/>
                  <a:pt x="89094" y="3892"/>
                </a:cubicBezTo>
                <a:cubicBezTo>
                  <a:pt x="85521" y="542"/>
                  <a:pt x="83065" y="0"/>
                  <a:pt x="81789" y="0"/>
                </a:cubicBezTo>
                <a:cubicBezTo>
                  <a:pt x="80513" y="0"/>
                  <a:pt x="78057" y="542"/>
                  <a:pt x="74484" y="3892"/>
                </a:cubicBezTo>
                <a:cubicBezTo>
                  <a:pt x="70847" y="7273"/>
                  <a:pt x="66924" y="12823"/>
                  <a:pt x="63287" y="20607"/>
                </a:cubicBezTo>
                <a:cubicBezTo>
                  <a:pt x="56812" y="34483"/>
                  <a:pt x="52250" y="53431"/>
                  <a:pt x="51325" y="74005"/>
                </a:cubicBezTo>
                <a:close/>
                <a:moveTo>
                  <a:pt x="36014" y="74005"/>
                </a:moveTo>
                <a:cubicBezTo>
                  <a:pt x="37130" y="46700"/>
                  <a:pt x="44180" y="21340"/>
                  <a:pt x="54483" y="4689"/>
                </a:cubicBezTo>
                <a:cubicBezTo>
                  <a:pt x="25104" y="15088"/>
                  <a:pt x="3477" y="41851"/>
                  <a:pt x="478" y="74005"/>
                </a:cubicBezTo>
                <a:lnTo>
                  <a:pt x="36014" y="74005"/>
                </a:lnTo>
                <a:close/>
                <a:moveTo>
                  <a:pt x="478" y="89317"/>
                </a:moveTo>
                <a:cubicBezTo>
                  <a:pt x="3477" y="121471"/>
                  <a:pt x="25104" y="148234"/>
                  <a:pt x="54483" y="158633"/>
                </a:cubicBezTo>
                <a:cubicBezTo>
                  <a:pt x="44180" y="141982"/>
                  <a:pt x="37130" y="116622"/>
                  <a:pt x="36014" y="89317"/>
                </a:cubicBezTo>
                <a:lnTo>
                  <a:pt x="478" y="89317"/>
                </a:lnTo>
                <a:close/>
                <a:moveTo>
                  <a:pt x="127564" y="89317"/>
                </a:moveTo>
                <a:cubicBezTo>
                  <a:pt x="126447" y="116622"/>
                  <a:pt x="119397" y="141982"/>
                  <a:pt x="109094" y="158633"/>
                </a:cubicBezTo>
                <a:cubicBezTo>
                  <a:pt x="138473" y="148202"/>
                  <a:pt x="160100" y="121471"/>
                  <a:pt x="163099" y="89317"/>
                </a:cubicBezTo>
                <a:lnTo>
                  <a:pt x="127564" y="89317"/>
                </a:lnTo>
                <a:close/>
                <a:moveTo>
                  <a:pt x="163099" y="74005"/>
                </a:moveTo>
                <a:cubicBezTo>
                  <a:pt x="160100" y="41851"/>
                  <a:pt x="138473" y="15088"/>
                  <a:pt x="109094" y="4689"/>
                </a:cubicBezTo>
                <a:cubicBezTo>
                  <a:pt x="119397" y="21340"/>
                  <a:pt x="126447" y="46700"/>
                  <a:pt x="127564" y="74005"/>
                </a:cubicBezTo>
                <a:lnTo>
                  <a:pt x="163099" y="74005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871474" y="1574428"/>
            <a:ext cx="151073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CloudFront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71474" y="1803079"/>
            <a:ext cx="1486232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Delivery Network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81508" y="2097059"/>
            <a:ext cx="5348801" cy="4246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CDN that delivers data, videos, applications, and APIs to viewers with low latency and high transfer speeds. </a:t>
            </a:r>
            <a:r>
              <a:rPr lang="en-US" sz="10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400+ edge locations</a:t>
            </a:r>
            <a:r>
              <a:rPr lang="en-US" sz="102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worldwide.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84774" y="2655621"/>
            <a:ext cx="806812" cy="267848"/>
          </a:xfrm>
          <a:custGeom>
            <a:avLst/>
            <a:gdLst/>
            <a:ahLst/>
            <a:cxnLst/>
            <a:rect l="l" t="t" r="r" b="b"/>
            <a:pathLst>
              <a:path w="806812" h="267848">
                <a:moveTo>
                  <a:pt x="65328" y="0"/>
                </a:moveTo>
                <a:lnTo>
                  <a:pt x="741483" y="0"/>
                </a:lnTo>
                <a:cubicBezTo>
                  <a:pt x="777563" y="0"/>
                  <a:pt x="806812" y="29248"/>
                  <a:pt x="806812" y="65328"/>
                </a:cubicBezTo>
                <a:lnTo>
                  <a:pt x="806812" y="202520"/>
                </a:lnTo>
                <a:cubicBezTo>
                  <a:pt x="806812" y="238600"/>
                  <a:pt x="777563" y="267848"/>
                  <a:pt x="741483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86034" y="2730746"/>
            <a:ext cx="649512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Caching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259671" y="2655621"/>
            <a:ext cx="921137" cy="267848"/>
          </a:xfrm>
          <a:custGeom>
            <a:avLst/>
            <a:gdLst/>
            <a:ahLst/>
            <a:cxnLst/>
            <a:rect l="l" t="t" r="r" b="b"/>
            <a:pathLst>
              <a:path w="921137" h="267848">
                <a:moveTo>
                  <a:pt x="65328" y="0"/>
                </a:moveTo>
                <a:lnTo>
                  <a:pt x="855809" y="0"/>
                </a:lnTo>
                <a:cubicBezTo>
                  <a:pt x="891889" y="0"/>
                  <a:pt x="921137" y="29248"/>
                  <a:pt x="921137" y="65328"/>
                </a:cubicBezTo>
                <a:lnTo>
                  <a:pt x="921137" y="202520"/>
                </a:lnTo>
                <a:cubicBezTo>
                  <a:pt x="921137" y="238600"/>
                  <a:pt x="891889" y="267848"/>
                  <a:pt x="855809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60930" y="2730746"/>
            <a:ext cx="769962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DDoS Protection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55017" y="2655621"/>
            <a:ext cx="586327" cy="267848"/>
          </a:xfrm>
          <a:custGeom>
            <a:avLst/>
            <a:gdLst/>
            <a:ahLst/>
            <a:cxnLst/>
            <a:rect l="l" t="t" r="r" b="b"/>
            <a:pathLst>
              <a:path w="586327" h="267848">
                <a:moveTo>
                  <a:pt x="65328" y="0"/>
                </a:moveTo>
                <a:lnTo>
                  <a:pt x="520998" y="0"/>
                </a:lnTo>
                <a:cubicBezTo>
                  <a:pt x="557078" y="0"/>
                  <a:pt x="586327" y="29248"/>
                  <a:pt x="586327" y="65328"/>
                </a:cubicBezTo>
                <a:lnTo>
                  <a:pt x="586327" y="202520"/>
                </a:lnTo>
                <a:cubicBezTo>
                  <a:pt x="586327" y="238600"/>
                  <a:pt x="557078" y="267848"/>
                  <a:pt x="520998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56277" y="2730746"/>
            <a:ext cx="432293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SSL/TLS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2255" y="3295843"/>
            <a:ext cx="5681978" cy="1966399"/>
          </a:xfrm>
          <a:custGeom>
            <a:avLst/>
            <a:gdLst/>
            <a:ahLst/>
            <a:cxnLst/>
            <a:rect l="l" t="t" r="r" b="b"/>
            <a:pathLst>
              <a:path w="5681978" h="1966399">
                <a:moveTo>
                  <a:pt x="97986" y="0"/>
                </a:moveTo>
                <a:lnTo>
                  <a:pt x="5583993" y="0"/>
                </a:lnTo>
                <a:cubicBezTo>
                  <a:pt x="5638072" y="0"/>
                  <a:pt x="5681978" y="43906"/>
                  <a:pt x="5681978" y="97986"/>
                </a:cubicBezTo>
                <a:lnTo>
                  <a:pt x="5681978" y="1868413"/>
                </a:lnTo>
                <a:cubicBezTo>
                  <a:pt x="5681978" y="1922529"/>
                  <a:pt x="5638109" y="1966399"/>
                  <a:pt x="5583993" y="1966399"/>
                </a:cubicBezTo>
                <a:lnTo>
                  <a:pt x="97986" y="1966399"/>
                </a:lnTo>
                <a:cubicBezTo>
                  <a:pt x="43906" y="1966399"/>
                  <a:pt x="0" y="1922493"/>
                  <a:pt x="0" y="1868413"/>
                </a:cubicBezTo>
                <a:lnTo>
                  <a:pt x="0" y="97986"/>
                </a:lnTo>
                <a:cubicBezTo>
                  <a:pt x="0" y="43870"/>
                  <a:pt x="43870" y="0"/>
                  <a:pt x="9798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81508" y="3495094"/>
            <a:ext cx="391973" cy="391973"/>
          </a:xfrm>
          <a:custGeom>
            <a:avLst/>
            <a:gdLst/>
            <a:ahLst/>
            <a:cxnLst/>
            <a:rect l="l" t="t" r="r" b="b"/>
            <a:pathLst>
              <a:path w="391973" h="391973">
                <a:moveTo>
                  <a:pt x="65330" y="0"/>
                </a:moveTo>
                <a:lnTo>
                  <a:pt x="326643" y="0"/>
                </a:lnTo>
                <a:cubicBezTo>
                  <a:pt x="362724" y="0"/>
                  <a:pt x="391973" y="29249"/>
                  <a:pt x="391973" y="65330"/>
                </a:cubicBezTo>
                <a:lnTo>
                  <a:pt x="391973" y="326643"/>
                </a:lnTo>
                <a:cubicBezTo>
                  <a:pt x="391973" y="362724"/>
                  <a:pt x="362724" y="391973"/>
                  <a:pt x="326643" y="391973"/>
                </a:cubicBezTo>
                <a:lnTo>
                  <a:pt x="65330" y="391973"/>
                </a:lnTo>
                <a:cubicBezTo>
                  <a:pt x="29249" y="391973"/>
                  <a:pt x="0" y="362724"/>
                  <a:pt x="0" y="326643"/>
                </a:cubicBezTo>
                <a:lnTo>
                  <a:pt x="0" y="65330"/>
                </a:lnTo>
                <a:cubicBezTo>
                  <a:pt x="0" y="29273"/>
                  <a:pt x="29273" y="0"/>
                  <a:pt x="6533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95833" y="3609420"/>
            <a:ext cx="163322" cy="163322"/>
          </a:xfrm>
          <a:custGeom>
            <a:avLst/>
            <a:gdLst/>
            <a:ahLst/>
            <a:cxnLst/>
            <a:rect l="l" t="t" r="r" b="b"/>
            <a:pathLst>
              <a:path w="163322" h="163322">
                <a:moveTo>
                  <a:pt x="81789" y="0"/>
                </a:moveTo>
                <a:cubicBezTo>
                  <a:pt x="76143" y="0"/>
                  <a:pt x="71581" y="4562"/>
                  <a:pt x="71581" y="10208"/>
                </a:cubicBezTo>
                <a:lnTo>
                  <a:pt x="71581" y="20415"/>
                </a:lnTo>
                <a:lnTo>
                  <a:pt x="20543" y="20415"/>
                </a:lnTo>
                <a:cubicBezTo>
                  <a:pt x="14897" y="20415"/>
                  <a:pt x="10335" y="24977"/>
                  <a:pt x="10335" y="30623"/>
                </a:cubicBezTo>
                <a:lnTo>
                  <a:pt x="10335" y="51038"/>
                </a:lnTo>
                <a:cubicBezTo>
                  <a:pt x="10335" y="56684"/>
                  <a:pt x="14897" y="61246"/>
                  <a:pt x="20543" y="61246"/>
                </a:cubicBezTo>
                <a:lnTo>
                  <a:pt x="71581" y="61246"/>
                </a:lnTo>
                <a:lnTo>
                  <a:pt x="71581" y="81661"/>
                </a:lnTo>
                <a:lnTo>
                  <a:pt x="22648" y="81661"/>
                </a:lnTo>
                <a:cubicBezTo>
                  <a:pt x="21308" y="81661"/>
                  <a:pt x="20001" y="82203"/>
                  <a:pt x="19044" y="83160"/>
                </a:cubicBezTo>
                <a:lnTo>
                  <a:pt x="3732" y="98472"/>
                </a:lnTo>
                <a:cubicBezTo>
                  <a:pt x="1754" y="100450"/>
                  <a:pt x="1754" y="103703"/>
                  <a:pt x="3732" y="105681"/>
                </a:cubicBezTo>
                <a:lnTo>
                  <a:pt x="19044" y="120992"/>
                </a:lnTo>
                <a:cubicBezTo>
                  <a:pt x="20001" y="121949"/>
                  <a:pt x="21308" y="122492"/>
                  <a:pt x="22648" y="122492"/>
                </a:cubicBezTo>
                <a:lnTo>
                  <a:pt x="71581" y="122492"/>
                </a:lnTo>
                <a:lnTo>
                  <a:pt x="71581" y="153115"/>
                </a:lnTo>
                <a:cubicBezTo>
                  <a:pt x="71581" y="158761"/>
                  <a:pt x="76143" y="163322"/>
                  <a:pt x="81789" y="163322"/>
                </a:cubicBezTo>
                <a:cubicBezTo>
                  <a:pt x="87435" y="163322"/>
                  <a:pt x="91996" y="158761"/>
                  <a:pt x="91996" y="153115"/>
                </a:cubicBezTo>
                <a:lnTo>
                  <a:pt x="91996" y="122492"/>
                </a:lnTo>
                <a:lnTo>
                  <a:pt x="143034" y="122492"/>
                </a:lnTo>
                <a:cubicBezTo>
                  <a:pt x="148681" y="122492"/>
                  <a:pt x="153242" y="117930"/>
                  <a:pt x="153242" y="112284"/>
                </a:cubicBezTo>
                <a:lnTo>
                  <a:pt x="153242" y="91869"/>
                </a:lnTo>
                <a:cubicBezTo>
                  <a:pt x="153242" y="86223"/>
                  <a:pt x="148681" y="81661"/>
                  <a:pt x="143034" y="81661"/>
                </a:cubicBezTo>
                <a:lnTo>
                  <a:pt x="91996" y="81661"/>
                </a:lnTo>
                <a:lnTo>
                  <a:pt x="91996" y="61246"/>
                </a:lnTo>
                <a:lnTo>
                  <a:pt x="140929" y="61246"/>
                </a:lnTo>
                <a:cubicBezTo>
                  <a:pt x="142269" y="61246"/>
                  <a:pt x="143577" y="60704"/>
                  <a:pt x="144534" y="59747"/>
                </a:cubicBezTo>
                <a:lnTo>
                  <a:pt x="159845" y="44435"/>
                </a:lnTo>
                <a:cubicBezTo>
                  <a:pt x="161823" y="42457"/>
                  <a:pt x="161823" y="39204"/>
                  <a:pt x="159845" y="37226"/>
                </a:cubicBezTo>
                <a:lnTo>
                  <a:pt x="144534" y="21915"/>
                </a:lnTo>
                <a:cubicBezTo>
                  <a:pt x="143577" y="20958"/>
                  <a:pt x="142269" y="20415"/>
                  <a:pt x="140929" y="20415"/>
                </a:cubicBezTo>
                <a:lnTo>
                  <a:pt x="91996" y="20415"/>
                </a:lnTo>
                <a:lnTo>
                  <a:pt x="91996" y="10208"/>
                </a:lnTo>
                <a:cubicBezTo>
                  <a:pt x="91996" y="4562"/>
                  <a:pt x="87435" y="0"/>
                  <a:pt x="81789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Text 42"/>
          <p:cNvSpPr/>
          <p:nvPr/>
        </p:nvSpPr>
        <p:spPr>
          <a:xfrm>
            <a:off x="6871474" y="3495094"/>
            <a:ext cx="1469900" cy="228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Route 53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71474" y="3723745"/>
            <a:ext cx="1445401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 &amp; Domain Registration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81508" y="4017725"/>
            <a:ext cx="5348801" cy="636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9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Scalable domain name system (DNS) web service that routes end users to Internet applications. Translates domain names to IP addresses with health checking and failover capabilities.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384774" y="4788606"/>
            <a:ext cx="831310" cy="267848"/>
          </a:xfrm>
          <a:custGeom>
            <a:avLst/>
            <a:gdLst/>
            <a:ahLst/>
            <a:cxnLst/>
            <a:rect l="l" t="t" r="r" b="b"/>
            <a:pathLst>
              <a:path w="831310" h="267848">
                <a:moveTo>
                  <a:pt x="65328" y="0"/>
                </a:moveTo>
                <a:lnTo>
                  <a:pt x="765982" y="0"/>
                </a:lnTo>
                <a:cubicBezTo>
                  <a:pt x="802061" y="0"/>
                  <a:pt x="831310" y="29248"/>
                  <a:pt x="831310" y="65328"/>
                </a:cubicBezTo>
                <a:lnTo>
                  <a:pt x="831310" y="202520"/>
                </a:lnTo>
                <a:cubicBezTo>
                  <a:pt x="831310" y="238600"/>
                  <a:pt x="802061" y="267848"/>
                  <a:pt x="765982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86034" y="4863735"/>
            <a:ext cx="676562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Health Checks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286721" y="4788606"/>
            <a:ext cx="847642" cy="267848"/>
          </a:xfrm>
          <a:custGeom>
            <a:avLst/>
            <a:gdLst/>
            <a:ahLst/>
            <a:cxnLst/>
            <a:rect l="l" t="t" r="r" b="b"/>
            <a:pathLst>
              <a:path w="847642" h="267848">
                <a:moveTo>
                  <a:pt x="65328" y="0"/>
                </a:moveTo>
                <a:lnTo>
                  <a:pt x="782314" y="0"/>
                </a:lnTo>
                <a:cubicBezTo>
                  <a:pt x="818394" y="0"/>
                  <a:pt x="847642" y="29248"/>
                  <a:pt x="847642" y="65328"/>
                </a:cubicBezTo>
                <a:lnTo>
                  <a:pt x="847642" y="202520"/>
                </a:lnTo>
                <a:cubicBezTo>
                  <a:pt x="847642" y="238600"/>
                  <a:pt x="818394" y="267848"/>
                  <a:pt x="782314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87981" y="4863735"/>
            <a:ext cx="692384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Traffic Policies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204489" y="4788606"/>
            <a:ext cx="904805" cy="267848"/>
          </a:xfrm>
          <a:custGeom>
            <a:avLst/>
            <a:gdLst/>
            <a:ahLst/>
            <a:cxnLst/>
            <a:rect l="l" t="t" r="r" b="b"/>
            <a:pathLst>
              <a:path w="904805" h="267848">
                <a:moveTo>
                  <a:pt x="65328" y="0"/>
                </a:moveTo>
                <a:lnTo>
                  <a:pt x="839477" y="0"/>
                </a:lnTo>
                <a:cubicBezTo>
                  <a:pt x="875556" y="0"/>
                  <a:pt x="904805" y="29248"/>
                  <a:pt x="904805" y="65328"/>
                </a:cubicBezTo>
                <a:lnTo>
                  <a:pt x="904805" y="202520"/>
                </a:lnTo>
                <a:cubicBezTo>
                  <a:pt x="904805" y="238600"/>
                  <a:pt x="875556" y="267848"/>
                  <a:pt x="839477" y="267848"/>
                </a:cubicBezTo>
                <a:lnTo>
                  <a:pt x="65328" y="267848"/>
                </a:lnTo>
                <a:cubicBezTo>
                  <a:pt x="29273" y="267848"/>
                  <a:pt x="0" y="238576"/>
                  <a:pt x="0" y="202520"/>
                </a:cubicBezTo>
                <a:lnTo>
                  <a:pt x="0" y="65328"/>
                </a:lnTo>
                <a:cubicBezTo>
                  <a:pt x="0" y="29248"/>
                  <a:pt x="29248" y="0"/>
                  <a:pt x="65328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05749" y="4863735"/>
            <a:ext cx="750976" cy="1371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72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Latency Routing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9911" y="6065593"/>
            <a:ext cx="11537078" cy="725150"/>
          </a:xfrm>
          <a:custGeom>
            <a:avLst/>
            <a:gdLst/>
            <a:ahLst/>
            <a:cxnLst/>
            <a:rect l="l" t="t" r="r" b="b"/>
            <a:pathLst>
              <a:path w="11537078" h="725150">
                <a:moveTo>
                  <a:pt x="97997" y="0"/>
                </a:moveTo>
                <a:lnTo>
                  <a:pt x="11439081" y="0"/>
                </a:lnTo>
                <a:cubicBezTo>
                  <a:pt x="11493203" y="0"/>
                  <a:pt x="11537078" y="43875"/>
                  <a:pt x="11537078" y="97997"/>
                </a:cubicBezTo>
                <a:lnTo>
                  <a:pt x="11537078" y="627154"/>
                </a:lnTo>
                <a:cubicBezTo>
                  <a:pt x="11537078" y="681276"/>
                  <a:pt x="11493203" y="725150"/>
                  <a:pt x="11439081" y="725150"/>
                </a:cubicBezTo>
                <a:lnTo>
                  <a:pt x="97997" y="725150"/>
                </a:lnTo>
                <a:cubicBezTo>
                  <a:pt x="43875" y="725150"/>
                  <a:pt x="0" y="681276"/>
                  <a:pt x="0" y="627154"/>
                </a:cubicBezTo>
                <a:lnTo>
                  <a:pt x="0" y="97997"/>
                </a:lnTo>
                <a:cubicBezTo>
                  <a:pt x="0" y="43875"/>
                  <a:pt x="43875" y="0"/>
                  <a:pt x="9799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37330" y="6346510"/>
            <a:ext cx="122492" cy="163322"/>
          </a:xfrm>
          <a:custGeom>
            <a:avLst/>
            <a:gdLst/>
            <a:ahLst/>
            <a:cxnLst/>
            <a:rect l="l" t="t" r="r" b="b"/>
            <a:pathLst>
              <a:path w="122492" h="163322">
                <a:moveTo>
                  <a:pt x="93432" y="122492"/>
                </a:moveTo>
                <a:cubicBezTo>
                  <a:pt x="95760" y="115378"/>
                  <a:pt x="100418" y="108935"/>
                  <a:pt x="105681" y="103384"/>
                </a:cubicBezTo>
                <a:cubicBezTo>
                  <a:pt x="116112" y="92411"/>
                  <a:pt x="122492" y="77578"/>
                  <a:pt x="122492" y="61246"/>
                </a:cubicBezTo>
                <a:cubicBezTo>
                  <a:pt x="122492" y="27433"/>
                  <a:pt x="95059" y="0"/>
                  <a:pt x="61246" y="0"/>
                </a:cubicBezTo>
                <a:cubicBezTo>
                  <a:pt x="27433" y="0"/>
                  <a:pt x="0" y="27433"/>
                  <a:pt x="0" y="61246"/>
                </a:cubicBezTo>
                <a:cubicBezTo>
                  <a:pt x="0" y="77578"/>
                  <a:pt x="6380" y="92411"/>
                  <a:pt x="16811" y="103384"/>
                </a:cubicBezTo>
                <a:cubicBezTo>
                  <a:pt x="22074" y="108935"/>
                  <a:pt x="26763" y="115378"/>
                  <a:pt x="29060" y="122492"/>
                </a:cubicBezTo>
                <a:lnTo>
                  <a:pt x="93400" y="122492"/>
                </a:lnTo>
                <a:close/>
                <a:moveTo>
                  <a:pt x="91869" y="137803"/>
                </a:moveTo>
                <a:lnTo>
                  <a:pt x="30623" y="137803"/>
                </a:lnTo>
                <a:lnTo>
                  <a:pt x="30623" y="142907"/>
                </a:lnTo>
                <a:cubicBezTo>
                  <a:pt x="30623" y="157006"/>
                  <a:pt x="42043" y="168426"/>
                  <a:pt x="56142" y="168426"/>
                </a:cubicBezTo>
                <a:lnTo>
                  <a:pt x="66350" y="168426"/>
                </a:lnTo>
                <a:cubicBezTo>
                  <a:pt x="80449" y="168426"/>
                  <a:pt x="91869" y="157006"/>
                  <a:pt x="91869" y="142907"/>
                </a:cubicBezTo>
                <a:lnTo>
                  <a:pt x="91869" y="137803"/>
                </a:lnTo>
                <a:close/>
                <a:moveTo>
                  <a:pt x="58694" y="35727"/>
                </a:moveTo>
                <a:cubicBezTo>
                  <a:pt x="45998" y="35727"/>
                  <a:pt x="35727" y="45998"/>
                  <a:pt x="35727" y="58694"/>
                </a:cubicBezTo>
                <a:cubicBezTo>
                  <a:pt x="35727" y="62936"/>
                  <a:pt x="32314" y="66350"/>
                  <a:pt x="28071" y="66350"/>
                </a:cubicBezTo>
                <a:cubicBezTo>
                  <a:pt x="23828" y="66350"/>
                  <a:pt x="20415" y="62936"/>
                  <a:pt x="20415" y="58694"/>
                </a:cubicBezTo>
                <a:cubicBezTo>
                  <a:pt x="20415" y="37545"/>
                  <a:pt x="37545" y="20415"/>
                  <a:pt x="58694" y="20415"/>
                </a:cubicBezTo>
                <a:cubicBezTo>
                  <a:pt x="62936" y="20415"/>
                  <a:pt x="66350" y="23828"/>
                  <a:pt x="66350" y="28071"/>
                </a:cubicBezTo>
                <a:cubicBezTo>
                  <a:pt x="66350" y="32314"/>
                  <a:pt x="62936" y="35727"/>
                  <a:pt x="58694" y="357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55" name="Text 53"/>
          <p:cNvSpPr/>
          <p:nvPr/>
        </p:nvSpPr>
        <p:spPr>
          <a:xfrm>
            <a:off x="831310" y="6232184"/>
            <a:ext cx="10934419" cy="195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 Load Balancer (ALB) &amp; Network Load Balancer (NLB)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31310" y="6460835"/>
            <a:ext cx="10926253" cy="1633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Distribute incoming traffic across multiple targets (EC2 instances, containers, IP addresses) for high availability and fault tolerance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SECURITY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Security, Identity &amp; Compliance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Defense-in-depth security services for protecting data, managing access, and ensuring compliance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3074677"/>
                </a:lnTo>
                <a:cubicBezTo>
                  <a:pt x="3674745" y="3137799"/>
                  <a:pt x="3623574" y="3188970"/>
                  <a:pt x="3560452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8664" y="196977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10579" y="190500"/>
                </a:lnTo>
                <a:cubicBezTo>
                  <a:pt x="97110" y="174650"/>
                  <a:pt x="89297" y="154223"/>
                  <a:pt x="89297" y="132606"/>
                </a:cubicBezTo>
                <a:lnTo>
                  <a:pt x="89297" y="121034"/>
                </a:lnTo>
                <a:cubicBezTo>
                  <a:pt x="89297" y="118318"/>
                  <a:pt x="89669" y="115639"/>
                  <a:pt x="90376" y="113109"/>
                </a:cubicBezTo>
                <a:lnTo>
                  <a:pt x="72293" y="113109"/>
                </a:lnTo>
                <a:close/>
                <a:moveTo>
                  <a:pt x="165683" y="181756"/>
                </a:moveTo>
                <a:lnTo>
                  <a:pt x="160734" y="184100"/>
                </a:lnTo>
                <a:lnTo>
                  <a:pt x="160734" y="114114"/>
                </a:lnTo>
                <a:lnTo>
                  <a:pt x="196453" y="126020"/>
                </a:lnTo>
                <a:lnTo>
                  <a:pt x="196453" y="133313"/>
                </a:lnTo>
                <a:cubicBezTo>
                  <a:pt x="196453" y="154074"/>
                  <a:pt x="184472" y="172938"/>
                  <a:pt x="165683" y="181794"/>
                </a:cubicBezTo>
                <a:close/>
                <a:moveTo>
                  <a:pt x="156976" y="96552"/>
                </a:moveTo>
                <a:lnTo>
                  <a:pt x="115305" y="110430"/>
                </a:lnTo>
                <a:cubicBezTo>
                  <a:pt x="110430" y="112068"/>
                  <a:pt x="107156" y="116607"/>
                  <a:pt x="107156" y="121741"/>
                </a:cubicBezTo>
                <a:lnTo>
                  <a:pt x="107156" y="133313"/>
                </a:lnTo>
                <a:cubicBezTo>
                  <a:pt x="107156" y="160995"/>
                  <a:pt x="123155" y="186184"/>
                  <a:pt x="148158" y="197941"/>
                </a:cubicBezTo>
                <a:lnTo>
                  <a:pt x="155042" y="201178"/>
                </a:lnTo>
                <a:cubicBezTo>
                  <a:pt x="156828" y="201997"/>
                  <a:pt x="158762" y="202443"/>
                  <a:pt x="160697" y="202443"/>
                </a:cubicBezTo>
                <a:cubicBezTo>
                  <a:pt x="162632" y="202443"/>
                  <a:pt x="164604" y="201997"/>
                  <a:pt x="166353" y="201178"/>
                </a:cubicBezTo>
                <a:lnTo>
                  <a:pt x="173236" y="197941"/>
                </a:lnTo>
                <a:cubicBezTo>
                  <a:pt x="198313" y="186147"/>
                  <a:pt x="214313" y="160958"/>
                  <a:pt x="214313" y="133276"/>
                </a:cubicBezTo>
                <a:lnTo>
                  <a:pt x="214313" y="121704"/>
                </a:lnTo>
                <a:cubicBezTo>
                  <a:pt x="214313" y="116570"/>
                  <a:pt x="211038" y="112030"/>
                  <a:pt x="206164" y="110393"/>
                </a:cubicBezTo>
                <a:lnTo>
                  <a:pt x="164492" y="96515"/>
                </a:lnTo>
                <a:cubicBezTo>
                  <a:pt x="162037" y="95696"/>
                  <a:pt x="159395" y="95696"/>
                  <a:pt x="156976" y="9651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36423"/>
            <a:ext cx="1933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IAM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3"/>
            <a:ext cx="1905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Identity &amp; Access Management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446023"/>
            <a:ext cx="32861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Centrally manage access to AWS services and resources. Create users, groups, and roles with granular permissions following the principle of least privilege.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04" y="38652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08" y="3836673"/>
            <a:ext cx="1638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Multi-factor authentication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04" y="41319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4103373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Role-based access control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04" y="43986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08" y="4370073"/>
            <a:ext cx="1390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Temporary credentials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6040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3074677"/>
                </a:lnTo>
                <a:cubicBezTo>
                  <a:pt x="3674745" y="3137799"/>
                  <a:pt x="3623574" y="3188970"/>
                  <a:pt x="3560452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068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24030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25016" y="130969"/>
                </a:moveTo>
                <a:cubicBezTo>
                  <a:pt x="161181" y="130969"/>
                  <a:pt x="190500" y="101650"/>
                  <a:pt x="190500" y="65484"/>
                </a:cubicBezTo>
                <a:cubicBezTo>
                  <a:pt x="190500" y="29319"/>
                  <a:pt x="161181" y="0"/>
                  <a:pt x="125016" y="0"/>
                </a:cubicBezTo>
                <a:cubicBezTo>
                  <a:pt x="88850" y="0"/>
                  <a:pt x="59531" y="29319"/>
                  <a:pt x="59531" y="65484"/>
                </a:cubicBezTo>
                <a:cubicBezTo>
                  <a:pt x="59531" y="72442"/>
                  <a:pt x="60610" y="79177"/>
                  <a:pt x="62619" y="85465"/>
                </a:cubicBezTo>
                <a:lnTo>
                  <a:pt x="2604" y="145479"/>
                </a:lnTo>
                <a:cubicBezTo>
                  <a:pt x="930" y="147154"/>
                  <a:pt x="0" y="149423"/>
                  <a:pt x="0" y="151805"/>
                </a:cubicBezTo>
                <a:lnTo>
                  <a:pt x="0" y="181570"/>
                </a:lnTo>
                <a:cubicBezTo>
                  <a:pt x="0" y="186519"/>
                  <a:pt x="3981" y="190500"/>
                  <a:pt x="8930" y="190500"/>
                </a:cubicBezTo>
                <a:lnTo>
                  <a:pt x="38695" y="190500"/>
                </a:lnTo>
                <a:cubicBezTo>
                  <a:pt x="43644" y="190500"/>
                  <a:pt x="47625" y="186519"/>
                  <a:pt x="47625" y="181570"/>
                </a:cubicBezTo>
                <a:lnTo>
                  <a:pt x="47625" y="166688"/>
                </a:lnTo>
                <a:lnTo>
                  <a:pt x="62508" y="166688"/>
                </a:lnTo>
                <a:cubicBezTo>
                  <a:pt x="67456" y="166688"/>
                  <a:pt x="71438" y="162706"/>
                  <a:pt x="71438" y="157758"/>
                </a:cubicBezTo>
                <a:lnTo>
                  <a:pt x="71438" y="142875"/>
                </a:lnTo>
                <a:lnTo>
                  <a:pt x="86320" y="142875"/>
                </a:lnTo>
                <a:cubicBezTo>
                  <a:pt x="88702" y="142875"/>
                  <a:pt x="90971" y="141945"/>
                  <a:pt x="92646" y="140271"/>
                </a:cubicBezTo>
                <a:lnTo>
                  <a:pt x="105035" y="127881"/>
                </a:lnTo>
                <a:cubicBezTo>
                  <a:pt x="111323" y="129890"/>
                  <a:pt x="118058" y="130969"/>
                  <a:pt x="125016" y="130969"/>
                </a:cubicBezTo>
                <a:close/>
                <a:moveTo>
                  <a:pt x="139898" y="35719"/>
                </a:moveTo>
                <a:cubicBezTo>
                  <a:pt x="148112" y="35719"/>
                  <a:pt x="154781" y="42388"/>
                  <a:pt x="154781" y="50602"/>
                </a:cubicBezTo>
                <a:cubicBezTo>
                  <a:pt x="154781" y="58816"/>
                  <a:pt x="148112" y="65484"/>
                  <a:pt x="139898" y="65484"/>
                </a:cubicBezTo>
                <a:cubicBezTo>
                  <a:pt x="131684" y="65484"/>
                  <a:pt x="125016" y="58816"/>
                  <a:pt x="125016" y="50602"/>
                </a:cubicBezTo>
                <a:cubicBezTo>
                  <a:pt x="125016" y="42388"/>
                  <a:pt x="131684" y="35719"/>
                  <a:pt x="139898" y="3571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62181" y="1836423"/>
            <a:ext cx="1590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KMS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2181" y="2103123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Management Service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0680" y="2446023"/>
            <a:ext cx="32861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and manage cryptographic keys to control encryption across AWS services and applications. Centralized key management with FIPS 140-2 validated hardware security modules.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8065" y="38652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3568" y="3836673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Customer-managed keys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8065" y="41319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3568" y="4103373"/>
            <a:ext cx="1400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key rotation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8065" y="43986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3568" y="4370073"/>
            <a:ext cx="1209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via CloudTrail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1604010"/>
            <a:ext cx="3674745" cy="3188970"/>
          </a:xfrm>
          <a:custGeom>
            <a:avLst/>
            <a:gdLst/>
            <a:ahLst/>
            <a:cxnLst/>
            <a:rect l="l" t="t" r="r" b="b"/>
            <a:pathLst>
              <a:path w="3674745" h="3188970">
                <a:moveTo>
                  <a:pt x="114293" y="0"/>
                </a:moveTo>
                <a:lnTo>
                  <a:pt x="3560452" y="0"/>
                </a:lnTo>
                <a:cubicBezTo>
                  <a:pt x="3623574" y="0"/>
                  <a:pt x="3674745" y="51171"/>
                  <a:pt x="3674745" y="114293"/>
                </a:cubicBezTo>
                <a:lnTo>
                  <a:pt x="3674745" y="3074677"/>
                </a:lnTo>
                <a:cubicBezTo>
                  <a:pt x="3674745" y="3137799"/>
                  <a:pt x="3623574" y="3188970"/>
                  <a:pt x="3560452" y="3188970"/>
                </a:cubicBezTo>
                <a:lnTo>
                  <a:pt x="114293" y="3188970"/>
                </a:lnTo>
                <a:cubicBezTo>
                  <a:pt x="51171" y="3188970"/>
                  <a:pt x="0" y="3137799"/>
                  <a:pt x="0" y="307467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414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9749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935641" y="1836423"/>
            <a:ext cx="1085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Shield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5641" y="2103123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DDoS Protection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4141" y="2446023"/>
            <a:ext cx="32861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Managed DDoS protection service that safeguards applications running on AWS. Shield Standard is automatic and free; Shield Advanced provides enhanced protection.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91525" y="38652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607028" y="3836673"/>
            <a:ext cx="1276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Always-on detection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1525" y="41319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607028" y="4103373"/>
            <a:ext cx="1247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L3/L4/L7 protection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1525" y="439864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607028" y="4370073"/>
            <a:ext cx="981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protection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4991101"/>
            <a:ext cx="5608320" cy="1512570"/>
          </a:xfrm>
          <a:custGeom>
            <a:avLst/>
            <a:gdLst/>
            <a:ahLst/>
            <a:cxnLst/>
            <a:rect l="l" t="t" r="r" b="b"/>
            <a:pathLst>
              <a:path w="5608320" h="151257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398265"/>
                </a:lnTo>
                <a:cubicBezTo>
                  <a:pt x="5608320" y="1461394"/>
                  <a:pt x="5557144" y="1512570"/>
                  <a:pt x="54940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4839" y="522350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59717" y="-9823"/>
                </a:moveTo>
                <a:cubicBezTo>
                  <a:pt x="63178" y="-12725"/>
                  <a:pt x="68275" y="-12613"/>
                  <a:pt x="71586" y="-9488"/>
                </a:cubicBezTo>
                <a:cubicBezTo>
                  <a:pt x="76163" y="-5172"/>
                  <a:pt x="80256" y="-409"/>
                  <a:pt x="84200" y="4428"/>
                </a:cubicBezTo>
                <a:cubicBezTo>
                  <a:pt x="89222" y="10567"/>
                  <a:pt x="95250" y="18678"/>
                  <a:pt x="101054" y="28315"/>
                </a:cubicBezTo>
                <a:cubicBezTo>
                  <a:pt x="102989" y="25784"/>
                  <a:pt x="104775" y="23552"/>
                  <a:pt x="106338" y="21654"/>
                </a:cubicBezTo>
                <a:cubicBezTo>
                  <a:pt x="106747" y="21171"/>
                  <a:pt x="107156" y="20650"/>
                  <a:pt x="107566" y="20129"/>
                </a:cubicBezTo>
                <a:cubicBezTo>
                  <a:pt x="110505" y="16483"/>
                  <a:pt x="114151" y="11906"/>
                  <a:pt x="119025" y="11906"/>
                </a:cubicBezTo>
                <a:cubicBezTo>
                  <a:pt x="124011" y="11906"/>
                  <a:pt x="127508" y="16334"/>
                  <a:pt x="130485" y="20129"/>
                </a:cubicBezTo>
                <a:cubicBezTo>
                  <a:pt x="130969" y="20762"/>
                  <a:pt x="131452" y="21357"/>
                  <a:pt x="131936" y="21915"/>
                </a:cubicBezTo>
                <a:cubicBezTo>
                  <a:pt x="135768" y="26529"/>
                  <a:pt x="140866" y="33189"/>
                  <a:pt x="145963" y="41411"/>
                </a:cubicBezTo>
                <a:cubicBezTo>
                  <a:pt x="156083" y="57745"/>
                  <a:pt x="166650" y="81000"/>
                  <a:pt x="166650" y="107119"/>
                </a:cubicBezTo>
                <a:cubicBezTo>
                  <a:pt x="166650" y="153144"/>
                  <a:pt x="129332" y="190463"/>
                  <a:pt x="83307" y="190463"/>
                </a:cubicBezTo>
                <a:cubicBezTo>
                  <a:pt x="37281" y="190463"/>
                  <a:pt x="0" y="153181"/>
                  <a:pt x="0" y="107156"/>
                </a:cubicBezTo>
                <a:cubicBezTo>
                  <a:pt x="0" y="73261"/>
                  <a:pt x="15292" y="43904"/>
                  <a:pt x="29952" y="23440"/>
                </a:cubicBezTo>
                <a:cubicBezTo>
                  <a:pt x="37356" y="13134"/>
                  <a:pt x="44723" y="4874"/>
                  <a:pt x="50267" y="-781"/>
                </a:cubicBezTo>
                <a:cubicBezTo>
                  <a:pt x="53318" y="-3907"/>
                  <a:pt x="56406" y="-6995"/>
                  <a:pt x="59754" y="-9785"/>
                </a:cubicBezTo>
                <a:close/>
                <a:moveTo>
                  <a:pt x="83976" y="154781"/>
                </a:moveTo>
                <a:cubicBezTo>
                  <a:pt x="93390" y="154781"/>
                  <a:pt x="101724" y="152177"/>
                  <a:pt x="109575" y="146968"/>
                </a:cubicBezTo>
                <a:cubicBezTo>
                  <a:pt x="125239" y="136029"/>
                  <a:pt x="129443" y="114151"/>
                  <a:pt x="120030" y="96962"/>
                </a:cubicBezTo>
                <a:cubicBezTo>
                  <a:pt x="118356" y="93613"/>
                  <a:pt x="114077" y="93390"/>
                  <a:pt x="111658" y="96217"/>
                </a:cubicBezTo>
                <a:lnTo>
                  <a:pt x="102282" y="107119"/>
                </a:lnTo>
                <a:cubicBezTo>
                  <a:pt x="99826" y="109947"/>
                  <a:pt x="95399" y="109872"/>
                  <a:pt x="93092" y="106933"/>
                </a:cubicBezTo>
                <a:cubicBezTo>
                  <a:pt x="86655" y="98710"/>
                  <a:pt x="74823" y="83716"/>
                  <a:pt x="68796" y="76051"/>
                </a:cubicBezTo>
                <a:cubicBezTo>
                  <a:pt x="66787" y="73484"/>
                  <a:pt x="63140" y="73075"/>
                  <a:pt x="60796" y="75344"/>
                </a:cubicBezTo>
                <a:cubicBezTo>
                  <a:pt x="53987" y="81967"/>
                  <a:pt x="41635" y="96478"/>
                  <a:pt x="41635" y="114151"/>
                </a:cubicBezTo>
                <a:cubicBezTo>
                  <a:pt x="41635" y="139675"/>
                  <a:pt x="60461" y="154781"/>
                  <a:pt x="83939" y="15478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31545" y="5185409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WAF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9120" y="5566409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Application Firewall that protects web applications from common exploits like SQL injection and cross-site scripting (XSS). Integrates with CloudFront and ALB.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060" y="4991101"/>
            <a:ext cx="5608320" cy="1512570"/>
          </a:xfrm>
          <a:custGeom>
            <a:avLst/>
            <a:gdLst/>
            <a:ahLst/>
            <a:cxnLst/>
            <a:rect l="l" t="t" r="r" b="b"/>
            <a:pathLst>
              <a:path w="5608320" h="1512570">
                <a:moveTo>
                  <a:pt x="114305" y="0"/>
                </a:moveTo>
                <a:lnTo>
                  <a:pt x="5494015" y="0"/>
                </a:lnTo>
                <a:cubicBezTo>
                  <a:pt x="5557144" y="0"/>
                  <a:pt x="5608320" y="51176"/>
                  <a:pt x="5608320" y="114305"/>
                </a:cubicBezTo>
                <a:lnTo>
                  <a:pt x="5608320" y="1398265"/>
                </a:lnTo>
                <a:cubicBezTo>
                  <a:pt x="5608320" y="1461394"/>
                  <a:pt x="5557144" y="1512570"/>
                  <a:pt x="5494015" y="1512570"/>
                </a:cubicBezTo>
                <a:lnTo>
                  <a:pt x="114305" y="1512570"/>
                </a:lnTo>
                <a:cubicBezTo>
                  <a:pt x="51176" y="1512570"/>
                  <a:pt x="0" y="1461394"/>
                  <a:pt x="0" y="1398265"/>
                </a:cubicBezTo>
                <a:lnTo>
                  <a:pt x="0" y="114305"/>
                </a:lnTo>
                <a:cubicBezTo>
                  <a:pt x="0" y="51218"/>
                  <a:pt x="51218" y="0"/>
                  <a:pt x="114305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1276" y="5223509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88999" y="-2977"/>
                </a:moveTo>
                <a:cubicBezTo>
                  <a:pt x="86730" y="-5283"/>
                  <a:pt x="83418" y="-6214"/>
                  <a:pt x="80293" y="-5358"/>
                </a:cubicBezTo>
                <a:cubicBezTo>
                  <a:pt x="77167" y="-4502"/>
                  <a:pt x="74749" y="-2084"/>
                  <a:pt x="73968" y="1042"/>
                </a:cubicBezTo>
                <a:lnTo>
                  <a:pt x="68275" y="23440"/>
                </a:lnTo>
                <a:cubicBezTo>
                  <a:pt x="67866" y="25078"/>
                  <a:pt x="66191" y="26045"/>
                  <a:pt x="64591" y="25561"/>
                </a:cubicBezTo>
                <a:lnTo>
                  <a:pt x="42342" y="19310"/>
                </a:lnTo>
                <a:cubicBezTo>
                  <a:pt x="39216" y="18417"/>
                  <a:pt x="35868" y="19310"/>
                  <a:pt x="33598" y="21580"/>
                </a:cubicBezTo>
                <a:cubicBezTo>
                  <a:pt x="31328" y="23850"/>
                  <a:pt x="30435" y="27198"/>
                  <a:pt x="31328" y="30324"/>
                </a:cubicBezTo>
                <a:lnTo>
                  <a:pt x="37616" y="52574"/>
                </a:lnTo>
                <a:cubicBezTo>
                  <a:pt x="38063" y="54173"/>
                  <a:pt x="37095" y="55848"/>
                  <a:pt x="35496" y="56257"/>
                </a:cubicBezTo>
                <a:lnTo>
                  <a:pt x="13060" y="61950"/>
                </a:lnTo>
                <a:cubicBezTo>
                  <a:pt x="9934" y="62731"/>
                  <a:pt x="7479" y="65187"/>
                  <a:pt x="6623" y="68312"/>
                </a:cubicBezTo>
                <a:cubicBezTo>
                  <a:pt x="5767" y="71438"/>
                  <a:pt x="6697" y="74749"/>
                  <a:pt x="9004" y="77019"/>
                </a:cubicBezTo>
                <a:lnTo>
                  <a:pt x="25561" y="93129"/>
                </a:lnTo>
                <a:cubicBezTo>
                  <a:pt x="26752" y="94283"/>
                  <a:pt x="26752" y="96217"/>
                  <a:pt x="25561" y="97408"/>
                </a:cubicBezTo>
                <a:lnTo>
                  <a:pt x="9041" y="113519"/>
                </a:lnTo>
                <a:cubicBezTo>
                  <a:pt x="6734" y="115788"/>
                  <a:pt x="5804" y="119100"/>
                  <a:pt x="6660" y="122225"/>
                </a:cubicBezTo>
                <a:cubicBezTo>
                  <a:pt x="7516" y="125350"/>
                  <a:pt x="9971" y="127769"/>
                  <a:pt x="13097" y="128588"/>
                </a:cubicBezTo>
                <a:lnTo>
                  <a:pt x="35496" y="134280"/>
                </a:lnTo>
                <a:cubicBezTo>
                  <a:pt x="37133" y="134689"/>
                  <a:pt x="38100" y="136364"/>
                  <a:pt x="37616" y="137964"/>
                </a:cubicBezTo>
                <a:lnTo>
                  <a:pt x="31328" y="160176"/>
                </a:lnTo>
                <a:cubicBezTo>
                  <a:pt x="30435" y="163302"/>
                  <a:pt x="31328" y="166650"/>
                  <a:pt x="33598" y="168920"/>
                </a:cubicBezTo>
                <a:cubicBezTo>
                  <a:pt x="35868" y="171190"/>
                  <a:pt x="39216" y="172083"/>
                  <a:pt x="42342" y="171190"/>
                </a:cubicBezTo>
                <a:lnTo>
                  <a:pt x="64591" y="164902"/>
                </a:lnTo>
                <a:cubicBezTo>
                  <a:pt x="66191" y="164455"/>
                  <a:pt x="67866" y="165422"/>
                  <a:pt x="68275" y="167022"/>
                </a:cubicBezTo>
                <a:lnTo>
                  <a:pt x="73968" y="189421"/>
                </a:lnTo>
                <a:cubicBezTo>
                  <a:pt x="74749" y="192546"/>
                  <a:pt x="77205" y="195002"/>
                  <a:pt x="80330" y="195858"/>
                </a:cubicBezTo>
                <a:cubicBezTo>
                  <a:pt x="83455" y="196714"/>
                  <a:pt x="86767" y="195783"/>
                  <a:pt x="89036" y="193477"/>
                </a:cubicBezTo>
                <a:lnTo>
                  <a:pt x="105147" y="176919"/>
                </a:lnTo>
                <a:cubicBezTo>
                  <a:pt x="106300" y="175729"/>
                  <a:pt x="108235" y="175729"/>
                  <a:pt x="109426" y="176919"/>
                </a:cubicBezTo>
                <a:lnTo>
                  <a:pt x="125499" y="193477"/>
                </a:lnTo>
                <a:cubicBezTo>
                  <a:pt x="127769" y="195783"/>
                  <a:pt x="131080" y="196714"/>
                  <a:pt x="134206" y="195858"/>
                </a:cubicBezTo>
                <a:cubicBezTo>
                  <a:pt x="137331" y="195002"/>
                  <a:pt x="139750" y="192546"/>
                  <a:pt x="140568" y="189421"/>
                </a:cubicBezTo>
                <a:lnTo>
                  <a:pt x="146261" y="167060"/>
                </a:lnTo>
                <a:cubicBezTo>
                  <a:pt x="146670" y="165422"/>
                  <a:pt x="148344" y="164455"/>
                  <a:pt x="149944" y="164939"/>
                </a:cubicBezTo>
                <a:lnTo>
                  <a:pt x="172194" y="171227"/>
                </a:lnTo>
                <a:cubicBezTo>
                  <a:pt x="175320" y="172120"/>
                  <a:pt x="178668" y="171227"/>
                  <a:pt x="180938" y="168957"/>
                </a:cubicBezTo>
                <a:cubicBezTo>
                  <a:pt x="183207" y="166687"/>
                  <a:pt x="184100" y="163339"/>
                  <a:pt x="183207" y="160213"/>
                </a:cubicBezTo>
                <a:lnTo>
                  <a:pt x="176919" y="137964"/>
                </a:lnTo>
                <a:cubicBezTo>
                  <a:pt x="176473" y="136364"/>
                  <a:pt x="177440" y="134689"/>
                  <a:pt x="179040" y="134280"/>
                </a:cubicBezTo>
                <a:lnTo>
                  <a:pt x="201439" y="128588"/>
                </a:lnTo>
                <a:cubicBezTo>
                  <a:pt x="204564" y="127806"/>
                  <a:pt x="207020" y="125350"/>
                  <a:pt x="207876" y="122225"/>
                </a:cubicBezTo>
                <a:cubicBezTo>
                  <a:pt x="208731" y="119100"/>
                  <a:pt x="207801" y="115751"/>
                  <a:pt x="205494" y="113519"/>
                </a:cubicBezTo>
                <a:lnTo>
                  <a:pt x="188937" y="97408"/>
                </a:lnTo>
                <a:cubicBezTo>
                  <a:pt x="187747" y="96255"/>
                  <a:pt x="187747" y="94320"/>
                  <a:pt x="188937" y="93129"/>
                </a:cubicBezTo>
                <a:lnTo>
                  <a:pt x="205494" y="77019"/>
                </a:lnTo>
                <a:cubicBezTo>
                  <a:pt x="207801" y="74749"/>
                  <a:pt x="208731" y="71437"/>
                  <a:pt x="207876" y="68312"/>
                </a:cubicBezTo>
                <a:cubicBezTo>
                  <a:pt x="207020" y="65187"/>
                  <a:pt x="204564" y="62768"/>
                  <a:pt x="201439" y="61950"/>
                </a:cubicBezTo>
                <a:lnTo>
                  <a:pt x="179040" y="56257"/>
                </a:lnTo>
                <a:cubicBezTo>
                  <a:pt x="177403" y="55848"/>
                  <a:pt x="176436" y="54173"/>
                  <a:pt x="176919" y="52574"/>
                </a:cubicBezTo>
                <a:lnTo>
                  <a:pt x="183207" y="30324"/>
                </a:lnTo>
                <a:cubicBezTo>
                  <a:pt x="184100" y="27198"/>
                  <a:pt x="183207" y="23850"/>
                  <a:pt x="180938" y="21580"/>
                </a:cubicBezTo>
                <a:cubicBezTo>
                  <a:pt x="178668" y="19310"/>
                  <a:pt x="175320" y="18417"/>
                  <a:pt x="172194" y="19310"/>
                </a:cubicBezTo>
                <a:lnTo>
                  <a:pt x="149944" y="25598"/>
                </a:lnTo>
                <a:cubicBezTo>
                  <a:pt x="148344" y="26045"/>
                  <a:pt x="146670" y="25078"/>
                  <a:pt x="146261" y="23478"/>
                </a:cubicBezTo>
                <a:lnTo>
                  <a:pt x="140568" y="1042"/>
                </a:lnTo>
                <a:cubicBezTo>
                  <a:pt x="139787" y="-2084"/>
                  <a:pt x="137331" y="-4539"/>
                  <a:pt x="134206" y="-5395"/>
                </a:cubicBezTo>
                <a:cubicBezTo>
                  <a:pt x="131080" y="-6251"/>
                  <a:pt x="127769" y="-5321"/>
                  <a:pt x="125499" y="-3014"/>
                </a:cubicBezTo>
                <a:lnTo>
                  <a:pt x="109389" y="13581"/>
                </a:lnTo>
                <a:cubicBezTo>
                  <a:pt x="108235" y="14771"/>
                  <a:pt x="106300" y="14771"/>
                  <a:pt x="105110" y="13581"/>
                </a:cubicBezTo>
                <a:lnTo>
                  <a:pt x="88999" y="-297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41795" y="5185409"/>
            <a:ext cx="2009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Certificate Manager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9370" y="5566409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Provision, manage, and deploy SSL/TLS certificates for AWS services. Free public certificates with automatic renewal for CloudFront and ALB.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24321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kern="0" spc="5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ANALYTICS &amp; ML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21947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&amp; Machine Learning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851" y="1060969"/>
            <a:ext cx="1154261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data into insights with analytics, business intelligence, and AI/ML services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9510" y="1540235"/>
            <a:ext cx="5632283" cy="1964622"/>
          </a:xfrm>
          <a:custGeom>
            <a:avLst/>
            <a:gdLst/>
            <a:ahLst/>
            <a:cxnLst/>
            <a:rect l="l" t="t" r="r" b="b"/>
            <a:pathLst>
              <a:path w="5632283" h="1964622">
                <a:moveTo>
                  <a:pt x="109763" y="0"/>
                </a:moveTo>
                <a:lnTo>
                  <a:pt x="5522520" y="0"/>
                </a:lnTo>
                <a:cubicBezTo>
                  <a:pt x="5583140" y="0"/>
                  <a:pt x="5632283" y="49143"/>
                  <a:pt x="5632283" y="109763"/>
                </a:cubicBezTo>
                <a:lnTo>
                  <a:pt x="5632283" y="1854859"/>
                </a:lnTo>
                <a:cubicBezTo>
                  <a:pt x="5632283" y="1915480"/>
                  <a:pt x="5583140" y="1964622"/>
                  <a:pt x="5522520" y="1964622"/>
                </a:cubicBezTo>
                <a:lnTo>
                  <a:pt x="109763" y="1964622"/>
                </a:lnTo>
                <a:cubicBezTo>
                  <a:pt x="49143" y="1964622"/>
                  <a:pt x="0" y="1915480"/>
                  <a:pt x="0" y="1854859"/>
                </a:cubicBezTo>
                <a:lnTo>
                  <a:pt x="0" y="109763"/>
                </a:lnTo>
                <a:cubicBezTo>
                  <a:pt x="0" y="49183"/>
                  <a:pt x="49183" y="0"/>
                  <a:pt x="1097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2679" y="1763407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20727" y="1891455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148627" y="74314"/>
                </a:moveTo>
                <a:cubicBezTo>
                  <a:pt x="148627" y="90713"/>
                  <a:pt x="143304" y="105861"/>
                  <a:pt x="134336" y="118151"/>
                </a:cubicBezTo>
                <a:lnTo>
                  <a:pt x="179567" y="163418"/>
                </a:lnTo>
                <a:cubicBezTo>
                  <a:pt x="184033" y="167884"/>
                  <a:pt x="184033" y="175137"/>
                  <a:pt x="179567" y="179603"/>
                </a:cubicBezTo>
                <a:cubicBezTo>
                  <a:pt x="175101" y="184069"/>
                  <a:pt x="167849" y="184069"/>
                  <a:pt x="163383" y="179603"/>
                </a:cubicBezTo>
                <a:lnTo>
                  <a:pt x="118151" y="134336"/>
                </a:lnTo>
                <a:cubicBezTo>
                  <a:pt x="105861" y="143304"/>
                  <a:pt x="90713" y="148627"/>
                  <a:pt x="74314" y="148627"/>
                </a:cubicBezTo>
                <a:cubicBezTo>
                  <a:pt x="33262" y="148627"/>
                  <a:pt x="0" y="115365"/>
                  <a:pt x="0" y="74314"/>
                </a:cubicBezTo>
                <a:cubicBezTo>
                  <a:pt x="0" y="33262"/>
                  <a:pt x="33262" y="0"/>
                  <a:pt x="74314" y="0"/>
                </a:cubicBezTo>
                <a:cubicBezTo>
                  <a:pt x="115365" y="0"/>
                  <a:pt x="148627" y="33262"/>
                  <a:pt x="148627" y="74314"/>
                </a:cubicBezTo>
                <a:close/>
                <a:moveTo>
                  <a:pt x="74314" y="125761"/>
                </a:moveTo>
                <a:cubicBezTo>
                  <a:pt x="102708" y="125761"/>
                  <a:pt x="125761" y="102708"/>
                  <a:pt x="125761" y="74314"/>
                </a:cubicBezTo>
                <a:cubicBezTo>
                  <a:pt x="125761" y="45919"/>
                  <a:pt x="102708" y="22866"/>
                  <a:pt x="74314" y="22866"/>
                </a:cubicBezTo>
                <a:cubicBezTo>
                  <a:pt x="45919" y="22866"/>
                  <a:pt x="22866" y="45919"/>
                  <a:pt x="22866" y="74314"/>
                </a:cubicBezTo>
                <a:cubicBezTo>
                  <a:pt x="22866" y="102708"/>
                  <a:pt x="45919" y="125761"/>
                  <a:pt x="74314" y="12576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41457" y="1763407"/>
            <a:ext cx="149999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Athena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1457" y="2019503"/>
            <a:ext cx="147255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Serverless Query Service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2679" y="2348769"/>
            <a:ext cx="5259115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data directly in S3 using standard SQL without loading it into a database. Pay only for queries you run—no infrastructure to manage.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6338" y="2974375"/>
            <a:ext cx="1013409" cy="299998"/>
          </a:xfrm>
          <a:custGeom>
            <a:avLst/>
            <a:gdLst/>
            <a:ahLst/>
            <a:cxnLst/>
            <a:rect l="l" t="t" r="r" b="b"/>
            <a:pathLst>
              <a:path w="1013409" h="299998">
                <a:moveTo>
                  <a:pt x="73170" y="0"/>
                </a:moveTo>
                <a:lnTo>
                  <a:pt x="940239" y="0"/>
                </a:lnTo>
                <a:cubicBezTo>
                  <a:pt x="980649" y="0"/>
                  <a:pt x="1013409" y="32759"/>
                  <a:pt x="1013409" y="73170"/>
                </a:cubicBezTo>
                <a:lnTo>
                  <a:pt x="1013409" y="226829"/>
                </a:lnTo>
                <a:cubicBezTo>
                  <a:pt x="1013409" y="267212"/>
                  <a:pt x="980622" y="299998"/>
                  <a:pt x="940239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9752" y="3058517"/>
            <a:ext cx="842716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Ad-hoc Analysis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91491" y="2974375"/>
            <a:ext cx="757313" cy="299998"/>
          </a:xfrm>
          <a:custGeom>
            <a:avLst/>
            <a:gdLst/>
            <a:ahLst/>
            <a:cxnLst/>
            <a:rect l="l" t="t" r="r" b="b"/>
            <a:pathLst>
              <a:path w="757313" h="299998">
                <a:moveTo>
                  <a:pt x="73170" y="0"/>
                </a:moveTo>
                <a:lnTo>
                  <a:pt x="684143" y="0"/>
                </a:lnTo>
                <a:cubicBezTo>
                  <a:pt x="724553" y="0"/>
                  <a:pt x="757313" y="32759"/>
                  <a:pt x="757313" y="73170"/>
                </a:cubicBezTo>
                <a:lnTo>
                  <a:pt x="757313" y="226829"/>
                </a:lnTo>
                <a:cubicBezTo>
                  <a:pt x="757313" y="267212"/>
                  <a:pt x="724526" y="299998"/>
                  <a:pt x="684143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04905" y="3058517"/>
            <a:ext cx="587878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Lakes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9510" y="3691443"/>
            <a:ext cx="5632283" cy="1964622"/>
          </a:xfrm>
          <a:custGeom>
            <a:avLst/>
            <a:gdLst/>
            <a:ahLst/>
            <a:cxnLst/>
            <a:rect l="l" t="t" r="r" b="b"/>
            <a:pathLst>
              <a:path w="5632283" h="1964622">
                <a:moveTo>
                  <a:pt x="109763" y="0"/>
                </a:moveTo>
                <a:lnTo>
                  <a:pt x="5522520" y="0"/>
                </a:lnTo>
                <a:cubicBezTo>
                  <a:pt x="5583140" y="0"/>
                  <a:pt x="5632283" y="49143"/>
                  <a:pt x="5632283" y="109763"/>
                </a:cubicBezTo>
                <a:lnTo>
                  <a:pt x="5632283" y="1854859"/>
                </a:lnTo>
                <a:cubicBezTo>
                  <a:pt x="5632283" y="1915480"/>
                  <a:pt x="5583140" y="1964622"/>
                  <a:pt x="5522520" y="1964622"/>
                </a:cubicBezTo>
                <a:lnTo>
                  <a:pt x="109763" y="1964622"/>
                </a:lnTo>
                <a:cubicBezTo>
                  <a:pt x="49143" y="1964622"/>
                  <a:pt x="0" y="1915480"/>
                  <a:pt x="0" y="1854859"/>
                </a:cubicBezTo>
                <a:lnTo>
                  <a:pt x="0" y="109763"/>
                </a:lnTo>
                <a:cubicBezTo>
                  <a:pt x="0" y="49183"/>
                  <a:pt x="49183" y="0"/>
                  <a:pt x="1097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2679" y="3914611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20727" y="4042659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0" y="34299"/>
                </a:moveTo>
                <a:cubicBezTo>
                  <a:pt x="0" y="27975"/>
                  <a:pt x="5109" y="22866"/>
                  <a:pt x="11433" y="22866"/>
                </a:cubicBezTo>
                <a:lnTo>
                  <a:pt x="148627" y="22866"/>
                </a:lnTo>
                <a:cubicBezTo>
                  <a:pt x="154951" y="22866"/>
                  <a:pt x="160060" y="27975"/>
                  <a:pt x="160060" y="34299"/>
                </a:cubicBezTo>
                <a:cubicBezTo>
                  <a:pt x="160060" y="40622"/>
                  <a:pt x="154951" y="45731"/>
                  <a:pt x="148627" y="45731"/>
                </a:cubicBezTo>
                <a:lnTo>
                  <a:pt x="11433" y="45731"/>
                </a:lnTo>
                <a:cubicBezTo>
                  <a:pt x="5109" y="45731"/>
                  <a:pt x="0" y="40622"/>
                  <a:pt x="0" y="34299"/>
                </a:cubicBezTo>
                <a:close/>
                <a:moveTo>
                  <a:pt x="22866" y="91463"/>
                </a:moveTo>
                <a:cubicBezTo>
                  <a:pt x="22866" y="85139"/>
                  <a:pt x="27975" y="80030"/>
                  <a:pt x="34299" y="80030"/>
                </a:cubicBezTo>
                <a:lnTo>
                  <a:pt x="171493" y="80030"/>
                </a:lnTo>
                <a:cubicBezTo>
                  <a:pt x="177817" y="80030"/>
                  <a:pt x="182926" y="85139"/>
                  <a:pt x="182926" y="91463"/>
                </a:cubicBezTo>
                <a:cubicBezTo>
                  <a:pt x="182926" y="97787"/>
                  <a:pt x="177817" y="102896"/>
                  <a:pt x="171493" y="102896"/>
                </a:cubicBezTo>
                <a:lnTo>
                  <a:pt x="34299" y="102896"/>
                </a:lnTo>
                <a:cubicBezTo>
                  <a:pt x="27975" y="102896"/>
                  <a:pt x="22866" y="97787"/>
                  <a:pt x="22866" y="91463"/>
                </a:cubicBezTo>
                <a:close/>
                <a:moveTo>
                  <a:pt x="160060" y="148627"/>
                </a:moveTo>
                <a:cubicBezTo>
                  <a:pt x="160060" y="154951"/>
                  <a:pt x="154951" y="160060"/>
                  <a:pt x="148627" y="160060"/>
                </a:cubicBezTo>
                <a:lnTo>
                  <a:pt x="11433" y="160060"/>
                </a:lnTo>
                <a:cubicBezTo>
                  <a:pt x="5109" y="160060"/>
                  <a:pt x="0" y="154951"/>
                  <a:pt x="0" y="148627"/>
                </a:cubicBezTo>
                <a:cubicBezTo>
                  <a:pt x="0" y="142303"/>
                  <a:pt x="5109" y="137194"/>
                  <a:pt x="11433" y="137194"/>
                </a:cubicBezTo>
                <a:lnTo>
                  <a:pt x="148627" y="137194"/>
                </a:lnTo>
                <a:cubicBezTo>
                  <a:pt x="154951" y="137194"/>
                  <a:pt x="160060" y="142303"/>
                  <a:pt x="160060" y="14862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141457" y="3914611"/>
            <a:ext cx="1362797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Kinesis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1457" y="4170707"/>
            <a:ext cx="133535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Streaming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679" y="4499973"/>
            <a:ext cx="5259115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Collect, process, and analyze real-time streaming data. Handle massive data streams from IoT devices, applications, and logs with sub-second latency.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338" y="5125579"/>
            <a:ext cx="876214" cy="299998"/>
          </a:xfrm>
          <a:custGeom>
            <a:avLst/>
            <a:gdLst/>
            <a:ahLst/>
            <a:cxnLst/>
            <a:rect l="l" t="t" r="r" b="b"/>
            <a:pathLst>
              <a:path w="876214" h="299998">
                <a:moveTo>
                  <a:pt x="73170" y="0"/>
                </a:moveTo>
                <a:lnTo>
                  <a:pt x="803045" y="0"/>
                </a:lnTo>
                <a:cubicBezTo>
                  <a:pt x="843455" y="0"/>
                  <a:pt x="876214" y="32759"/>
                  <a:pt x="876214" y="73170"/>
                </a:cubicBezTo>
                <a:lnTo>
                  <a:pt x="876214" y="226829"/>
                </a:lnTo>
                <a:cubicBezTo>
                  <a:pt x="876214" y="267212"/>
                  <a:pt x="843428" y="299998"/>
                  <a:pt x="803045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9752" y="5209726"/>
            <a:ext cx="707237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Streams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556012" y="5125579"/>
            <a:ext cx="931092" cy="299998"/>
          </a:xfrm>
          <a:custGeom>
            <a:avLst/>
            <a:gdLst/>
            <a:ahLst/>
            <a:cxnLst/>
            <a:rect l="l" t="t" r="r" b="b"/>
            <a:pathLst>
              <a:path w="931092" h="299998">
                <a:moveTo>
                  <a:pt x="73170" y="0"/>
                </a:moveTo>
                <a:lnTo>
                  <a:pt x="857922" y="0"/>
                </a:lnTo>
                <a:cubicBezTo>
                  <a:pt x="898333" y="0"/>
                  <a:pt x="931092" y="32759"/>
                  <a:pt x="931092" y="73170"/>
                </a:cubicBezTo>
                <a:lnTo>
                  <a:pt x="931092" y="226829"/>
                </a:lnTo>
                <a:cubicBezTo>
                  <a:pt x="931092" y="267212"/>
                  <a:pt x="898306" y="299998"/>
                  <a:pt x="857922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69426" y="5209726"/>
            <a:ext cx="763372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Streams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192608" y="1540235"/>
            <a:ext cx="5632283" cy="1964622"/>
          </a:xfrm>
          <a:custGeom>
            <a:avLst/>
            <a:gdLst/>
            <a:ahLst/>
            <a:cxnLst/>
            <a:rect l="l" t="t" r="r" b="b"/>
            <a:pathLst>
              <a:path w="5632283" h="1964622">
                <a:moveTo>
                  <a:pt x="109763" y="0"/>
                </a:moveTo>
                <a:lnTo>
                  <a:pt x="5522520" y="0"/>
                </a:lnTo>
                <a:cubicBezTo>
                  <a:pt x="5583140" y="0"/>
                  <a:pt x="5632283" y="49143"/>
                  <a:pt x="5632283" y="109763"/>
                </a:cubicBezTo>
                <a:lnTo>
                  <a:pt x="5632283" y="1854859"/>
                </a:lnTo>
                <a:cubicBezTo>
                  <a:pt x="5632283" y="1915480"/>
                  <a:pt x="5583140" y="1964622"/>
                  <a:pt x="5522520" y="1964622"/>
                </a:cubicBezTo>
                <a:lnTo>
                  <a:pt x="109763" y="1964622"/>
                </a:lnTo>
                <a:cubicBezTo>
                  <a:pt x="49143" y="1964622"/>
                  <a:pt x="0" y="1915480"/>
                  <a:pt x="0" y="1854859"/>
                </a:cubicBezTo>
                <a:lnTo>
                  <a:pt x="0" y="109763"/>
                </a:lnTo>
                <a:cubicBezTo>
                  <a:pt x="0" y="49183"/>
                  <a:pt x="49183" y="0"/>
                  <a:pt x="10976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15777" y="1763407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543825" y="1891455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11433" y="11433"/>
                </a:moveTo>
                <a:cubicBezTo>
                  <a:pt x="17757" y="11433"/>
                  <a:pt x="22866" y="16542"/>
                  <a:pt x="22866" y="22866"/>
                </a:cubicBezTo>
                <a:lnTo>
                  <a:pt x="22866" y="142911"/>
                </a:lnTo>
                <a:cubicBezTo>
                  <a:pt x="22866" y="146055"/>
                  <a:pt x="25438" y="148627"/>
                  <a:pt x="28582" y="148627"/>
                </a:cubicBezTo>
                <a:lnTo>
                  <a:pt x="171493" y="148627"/>
                </a:lnTo>
                <a:cubicBezTo>
                  <a:pt x="177817" y="148627"/>
                  <a:pt x="182926" y="153736"/>
                  <a:pt x="182926" y="160060"/>
                </a:cubicBezTo>
                <a:cubicBezTo>
                  <a:pt x="182926" y="166384"/>
                  <a:pt x="177817" y="171493"/>
                  <a:pt x="171493" y="171493"/>
                </a:cubicBezTo>
                <a:lnTo>
                  <a:pt x="28582" y="171493"/>
                </a:lnTo>
                <a:cubicBezTo>
                  <a:pt x="12791" y="171493"/>
                  <a:pt x="0" y="158702"/>
                  <a:pt x="0" y="142911"/>
                </a:cubicBezTo>
                <a:lnTo>
                  <a:pt x="0" y="22866"/>
                </a:lnTo>
                <a:cubicBezTo>
                  <a:pt x="0" y="16542"/>
                  <a:pt x="5109" y="11433"/>
                  <a:pt x="11433" y="11433"/>
                </a:cubicBezTo>
                <a:close/>
                <a:moveTo>
                  <a:pt x="45731" y="34299"/>
                </a:moveTo>
                <a:cubicBezTo>
                  <a:pt x="45731" y="27975"/>
                  <a:pt x="50840" y="22866"/>
                  <a:pt x="57164" y="22866"/>
                </a:cubicBezTo>
                <a:lnTo>
                  <a:pt x="125761" y="22866"/>
                </a:lnTo>
                <a:cubicBezTo>
                  <a:pt x="132085" y="22866"/>
                  <a:pt x="137194" y="27975"/>
                  <a:pt x="137194" y="34299"/>
                </a:cubicBezTo>
                <a:cubicBezTo>
                  <a:pt x="137194" y="40622"/>
                  <a:pt x="132085" y="45731"/>
                  <a:pt x="125761" y="45731"/>
                </a:cubicBezTo>
                <a:lnTo>
                  <a:pt x="57164" y="45731"/>
                </a:lnTo>
                <a:cubicBezTo>
                  <a:pt x="50840" y="45731"/>
                  <a:pt x="45731" y="40622"/>
                  <a:pt x="45731" y="34299"/>
                </a:cubicBezTo>
                <a:close/>
                <a:moveTo>
                  <a:pt x="57164" y="62881"/>
                </a:moveTo>
                <a:lnTo>
                  <a:pt x="102896" y="62881"/>
                </a:lnTo>
                <a:cubicBezTo>
                  <a:pt x="109220" y="62881"/>
                  <a:pt x="114329" y="67990"/>
                  <a:pt x="114329" y="74314"/>
                </a:cubicBezTo>
                <a:cubicBezTo>
                  <a:pt x="114329" y="80637"/>
                  <a:pt x="109220" y="85746"/>
                  <a:pt x="102896" y="85746"/>
                </a:cubicBezTo>
                <a:lnTo>
                  <a:pt x="57164" y="85746"/>
                </a:lnTo>
                <a:cubicBezTo>
                  <a:pt x="50840" y="85746"/>
                  <a:pt x="45731" y="80637"/>
                  <a:pt x="45731" y="74314"/>
                </a:cubicBezTo>
                <a:cubicBezTo>
                  <a:pt x="45731" y="67990"/>
                  <a:pt x="50840" y="62881"/>
                  <a:pt x="57164" y="62881"/>
                </a:cubicBezTo>
                <a:close/>
                <a:moveTo>
                  <a:pt x="57164" y="102896"/>
                </a:moveTo>
                <a:lnTo>
                  <a:pt x="148627" y="102896"/>
                </a:lnTo>
                <a:cubicBezTo>
                  <a:pt x="154951" y="102896"/>
                  <a:pt x="160060" y="108005"/>
                  <a:pt x="160060" y="114329"/>
                </a:cubicBezTo>
                <a:cubicBezTo>
                  <a:pt x="160060" y="120652"/>
                  <a:pt x="154951" y="125761"/>
                  <a:pt x="148627" y="125761"/>
                </a:cubicBezTo>
                <a:lnTo>
                  <a:pt x="57164" y="125761"/>
                </a:lnTo>
                <a:cubicBezTo>
                  <a:pt x="50840" y="125761"/>
                  <a:pt x="45731" y="120652"/>
                  <a:pt x="45731" y="114329"/>
                </a:cubicBezTo>
                <a:cubicBezTo>
                  <a:pt x="45731" y="108005"/>
                  <a:pt x="50840" y="102896"/>
                  <a:pt x="57164" y="1028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964554" y="1763407"/>
            <a:ext cx="167377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QuickSight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64554" y="2019503"/>
            <a:ext cx="164633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Intelligence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15777" y="2348769"/>
            <a:ext cx="5259115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Cloud-native BI service for creating interactive dashboards and visualizations. ML-powered insights with natural language querying.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9436" y="2974375"/>
            <a:ext cx="812190" cy="299998"/>
          </a:xfrm>
          <a:custGeom>
            <a:avLst/>
            <a:gdLst/>
            <a:ahLst/>
            <a:cxnLst/>
            <a:rect l="l" t="t" r="r" b="b"/>
            <a:pathLst>
              <a:path w="812190" h="299998">
                <a:moveTo>
                  <a:pt x="73170" y="0"/>
                </a:moveTo>
                <a:lnTo>
                  <a:pt x="739021" y="0"/>
                </a:lnTo>
                <a:cubicBezTo>
                  <a:pt x="779431" y="0"/>
                  <a:pt x="812190" y="32759"/>
                  <a:pt x="812190" y="73170"/>
                </a:cubicBezTo>
                <a:lnTo>
                  <a:pt x="812190" y="226829"/>
                </a:lnTo>
                <a:cubicBezTo>
                  <a:pt x="812190" y="267212"/>
                  <a:pt x="779404" y="299998"/>
                  <a:pt x="739021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2850" y="3058517"/>
            <a:ext cx="636582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08455" y="2974375"/>
            <a:ext cx="839629" cy="299998"/>
          </a:xfrm>
          <a:custGeom>
            <a:avLst/>
            <a:gdLst/>
            <a:ahLst/>
            <a:cxnLst/>
            <a:rect l="l" t="t" r="r" b="b"/>
            <a:pathLst>
              <a:path w="839629" h="299998">
                <a:moveTo>
                  <a:pt x="73170" y="0"/>
                </a:moveTo>
                <a:lnTo>
                  <a:pt x="766460" y="0"/>
                </a:lnTo>
                <a:cubicBezTo>
                  <a:pt x="806870" y="0"/>
                  <a:pt x="839629" y="32759"/>
                  <a:pt x="839629" y="73170"/>
                </a:cubicBezTo>
                <a:lnTo>
                  <a:pt x="839629" y="226829"/>
                </a:lnTo>
                <a:cubicBezTo>
                  <a:pt x="839629" y="267212"/>
                  <a:pt x="806843" y="299998"/>
                  <a:pt x="766460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21869" y="3058517"/>
            <a:ext cx="669965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AutoInsights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92608" y="3691443"/>
            <a:ext cx="5632283" cy="2131803"/>
          </a:xfrm>
          <a:custGeom>
            <a:avLst/>
            <a:gdLst/>
            <a:ahLst/>
            <a:cxnLst/>
            <a:rect l="l" t="t" r="r" b="b"/>
            <a:pathLst>
              <a:path w="5632283" h="2202426">
                <a:moveTo>
                  <a:pt x="109747" y="0"/>
                </a:moveTo>
                <a:lnTo>
                  <a:pt x="5522536" y="0"/>
                </a:lnTo>
                <a:cubicBezTo>
                  <a:pt x="5583148" y="0"/>
                  <a:pt x="5632283" y="49135"/>
                  <a:pt x="5632283" y="109747"/>
                </a:cubicBezTo>
                <a:lnTo>
                  <a:pt x="5632283" y="2092679"/>
                </a:lnTo>
                <a:cubicBezTo>
                  <a:pt x="5632283" y="2153290"/>
                  <a:pt x="5583148" y="2202426"/>
                  <a:pt x="5522536" y="2202426"/>
                </a:cubicBezTo>
                <a:lnTo>
                  <a:pt x="109747" y="2202426"/>
                </a:lnTo>
                <a:cubicBezTo>
                  <a:pt x="49135" y="2202426"/>
                  <a:pt x="0" y="2153290"/>
                  <a:pt x="0" y="2092679"/>
                </a:cubicBezTo>
                <a:lnTo>
                  <a:pt x="0" y="109747"/>
                </a:lnTo>
                <a:cubicBezTo>
                  <a:pt x="0" y="49176"/>
                  <a:pt x="49176" y="0"/>
                  <a:pt x="109747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5777" y="3914611"/>
            <a:ext cx="439022" cy="439022"/>
          </a:xfrm>
          <a:custGeom>
            <a:avLst/>
            <a:gdLst/>
            <a:ahLst/>
            <a:cxnLst/>
            <a:rect l="l" t="t" r="r" b="b"/>
            <a:pathLst>
              <a:path w="439022" h="439022">
                <a:moveTo>
                  <a:pt x="73172" y="0"/>
                </a:moveTo>
                <a:lnTo>
                  <a:pt x="365850" y="0"/>
                </a:lnTo>
                <a:cubicBezTo>
                  <a:pt x="406235" y="0"/>
                  <a:pt x="439022" y="32787"/>
                  <a:pt x="439022" y="73172"/>
                </a:cubicBezTo>
                <a:lnTo>
                  <a:pt x="439022" y="365850"/>
                </a:lnTo>
                <a:cubicBezTo>
                  <a:pt x="439022" y="406262"/>
                  <a:pt x="406262" y="439022"/>
                  <a:pt x="365850" y="439022"/>
                </a:cubicBezTo>
                <a:lnTo>
                  <a:pt x="73172" y="439022"/>
                </a:lnTo>
                <a:cubicBezTo>
                  <a:pt x="32787" y="439022"/>
                  <a:pt x="0" y="406235"/>
                  <a:pt x="0" y="365850"/>
                </a:cubicBezTo>
                <a:lnTo>
                  <a:pt x="0" y="73172"/>
                </a:lnTo>
                <a:cubicBezTo>
                  <a:pt x="0" y="32787"/>
                  <a:pt x="32787" y="0"/>
                  <a:pt x="7317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43825" y="4042659"/>
            <a:ext cx="182926" cy="182926"/>
          </a:xfrm>
          <a:custGeom>
            <a:avLst/>
            <a:gdLst/>
            <a:ahLst/>
            <a:cxnLst/>
            <a:rect l="l" t="t" r="r" b="b"/>
            <a:pathLst>
              <a:path w="182926" h="182926">
                <a:moveTo>
                  <a:pt x="42873" y="20008"/>
                </a:moveTo>
                <a:cubicBezTo>
                  <a:pt x="42873" y="8968"/>
                  <a:pt x="51841" y="0"/>
                  <a:pt x="62881" y="0"/>
                </a:cubicBezTo>
                <a:lnTo>
                  <a:pt x="71455" y="0"/>
                </a:lnTo>
                <a:cubicBezTo>
                  <a:pt x="77779" y="0"/>
                  <a:pt x="82888" y="5109"/>
                  <a:pt x="82888" y="11433"/>
                </a:cubicBezTo>
                <a:lnTo>
                  <a:pt x="82888" y="171493"/>
                </a:lnTo>
                <a:cubicBezTo>
                  <a:pt x="82888" y="177817"/>
                  <a:pt x="77779" y="182926"/>
                  <a:pt x="71455" y="182926"/>
                </a:cubicBezTo>
                <a:lnTo>
                  <a:pt x="60023" y="182926"/>
                </a:lnTo>
                <a:cubicBezTo>
                  <a:pt x="49376" y="182926"/>
                  <a:pt x="40408" y="175637"/>
                  <a:pt x="37871" y="165776"/>
                </a:cubicBezTo>
                <a:cubicBezTo>
                  <a:pt x="37621" y="165776"/>
                  <a:pt x="37407" y="165776"/>
                  <a:pt x="37157" y="165776"/>
                </a:cubicBezTo>
                <a:cubicBezTo>
                  <a:pt x="21365" y="165776"/>
                  <a:pt x="8575" y="152986"/>
                  <a:pt x="8575" y="137194"/>
                </a:cubicBezTo>
                <a:cubicBezTo>
                  <a:pt x="8575" y="130763"/>
                  <a:pt x="10718" y="124833"/>
                  <a:pt x="14291" y="120045"/>
                </a:cubicBezTo>
                <a:cubicBezTo>
                  <a:pt x="7360" y="114829"/>
                  <a:pt x="2858" y="106540"/>
                  <a:pt x="2858" y="97179"/>
                </a:cubicBezTo>
                <a:cubicBezTo>
                  <a:pt x="2858" y="86139"/>
                  <a:pt x="9146" y="76529"/>
                  <a:pt x="18293" y="71777"/>
                </a:cubicBezTo>
                <a:cubicBezTo>
                  <a:pt x="15756" y="67490"/>
                  <a:pt x="14291" y="62488"/>
                  <a:pt x="14291" y="57164"/>
                </a:cubicBezTo>
                <a:cubicBezTo>
                  <a:pt x="14291" y="41373"/>
                  <a:pt x="27082" y="28582"/>
                  <a:pt x="42873" y="28582"/>
                </a:cubicBezTo>
                <a:lnTo>
                  <a:pt x="42873" y="20008"/>
                </a:lnTo>
                <a:close/>
                <a:moveTo>
                  <a:pt x="140053" y="20008"/>
                </a:moveTo>
                <a:lnTo>
                  <a:pt x="140053" y="28582"/>
                </a:lnTo>
                <a:cubicBezTo>
                  <a:pt x="155844" y="28582"/>
                  <a:pt x="168635" y="41373"/>
                  <a:pt x="168635" y="57164"/>
                </a:cubicBezTo>
                <a:cubicBezTo>
                  <a:pt x="168635" y="62523"/>
                  <a:pt x="167170" y="67525"/>
                  <a:pt x="164633" y="71777"/>
                </a:cubicBezTo>
                <a:cubicBezTo>
                  <a:pt x="173815" y="76529"/>
                  <a:pt x="180068" y="86104"/>
                  <a:pt x="180068" y="97179"/>
                </a:cubicBezTo>
                <a:cubicBezTo>
                  <a:pt x="180068" y="106540"/>
                  <a:pt x="175566" y="114829"/>
                  <a:pt x="168635" y="120045"/>
                </a:cubicBezTo>
                <a:cubicBezTo>
                  <a:pt x="172207" y="124833"/>
                  <a:pt x="174351" y="130763"/>
                  <a:pt x="174351" y="137194"/>
                </a:cubicBezTo>
                <a:cubicBezTo>
                  <a:pt x="174351" y="152986"/>
                  <a:pt x="161561" y="165776"/>
                  <a:pt x="145769" y="165776"/>
                </a:cubicBezTo>
                <a:cubicBezTo>
                  <a:pt x="145519" y="165776"/>
                  <a:pt x="145304" y="165776"/>
                  <a:pt x="145054" y="165776"/>
                </a:cubicBezTo>
                <a:cubicBezTo>
                  <a:pt x="142518" y="175637"/>
                  <a:pt x="133550" y="182926"/>
                  <a:pt x="122903" y="182926"/>
                </a:cubicBezTo>
                <a:lnTo>
                  <a:pt x="111470" y="182926"/>
                </a:lnTo>
                <a:cubicBezTo>
                  <a:pt x="105147" y="182926"/>
                  <a:pt x="100038" y="177817"/>
                  <a:pt x="100038" y="171493"/>
                </a:cubicBezTo>
                <a:lnTo>
                  <a:pt x="100038" y="11433"/>
                </a:lnTo>
                <a:cubicBezTo>
                  <a:pt x="100038" y="5109"/>
                  <a:pt x="105147" y="0"/>
                  <a:pt x="111470" y="0"/>
                </a:cubicBezTo>
                <a:lnTo>
                  <a:pt x="120045" y="0"/>
                </a:lnTo>
                <a:cubicBezTo>
                  <a:pt x="131085" y="0"/>
                  <a:pt x="140053" y="8968"/>
                  <a:pt x="140053" y="2000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6964554" y="3914611"/>
            <a:ext cx="1701209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SageMaker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64554" y="4170707"/>
            <a:ext cx="167377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Platform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5777" y="4499973"/>
            <a:ext cx="5259115" cy="713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service to build, train, and deploy ML models at scale. Integrated notebooks, debugging, and MLOps tools. Supports TensorFlow, PyTorch, and more.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9436" y="5363382"/>
            <a:ext cx="949385" cy="299998"/>
          </a:xfrm>
          <a:custGeom>
            <a:avLst/>
            <a:gdLst/>
            <a:ahLst/>
            <a:cxnLst/>
            <a:rect l="l" t="t" r="r" b="b"/>
            <a:pathLst>
              <a:path w="949385" h="299998">
                <a:moveTo>
                  <a:pt x="73170" y="0"/>
                </a:moveTo>
                <a:lnTo>
                  <a:pt x="876215" y="0"/>
                </a:lnTo>
                <a:cubicBezTo>
                  <a:pt x="916625" y="0"/>
                  <a:pt x="949385" y="32759"/>
                  <a:pt x="949385" y="73170"/>
                </a:cubicBezTo>
                <a:lnTo>
                  <a:pt x="949385" y="226829"/>
                </a:lnTo>
                <a:cubicBezTo>
                  <a:pt x="949385" y="267212"/>
                  <a:pt x="916598" y="299998"/>
                  <a:pt x="876215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2850" y="5447529"/>
            <a:ext cx="779378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Training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51251" y="5363382"/>
            <a:ext cx="620118" cy="299998"/>
          </a:xfrm>
          <a:custGeom>
            <a:avLst/>
            <a:gdLst/>
            <a:ahLst/>
            <a:cxnLst/>
            <a:rect l="l" t="t" r="r" b="b"/>
            <a:pathLst>
              <a:path w="620118" h="299998">
                <a:moveTo>
                  <a:pt x="73170" y="0"/>
                </a:moveTo>
                <a:lnTo>
                  <a:pt x="546949" y="0"/>
                </a:lnTo>
                <a:cubicBezTo>
                  <a:pt x="587359" y="0"/>
                  <a:pt x="620118" y="32759"/>
                  <a:pt x="620118" y="73170"/>
                </a:cubicBezTo>
                <a:lnTo>
                  <a:pt x="620118" y="226829"/>
                </a:lnTo>
                <a:cubicBezTo>
                  <a:pt x="620118" y="267212"/>
                  <a:pt x="587332" y="299998"/>
                  <a:pt x="546949" y="299998"/>
                </a:cubicBezTo>
                <a:lnTo>
                  <a:pt x="73170" y="299998"/>
                </a:lnTo>
                <a:cubicBezTo>
                  <a:pt x="32759" y="299998"/>
                  <a:pt x="0" y="267239"/>
                  <a:pt x="0" y="226829"/>
                </a:cubicBezTo>
                <a:lnTo>
                  <a:pt x="0" y="73170"/>
                </a:lnTo>
                <a:cubicBezTo>
                  <a:pt x="0" y="32786"/>
                  <a:pt x="32786" y="0"/>
                  <a:pt x="73170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64665" y="5447529"/>
            <a:ext cx="445424" cy="153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4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AutoML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69510" y="6024464"/>
            <a:ext cx="11458468" cy="702907"/>
          </a:xfrm>
          <a:custGeom>
            <a:avLst/>
            <a:gdLst/>
            <a:ahLst/>
            <a:cxnLst/>
            <a:rect l="l" t="t" r="r" b="b"/>
            <a:pathLst>
              <a:path w="11458468" h="775605">
                <a:moveTo>
                  <a:pt x="109756" y="0"/>
                </a:moveTo>
                <a:lnTo>
                  <a:pt x="11348712" y="0"/>
                </a:lnTo>
                <a:cubicBezTo>
                  <a:pt x="11409328" y="0"/>
                  <a:pt x="11458468" y="49139"/>
                  <a:pt x="11458468" y="109756"/>
                </a:cubicBezTo>
                <a:lnTo>
                  <a:pt x="11458468" y="665849"/>
                </a:lnTo>
                <a:cubicBezTo>
                  <a:pt x="11458468" y="726466"/>
                  <a:pt x="11409328" y="775605"/>
                  <a:pt x="11348712" y="775605"/>
                </a:cubicBezTo>
                <a:lnTo>
                  <a:pt x="109756" y="775605"/>
                </a:lnTo>
                <a:cubicBezTo>
                  <a:pt x="49180" y="775605"/>
                  <a:pt x="0" y="726425"/>
                  <a:pt x="0" y="665849"/>
                </a:cubicBezTo>
                <a:lnTo>
                  <a:pt x="0" y="109756"/>
                </a:lnTo>
                <a:cubicBezTo>
                  <a:pt x="0" y="49180"/>
                  <a:pt x="49180" y="0"/>
                  <a:pt x="10975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56094" y="6320807"/>
            <a:ext cx="228657" cy="182926"/>
          </a:xfrm>
          <a:custGeom>
            <a:avLst/>
            <a:gdLst/>
            <a:ahLst/>
            <a:cxnLst/>
            <a:rect l="l" t="t" r="r" b="b"/>
            <a:pathLst>
              <a:path w="228657" h="182926">
                <a:moveTo>
                  <a:pt x="148591" y="75207"/>
                </a:moveTo>
                <a:cubicBezTo>
                  <a:pt x="152950" y="74028"/>
                  <a:pt x="157523" y="76100"/>
                  <a:pt x="159488" y="80137"/>
                </a:cubicBezTo>
                <a:lnTo>
                  <a:pt x="166134" y="93571"/>
                </a:lnTo>
                <a:cubicBezTo>
                  <a:pt x="169814" y="94071"/>
                  <a:pt x="173422" y="95071"/>
                  <a:pt x="176816" y="96465"/>
                </a:cubicBezTo>
                <a:lnTo>
                  <a:pt x="189321" y="88140"/>
                </a:lnTo>
                <a:cubicBezTo>
                  <a:pt x="193072" y="85639"/>
                  <a:pt x="198039" y="86139"/>
                  <a:pt x="201218" y="89319"/>
                </a:cubicBezTo>
                <a:lnTo>
                  <a:pt x="208078" y="96179"/>
                </a:lnTo>
                <a:cubicBezTo>
                  <a:pt x="211258" y="99359"/>
                  <a:pt x="211758" y="104361"/>
                  <a:pt x="209257" y="108076"/>
                </a:cubicBezTo>
                <a:lnTo>
                  <a:pt x="200932" y="120545"/>
                </a:lnTo>
                <a:cubicBezTo>
                  <a:pt x="201611" y="122224"/>
                  <a:pt x="202219" y="123975"/>
                  <a:pt x="202719" y="125797"/>
                </a:cubicBezTo>
                <a:cubicBezTo>
                  <a:pt x="203219" y="127619"/>
                  <a:pt x="203541" y="129406"/>
                  <a:pt x="203791" y="131228"/>
                </a:cubicBezTo>
                <a:lnTo>
                  <a:pt x="217260" y="137873"/>
                </a:lnTo>
                <a:cubicBezTo>
                  <a:pt x="221297" y="139874"/>
                  <a:pt x="223369" y="144447"/>
                  <a:pt x="222190" y="148770"/>
                </a:cubicBezTo>
                <a:lnTo>
                  <a:pt x="219690" y="158131"/>
                </a:lnTo>
                <a:cubicBezTo>
                  <a:pt x="218511" y="162454"/>
                  <a:pt x="214473" y="165383"/>
                  <a:pt x="209972" y="165098"/>
                </a:cubicBezTo>
                <a:lnTo>
                  <a:pt x="194966" y="164133"/>
                </a:lnTo>
                <a:cubicBezTo>
                  <a:pt x="192715" y="167027"/>
                  <a:pt x="190107" y="169706"/>
                  <a:pt x="187142" y="171993"/>
                </a:cubicBezTo>
                <a:lnTo>
                  <a:pt x="188106" y="186963"/>
                </a:lnTo>
                <a:cubicBezTo>
                  <a:pt x="188392" y="191465"/>
                  <a:pt x="185462" y="195538"/>
                  <a:pt x="181139" y="196681"/>
                </a:cubicBezTo>
                <a:lnTo>
                  <a:pt x="171779" y="199182"/>
                </a:lnTo>
                <a:cubicBezTo>
                  <a:pt x="167420" y="200361"/>
                  <a:pt x="162883" y="198289"/>
                  <a:pt x="160882" y="194251"/>
                </a:cubicBezTo>
                <a:lnTo>
                  <a:pt x="154236" y="180818"/>
                </a:lnTo>
                <a:cubicBezTo>
                  <a:pt x="150556" y="180318"/>
                  <a:pt x="146948" y="179317"/>
                  <a:pt x="143554" y="177924"/>
                </a:cubicBezTo>
                <a:lnTo>
                  <a:pt x="131049" y="186248"/>
                </a:lnTo>
                <a:cubicBezTo>
                  <a:pt x="127298" y="188749"/>
                  <a:pt x="122332" y="188249"/>
                  <a:pt x="119152" y="185069"/>
                </a:cubicBezTo>
                <a:lnTo>
                  <a:pt x="112292" y="178210"/>
                </a:lnTo>
                <a:cubicBezTo>
                  <a:pt x="109112" y="175030"/>
                  <a:pt x="108612" y="170064"/>
                  <a:pt x="111113" y="166312"/>
                </a:cubicBezTo>
                <a:lnTo>
                  <a:pt x="119438" y="153808"/>
                </a:lnTo>
                <a:cubicBezTo>
                  <a:pt x="118759" y="152128"/>
                  <a:pt x="118151" y="150378"/>
                  <a:pt x="117651" y="148556"/>
                </a:cubicBezTo>
                <a:cubicBezTo>
                  <a:pt x="117151" y="146734"/>
                  <a:pt x="116830" y="144911"/>
                  <a:pt x="116579" y="143125"/>
                </a:cubicBezTo>
                <a:lnTo>
                  <a:pt x="103110" y="136480"/>
                </a:lnTo>
                <a:cubicBezTo>
                  <a:pt x="99073" y="134479"/>
                  <a:pt x="97036" y="129906"/>
                  <a:pt x="98180" y="125583"/>
                </a:cubicBezTo>
                <a:lnTo>
                  <a:pt x="100681" y="116222"/>
                </a:lnTo>
                <a:cubicBezTo>
                  <a:pt x="101860" y="111899"/>
                  <a:pt x="105897" y="108969"/>
                  <a:pt x="110399" y="109255"/>
                </a:cubicBezTo>
                <a:lnTo>
                  <a:pt x="125368" y="110220"/>
                </a:lnTo>
                <a:cubicBezTo>
                  <a:pt x="127619" y="107326"/>
                  <a:pt x="130227" y="104646"/>
                  <a:pt x="133193" y="102360"/>
                </a:cubicBezTo>
                <a:lnTo>
                  <a:pt x="132228" y="87426"/>
                </a:lnTo>
                <a:cubicBezTo>
                  <a:pt x="131942" y="82924"/>
                  <a:pt x="134872" y="78851"/>
                  <a:pt x="139195" y="77708"/>
                </a:cubicBezTo>
                <a:lnTo>
                  <a:pt x="148556" y="75207"/>
                </a:lnTo>
                <a:close/>
                <a:moveTo>
                  <a:pt x="160203" y="121474"/>
                </a:moveTo>
                <a:cubicBezTo>
                  <a:pt x="151527" y="121484"/>
                  <a:pt x="144491" y="128536"/>
                  <a:pt x="144501" y="137212"/>
                </a:cubicBezTo>
                <a:cubicBezTo>
                  <a:pt x="144510" y="145888"/>
                  <a:pt x="151562" y="152924"/>
                  <a:pt x="160239" y="152914"/>
                </a:cubicBezTo>
                <a:cubicBezTo>
                  <a:pt x="168915" y="152905"/>
                  <a:pt x="175951" y="145853"/>
                  <a:pt x="175941" y="137176"/>
                </a:cubicBezTo>
                <a:cubicBezTo>
                  <a:pt x="175931" y="128500"/>
                  <a:pt x="168879" y="121464"/>
                  <a:pt x="160203" y="121474"/>
                </a:cubicBezTo>
                <a:close/>
                <a:moveTo>
                  <a:pt x="80352" y="-16256"/>
                </a:moveTo>
                <a:lnTo>
                  <a:pt x="89712" y="-13755"/>
                </a:lnTo>
                <a:cubicBezTo>
                  <a:pt x="94035" y="-12576"/>
                  <a:pt x="96965" y="-8503"/>
                  <a:pt x="96679" y="-4037"/>
                </a:cubicBezTo>
                <a:lnTo>
                  <a:pt x="95714" y="10897"/>
                </a:lnTo>
                <a:cubicBezTo>
                  <a:pt x="98680" y="13184"/>
                  <a:pt x="101288" y="15827"/>
                  <a:pt x="103539" y="18757"/>
                </a:cubicBezTo>
                <a:lnTo>
                  <a:pt x="118544" y="17792"/>
                </a:lnTo>
                <a:cubicBezTo>
                  <a:pt x="123010" y="17507"/>
                  <a:pt x="127083" y="20436"/>
                  <a:pt x="128262" y="24759"/>
                </a:cubicBezTo>
                <a:lnTo>
                  <a:pt x="130763" y="34120"/>
                </a:lnTo>
                <a:cubicBezTo>
                  <a:pt x="131907" y="38443"/>
                  <a:pt x="129870" y="43016"/>
                  <a:pt x="125833" y="45017"/>
                </a:cubicBezTo>
                <a:lnTo>
                  <a:pt x="112364" y="51662"/>
                </a:lnTo>
                <a:cubicBezTo>
                  <a:pt x="112113" y="53484"/>
                  <a:pt x="111756" y="55306"/>
                  <a:pt x="111292" y="57093"/>
                </a:cubicBezTo>
                <a:cubicBezTo>
                  <a:pt x="110827" y="58879"/>
                  <a:pt x="110184" y="60666"/>
                  <a:pt x="109505" y="62345"/>
                </a:cubicBezTo>
                <a:lnTo>
                  <a:pt x="117830" y="74849"/>
                </a:lnTo>
                <a:cubicBezTo>
                  <a:pt x="120331" y="78601"/>
                  <a:pt x="119831" y="83567"/>
                  <a:pt x="116651" y="86747"/>
                </a:cubicBezTo>
                <a:lnTo>
                  <a:pt x="109791" y="93607"/>
                </a:lnTo>
                <a:cubicBezTo>
                  <a:pt x="106611" y="96786"/>
                  <a:pt x="101645" y="97286"/>
                  <a:pt x="97894" y="94786"/>
                </a:cubicBezTo>
                <a:lnTo>
                  <a:pt x="85389" y="86461"/>
                </a:lnTo>
                <a:cubicBezTo>
                  <a:pt x="81995" y="87854"/>
                  <a:pt x="78387" y="88855"/>
                  <a:pt x="74707" y="89355"/>
                </a:cubicBezTo>
                <a:lnTo>
                  <a:pt x="68061" y="102789"/>
                </a:lnTo>
                <a:cubicBezTo>
                  <a:pt x="66060" y="106826"/>
                  <a:pt x="61487" y="108862"/>
                  <a:pt x="57164" y="107719"/>
                </a:cubicBezTo>
                <a:lnTo>
                  <a:pt x="47804" y="105218"/>
                </a:lnTo>
                <a:cubicBezTo>
                  <a:pt x="43445" y="104039"/>
                  <a:pt x="40551" y="99966"/>
                  <a:pt x="40837" y="95500"/>
                </a:cubicBezTo>
                <a:lnTo>
                  <a:pt x="41801" y="80530"/>
                </a:lnTo>
                <a:cubicBezTo>
                  <a:pt x="38836" y="78244"/>
                  <a:pt x="36228" y="75600"/>
                  <a:pt x="33977" y="72670"/>
                </a:cubicBezTo>
                <a:lnTo>
                  <a:pt x="18971" y="73635"/>
                </a:lnTo>
                <a:cubicBezTo>
                  <a:pt x="14505" y="73921"/>
                  <a:pt x="10432" y="70991"/>
                  <a:pt x="9253" y="66668"/>
                </a:cubicBezTo>
                <a:lnTo>
                  <a:pt x="6753" y="57307"/>
                </a:lnTo>
                <a:cubicBezTo>
                  <a:pt x="5609" y="52984"/>
                  <a:pt x="7646" y="48411"/>
                  <a:pt x="11683" y="46410"/>
                </a:cubicBezTo>
                <a:lnTo>
                  <a:pt x="25152" y="39765"/>
                </a:lnTo>
                <a:cubicBezTo>
                  <a:pt x="25402" y="37943"/>
                  <a:pt x="25760" y="36156"/>
                  <a:pt x="26224" y="34334"/>
                </a:cubicBezTo>
                <a:cubicBezTo>
                  <a:pt x="26724" y="32512"/>
                  <a:pt x="27296" y="30762"/>
                  <a:pt x="28011" y="29082"/>
                </a:cubicBezTo>
                <a:lnTo>
                  <a:pt x="19686" y="16613"/>
                </a:lnTo>
                <a:cubicBezTo>
                  <a:pt x="17185" y="12862"/>
                  <a:pt x="17685" y="7896"/>
                  <a:pt x="20865" y="4716"/>
                </a:cubicBezTo>
                <a:lnTo>
                  <a:pt x="27725" y="-2144"/>
                </a:lnTo>
                <a:cubicBezTo>
                  <a:pt x="30904" y="-5323"/>
                  <a:pt x="35871" y="-5824"/>
                  <a:pt x="39622" y="-3323"/>
                </a:cubicBezTo>
                <a:lnTo>
                  <a:pt x="52127" y="5002"/>
                </a:lnTo>
                <a:cubicBezTo>
                  <a:pt x="55521" y="3608"/>
                  <a:pt x="59129" y="2608"/>
                  <a:pt x="62809" y="2108"/>
                </a:cubicBezTo>
                <a:lnTo>
                  <a:pt x="69455" y="-11326"/>
                </a:lnTo>
                <a:cubicBezTo>
                  <a:pt x="71455" y="-15363"/>
                  <a:pt x="75993" y="-17399"/>
                  <a:pt x="80352" y="-16256"/>
                </a:cubicBezTo>
                <a:close/>
                <a:moveTo>
                  <a:pt x="68740" y="30011"/>
                </a:moveTo>
                <a:cubicBezTo>
                  <a:pt x="60064" y="30011"/>
                  <a:pt x="53020" y="37055"/>
                  <a:pt x="53020" y="45731"/>
                </a:cubicBezTo>
                <a:cubicBezTo>
                  <a:pt x="53020" y="54408"/>
                  <a:pt x="60064" y="61452"/>
                  <a:pt x="68740" y="61452"/>
                </a:cubicBezTo>
                <a:cubicBezTo>
                  <a:pt x="77416" y="61452"/>
                  <a:pt x="84460" y="54408"/>
                  <a:pt x="84460" y="45731"/>
                </a:cubicBezTo>
                <a:cubicBezTo>
                  <a:pt x="84460" y="37055"/>
                  <a:pt x="77416" y="30011"/>
                  <a:pt x="68740" y="300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931092" y="6211051"/>
            <a:ext cx="396948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Analytics Services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31092" y="6430562"/>
            <a:ext cx="396034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Glue (ETL), EMR (Big Data), Elasticsearch Service, Data Pipeline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985394" y="6225683"/>
            <a:ext cx="1059140" cy="373168"/>
          </a:xfrm>
          <a:custGeom>
            <a:avLst/>
            <a:gdLst/>
            <a:ahLst/>
            <a:cxnLst/>
            <a:rect l="l" t="t" r="r" b="b"/>
            <a:pathLst>
              <a:path w="1059140" h="373168">
                <a:moveTo>
                  <a:pt x="73171" y="0"/>
                </a:moveTo>
                <a:lnTo>
                  <a:pt x="985969" y="0"/>
                </a:lnTo>
                <a:cubicBezTo>
                  <a:pt x="1026380" y="0"/>
                  <a:pt x="1059140" y="32760"/>
                  <a:pt x="1059140" y="73171"/>
                </a:cubicBezTo>
                <a:lnTo>
                  <a:pt x="1059140" y="299998"/>
                </a:lnTo>
                <a:cubicBezTo>
                  <a:pt x="1059140" y="340409"/>
                  <a:pt x="1026380" y="373168"/>
                  <a:pt x="985969" y="373168"/>
                </a:cubicBezTo>
                <a:lnTo>
                  <a:pt x="73171" y="373168"/>
                </a:lnTo>
                <a:cubicBezTo>
                  <a:pt x="32787" y="373168"/>
                  <a:pt x="0" y="340382"/>
                  <a:pt x="0" y="299998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35394" y="6324464"/>
            <a:ext cx="81927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EMR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157720" y="6225683"/>
            <a:ext cx="876214" cy="373168"/>
          </a:xfrm>
          <a:custGeom>
            <a:avLst/>
            <a:gdLst/>
            <a:ahLst/>
            <a:cxnLst/>
            <a:rect l="l" t="t" r="r" b="b"/>
            <a:pathLst>
              <a:path w="876214" h="373168">
                <a:moveTo>
                  <a:pt x="73171" y="0"/>
                </a:moveTo>
                <a:lnTo>
                  <a:pt x="803043" y="0"/>
                </a:lnTo>
                <a:cubicBezTo>
                  <a:pt x="843427" y="0"/>
                  <a:pt x="876214" y="32787"/>
                  <a:pt x="876214" y="73171"/>
                </a:cubicBezTo>
                <a:lnTo>
                  <a:pt x="876214" y="299998"/>
                </a:lnTo>
                <a:cubicBezTo>
                  <a:pt x="876214" y="340382"/>
                  <a:pt x="843427" y="373168"/>
                  <a:pt x="803043" y="373168"/>
                </a:cubicBezTo>
                <a:lnTo>
                  <a:pt x="73171" y="373168"/>
                </a:lnTo>
                <a:cubicBezTo>
                  <a:pt x="32787" y="373168"/>
                  <a:pt x="0" y="340382"/>
                  <a:pt x="0" y="299998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07719" y="6324464"/>
            <a:ext cx="637953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Glue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10148720" y="6225683"/>
            <a:ext cx="1489015" cy="373168"/>
          </a:xfrm>
          <a:custGeom>
            <a:avLst/>
            <a:gdLst/>
            <a:ahLst/>
            <a:cxnLst/>
            <a:rect l="l" t="t" r="r" b="b"/>
            <a:pathLst>
              <a:path w="1489015" h="373168">
                <a:moveTo>
                  <a:pt x="73171" y="0"/>
                </a:moveTo>
                <a:lnTo>
                  <a:pt x="1415845" y="0"/>
                </a:lnTo>
                <a:cubicBezTo>
                  <a:pt x="1456256" y="0"/>
                  <a:pt x="1489015" y="32760"/>
                  <a:pt x="1489015" y="73171"/>
                </a:cubicBezTo>
                <a:lnTo>
                  <a:pt x="1489015" y="299998"/>
                </a:lnTo>
                <a:cubicBezTo>
                  <a:pt x="1489015" y="340409"/>
                  <a:pt x="1456256" y="373168"/>
                  <a:pt x="1415845" y="373168"/>
                </a:cubicBezTo>
                <a:lnTo>
                  <a:pt x="73171" y="373168"/>
                </a:lnTo>
                <a:cubicBezTo>
                  <a:pt x="32787" y="373168"/>
                  <a:pt x="0" y="340382"/>
                  <a:pt x="0" y="299998"/>
                </a:cubicBezTo>
                <a:lnTo>
                  <a:pt x="0" y="73171"/>
                </a:lnTo>
                <a:cubicBezTo>
                  <a:pt x="0" y="32787"/>
                  <a:pt x="32787" y="0"/>
                  <a:pt x="7317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298719" y="6324464"/>
            <a:ext cx="125052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Amazon OpenSearch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DEVELOPER TOOLS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Tools &amp; DevOps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15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toolchain for building, testing, and deploying applications with CI/CD automation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2476" y="196977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29766" y="38695"/>
                </a:moveTo>
                <a:cubicBezTo>
                  <a:pt x="34694" y="38695"/>
                  <a:pt x="38695" y="34694"/>
                  <a:pt x="38695" y="29766"/>
                </a:cubicBezTo>
                <a:cubicBezTo>
                  <a:pt x="38695" y="24837"/>
                  <a:pt x="34694" y="20836"/>
                  <a:pt x="29766" y="20836"/>
                </a:cubicBezTo>
                <a:cubicBezTo>
                  <a:pt x="24837" y="20836"/>
                  <a:pt x="20836" y="24837"/>
                  <a:pt x="20836" y="29766"/>
                </a:cubicBezTo>
                <a:cubicBezTo>
                  <a:pt x="20836" y="34694"/>
                  <a:pt x="24837" y="38695"/>
                  <a:pt x="29766" y="38695"/>
                </a:cubicBezTo>
                <a:close/>
                <a:moveTo>
                  <a:pt x="59531" y="29766"/>
                </a:moveTo>
                <a:cubicBezTo>
                  <a:pt x="59531" y="41970"/>
                  <a:pt x="52201" y="52462"/>
                  <a:pt x="41672" y="57038"/>
                </a:cubicBezTo>
                <a:lnTo>
                  <a:pt x="41672" y="83344"/>
                </a:lnTo>
                <a:lnTo>
                  <a:pt x="107156" y="83344"/>
                </a:lnTo>
                <a:cubicBezTo>
                  <a:pt x="117016" y="83344"/>
                  <a:pt x="125016" y="75344"/>
                  <a:pt x="125016" y="65484"/>
                </a:cubicBezTo>
                <a:lnTo>
                  <a:pt x="125016" y="57038"/>
                </a:lnTo>
                <a:cubicBezTo>
                  <a:pt x="114486" y="52462"/>
                  <a:pt x="107156" y="41970"/>
                  <a:pt x="107156" y="29766"/>
                </a:cubicBezTo>
                <a:cubicBezTo>
                  <a:pt x="107156" y="13320"/>
                  <a:pt x="120476" y="0"/>
                  <a:pt x="136922" y="0"/>
                </a:cubicBezTo>
                <a:cubicBezTo>
                  <a:pt x="153367" y="0"/>
                  <a:pt x="166688" y="13320"/>
                  <a:pt x="166688" y="29766"/>
                </a:cubicBezTo>
                <a:cubicBezTo>
                  <a:pt x="166688" y="41970"/>
                  <a:pt x="159358" y="52462"/>
                  <a:pt x="148828" y="57038"/>
                </a:cubicBezTo>
                <a:lnTo>
                  <a:pt x="148828" y="65484"/>
                </a:lnTo>
                <a:cubicBezTo>
                  <a:pt x="148828" y="88516"/>
                  <a:pt x="130187" y="107156"/>
                  <a:pt x="107156" y="107156"/>
                </a:cubicBezTo>
                <a:lnTo>
                  <a:pt x="41672" y="107156"/>
                </a:lnTo>
                <a:lnTo>
                  <a:pt x="41672" y="133462"/>
                </a:lnTo>
                <a:cubicBezTo>
                  <a:pt x="52201" y="138038"/>
                  <a:pt x="59531" y="148530"/>
                  <a:pt x="59531" y="160734"/>
                </a:cubicBezTo>
                <a:cubicBezTo>
                  <a:pt x="59531" y="177180"/>
                  <a:pt x="46211" y="190500"/>
                  <a:pt x="29766" y="190500"/>
                </a:cubicBezTo>
                <a:cubicBezTo>
                  <a:pt x="13320" y="190500"/>
                  <a:pt x="0" y="177180"/>
                  <a:pt x="0" y="160734"/>
                </a:cubicBezTo>
                <a:cubicBezTo>
                  <a:pt x="0" y="148530"/>
                  <a:pt x="7330" y="138038"/>
                  <a:pt x="17859" y="133462"/>
                </a:cubicBezTo>
                <a:lnTo>
                  <a:pt x="17859" y="57076"/>
                </a:lnTo>
                <a:cubicBezTo>
                  <a:pt x="7330" y="52462"/>
                  <a:pt x="0" y="41970"/>
                  <a:pt x="0" y="29766"/>
                </a:cubicBezTo>
                <a:cubicBezTo>
                  <a:pt x="0" y="13320"/>
                  <a:pt x="13320" y="0"/>
                  <a:pt x="29766" y="0"/>
                </a:cubicBezTo>
                <a:cubicBezTo>
                  <a:pt x="46211" y="0"/>
                  <a:pt x="59531" y="13320"/>
                  <a:pt x="59531" y="29766"/>
                </a:cubicBezTo>
                <a:close/>
                <a:moveTo>
                  <a:pt x="145852" y="29766"/>
                </a:moveTo>
                <a:cubicBezTo>
                  <a:pt x="145852" y="24837"/>
                  <a:pt x="141850" y="20836"/>
                  <a:pt x="136922" y="20836"/>
                </a:cubicBezTo>
                <a:cubicBezTo>
                  <a:pt x="131993" y="20836"/>
                  <a:pt x="127992" y="24837"/>
                  <a:pt x="127992" y="29766"/>
                </a:cubicBezTo>
                <a:cubicBezTo>
                  <a:pt x="127992" y="34694"/>
                  <a:pt x="131993" y="38695"/>
                  <a:pt x="136922" y="38695"/>
                </a:cubicBezTo>
                <a:cubicBezTo>
                  <a:pt x="141850" y="38695"/>
                  <a:pt x="145852" y="34694"/>
                  <a:pt x="145852" y="29766"/>
                </a:cubicBezTo>
                <a:close/>
                <a:moveTo>
                  <a:pt x="29766" y="169664"/>
                </a:moveTo>
                <a:cubicBezTo>
                  <a:pt x="34694" y="169664"/>
                  <a:pt x="38695" y="165663"/>
                  <a:pt x="38695" y="160734"/>
                </a:cubicBezTo>
                <a:cubicBezTo>
                  <a:pt x="38695" y="155806"/>
                  <a:pt x="34694" y="151805"/>
                  <a:pt x="29766" y="151805"/>
                </a:cubicBezTo>
                <a:cubicBezTo>
                  <a:pt x="24837" y="151805"/>
                  <a:pt x="20836" y="155806"/>
                  <a:pt x="20836" y="160734"/>
                </a:cubicBezTo>
                <a:cubicBezTo>
                  <a:pt x="20836" y="165663"/>
                  <a:pt x="24837" y="169664"/>
                  <a:pt x="29766" y="16966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836423"/>
            <a:ext cx="1219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CodeCommit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3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 Control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" y="2446023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source control service hosting secure Git repositories. Store code, binaries, and assets with integration to existing Git tools.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4604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860108" y="4053841"/>
            <a:ext cx="1038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Git repos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4604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2"/>
          <p:cNvSpPr/>
          <p:nvPr/>
        </p:nvSpPr>
        <p:spPr>
          <a:xfrm>
            <a:off x="860108" y="4320541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Pull requests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4604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860108" y="4587241"/>
            <a:ext cx="1114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Branch protection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8270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90680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4600218" y="1969773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1864" y="6809"/>
                </a:moveTo>
                <a:lnTo>
                  <a:pt x="100831" y="1414"/>
                </a:lnTo>
                <a:cubicBezTo>
                  <a:pt x="108868" y="-3423"/>
                  <a:pt x="118058" y="-5953"/>
                  <a:pt x="127434" y="-5953"/>
                </a:cubicBezTo>
                <a:cubicBezTo>
                  <a:pt x="141126" y="-5953"/>
                  <a:pt x="154298" y="-521"/>
                  <a:pt x="163971" y="9190"/>
                </a:cubicBezTo>
                <a:lnTo>
                  <a:pt x="187747" y="32965"/>
                </a:lnTo>
                <a:cubicBezTo>
                  <a:pt x="193328" y="38546"/>
                  <a:pt x="196453" y="46137"/>
                  <a:pt x="196453" y="54025"/>
                </a:cubicBezTo>
                <a:lnTo>
                  <a:pt x="196453" y="65522"/>
                </a:lnTo>
                <a:lnTo>
                  <a:pt x="203783" y="72851"/>
                </a:lnTo>
                <a:lnTo>
                  <a:pt x="203783" y="72851"/>
                </a:lnTo>
                <a:cubicBezTo>
                  <a:pt x="209587" y="67047"/>
                  <a:pt x="219001" y="67047"/>
                  <a:pt x="224842" y="72851"/>
                </a:cubicBezTo>
                <a:cubicBezTo>
                  <a:pt x="230684" y="78656"/>
                  <a:pt x="230646" y="88069"/>
                  <a:pt x="224842" y="93911"/>
                </a:cubicBezTo>
                <a:lnTo>
                  <a:pt x="201030" y="117723"/>
                </a:lnTo>
                <a:cubicBezTo>
                  <a:pt x="195225" y="123527"/>
                  <a:pt x="185812" y="123527"/>
                  <a:pt x="179970" y="117723"/>
                </a:cubicBezTo>
                <a:cubicBezTo>
                  <a:pt x="174129" y="111919"/>
                  <a:pt x="174166" y="102505"/>
                  <a:pt x="179970" y="96664"/>
                </a:cubicBezTo>
                <a:lnTo>
                  <a:pt x="172641" y="89297"/>
                </a:lnTo>
                <a:lnTo>
                  <a:pt x="161144" y="89297"/>
                </a:lnTo>
                <a:cubicBezTo>
                  <a:pt x="153256" y="89297"/>
                  <a:pt x="145666" y="86171"/>
                  <a:pt x="140084" y="80590"/>
                </a:cubicBezTo>
                <a:lnTo>
                  <a:pt x="121816" y="62322"/>
                </a:lnTo>
                <a:cubicBezTo>
                  <a:pt x="116235" y="56741"/>
                  <a:pt x="113109" y="49150"/>
                  <a:pt x="113109" y="41263"/>
                </a:cubicBezTo>
                <a:lnTo>
                  <a:pt x="113109" y="36537"/>
                </a:lnTo>
                <a:cubicBezTo>
                  <a:pt x="113109" y="32370"/>
                  <a:pt x="110914" y="28463"/>
                  <a:pt x="107342" y="26343"/>
                </a:cubicBezTo>
                <a:lnTo>
                  <a:pt x="91864" y="17041"/>
                </a:lnTo>
                <a:cubicBezTo>
                  <a:pt x="87995" y="14734"/>
                  <a:pt x="87995" y="9153"/>
                  <a:pt x="91864" y="6846"/>
                </a:cubicBezTo>
                <a:close/>
                <a:moveTo>
                  <a:pt x="18864" y="149833"/>
                </a:moveTo>
                <a:lnTo>
                  <a:pt x="101501" y="67196"/>
                </a:lnTo>
                <a:lnTo>
                  <a:pt x="135173" y="100868"/>
                </a:lnTo>
                <a:lnTo>
                  <a:pt x="52536" y="183505"/>
                </a:lnTo>
                <a:cubicBezTo>
                  <a:pt x="43235" y="192807"/>
                  <a:pt x="28166" y="192807"/>
                  <a:pt x="18864" y="183505"/>
                </a:cubicBezTo>
                <a:cubicBezTo>
                  <a:pt x="9562" y="174203"/>
                  <a:pt x="9562" y="159134"/>
                  <a:pt x="18864" y="14983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5062181" y="1836423"/>
            <a:ext cx="1438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CodeBuild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62181" y="2103123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Integration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490680" y="2446023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managed CI service that compiles source code, runs tests, and produces deployment packages. Scales continuously with no build queue.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18065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3568" y="4053841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Pre-built environments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18065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3568" y="4320541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 Docker images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18065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3568" y="4587241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Parallel builds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1731" y="1604010"/>
            <a:ext cx="3674745" cy="3408045"/>
          </a:xfrm>
          <a:custGeom>
            <a:avLst/>
            <a:gdLst/>
            <a:ahLst/>
            <a:cxnLst/>
            <a:rect l="l" t="t" r="r" b="b"/>
            <a:pathLst>
              <a:path w="3674745" h="3408045">
                <a:moveTo>
                  <a:pt x="114306" y="0"/>
                </a:moveTo>
                <a:lnTo>
                  <a:pt x="3560439" y="0"/>
                </a:lnTo>
                <a:cubicBezTo>
                  <a:pt x="3623569" y="0"/>
                  <a:pt x="3674745" y="51176"/>
                  <a:pt x="3674745" y="114306"/>
                </a:cubicBezTo>
                <a:lnTo>
                  <a:pt x="3674745" y="3293739"/>
                </a:lnTo>
                <a:cubicBezTo>
                  <a:pt x="3674745" y="3356869"/>
                  <a:pt x="3623569" y="3408045"/>
                  <a:pt x="3560439" y="3408045"/>
                </a:cubicBezTo>
                <a:lnTo>
                  <a:pt x="114306" y="3408045"/>
                </a:lnTo>
                <a:cubicBezTo>
                  <a:pt x="51176" y="3408045"/>
                  <a:pt x="0" y="3356869"/>
                  <a:pt x="0" y="3293739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4141" y="183642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97491" y="196977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8935641" y="1836423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CodeDeploy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35641" y="2103123"/>
            <a:ext cx="1495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Automation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64141" y="2446023"/>
            <a:ext cx="3286125" cy="1457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Automate code deployments to EC2, Lambda, ECS, or on-premises servers. Supports blue/green deployments with automatic rollback on failure.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91525" y="40824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6" name="Text 34"/>
          <p:cNvSpPr/>
          <p:nvPr/>
        </p:nvSpPr>
        <p:spPr>
          <a:xfrm>
            <a:off x="8607028" y="4053841"/>
            <a:ext cx="12001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Blue/green deploys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91525" y="43491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8" name="Text 36"/>
          <p:cNvSpPr/>
          <p:nvPr/>
        </p:nvSpPr>
        <p:spPr>
          <a:xfrm>
            <a:off x="8607028" y="4320541"/>
            <a:ext cx="838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rollback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391525" y="4615816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607028" y="4587241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Hybrid support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4810" y="5208269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114298" y="0"/>
                </a:moveTo>
                <a:lnTo>
                  <a:pt x="5494022" y="0"/>
                </a:lnTo>
                <a:cubicBezTo>
                  <a:pt x="5557147" y="0"/>
                  <a:pt x="5608320" y="51173"/>
                  <a:pt x="5608320" y="114298"/>
                </a:cubicBezTo>
                <a:lnTo>
                  <a:pt x="5608320" y="1150622"/>
                </a:lnTo>
                <a:cubicBezTo>
                  <a:pt x="5608320" y="1213747"/>
                  <a:pt x="5557147" y="1264920"/>
                  <a:pt x="549402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2932" y="544068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3" name="Text 41"/>
          <p:cNvSpPr/>
          <p:nvPr/>
        </p:nvSpPr>
        <p:spPr>
          <a:xfrm>
            <a:off x="931545" y="5402582"/>
            <a:ext cx="1095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CodePipeline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9120" y="57835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delivery service for automating release pipelines. Model, visualize, and automate software release steps from build to deploy.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5060" y="5208269"/>
            <a:ext cx="5608320" cy="1264920"/>
          </a:xfrm>
          <a:custGeom>
            <a:avLst/>
            <a:gdLst/>
            <a:ahLst/>
            <a:cxnLst/>
            <a:rect l="l" t="t" r="r" b="b"/>
            <a:pathLst>
              <a:path w="5608320" h="1264920">
                <a:moveTo>
                  <a:pt x="114298" y="0"/>
                </a:moveTo>
                <a:lnTo>
                  <a:pt x="5494022" y="0"/>
                </a:lnTo>
                <a:cubicBezTo>
                  <a:pt x="5557147" y="0"/>
                  <a:pt x="5608320" y="51173"/>
                  <a:pt x="5608320" y="114298"/>
                </a:cubicBezTo>
                <a:lnTo>
                  <a:pt x="5608320" y="1150622"/>
                </a:lnTo>
                <a:cubicBezTo>
                  <a:pt x="5608320" y="1213747"/>
                  <a:pt x="5557147" y="1264920"/>
                  <a:pt x="5494022" y="1264920"/>
                </a:cubicBezTo>
                <a:lnTo>
                  <a:pt x="114298" y="1264920"/>
                </a:lnTo>
                <a:cubicBezTo>
                  <a:pt x="51173" y="1264920"/>
                  <a:pt x="0" y="1213747"/>
                  <a:pt x="0" y="115062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89370" y="5440682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23812" y="35719"/>
                </a:moveTo>
                <a:cubicBezTo>
                  <a:pt x="23812" y="22585"/>
                  <a:pt x="34491" y="11906"/>
                  <a:pt x="47625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214313" y="125016"/>
                </a:lnTo>
                <a:lnTo>
                  <a:pt x="190500" y="125016"/>
                </a:lnTo>
                <a:lnTo>
                  <a:pt x="190500" y="35719"/>
                </a:lnTo>
                <a:lnTo>
                  <a:pt x="47625" y="35719"/>
                </a:lnTo>
                <a:lnTo>
                  <a:pt x="47625" y="125016"/>
                </a:lnTo>
                <a:lnTo>
                  <a:pt x="23812" y="125016"/>
                </a:lnTo>
                <a:lnTo>
                  <a:pt x="23812" y="35719"/>
                </a:lnTo>
                <a:close/>
                <a:moveTo>
                  <a:pt x="0" y="150019"/>
                </a:moveTo>
                <a:cubicBezTo>
                  <a:pt x="0" y="146075"/>
                  <a:pt x="3200" y="142875"/>
                  <a:pt x="7144" y="142875"/>
                </a:cubicBezTo>
                <a:lnTo>
                  <a:pt x="230981" y="142875"/>
                </a:lnTo>
                <a:cubicBezTo>
                  <a:pt x="234925" y="142875"/>
                  <a:pt x="238125" y="146075"/>
                  <a:pt x="238125" y="150019"/>
                </a:cubicBezTo>
                <a:cubicBezTo>
                  <a:pt x="238125" y="165795"/>
                  <a:pt x="225326" y="178594"/>
                  <a:pt x="209550" y="178594"/>
                </a:cubicBezTo>
                <a:lnTo>
                  <a:pt x="28575" y="178594"/>
                </a:lnTo>
                <a:cubicBezTo>
                  <a:pt x="12799" y="178594"/>
                  <a:pt x="0" y="165795"/>
                  <a:pt x="0" y="150019"/>
                </a:cubicBezTo>
                <a:close/>
                <a:moveTo>
                  <a:pt x="104552" y="77763"/>
                </a:moveTo>
                <a:lnTo>
                  <a:pt x="93018" y="89297"/>
                </a:lnTo>
                <a:lnTo>
                  <a:pt x="104552" y="100831"/>
                </a:lnTo>
                <a:cubicBezTo>
                  <a:pt x="108049" y="104329"/>
                  <a:pt x="108049" y="109984"/>
                  <a:pt x="104552" y="113444"/>
                </a:cubicBezTo>
                <a:cubicBezTo>
                  <a:pt x="101054" y="116904"/>
                  <a:pt x="95399" y="116942"/>
                  <a:pt x="91939" y="113444"/>
                </a:cubicBezTo>
                <a:lnTo>
                  <a:pt x="74079" y="95585"/>
                </a:lnTo>
                <a:cubicBezTo>
                  <a:pt x="70582" y="92087"/>
                  <a:pt x="70582" y="86432"/>
                  <a:pt x="74079" y="82972"/>
                </a:cubicBezTo>
                <a:lnTo>
                  <a:pt x="91939" y="65112"/>
                </a:lnTo>
                <a:cubicBezTo>
                  <a:pt x="95436" y="61615"/>
                  <a:pt x="101092" y="61615"/>
                  <a:pt x="104552" y="65112"/>
                </a:cubicBezTo>
                <a:cubicBezTo>
                  <a:pt x="108012" y="68610"/>
                  <a:pt x="108049" y="74265"/>
                  <a:pt x="104552" y="77725"/>
                </a:cubicBezTo>
                <a:close/>
                <a:moveTo>
                  <a:pt x="146224" y="65112"/>
                </a:moveTo>
                <a:lnTo>
                  <a:pt x="164083" y="82972"/>
                </a:lnTo>
                <a:cubicBezTo>
                  <a:pt x="167580" y="86469"/>
                  <a:pt x="167580" y="92125"/>
                  <a:pt x="164083" y="95585"/>
                </a:cubicBezTo>
                <a:lnTo>
                  <a:pt x="146224" y="113444"/>
                </a:lnTo>
                <a:cubicBezTo>
                  <a:pt x="142726" y="116942"/>
                  <a:pt x="137071" y="116942"/>
                  <a:pt x="133610" y="113444"/>
                </a:cubicBezTo>
                <a:cubicBezTo>
                  <a:pt x="130150" y="109947"/>
                  <a:pt x="130113" y="104291"/>
                  <a:pt x="133610" y="100831"/>
                </a:cubicBezTo>
                <a:lnTo>
                  <a:pt x="145145" y="89297"/>
                </a:lnTo>
                <a:lnTo>
                  <a:pt x="133610" y="77763"/>
                </a:lnTo>
                <a:cubicBezTo>
                  <a:pt x="130113" y="74265"/>
                  <a:pt x="130113" y="68610"/>
                  <a:pt x="133610" y="65150"/>
                </a:cubicBezTo>
                <a:cubicBezTo>
                  <a:pt x="137108" y="61689"/>
                  <a:pt x="142763" y="61652"/>
                  <a:pt x="146224" y="651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7" name="Text 45"/>
          <p:cNvSpPr/>
          <p:nvPr/>
        </p:nvSpPr>
        <p:spPr>
          <a:xfrm>
            <a:off x="6741795" y="5402582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Cloud9 &amp; X-Ray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9370" y="5783582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Cloud9: Cloud IDE for writing, running, and debugging code. X-Ray: Distributed tracing for analyzing and debugging production applications.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419" y="354419"/>
            <a:ext cx="1154518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b="1" kern="0" spc="49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MANAGEMENT &amp; IOT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419" y="602512"/>
            <a:ext cx="11642651" cy="3544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2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Management, Governance &amp; IoT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419" y="1027814"/>
            <a:ext cx="1156290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resources, automate infrastructure, and connect devices at scale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7963" y="1492102"/>
            <a:ext cx="5642344" cy="1903228"/>
          </a:xfrm>
          <a:custGeom>
            <a:avLst/>
            <a:gdLst/>
            <a:ahLst/>
            <a:cxnLst/>
            <a:rect l="l" t="t" r="r" b="b"/>
            <a:pathLst>
              <a:path w="5642344" h="1903228">
                <a:moveTo>
                  <a:pt x="106333" y="0"/>
                </a:moveTo>
                <a:lnTo>
                  <a:pt x="5536011" y="0"/>
                </a:lnTo>
                <a:cubicBezTo>
                  <a:pt x="5594737" y="0"/>
                  <a:pt x="5642344" y="47607"/>
                  <a:pt x="5642344" y="106333"/>
                </a:cubicBezTo>
                <a:lnTo>
                  <a:pt x="5642344" y="1796895"/>
                </a:lnTo>
                <a:cubicBezTo>
                  <a:pt x="5642344" y="1855621"/>
                  <a:pt x="5594737" y="1903228"/>
                  <a:pt x="5536011" y="1903228"/>
                </a:cubicBezTo>
                <a:lnTo>
                  <a:pt x="106333" y="1903228"/>
                </a:lnTo>
                <a:cubicBezTo>
                  <a:pt x="47607" y="1903228"/>
                  <a:pt x="0" y="1855621"/>
                  <a:pt x="0" y="1796895"/>
                </a:cubicBezTo>
                <a:lnTo>
                  <a:pt x="0" y="106333"/>
                </a:lnTo>
                <a:cubicBezTo>
                  <a:pt x="0" y="47646"/>
                  <a:pt x="47646" y="0"/>
                  <a:pt x="10633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4158" y="1708300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87129" y="1832347"/>
            <a:ext cx="199360" cy="177209"/>
          </a:xfrm>
          <a:custGeom>
            <a:avLst/>
            <a:gdLst/>
            <a:ahLst/>
            <a:cxnLst/>
            <a:rect l="l" t="t" r="r" b="b"/>
            <a:pathLst>
              <a:path w="199360" h="177209">
                <a:moveTo>
                  <a:pt x="99680" y="11076"/>
                </a:moveTo>
                <a:cubicBezTo>
                  <a:pt x="71714" y="11076"/>
                  <a:pt x="49321" y="23812"/>
                  <a:pt x="33019" y="38972"/>
                </a:cubicBezTo>
                <a:cubicBezTo>
                  <a:pt x="16821" y="54028"/>
                  <a:pt x="5988" y="71991"/>
                  <a:pt x="831" y="84347"/>
                </a:cubicBezTo>
                <a:cubicBezTo>
                  <a:pt x="-312" y="87082"/>
                  <a:pt x="-312" y="90128"/>
                  <a:pt x="831" y="92862"/>
                </a:cubicBezTo>
                <a:cubicBezTo>
                  <a:pt x="5988" y="105218"/>
                  <a:pt x="16821" y="123216"/>
                  <a:pt x="33019" y="138237"/>
                </a:cubicBezTo>
                <a:cubicBezTo>
                  <a:pt x="49321" y="153362"/>
                  <a:pt x="71714" y="166134"/>
                  <a:pt x="99680" y="166134"/>
                </a:cubicBezTo>
                <a:cubicBezTo>
                  <a:pt x="127646" y="166134"/>
                  <a:pt x="150040" y="153397"/>
                  <a:pt x="166341" y="138237"/>
                </a:cubicBezTo>
                <a:cubicBezTo>
                  <a:pt x="182539" y="123181"/>
                  <a:pt x="193373" y="105218"/>
                  <a:pt x="198530" y="92862"/>
                </a:cubicBezTo>
                <a:cubicBezTo>
                  <a:pt x="199672" y="90128"/>
                  <a:pt x="199672" y="87082"/>
                  <a:pt x="198530" y="84347"/>
                </a:cubicBezTo>
                <a:cubicBezTo>
                  <a:pt x="193373" y="71991"/>
                  <a:pt x="182539" y="53993"/>
                  <a:pt x="166341" y="38972"/>
                </a:cubicBezTo>
                <a:cubicBezTo>
                  <a:pt x="150040" y="23847"/>
                  <a:pt x="127646" y="11076"/>
                  <a:pt x="99680" y="11076"/>
                </a:cubicBezTo>
                <a:close/>
                <a:moveTo>
                  <a:pt x="49840" y="88605"/>
                </a:moveTo>
                <a:cubicBezTo>
                  <a:pt x="49840" y="61097"/>
                  <a:pt x="72173" y="38765"/>
                  <a:pt x="99680" y="38765"/>
                </a:cubicBezTo>
                <a:cubicBezTo>
                  <a:pt x="127188" y="38765"/>
                  <a:pt x="149520" y="61097"/>
                  <a:pt x="149520" y="88605"/>
                </a:cubicBezTo>
                <a:cubicBezTo>
                  <a:pt x="149520" y="116112"/>
                  <a:pt x="127188" y="138445"/>
                  <a:pt x="99680" y="138445"/>
                </a:cubicBezTo>
                <a:cubicBezTo>
                  <a:pt x="72173" y="138445"/>
                  <a:pt x="49840" y="116112"/>
                  <a:pt x="49840" y="88605"/>
                </a:cubicBezTo>
                <a:close/>
                <a:moveTo>
                  <a:pt x="99680" y="66453"/>
                </a:moveTo>
                <a:cubicBezTo>
                  <a:pt x="99680" y="78671"/>
                  <a:pt x="89747" y="88605"/>
                  <a:pt x="77529" y="88605"/>
                </a:cubicBezTo>
                <a:cubicBezTo>
                  <a:pt x="73549" y="88605"/>
                  <a:pt x="69811" y="87566"/>
                  <a:pt x="66557" y="85697"/>
                </a:cubicBezTo>
                <a:cubicBezTo>
                  <a:pt x="66211" y="89470"/>
                  <a:pt x="66523" y="93346"/>
                  <a:pt x="67561" y="97188"/>
                </a:cubicBezTo>
                <a:cubicBezTo>
                  <a:pt x="72303" y="114909"/>
                  <a:pt x="90543" y="125431"/>
                  <a:pt x="108264" y="120689"/>
                </a:cubicBezTo>
                <a:cubicBezTo>
                  <a:pt x="125985" y="115947"/>
                  <a:pt x="136507" y="97707"/>
                  <a:pt x="131765" y="79986"/>
                </a:cubicBezTo>
                <a:cubicBezTo>
                  <a:pt x="127542" y="64169"/>
                  <a:pt x="112556" y="54097"/>
                  <a:pt x="96773" y="55482"/>
                </a:cubicBezTo>
                <a:cubicBezTo>
                  <a:pt x="98607" y="58701"/>
                  <a:pt x="99680" y="62439"/>
                  <a:pt x="99680" y="6645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105786" y="1708300"/>
            <a:ext cx="155058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CloudWatch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5786" y="1956393"/>
            <a:ext cx="1524000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&amp; Observability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4158" y="2275370"/>
            <a:ext cx="5280837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AWS resources and applications with metrics, logs, and alarms. Collect and track performance data, set alarms, and automatically react to changes.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7702" y="2881426"/>
            <a:ext cx="786809" cy="290623"/>
          </a:xfrm>
          <a:custGeom>
            <a:avLst/>
            <a:gdLst/>
            <a:ahLst/>
            <a:cxnLst/>
            <a:rect l="l" t="t" r="r" b="b"/>
            <a:pathLst>
              <a:path w="786809" h="290623">
                <a:moveTo>
                  <a:pt x="70883" y="0"/>
                </a:moveTo>
                <a:lnTo>
                  <a:pt x="715926" y="0"/>
                </a:lnTo>
                <a:cubicBezTo>
                  <a:pt x="755074" y="0"/>
                  <a:pt x="786809" y="31735"/>
                  <a:pt x="786809" y="70883"/>
                </a:cubicBezTo>
                <a:lnTo>
                  <a:pt x="786809" y="219740"/>
                </a:lnTo>
                <a:cubicBezTo>
                  <a:pt x="786809" y="258862"/>
                  <a:pt x="755048" y="290623"/>
                  <a:pt x="715926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7572" y="2962939"/>
            <a:ext cx="616688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38940" y="2881426"/>
            <a:ext cx="839972" cy="290623"/>
          </a:xfrm>
          <a:custGeom>
            <a:avLst/>
            <a:gdLst/>
            <a:ahLst/>
            <a:cxnLst/>
            <a:rect l="l" t="t" r="r" b="b"/>
            <a:pathLst>
              <a:path w="839972" h="290623">
                <a:moveTo>
                  <a:pt x="70883" y="0"/>
                </a:moveTo>
                <a:lnTo>
                  <a:pt x="769089" y="0"/>
                </a:lnTo>
                <a:cubicBezTo>
                  <a:pt x="808237" y="0"/>
                  <a:pt x="839972" y="31735"/>
                  <a:pt x="839972" y="70883"/>
                </a:cubicBezTo>
                <a:lnTo>
                  <a:pt x="839972" y="219740"/>
                </a:lnTo>
                <a:cubicBezTo>
                  <a:pt x="839972" y="258862"/>
                  <a:pt x="808210" y="290623"/>
                  <a:pt x="769089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48809" y="2962939"/>
            <a:ext cx="677383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Logs Insights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360871" y="2881426"/>
            <a:ext cx="547577" cy="290623"/>
          </a:xfrm>
          <a:custGeom>
            <a:avLst/>
            <a:gdLst/>
            <a:ahLst/>
            <a:cxnLst/>
            <a:rect l="l" t="t" r="r" b="b"/>
            <a:pathLst>
              <a:path w="547577" h="290623">
                <a:moveTo>
                  <a:pt x="70883" y="0"/>
                </a:moveTo>
                <a:lnTo>
                  <a:pt x="476694" y="0"/>
                </a:lnTo>
                <a:cubicBezTo>
                  <a:pt x="515841" y="0"/>
                  <a:pt x="547577" y="31735"/>
                  <a:pt x="547577" y="70883"/>
                </a:cubicBezTo>
                <a:lnTo>
                  <a:pt x="547577" y="219740"/>
                </a:lnTo>
                <a:cubicBezTo>
                  <a:pt x="547577" y="258862"/>
                  <a:pt x="515815" y="290623"/>
                  <a:pt x="476694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0741" y="2962939"/>
            <a:ext cx="382772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Alarms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57963" y="3576085"/>
            <a:ext cx="5642344" cy="1903228"/>
          </a:xfrm>
          <a:custGeom>
            <a:avLst/>
            <a:gdLst/>
            <a:ahLst/>
            <a:cxnLst/>
            <a:rect l="l" t="t" r="r" b="b"/>
            <a:pathLst>
              <a:path w="5642344" h="1903228">
                <a:moveTo>
                  <a:pt x="106333" y="0"/>
                </a:moveTo>
                <a:lnTo>
                  <a:pt x="5536011" y="0"/>
                </a:lnTo>
                <a:cubicBezTo>
                  <a:pt x="5594737" y="0"/>
                  <a:pt x="5642344" y="47607"/>
                  <a:pt x="5642344" y="106333"/>
                </a:cubicBezTo>
                <a:lnTo>
                  <a:pt x="5642344" y="1796895"/>
                </a:lnTo>
                <a:cubicBezTo>
                  <a:pt x="5642344" y="1855621"/>
                  <a:pt x="5594737" y="1903228"/>
                  <a:pt x="5536011" y="1903228"/>
                </a:cubicBezTo>
                <a:lnTo>
                  <a:pt x="106333" y="1903228"/>
                </a:lnTo>
                <a:cubicBezTo>
                  <a:pt x="47607" y="1903228"/>
                  <a:pt x="0" y="1855621"/>
                  <a:pt x="0" y="1796895"/>
                </a:cubicBezTo>
                <a:lnTo>
                  <a:pt x="0" y="106333"/>
                </a:lnTo>
                <a:cubicBezTo>
                  <a:pt x="0" y="47646"/>
                  <a:pt x="47646" y="0"/>
                  <a:pt x="10633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4158" y="3792279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0356" y="3916326"/>
            <a:ext cx="132907" cy="177209"/>
          </a:xfrm>
          <a:custGeom>
            <a:avLst/>
            <a:gdLst/>
            <a:ahLst/>
            <a:cxnLst/>
            <a:rect l="l" t="t" r="r" b="b"/>
            <a:pathLst>
              <a:path w="132907" h="177209">
                <a:moveTo>
                  <a:pt x="0" y="22151"/>
                </a:moveTo>
                <a:cubicBezTo>
                  <a:pt x="0" y="9933"/>
                  <a:pt x="9933" y="0"/>
                  <a:pt x="22151" y="0"/>
                </a:cubicBezTo>
                <a:lnTo>
                  <a:pt x="73895" y="0"/>
                </a:lnTo>
                <a:cubicBezTo>
                  <a:pt x="79779" y="0"/>
                  <a:pt x="85420" y="2319"/>
                  <a:pt x="89574" y="6472"/>
                </a:cubicBezTo>
                <a:lnTo>
                  <a:pt x="126435" y="43368"/>
                </a:lnTo>
                <a:cubicBezTo>
                  <a:pt x="130588" y="47521"/>
                  <a:pt x="132907" y="53163"/>
                  <a:pt x="132907" y="59047"/>
                </a:cubicBezTo>
                <a:lnTo>
                  <a:pt x="132907" y="155058"/>
                </a:lnTo>
                <a:cubicBezTo>
                  <a:pt x="132907" y="167276"/>
                  <a:pt x="122974" y="177209"/>
                  <a:pt x="110756" y="177209"/>
                </a:cubicBezTo>
                <a:lnTo>
                  <a:pt x="22151" y="177209"/>
                </a:lnTo>
                <a:cubicBezTo>
                  <a:pt x="9933" y="177209"/>
                  <a:pt x="0" y="167276"/>
                  <a:pt x="0" y="155058"/>
                </a:cubicBezTo>
                <a:lnTo>
                  <a:pt x="0" y="22151"/>
                </a:lnTo>
                <a:close/>
                <a:moveTo>
                  <a:pt x="71991" y="20248"/>
                </a:moveTo>
                <a:lnTo>
                  <a:pt x="71991" y="52609"/>
                </a:lnTo>
                <a:cubicBezTo>
                  <a:pt x="71991" y="57212"/>
                  <a:pt x="75695" y="60916"/>
                  <a:pt x="80298" y="60916"/>
                </a:cubicBezTo>
                <a:lnTo>
                  <a:pt x="112659" y="60916"/>
                </a:lnTo>
                <a:lnTo>
                  <a:pt x="71991" y="20248"/>
                </a:lnTo>
                <a:close/>
                <a:moveTo>
                  <a:pt x="53370" y="102311"/>
                </a:moveTo>
                <a:cubicBezTo>
                  <a:pt x="56347" y="98815"/>
                  <a:pt x="55966" y="93589"/>
                  <a:pt x="52471" y="90612"/>
                </a:cubicBezTo>
                <a:cubicBezTo>
                  <a:pt x="48975" y="87636"/>
                  <a:pt x="43749" y="88016"/>
                  <a:pt x="40772" y="91512"/>
                </a:cubicBezTo>
                <a:lnTo>
                  <a:pt x="24159" y="110894"/>
                </a:lnTo>
                <a:cubicBezTo>
                  <a:pt x="21494" y="114009"/>
                  <a:pt x="21494" y="118578"/>
                  <a:pt x="24159" y="121693"/>
                </a:cubicBezTo>
                <a:lnTo>
                  <a:pt x="40772" y="141075"/>
                </a:lnTo>
                <a:cubicBezTo>
                  <a:pt x="43749" y="144571"/>
                  <a:pt x="49009" y="144952"/>
                  <a:pt x="52471" y="141975"/>
                </a:cubicBezTo>
                <a:cubicBezTo>
                  <a:pt x="55932" y="138999"/>
                  <a:pt x="56347" y="133738"/>
                  <a:pt x="53370" y="130277"/>
                </a:cubicBezTo>
                <a:lnTo>
                  <a:pt x="41395" y="116294"/>
                </a:lnTo>
                <a:lnTo>
                  <a:pt x="53370" y="102311"/>
                </a:lnTo>
                <a:close/>
                <a:moveTo>
                  <a:pt x="92135" y="91512"/>
                </a:moveTo>
                <a:cubicBezTo>
                  <a:pt x="89158" y="88016"/>
                  <a:pt x="83898" y="87636"/>
                  <a:pt x="80436" y="90612"/>
                </a:cubicBezTo>
                <a:cubicBezTo>
                  <a:pt x="76975" y="93589"/>
                  <a:pt x="76560" y="98850"/>
                  <a:pt x="79537" y="102311"/>
                </a:cubicBezTo>
                <a:lnTo>
                  <a:pt x="91512" y="116294"/>
                </a:lnTo>
                <a:lnTo>
                  <a:pt x="79537" y="130277"/>
                </a:lnTo>
                <a:cubicBezTo>
                  <a:pt x="76560" y="133772"/>
                  <a:pt x="76941" y="138999"/>
                  <a:pt x="80436" y="141975"/>
                </a:cubicBezTo>
                <a:cubicBezTo>
                  <a:pt x="83932" y="144952"/>
                  <a:pt x="89158" y="144571"/>
                  <a:pt x="92135" y="141075"/>
                </a:cubicBezTo>
                <a:lnTo>
                  <a:pt x="108748" y="121693"/>
                </a:lnTo>
                <a:cubicBezTo>
                  <a:pt x="111413" y="118578"/>
                  <a:pt x="111413" y="114009"/>
                  <a:pt x="108748" y="110894"/>
                </a:cubicBezTo>
                <a:lnTo>
                  <a:pt x="92135" y="915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0" name="Text 18"/>
          <p:cNvSpPr/>
          <p:nvPr/>
        </p:nvSpPr>
        <p:spPr>
          <a:xfrm>
            <a:off x="1105786" y="3792279"/>
            <a:ext cx="1346791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CloudFormation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05786" y="4040372"/>
            <a:ext cx="1320209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as Code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4158" y="4359349"/>
            <a:ext cx="5280837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Model and provision AWS resources using templates. Define infrastructure in JSON/YAML and deploy consistently across environments.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77702" y="4965405"/>
            <a:ext cx="538716" cy="290623"/>
          </a:xfrm>
          <a:custGeom>
            <a:avLst/>
            <a:gdLst/>
            <a:ahLst/>
            <a:cxnLst/>
            <a:rect l="l" t="t" r="r" b="b"/>
            <a:pathLst>
              <a:path w="538716" h="290623">
                <a:moveTo>
                  <a:pt x="70883" y="0"/>
                </a:moveTo>
                <a:lnTo>
                  <a:pt x="467833" y="0"/>
                </a:lnTo>
                <a:cubicBezTo>
                  <a:pt x="506981" y="0"/>
                  <a:pt x="538716" y="31735"/>
                  <a:pt x="538716" y="70883"/>
                </a:cubicBezTo>
                <a:lnTo>
                  <a:pt x="538716" y="219740"/>
                </a:lnTo>
                <a:cubicBezTo>
                  <a:pt x="538716" y="258862"/>
                  <a:pt x="506955" y="290623"/>
                  <a:pt x="467833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572" y="5046926"/>
            <a:ext cx="371364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Stacks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93615" y="4965405"/>
            <a:ext cx="910856" cy="290623"/>
          </a:xfrm>
          <a:custGeom>
            <a:avLst/>
            <a:gdLst/>
            <a:ahLst/>
            <a:cxnLst/>
            <a:rect l="l" t="t" r="r" b="b"/>
            <a:pathLst>
              <a:path w="910856" h="290623">
                <a:moveTo>
                  <a:pt x="70883" y="0"/>
                </a:moveTo>
                <a:lnTo>
                  <a:pt x="839973" y="0"/>
                </a:lnTo>
                <a:cubicBezTo>
                  <a:pt x="879120" y="0"/>
                  <a:pt x="910856" y="31735"/>
                  <a:pt x="910856" y="70883"/>
                </a:cubicBezTo>
                <a:lnTo>
                  <a:pt x="910856" y="219740"/>
                </a:lnTo>
                <a:cubicBezTo>
                  <a:pt x="910856" y="258888"/>
                  <a:pt x="879120" y="290623"/>
                  <a:pt x="839973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03485" y="5046926"/>
            <a:ext cx="742950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Drift Detection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88149" y="1492102"/>
            <a:ext cx="5642344" cy="1903228"/>
          </a:xfrm>
          <a:custGeom>
            <a:avLst/>
            <a:gdLst/>
            <a:ahLst/>
            <a:cxnLst/>
            <a:rect l="l" t="t" r="r" b="b"/>
            <a:pathLst>
              <a:path w="5642344" h="1903228">
                <a:moveTo>
                  <a:pt x="106333" y="0"/>
                </a:moveTo>
                <a:lnTo>
                  <a:pt x="5536011" y="0"/>
                </a:lnTo>
                <a:cubicBezTo>
                  <a:pt x="5594737" y="0"/>
                  <a:pt x="5642344" y="47607"/>
                  <a:pt x="5642344" y="106333"/>
                </a:cubicBezTo>
                <a:lnTo>
                  <a:pt x="5642344" y="1796895"/>
                </a:lnTo>
                <a:cubicBezTo>
                  <a:pt x="5642344" y="1855621"/>
                  <a:pt x="5594737" y="1903228"/>
                  <a:pt x="5536011" y="1903228"/>
                </a:cubicBezTo>
                <a:lnTo>
                  <a:pt x="106333" y="1903228"/>
                </a:lnTo>
                <a:cubicBezTo>
                  <a:pt x="47607" y="1903228"/>
                  <a:pt x="0" y="1855621"/>
                  <a:pt x="0" y="1796895"/>
                </a:cubicBezTo>
                <a:lnTo>
                  <a:pt x="0" y="106333"/>
                </a:lnTo>
                <a:cubicBezTo>
                  <a:pt x="0" y="47646"/>
                  <a:pt x="47646" y="0"/>
                  <a:pt x="10633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4344" y="1708300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550542" y="1832347"/>
            <a:ext cx="132907" cy="177209"/>
          </a:xfrm>
          <a:custGeom>
            <a:avLst/>
            <a:gdLst/>
            <a:ahLst/>
            <a:cxnLst/>
            <a:rect l="l" t="t" r="r" b="b"/>
            <a:pathLst>
              <a:path w="132907" h="177209">
                <a:moveTo>
                  <a:pt x="107779" y="11076"/>
                </a:moveTo>
                <a:lnTo>
                  <a:pt x="110756" y="11076"/>
                </a:lnTo>
                <a:cubicBezTo>
                  <a:pt x="122974" y="11076"/>
                  <a:pt x="132907" y="21009"/>
                  <a:pt x="132907" y="33227"/>
                </a:cubicBezTo>
                <a:lnTo>
                  <a:pt x="132907" y="155058"/>
                </a:lnTo>
                <a:cubicBezTo>
                  <a:pt x="132907" y="167276"/>
                  <a:pt x="122974" y="177209"/>
                  <a:pt x="110756" y="177209"/>
                </a:cubicBezTo>
                <a:lnTo>
                  <a:pt x="22151" y="177209"/>
                </a:lnTo>
                <a:cubicBezTo>
                  <a:pt x="9933" y="177209"/>
                  <a:pt x="0" y="167276"/>
                  <a:pt x="0" y="155058"/>
                </a:cubicBezTo>
                <a:lnTo>
                  <a:pt x="0" y="33227"/>
                </a:lnTo>
                <a:cubicBezTo>
                  <a:pt x="0" y="21009"/>
                  <a:pt x="9933" y="11076"/>
                  <a:pt x="22151" y="11076"/>
                </a:cubicBezTo>
                <a:lnTo>
                  <a:pt x="25128" y="11076"/>
                </a:lnTo>
                <a:cubicBezTo>
                  <a:pt x="28935" y="4465"/>
                  <a:pt x="36099" y="0"/>
                  <a:pt x="44302" y="0"/>
                </a:cubicBezTo>
                <a:lnTo>
                  <a:pt x="88605" y="0"/>
                </a:lnTo>
                <a:cubicBezTo>
                  <a:pt x="96808" y="0"/>
                  <a:pt x="103972" y="4465"/>
                  <a:pt x="107779" y="11076"/>
                </a:cubicBezTo>
                <a:close/>
                <a:moveTo>
                  <a:pt x="85836" y="38765"/>
                </a:moveTo>
                <a:cubicBezTo>
                  <a:pt x="90439" y="38765"/>
                  <a:pt x="94142" y="35061"/>
                  <a:pt x="94142" y="30458"/>
                </a:cubicBezTo>
                <a:cubicBezTo>
                  <a:pt x="94142" y="25855"/>
                  <a:pt x="90439" y="22151"/>
                  <a:pt x="85836" y="22151"/>
                </a:cubicBezTo>
                <a:lnTo>
                  <a:pt x="47071" y="22151"/>
                </a:lnTo>
                <a:cubicBezTo>
                  <a:pt x="42468" y="22151"/>
                  <a:pt x="38765" y="25855"/>
                  <a:pt x="38765" y="30458"/>
                </a:cubicBezTo>
                <a:cubicBezTo>
                  <a:pt x="38765" y="35061"/>
                  <a:pt x="42468" y="38765"/>
                  <a:pt x="47071" y="38765"/>
                </a:cubicBezTo>
                <a:lnTo>
                  <a:pt x="85836" y="38765"/>
                </a:lnTo>
                <a:close/>
                <a:moveTo>
                  <a:pt x="95665" y="90231"/>
                </a:moveTo>
                <a:cubicBezTo>
                  <a:pt x="98088" y="86355"/>
                  <a:pt x="96911" y="81232"/>
                  <a:pt x="93035" y="78775"/>
                </a:cubicBezTo>
                <a:cubicBezTo>
                  <a:pt x="89158" y="76318"/>
                  <a:pt x="84036" y="77529"/>
                  <a:pt x="81579" y="81406"/>
                </a:cubicBezTo>
                <a:lnTo>
                  <a:pt x="60327" y="115428"/>
                </a:lnTo>
                <a:lnTo>
                  <a:pt x="50982" y="102968"/>
                </a:lnTo>
                <a:cubicBezTo>
                  <a:pt x="48213" y="99300"/>
                  <a:pt x="43022" y="98538"/>
                  <a:pt x="39353" y="101307"/>
                </a:cubicBezTo>
                <a:cubicBezTo>
                  <a:pt x="35684" y="104076"/>
                  <a:pt x="34923" y="109268"/>
                  <a:pt x="37692" y="112936"/>
                </a:cubicBezTo>
                <a:lnTo>
                  <a:pt x="54305" y="135087"/>
                </a:lnTo>
                <a:cubicBezTo>
                  <a:pt x="55932" y="137268"/>
                  <a:pt x="58562" y="138514"/>
                  <a:pt x="61296" y="138410"/>
                </a:cubicBezTo>
                <a:cubicBezTo>
                  <a:pt x="64031" y="138306"/>
                  <a:pt x="66523" y="136853"/>
                  <a:pt x="67976" y="134499"/>
                </a:cubicBezTo>
                <a:lnTo>
                  <a:pt x="95665" y="9019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0" name="Text 28"/>
          <p:cNvSpPr/>
          <p:nvPr/>
        </p:nvSpPr>
        <p:spPr>
          <a:xfrm>
            <a:off x="6935972" y="1708300"/>
            <a:ext cx="1621465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CloudTrail &amp; Config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35972" y="1956393"/>
            <a:ext cx="1594884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Audit &amp; Compliance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4344" y="2275370"/>
            <a:ext cx="5280837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CloudTrail:</a:t>
            </a: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Records AWS API calls for audit trails and compliance. </a:t>
            </a: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Config:</a:t>
            </a: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Monitor and record resource configurations, assess compliance against rules.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07888" y="2881426"/>
            <a:ext cx="777949" cy="290623"/>
          </a:xfrm>
          <a:custGeom>
            <a:avLst/>
            <a:gdLst/>
            <a:ahLst/>
            <a:cxnLst/>
            <a:rect l="l" t="t" r="r" b="b"/>
            <a:pathLst>
              <a:path w="777949" h="290623">
                <a:moveTo>
                  <a:pt x="70883" y="0"/>
                </a:moveTo>
                <a:lnTo>
                  <a:pt x="707066" y="0"/>
                </a:lnTo>
                <a:cubicBezTo>
                  <a:pt x="746213" y="0"/>
                  <a:pt x="777949" y="31735"/>
                  <a:pt x="777949" y="70883"/>
                </a:cubicBezTo>
                <a:lnTo>
                  <a:pt x="777949" y="219740"/>
                </a:lnTo>
                <a:cubicBezTo>
                  <a:pt x="777949" y="258862"/>
                  <a:pt x="746187" y="290623"/>
                  <a:pt x="707066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7758" y="2962939"/>
            <a:ext cx="614030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Compliance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266468" y="2881426"/>
            <a:ext cx="813391" cy="290623"/>
          </a:xfrm>
          <a:custGeom>
            <a:avLst/>
            <a:gdLst/>
            <a:ahLst/>
            <a:cxnLst/>
            <a:rect l="l" t="t" r="r" b="b"/>
            <a:pathLst>
              <a:path w="813391" h="290623">
                <a:moveTo>
                  <a:pt x="70883" y="0"/>
                </a:moveTo>
                <a:lnTo>
                  <a:pt x="742508" y="0"/>
                </a:lnTo>
                <a:cubicBezTo>
                  <a:pt x="781655" y="0"/>
                  <a:pt x="813391" y="31735"/>
                  <a:pt x="813391" y="70883"/>
                </a:cubicBezTo>
                <a:lnTo>
                  <a:pt x="813391" y="219740"/>
                </a:lnTo>
                <a:cubicBezTo>
                  <a:pt x="813391" y="258862"/>
                  <a:pt x="781629" y="290623"/>
                  <a:pt x="742508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76337" y="2962939"/>
            <a:ext cx="642716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Remediation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88149" y="3576085"/>
            <a:ext cx="5642344" cy="1903228"/>
          </a:xfrm>
          <a:custGeom>
            <a:avLst/>
            <a:gdLst/>
            <a:ahLst/>
            <a:cxnLst/>
            <a:rect l="l" t="t" r="r" b="b"/>
            <a:pathLst>
              <a:path w="5642344" h="1903228">
                <a:moveTo>
                  <a:pt x="106333" y="0"/>
                </a:moveTo>
                <a:lnTo>
                  <a:pt x="5536011" y="0"/>
                </a:lnTo>
                <a:cubicBezTo>
                  <a:pt x="5594737" y="0"/>
                  <a:pt x="5642344" y="47607"/>
                  <a:pt x="5642344" y="106333"/>
                </a:cubicBezTo>
                <a:lnTo>
                  <a:pt x="5642344" y="1796895"/>
                </a:lnTo>
                <a:cubicBezTo>
                  <a:pt x="5642344" y="1855621"/>
                  <a:pt x="5594737" y="1903228"/>
                  <a:pt x="5536011" y="1903228"/>
                </a:cubicBezTo>
                <a:lnTo>
                  <a:pt x="106333" y="1903228"/>
                </a:lnTo>
                <a:cubicBezTo>
                  <a:pt x="47607" y="1903228"/>
                  <a:pt x="0" y="1855621"/>
                  <a:pt x="0" y="1796895"/>
                </a:cubicBezTo>
                <a:lnTo>
                  <a:pt x="0" y="106333"/>
                </a:lnTo>
                <a:cubicBezTo>
                  <a:pt x="0" y="47646"/>
                  <a:pt x="47646" y="0"/>
                  <a:pt x="106333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4344" y="3792279"/>
            <a:ext cx="425302" cy="425302"/>
          </a:xfrm>
          <a:custGeom>
            <a:avLst/>
            <a:gdLst/>
            <a:ahLst/>
            <a:cxnLst/>
            <a:rect l="l" t="t" r="r" b="b"/>
            <a:pathLst>
              <a:path w="425302" h="425302">
                <a:moveTo>
                  <a:pt x="70885" y="0"/>
                </a:moveTo>
                <a:lnTo>
                  <a:pt x="354417" y="0"/>
                </a:lnTo>
                <a:cubicBezTo>
                  <a:pt x="393566" y="0"/>
                  <a:pt x="425302" y="31736"/>
                  <a:pt x="425302" y="70885"/>
                </a:cubicBezTo>
                <a:lnTo>
                  <a:pt x="425302" y="354417"/>
                </a:lnTo>
                <a:cubicBezTo>
                  <a:pt x="425302" y="393566"/>
                  <a:pt x="393566" y="425302"/>
                  <a:pt x="354417" y="425302"/>
                </a:cubicBezTo>
                <a:lnTo>
                  <a:pt x="70885" y="425302"/>
                </a:lnTo>
                <a:cubicBezTo>
                  <a:pt x="31736" y="425302"/>
                  <a:pt x="0" y="393566"/>
                  <a:pt x="0" y="354417"/>
                </a:cubicBezTo>
                <a:lnTo>
                  <a:pt x="0" y="70885"/>
                </a:lnTo>
                <a:cubicBezTo>
                  <a:pt x="0" y="31736"/>
                  <a:pt x="31736" y="0"/>
                  <a:pt x="7088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28391" y="3916326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60916" y="8307"/>
                </a:moveTo>
                <a:cubicBezTo>
                  <a:pt x="60916" y="3703"/>
                  <a:pt x="57212" y="0"/>
                  <a:pt x="52609" y="0"/>
                </a:cubicBezTo>
                <a:cubicBezTo>
                  <a:pt x="48006" y="0"/>
                  <a:pt x="44302" y="3703"/>
                  <a:pt x="44302" y="8307"/>
                </a:cubicBezTo>
                <a:lnTo>
                  <a:pt x="44302" y="22151"/>
                </a:lnTo>
                <a:cubicBezTo>
                  <a:pt x="32085" y="22151"/>
                  <a:pt x="22151" y="32085"/>
                  <a:pt x="22151" y="44302"/>
                </a:cubicBezTo>
                <a:lnTo>
                  <a:pt x="8307" y="44302"/>
                </a:lnTo>
                <a:cubicBezTo>
                  <a:pt x="3703" y="44302"/>
                  <a:pt x="0" y="48006"/>
                  <a:pt x="0" y="52609"/>
                </a:cubicBezTo>
                <a:cubicBezTo>
                  <a:pt x="0" y="57212"/>
                  <a:pt x="3703" y="60916"/>
                  <a:pt x="8307" y="60916"/>
                </a:cubicBezTo>
                <a:lnTo>
                  <a:pt x="22151" y="60916"/>
                </a:lnTo>
                <a:lnTo>
                  <a:pt x="22151" y="80298"/>
                </a:lnTo>
                <a:lnTo>
                  <a:pt x="8307" y="80298"/>
                </a:lnTo>
                <a:cubicBezTo>
                  <a:pt x="3703" y="80298"/>
                  <a:pt x="0" y="84001"/>
                  <a:pt x="0" y="88605"/>
                </a:cubicBezTo>
                <a:cubicBezTo>
                  <a:pt x="0" y="93208"/>
                  <a:pt x="3703" y="96911"/>
                  <a:pt x="8307" y="96911"/>
                </a:cubicBezTo>
                <a:lnTo>
                  <a:pt x="22151" y="96911"/>
                </a:lnTo>
                <a:lnTo>
                  <a:pt x="22151" y="116294"/>
                </a:lnTo>
                <a:lnTo>
                  <a:pt x="8307" y="116294"/>
                </a:lnTo>
                <a:cubicBezTo>
                  <a:pt x="3703" y="116294"/>
                  <a:pt x="0" y="119997"/>
                  <a:pt x="0" y="124600"/>
                </a:cubicBezTo>
                <a:cubicBezTo>
                  <a:pt x="0" y="129204"/>
                  <a:pt x="3703" y="132907"/>
                  <a:pt x="8307" y="132907"/>
                </a:cubicBezTo>
                <a:lnTo>
                  <a:pt x="22151" y="132907"/>
                </a:lnTo>
                <a:cubicBezTo>
                  <a:pt x="22151" y="145125"/>
                  <a:pt x="32085" y="155058"/>
                  <a:pt x="44302" y="155058"/>
                </a:cubicBezTo>
                <a:lnTo>
                  <a:pt x="44302" y="168903"/>
                </a:lnTo>
                <a:cubicBezTo>
                  <a:pt x="44302" y="173506"/>
                  <a:pt x="48006" y="177209"/>
                  <a:pt x="52609" y="177209"/>
                </a:cubicBezTo>
                <a:cubicBezTo>
                  <a:pt x="57212" y="177209"/>
                  <a:pt x="60916" y="173506"/>
                  <a:pt x="60916" y="168903"/>
                </a:cubicBezTo>
                <a:lnTo>
                  <a:pt x="60916" y="155058"/>
                </a:lnTo>
                <a:lnTo>
                  <a:pt x="80298" y="155058"/>
                </a:lnTo>
                <a:lnTo>
                  <a:pt x="80298" y="168903"/>
                </a:lnTo>
                <a:cubicBezTo>
                  <a:pt x="80298" y="173506"/>
                  <a:pt x="84001" y="177209"/>
                  <a:pt x="88605" y="177209"/>
                </a:cubicBezTo>
                <a:cubicBezTo>
                  <a:pt x="93208" y="177209"/>
                  <a:pt x="96911" y="173506"/>
                  <a:pt x="96911" y="168903"/>
                </a:cubicBezTo>
                <a:lnTo>
                  <a:pt x="96911" y="155058"/>
                </a:lnTo>
                <a:lnTo>
                  <a:pt x="116294" y="155058"/>
                </a:lnTo>
                <a:lnTo>
                  <a:pt x="116294" y="168903"/>
                </a:lnTo>
                <a:cubicBezTo>
                  <a:pt x="116294" y="173506"/>
                  <a:pt x="119997" y="177209"/>
                  <a:pt x="124600" y="177209"/>
                </a:cubicBezTo>
                <a:cubicBezTo>
                  <a:pt x="129204" y="177209"/>
                  <a:pt x="132907" y="173506"/>
                  <a:pt x="132907" y="168903"/>
                </a:cubicBezTo>
                <a:lnTo>
                  <a:pt x="132907" y="155058"/>
                </a:lnTo>
                <a:cubicBezTo>
                  <a:pt x="145125" y="155058"/>
                  <a:pt x="155058" y="145125"/>
                  <a:pt x="155058" y="132907"/>
                </a:cubicBezTo>
                <a:lnTo>
                  <a:pt x="168903" y="132907"/>
                </a:lnTo>
                <a:cubicBezTo>
                  <a:pt x="173506" y="132907"/>
                  <a:pt x="177209" y="129204"/>
                  <a:pt x="177209" y="124600"/>
                </a:cubicBezTo>
                <a:cubicBezTo>
                  <a:pt x="177209" y="119997"/>
                  <a:pt x="173506" y="116294"/>
                  <a:pt x="168903" y="116294"/>
                </a:cubicBezTo>
                <a:lnTo>
                  <a:pt x="155058" y="116294"/>
                </a:lnTo>
                <a:lnTo>
                  <a:pt x="155058" y="96911"/>
                </a:lnTo>
                <a:lnTo>
                  <a:pt x="168903" y="96911"/>
                </a:lnTo>
                <a:cubicBezTo>
                  <a:pt x="173506" y="96911"/>
                  <a:pt x="177209" y="93208"/>
                  <a:pt x="177209" y="88605"/>
                </a:cubicBezTo>
                <a:cubicBezTo>
                  <a:pt x="177209" y="84001"/>
                  <a:pt x="173506" y="80298"/>
                  <a:pt x="168903" y="80298"/>
                </a:cubicBezTo>
                <a:lnTo>
                  <a:pt x="155058" y="80298"/>
                </a:lnTo>
                <a:lnTo>
                  <a:pt x="155058" y="60916"/>
                </a:lnTo>
                <a:lnTo>
                  <a:pt x="168903" y="60916"/>
                </a:lnTo>
                <a:cubicBezTo>
                  <a:pt x="173506" y="60916"/>
                  <a:pt x="177209" y="57212"/>
                  <a:pt x="177209" y="52609"/>
                </a:cubicBezTo>
                <a:cubicBezTo>
                  <a:pt x="177209" y="48006"/>
                  <a:pt x="173506" y="44302"/>
                  <a:pt x="168903" y="44302"/>
                </a:cubicBezTo>
                <a:lnTo>
                  <a:pt x="155058" y="44302"/>
                </a:lnTo>
                <a:cubicBezTo>
                  <a:pt x="155058" y="32085"/>
                  <a:pt x="145125" y="22151"/>
                  <a:pt x="132907" y="22151"/>
                </a:cubicBezTo>
                <a:lnTo>
                  <a:pt x="132907" y="8307"/>
                </a:lnTo>
                <a:cubicBezTo>
                  <a:pt x="132907" y="3703"/>
                  <a:pt x="129204" y="0"/>
                  <a:pt x="124600" y="0"/>
                </a:cubicBezTo>
                <a:cubicBezTo>
                  <a:pt x="119997" y="0"/>
                  <a:pt x="116294" y="3703"/>
                  <a:pt x="116294" y="8307"/>
                </a:cubicBezTo>
                <a:lnTo>
                  <a:pt x="116294" y="22151"/>
                </a:lnTo>
                <a:lnTo>
                  <a:pt x="96911" y="22151"/>
                </a:lnTo>
                <a:lnTo>
                  <a:pt x="96911" y="8307"/>
                </a:lnTo>
                <a:cubicBezTo>
                  <a:pt x="96911" y="3703"/>
                  <a:pt x="93208" y="0"/>
                  <a:pt x="88605" y="0"/>
                </a:cubicBezTo>
                <a:cubicBezTo>
                  <a:pt x="84001" y="0"/>
                  <a:pt x="80298" y="3703"/>
                  <a:pt x="80298" y="8307"/>
                </a:cubicBezTo>
                <a:lnTo>
                  <a:pt x="80298" y="22151"/>
                </a:lnTo>
                <a:lnTo>
                  <a:pt x="60916" y="22151"/>
                </a:lnTo>
                <a:lnTo>
                  <a:pt x="60916" y="8307"/>
                </a:lnTo>
                <a:close/>
                <a:moveTo>
                  <a:pt x="55378" y="44302"/>
                </a:moveTo>
                <a:lnTo>
                  <a:pt x="121831" y="44302"/>
                </a:lnTo>
                <a:cubicBezTo>
                  <a:pt x="127958" y="44302"/>
                  <a:pt x="132907" y="49252"/>
                  <a:pt x="132907" y="55378"/>
                </a:cubicBezTo>
                <a:lnTo>
                  <a:pt x="132907" y="121831"/>
                </a:lnTo>
                <a:cubicBezTo>
                  <a:pt x="132907" y="127958"/>
                  <a:pt x="127958" y="132907"/>
                  <a:pt x="121831" y="132907"/>
                </a:cubicBezTo>
                <a:lnTo>
                  <a:pt x="55378" y="132907"/>
                </a:lnTo>
                <a:cubicBezTo>
                  <a:pt x="49252" y="132907"/>
                  <a:pt x="44302" y="127958"/>
                  <a:pt x="44302" y="121831"/>
                </a:cubicBezTo>
                <a:lnTo>
                  <a:pt x="44302" y="55378"/>
                </a:lnTo>
                <a:cubicBezTo>
                  <a:pt x="44302" y="49252"/>
                  <a:pt x="49252" y="44302"/>
                  <a:pt x="55378" y="44302"/>
                </a:cubicBezTo>
                <a:close/>
                <a:moveTo>
                  <a:pt x="60916" y="60916"/>
                </a:moveTo>
                <a:lnTo>
                  <a:pt x="60916" y="116294"/>
                </a:lnTo>
                <a:lnTo>
                  <a:pt x="116294" y="116294"/>
                </a:lnTo>
                <a:lnTo>
                  <a:pt x="116294" y="60916"/>
                </a:lnTo>
                <a:lnTo>
                  <a:pt x="60916" y="6091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6935972" y="3792279"/>
            <a:ext cx="1851837" cy="2480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5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Core &amp; Greengrass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35972" y="4040372"/>
            <a:ext cx="1825256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 of Things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4344" y="4359349"/>
            <a:ext cx="5280837" cy="46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IoT Core:</a:t>
            </a: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Connect devices to cloud without managing servers. </a:t>
            </a: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Greengrass:</a:t>
            </a:r>
            <a:r>
              <a:rPr lang="en-US" sz="1116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Extend AWS to edge devices for local processing and offline operation.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07888" y="4965405"/>
            <a:ext cx="1185530" cy="290623"/>
          </a:xfrm>
          <a:custGeom>
            <a:avLst/>
            <a:gdLst/>
            <a:ahLst/>
            <a:cxnLst/>
            <a:rect l="l" t="t" r="r" b="b"/>
            <a:pathLst>
              <a:path w="1185530" h="290623">
                <a:moveTo>
                  <a:pt x="70883" y="0"/>
                </a:moveTo>
                <a:lnTo>
                  <a:pt x="1114647" y="0"/>
                </a:lnTo>
                <a:cubicBezTo>
                  <a:pt x="1153795" y="0"/>
                  <a:pt x="1185530" y="31735"/>
                  <a:pt x="1185530" y="70883"/>
                </a:cubicBezTo>
                <a:lnTo>
                  <a:pt x="1185530" y="219740"/>
                </a:lnTo>
                <a:cubicBezTo>
                  <a:pt x="1185530" y="258888"/>
                  <a:pt x="1153795" y="290623"/>
                  <a:pt x="1114647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7758" y="5046926"/>
            <a:ext cx="1019286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Device Management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671723" y="4965405"/>
            <a:ext cx="1008321" cy="290623"/>
          </a:xfrm>
          <a:custGeom>
            <a:avLst/>
            <a:gdLst/>
            <a:ahLst/>
            <a:cxnLst/>
            <a:rect l="l" t="t" r="r" b="b"/>
            <a:pathLst>
              <a:path w="1008321" h="290623">
                <a:moveTo>
                  <a:pt x="70883" y="0"/>
                </a:moveTo>
                <a:lnTo>
                  <a:pt x="937438" y="0"/>
                </a:lnTo>
                <a:cubicBezTo>
                  <a:pt x="976586" y="0"/>
                  <a:pt x="1008321" y="31735"/>
                  <a:pt x="1008321" y="70883"/>
                </a:cubicBezTo>
                <a:lnTo>
                  <a:pt x="1008321" y="219740"/>
                </a:lnTo>
                <a:cubicBezTo>
                  <a:pt x="1008321" y="258888"/>
                  <a:pt x="976586" y="290623"/>
                  <a:pt x="937438" y="290623"/>
                </a:cubicBezTo>
                <a:lnTo>
                  <a:pt x="70883" y="290623"/>
                </a:lnTo>
                <a:cubicBezTo>
                  <a:pt x="31735" y="290623"/>
                  <a:pt x="0" y="258888"/>
                  <a:pt x="0" y="219740"/>
                </a:cubicBezTo>
                <a:lnTo>
                  <a:pt x="0" y="70883"/>
                </a:lnTo>
                <a:cubicBezTo>
                  <a:pt x="0" y="31735"/>
                  <a:pt x="31735" y="0"/>
                  <a:pt x="70883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016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81593" y="5046926"/>
            <a:ext cx="840969" cy="148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7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Edge Computing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357963" y="5713231"/>
            <a:ext cx="11472530" cy="786809"/>
          </a:xfrm>
          <a:custGeom>
            <a:avLst/>
            <a:gdLst/>
            <a:ahLst/>
            <a:cxnLst/>
            <a:rect l="l" t="t" r="r" b="b"/>
            <a:pathLst>
              <a:path w="11472530" h="786809">
                <a:moveTo>
                  <a:pt x="106329" y="0"/>
                </a:moveTo>
                <a:lnTo>
                  <a:pt x="11366201" y="0"/>
                </a:lnTo>
                <a:cubicBezTo>
                  <a:pt x="11424925" y="0"/>
                  <a:pt x="11472530" y="47605"/>
                  <a:pt x="11472530" y="106329"/>
                </a:cubicBezTo>
                <a:lnTo>
                  <a:pt x="11472530" y="680480"/>
                </a:lnTo>
                <a:cubicBezTo>
                  <a:pt x="11472530" y="739204"/>
                  <a:pt x="11424925" y="786809"/>
                  <a:pt x="11366201" y="786809"/>
                </a:cubicBezTo>
                <a:lnTo>
                  <a:pt x="106329" y="786809"/>
                </a:lnTo>
                <a:cubicBezTo>
                  <a:pt x="47605" y="786809"/>
                  <a:pt x="0" y="739204"/>
                  <a:pt x="0" y="680480"/>
                </a:cubicBezTo>
                <a:lnTo>
                  <a:pt x="0" y="106329"/>
                </a:lnTo>
                <a:cubicBezTo>
                  <a:pt x="0" y="47645"/>
                  <a:pt x="47645" y="0"/>
                  <a:pt x="106329" y="0"/>
                </a:cubicBezTo>
                <a:close/>
              </a:path>
            </a:pathLst>
          </a:custGeom>
          <a:solidFill>
            <a:srgbClr val="262626"/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0867" y="6018030"/>
            <a:ext cx="177209" cy="177209"/>
          </a:xfrm>
          <a:custGeom>
            <a:avLst/>
            <a:gdLst/>
            <a:ahLst/>
            <a:cxnLst/>
            <a:rect l="l" t="t" r="r" b="b"/>
            <a:pathLst>
              <a:path w="177209" h="177209">
                <a:moveTo>
                  <a:pt x="66453" y="22151"/>
                </a:moveTo>
                <a:cubicBezTo>
                  <a:pt x="66453" y="16025"/>
                  <a:pt x="71403" y="11076"/>
                  <a:pt x="77529" y="11076"/>
                </a:cubicBezTo>
                <a:lnTo>
                  <a:pt x="99680" y="11076"/>
                </a:lnTo>
                <a:cubicBezTo>
                  <a:pt x="105806" y="11076"/>
                  <a:pt x="110756" y="16025"/>
                  <a:pt x="110756" y="22151"/>
                </a:cubicBezTo>
                <a:lnTo>
                  <a:pt x="110756" y="44302"/>
                </a:lnTo>
                <a:cubicBezTo>
                  <a:pt x="110756" y="50429"/>
                  <a:pt x="105806" y="55378"/>
                  <a:pt x="99680" y="55378"/>
                </a:cubicBezTo>
                <a:lnTo>
                  <a:pt x="96911" y="55378"/>
                </a:lnTo>
                <a:lnTo>
                  <a:pt x="96911" y="77529"/>
                </a:lnTo>
                <a:lnTo>
                  <a:pt x="138445" y="77529"/>
                </a:lnTo>
                <a:cubicBezTo>
                  <a:pt x="152220" y="77529"/>
                  <a:pt x="163365" y="88674"/>
                  <a:pt x="163365" y="102449"/>
                </a:cubicBezTo>
                <a:lnTo>
                  <a:pt x="163365" y="121831"/>
                </a:lnTo>
                <a:lnTo>
                  <a:pt x="166134" y="121831"/>
                </a:lnTo>
                <a:cubicBezTo>
                  <a:pt x="172260" y="121831"/>
                  <a:pt x="177209" y="126781"/>
                  <a:pt x="177209" y="132907"/>
                </a:cubicBezTo>
                <a:lnTo>
                  <a:pt x="177209" y="155058"/>
                </a:lnTo>
                <a:cubicBezTo>
                  <a:pt x="177209" y="161184"/>
                  <a:pt x="172260" y="166134"/>
                  <a:pt x="166134" y="166134"/>
                </a:cubicBezTo>
                <a:lnTo>
                  <a:pt x="143983" y="166134"/>
                </a:lnTo>
                <a:cubicBezTo>
                  <a:pt x="137856" y="166134"/>
                  <a:pt x="132907" y="161184"/>
                  <a:pt x="132907" y="155058"/>
                </a:cubicBezTo>
                <a:lnTo>
                  <a:pt x="132907" y="132907"/>
                </a:lnTo>
                <a:cubicBezTo>
                  <a:pt x="132907" y="126781"/>
                  <a:pt x="137856" y="121831"/>
                  <a:pt x="143983" y="121831"/>
                </a:cubicBezTo>
                <a:lnTo>
                  <a:pt x="146751" y="121831"/>
                </a:lnTo>
                <a:lnTo>
                  <a:pt x="146751" y="102449"/>
                </a:lnTo>
                <a:cubicBezTo>
                  <a:pt x="146751" y="97846"/>
                  <a:pt x="143048" y="94142"/>
                  <a:pt x="138445" y="94142"/>
                </a:cubicBezTo>
                <a:lnTo>
                  <a:pt x="96911" y="94142"/>
                </a:lnTo>
                <a:lnTo>
                  <a:pt x="96911" y="121831"/>
                </a:lnTo>
                <a:lnTo>
                  <a:pt x="99680" y="121831"/>
                </a:lnTo>
                <a:cubicBezTo>
                  <a:pt x="105806" y="121831"/>
                  <a:pt x="110756" y="126781"/>
                  <a:pt x="110756" y="132907"/>
                </a:cubicBezTo>
                <a:lnTo>
                  <a:pt x="110756" y="155058"/>
                </a:lnTo>
                <a:cubicBezTo>
                  <a:pt x="110756" y="161184"/>
                  <a:pt x="105806" y="166134"/>
                  <a:pt x="99680" y="166134"/>
                </a:cubicBezTo>
                <a:lnTo>
                  <a:pt x="77529" y="166134"/>
                </a:lnTo>
                <a:cubicBezTo>
                  <a:pt x="71403" y="166134"/>
                  <a:pt x="66453" y="161184"/>
                  <a:pt x="66453" y="155058"/>
                </a:cubicBezTo>
                <a:lnTo>
                  <a:pt x="66453" y="132907"/>
                </a:lnTo>
                <a:cubicBezTo>
                  <a:pt x="66453" y="126781"/>
                  <a:pt x="71403" y="121831"/>
                  <a:pt x="77529" y="121831"/>
                </a:cubicBezTo>
                <a:lnTo>
                  <a:pt x="80298" y="121831"/>
                </a:lnTo>
                <a:lnTo>
                  <a:pt x="80298" y="94142"/>
                </a:lnTo>
                <a:lnTo>
                  <a:pt x="38765" y="94142"/>
                </a:lnTo>
                <a:cubicBezTo>
                  <a:pt x="34161" y="94142"/>
                  <a:pt x="30458" y="97846"/>
                  <a:pt x="30458" y="102449"/>
                </a:cubicBezTo>
                <a:lnTo>
                  <a:pt x="30458" y="121831"/>
                </a:lnTo>
                <a:lnTo>
                  <a:pt x="33227" y="121831"/>
                </a:lnTo>
                <a:cubicBezTo>
                  <a:pt x="39353" y="121831"/>
                  <a:pt x="44302" y="126781"/>
                  <a:pt x="44302" y="132907"/>
                </a:cubicBezTo>
                <a:lnTo>
                  <a:pt x="44302" y="155058"/>
                </a:lnTo>
                <a:cubicBezTo>
                  <a:pt x="44302" y="161184"/>
                  <a:pt x="39353" y="166134"/>
                  <a:pt x="33227" y="166134"/>
                </a:cubicBezTo>
                <a:lnTo>
                  <a:pt x="11076" y="166134"/>
                </a:lnTo>
                <a:cubicBezTo>
                  <a:pt x="4949" y="166134"/>
                  <a:pt x="0" y="161184"/>
                  <a:pt x="0" y="155058"/>
                </a:cubicBezTo>
                <a:lnTo>
                  <a:pt x="0" y="132907"/>
                </a:lnTo>
                <a:cubicBezTo>
                  <a:pt x="0" y="126781"/>
                  <a:pt x="4949" y="121831"/>
                  <a:pt x="11076" y="121831"/>
                </a:cubicBezTo>
                <a:lnTo>
                  <a:pt x="13844" y="121831"/>
                </a:lnTo>
                <a:lnTo>
                  <a:pt x="13844" y="102449"/>
                </a:lnTo>
                <a:cubicBezTo>
                  <a:pt x="13844" y="88674"/>
                  <a:pt x="24989" y="77529"/>
                  <a:pt x="38765" y="77529"/>
                </a:cubicBezTo>
                <a:lnTo>
                  <a:pt x="80298" y="77529"/>
                </a:lnTo>
                <a:lnTo>
                  <a:pt x="80298" y="55378"/>
                </a:lnTo>
                <a:lnTo>
                  <a:pt x="77529" y="55378"/>
                </a:lnTo>
                <a:cubicBezTo>
                  <a:pt x="71403" y="55378"/>
                  <a:pt x="66453" y="50429"/>
                  <a:pt x="66453" y="44302"/>
                </a:cubicBezTo>
                <a:lnTo>
                  <a:pt x="66453" y="22151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9" name="Text 47"/>
          <p:cNvSpPr/>
          <p:nvPr/>
        </p:nvSpPr>
        <p:spPr>
          <a:xfrm>
            <a:off x="901995" y="5893983"/>
            <a:ext cx="10818628" cy="212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6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Organizations &amp; Systems Manager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1995" y="6142076"/>
            <a:ext cx="10809767" cy="177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7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Organizations: Centrally manage multiple AWS accounts with consolidated billing. Systems Manager: Unified interface for managing AWS resources at scale with automation and patching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exascaleproject.org/164b33d15d3f532cc4c039b5044f1130af00ca3f.jp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410557" y="569124"/>
            <a:ext cx="1369695" cy="388620"/>
          </a:xfrm>
          <a:custGeom>
            <a:avLst/>
            <a:gdLst/>
            <a:ahLst/>
            <a:cxnLst/>
            <a:rect l="l" t="t" r="r" b="b"/>
            <a:pathLst>
              <a:path w="1369695" h="388620">
                <a:moveTo>
                  <a:pt x="76201" y="0"/>
                </a:moveTo>
                <a:lnTo>
                  <a:pt x="1293494" y="0"/>
                </a:lnTo>
                <a:cubicBezTo>
                  <a:pt x="1335579" y="0"/>
                  <a:pt x="1369695" y="34116"/>
                  <a:pt x="1369695" y="76201"/>
                </a:cubicBezTo>
                <a:lnTo>
                  <a:pt x="1369695" y="312419"/>
                </a:lnTo>
                <a:cubicBezTo>
                  <a:pt x="1369695" y="354504"/>
                  <a:pt x="1335579" y="388620"/>
                  <a:pt x="1293494" y="388620"/>
                </a:cubicBezTo>
                <a:lnTo>
                  <a:pt x="76201" y="388620"/>
                </a:lnTo>
                <a:cubicBezTo>
                  <a:pt x="34116" y="388620"/>
                  <a:pt x="0" y="354504"/>
                  <a:pt x="0" y="31241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528667" y="649132"/>
            <a:ext cx="113454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kern="0" spc="6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51672" y="1494951"/>
            <a:ext cx="44862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on AWS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81175" y="2437926"/>
            <a:ext cx="86296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provides a comprehensive, modular ecosystem of </a:t>
            </a: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200+ services</a:t>
            </a: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designed to work together seamlessly. Start with foundational services and expand based on your application needs.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5944" y="3441861"/>
            <a:ext cx="2636520" cy="1436370"/>
          </a:xfrm>
          <a:custGeom>
            <a:avLst/>
            <a:gdLst/>
            <a:ahLst/>
            <a:cxnLst/>
            <a:rect l="l" t="t" r="r" b="b"/>
            <a:pathLst>
              <a:path w="2636520" h="1436370">
                <a:moveTo>
                  <a:pt x="114306" y="0"/>
                </a:moveTo>
                <a:lnTo>
                  <a:pt x="2522214" y="0"/>
                </a:lnTo>
                <a:cubicBezTo>
                  <a:pt x="2585343" y="0"/>
                  <a:pt x="2636520" y="51177"/>
                  <a:pt x="2636520" y="114306"/>
                </a:cubicBezTo>
                <a:lnTo>
                  <a:pt x="2636520" y="1322064"/>
                </a:lnTo>
                <a:cubicBezTo>
                  <a:pt x="2636520" y="1385193"/>
                  <a:pt x="2585343" y="1436370"/>
                  <a:pt x="252221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11329" y="367426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96397" y="156270"/>
                </a:moveTo>
                <a:lnTo>
                  <a:pt x="89855" y="156270"/>
                </a:lnTo>
                <a:cubicBezTo>
                  <a:pt x="91473" y="192267"/>
                  <a:pt x="99454" y="225419"/>
                  <a:pt x="110784" y="249696"/>
                </a:cubicBezTo>
                <a:cubicBezTo>
                  <a:pt x="117146" y="263370"/>
                  <a:pt x="124011" y="273025"/>
                  <a:pt x="130373" y="278941"/>
                </a:cubicBezTo>
                <a:cubicBezTo>
                  <a:pt x="136624" y="284801"/>
                  <a:pt x="140922" y="285750"/>
                  <a:pt x="143154" y="285750"/>
                </a:cubicBezTo>
                <a:cubicBezTo>
                  <a:pt x="145386" y="285750"/>
                  <a:pt x="149684" y="284801"/>
                  <a:pt x="155935" y="278941"/>
                </a:cubicBezTo>
                <a:cubicBezTo>
                  <a:pt x="162297" y="273025"/>
                  <a:pt x="169162" y="263314"/>
                  <a:pt x="175524" y="249696"/>
                </a:cubicBezTo>
                <a:cubicBezTo>
                  <a:pt x="186854" y="225419"/>
                  <a:pt x="194835" y="192267"/>
                  <a:pt x="196453" y="156270"/>
                </a:cubicBezTo>
                <a:close/>
                <a:moveTo>
                  <a:pt x="89799" y="129480"/>
                </a:moveTo>
                <a:lnTo>
                  <a:pt x="196342" y="129480"/>
                </a:lnTo>
                <a:cubicBezTo>
                  <a:pt x="194779" y="93483"/>
                  <a:pt x="186798" y="60331"/>
                  <a:pt x="175468" y="36054"/>
                </a:cubicBezTo>
                <a:cubicBezTo>
                  <a:pt x="169106" y="22436"/>
                  <a:pt x="162241" y="12725"/>
                  <a:pt x="155879" y="6809"/>
                </a:cubicBezTo>
                <a:cubicBezTo>
                  <a:pt x="149628" y="949"/>
                  <a:pt x="145331" y="0"/>
                  <a:pt x="143098" y="0"/>
                </a:cubicBezTo>
                <a:cubicBezTo>
                  <a:pt x="140866" y="0"/>
                  <a:pt x="136568" y="949"/>
                  <a:pt x="130318" y="6809"/>
                </a:cubicBezTo>
                <a:cubicBezTo>
                  <a:pt x="123955" y="12725"/>
                  <a:pt x="117091" y="22436"/>
                  <a:pt x="110728" y="36054"/>
                </a:cubicBezTo>
                <a:cubicBezTo>
                  <a:pt x="99399" y="60331"/>
                  <a:pt x="91418" y="93483"/>
                  <a:pt x="89799" y="129480"/>
                </a:cubicBezTo>
                <a:close/>
                <a:moveTo>
                  <a:pt x="63010" y="129480"/>
                </a:moveTo>
                <a:cubicBezTo>
                  <a:pt x="64963" y="81707"/>
                  <a:pt x="77298" y="37337"/>
                  <a:pt x="95324" y="8204"/>
                </a:cubicBezTo>
                <a:cubicBezTo>
                  <a:pt x="43923" y="26398"/>
                  <a:pt x="6083" y="73223"/>
                  <a:pt x="837" y="129480"/>
                </a:cubicBezTo>
                <a:lnTo>
                  <a:pt x="63010" y="129480"/>
                </a:lnTo>
                <a:close/>
                <a:moveTo>
                  <a:pt x="837" y="156270"/>
                </a:moveTo>
                <a:cubicBezTo>
                  <a:pt x="6083" y="212527"/>
                  <a:pt x="43923" y="259352"/>
                  <a:pt x="95324" y="277546"/>
                </a:cubicBezTo>
                <a:cubicBezTo>
                  <a:pt x="77298" y="248413"/>
                  <a:pt x="64963" y="204043"/>
                  <a:pt x="63010" y="156270"/>
                </a:cubicBezTo>
                <a:lnTo>
                  <a:pt x="837" y="156270"/>
                </a:lnTo>
                <a:close/>
                <a:moveTo>
                  <a:pt x="223186" y="156270"/>
                </a:moveTo>
                <a:cubicBezTo>
                  <a:pt x="221233" y="204043"/>
                  <a:pt x="208899" y="248413"/>
                  <a:pt x="190872" y="277546"/>
                </a:cubicBezTo>
                <a:cubicBezTo>
                  <a:pt x="242274" y="259296"/>
                  <a:pt x="280113" y="212527"/>
                  <a:pt x="285359" y="156270"/>
                </a:cubicBezTo>
                <a:lnTo>
                  <a:pt x="223186" y="156270"/>
                </a:lnTo>
                <a:close/>
                <a:moveTo>
                  <a:pt x="285359" y="129480"/>
                </a:moveTo>
                <a:cubicBezTo>
                  <a:pt x="280113" y="73223"/>
                  <a:pt x="242274" y="26398"/>
                  <a:pt x="190872" y="8204"/>
                </a:cubicBezTo>
                <a:cubicBezTo>
                  <a:pt x="208899" y="37337"/>
                  <a:pt x="221233" y="81707"/>
                  <a:pt x="223186" y="129480"/>
                </a:cubicBezTo>
                <a:lnTo>
                  <a:pt x="285359" y="12948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2025491" y="4074319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Infrastructure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030254" y="4417219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30+ regions, 90+ AZs worldwide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780121" y="3441861"/>
            <a:ext cx="2636520" cy="1436370"/>
          </a:xfrm>
          <a:custGeom>
            <a:avLst/>
            <a:gdLst/>
            <a:ahLst/>
            <a:cxnLst/>
            <a:rect l="l" t="t" r="r" b="b"/>
            <a:pathLst>
              <a:path w="2636520" h="1436370">
                <a:moveTo>
                  <a:pt x="114306" y="0"/>
                </a:moveTo>
                <a:lnTo>
                  <a:pt x="2522214" y="0"/>
                </a:lnTo>
                <a:cubicBezTo>
                  <a:pt x="2585343" y="0"/>
                  <a:pt x="2636520" y="51177"/>
                  <a:pt x="2636520" y="114306"/>
                </a:cubicBezTo>
                <a:lnTo>
                  <a:pt x="2636520" y="1322064"/>
                </a:lnTo>
                <a:cubicBezTo>
                  <a:pt x="2636520" y="1385193"/>
                  <a:pt x="2585343" y="1436370"/>
                  <a:pt x="252221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55506" y="3674269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4" name="Text 11"/>
          <p:cNvSpPr/>
          <p:nvPr/>
        </p:nvSpPr>
        <p:spPr>
          <a:xfrm>
            <a:off x="4969669" y="4074319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 Security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974431" y="4417219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Defense-in-depth protection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4299" y="3441861"/>
            <a:ext cx="2636520" cy="1436370"/>
          </a:xfrm>
          <a:custGeom>
            <a:avLst/>
            <a:gdLst/>
            <a:ahLst/>
            <a:cxnLst/>
            <a:rect l="l" t="t" r="r" b="b"/>
            <a:pathLst>
              <a:path w="2636520" h="1436370">
                <a:moveTo>
                  <a:pt x="114306" y="0"/>
                </a:moveTo>
                <a:lnTo>
                  <a:pt x="2522214" y="0"/>
                </a:lnTo>
                <a:cubicBezTo>
                  <a:pt x="2585343" y="0"/>
                  <a:pt x="2636520" y="51177"/>
                  <a:pt x="2636520" y="114306"/>
                </a:cubicBezTo>
                <a:lnTo>
                  <a:pt x="2636520" y="1322064"/>
                </a:lnTo>
                <a:cubicBezTo>
                  <a:pt x="2636520" y="1385193"/>
                  <a:pt x="2585343" y="1436370"/>
                  <a:pt x="2522214" y="1436370"/>
                </a:cubicBezTo>
                <a:lnTo>
                  <a:pt x="114306" y="1436370"/>
                </a:lnTo>
                <a:cubicBezTo>
                  <a:pt x="51177" y="1436370"/>
                  <a:pt x="0" y="1385193"/>
                  <a:pt x="0" y="1322064"/>
                </a:cubicBezTo>
                <a:lnTo>
                  <a:pt x="0" y="114306"/>
                </a:lnTo>
                <a:cubicBezTo>
                  <a:pt x="0" y="51219"/>
                  <a:pt x="51219" y="0"/>
                  <a:pt x="114306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17543" y="3674269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93762" y="17859"/>
                </a:moveTo>
                <a:lnTo>
                  <a:pt x="13395" y="17859"/>
                </a:lnTo>
                <a:cubicBezTo>
                  <a:pt x="5972" y="17859"/>
                  <a:pt x="0" y="23831"/>
                  <a:pt x="0" y="31254"/>
                </a:cubicBezTo>
                <a:lnTo>
                  <a:pt x="0" y="111621"/>
                </a:lnTo>
                <a:cubicBezTo>
                  <a:pt x="0" y="117035"/>
                  <a:pt x="3237" y="121946"/>
                  <a:pt x="8260" y="124011"/>
                </a:cubicBezTo>
                <a:cubicBezTo>
                  <a:pt x="13283" y="126076"/>
                  <a:pt x="19031" y="124904"/>
                  <a:pt x="22882" y="121109"/>
                </a:cubicBezTo>
                <a:lnTo>
                  <a:pt x="45207" y="98785"/>
                </a:lnTo>
                <a:lnTo>
                  <a:pt x="89297" y="142875"/>
                </a:lnTo>
                <a:lnTo>
                  <a:pt x="45207" y="186965"/>
                </a:lnTo>
                <a:lnTo>
                  <a:pt x="22882" y="164641"/>
                </a:lnTo>
                <a:cubicBezTo>
                  <a:pt x="19031" y="160790"/>
                  <a:pt x="13283" y="159674"/>
                  <a:pt x="8260" y="161739"/>
                </a:cubicBezTo>
                <a:cubicBezTo>
                  <a:pt x="3237" y="163804"/>
                  <a:pt x="0" y="168715"/>
                  <a:pt x="0" y="174129"/>
                </a:cubicBezTo>
                <a:lnTo>
                  <a:pt x="0" y="254496"/>
                </a:lnTo>
                <a:cubicBezTo>
                  <a:pt x="0" y="261919"/>
                  <a:pt x="5972" y="267891"/>
                  <a:pt x="13395" y="267891"/>
                </a:cubicBezTo>
                <a:lnTo>
                  <a:pt x="93762" y="267891"/>
                </a:lnTo>
                <a:cubicBezTo>
                  <a:pt x="99175" y="267891"/>
                  <a:pt x="104087" y="264654"/>
                  <a:pt x="106152" y="259631"/>
                </a:cubicBezTo>
                <a:cubicBezTo>
                  <a:pt x="108217" y="254608"/>
                  <a:pt x="107100" y="248859"/>
                  <a:pt x="103250" y="245008"/>
                </a:cubicBezTo>
                <a:lnTo>
                  <a:pt x="80925" y="222684"/>
                </a:lnTo>
                <a:lnTo>
                  <a:pt x="125016" y="178594"/>
                </a:lnTo>
                <a:lnTo>
                  <a:pt x="169106" y="222684"/>
                </a:lnTo>
                <a:lnTo>
                  <a:pt x="146782" y="245008"/>
                </a:lnTo>
                <a:cubicBezTo>
                  <a:pt x="142931" y="248859"/>
                  <a:pt x="141815" y="254608"/>
                  <a:pt x="143880" y="259631"/>
                </a:cubicBezTo>
                <a:cubicBezTo>
                  <a:pt x="145945" y="264654"/>
                  <a:pt x="150856" y="267891"/>
                  <a:pt x="156270" y="267891"/>
                </a:cubicBezTo>
                <a:lnTo>
                  <a:pt x="236637" y="267891"/>
                </a:lnTo>
                <a:cubicBezTo>
                  <a:pt x="244060" y="267891"/>
                  <a:pt x="250031" y="261919"/>
                  <a:pt x="250031" y="254496"/>
                </a:cubicBezTo>
                <a:lnTo>
                  <a:pt x="250031" y="174129"/>
                </a:lnTo>
                <a:cubicBezTo>
                  <a:pt x="250031" y="168715"/>
                  <a:pt x="246794" y="163804"/>
                  <a:pt x="241771" y="161739"/>
                </a:cubicBezTo>
                <a:cubicBezTo>
                  <a:pt x="236748" y="159674"/>
                  <a:pt x="231000" y="160790"/>
                  <a:pt x="227149" y="164641"/>
                </a:cubicBezTo>
                <a:lnTo>
                  <a:pt x="204825" y="186965"/>
                </a:lnTo>
                <a:lnTo>
                  <a:pt x="160734" y="142875"/>
                </a:lnTo>
                <a:lnTo>
                  <a:pt x="204825" y="98785"/>
                </a:lnTo>
                <a:lnTo>
                  <a:pt x="227149" y="121109"/>
                </a:lnTo>
                <a:cubicBezTo>
                  <a:pt x="231000" y="124960"/>
                  <a:pt x="236748" y="126076"/>
                  <a:pt x="241771" y="124011"/>
                </a:cubicBezTo>
                <a:cubicBezTo>
                  <a:pt x="246794" y="121946"/>
                  <a:pt x="250031" y="117035"/>
                  <a:pt x="250031" y="111621"/>
                </a:cubicBezTo>
                <a:lnTo>
                  <a:pt x="250031" y="31254"/>
                </a:lnTo>
                <a:cubicBezTo>
                  <a:pt x="250031" y="23831"/>
                  <a:pt x="244060" y="17859"/>
                  <a:pt x="236637" y="17859"/>
                </a:cubicBezTo>
                <a:lnTo>
                  <a:pt x="156270" y="17859"/>
                </a:lnTo>
                <a:cubicBezTo>
                  <a:pt x="150856" y="17859"/>
                  <a:pt x="145945" y="21096"/>
                  <a:pt x="143880" y="26119"/>
                </a:cubicBezTo>
                <a:cubicBezTo>
                  <a:pt x="141815" y="31142"/>
                  <a:pt x="142987" y="36891"/>
                  <a:pt x="146782" y="40742"/>
                </a:cubicBezTo>
                <a:lnTo>
                  <a:pt x="169106" y="63066"/>
                </a:lnTo>
                <a:lnTo>
                  <a:pt x="125016" y="107156"/>
                </a:lnTo>
                <a:lnTo>
                  <a:pt x="80925" y="63066"/>
                </a:lnTo>
                <a:lnTo>
                  <a:pt x="103250" y="40742"/>
                </a:lnTo>
                <a:cubicBezTo>
                  <a:pt x="107100" y="36891"/>
                  <a:pt x="108217" y="31142"/>
                  <a:pt x="106152" y="26119"/>
                </a:cubicBezTo>
                <a:cubicBezTo>
                  <a:pt x="104087" y="21096"/>
                  <a:pt x="99175" y="17859"/>
                  <a:pt x="93762" y="17859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5"/>
          <p:cNvSpPr/>
          <p:nvPr/>
        </p:nvSpPr>
        <p:spPr>
          <a:xfrm>
            <a:off x="7913847" y="4074319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Infinite Scale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918609" y="4417219"/>
            <a:ext cx="2247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Auto-scaling on demand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832610" y="5266847"/>
            <a:ext cx="8522970" cy="1026795"/>
          </a:xfrm>
          <a:custGeom>
            <a:avLst/>
            <a:gdLst/>
            <a:ahLst/>
            <a:cxnLst/>
            <a:rect l="l" t="t" r="r" b="b"/>
            <a:pathLst>
              <a:path w="8522970" h="1026795">
                <a:moveTo>
                  <a:pt x="114303" y="0"/>
                </a:moveTo>
                <a:lnTo>
                  <a:pt x="8408667" y="0"/>
                </a:lnTo>
                <a:cubicBezTo>
                  <a:pt x="8471795" y="0"/>
                  <a:pt x="8522970" y="51175"/>
                  <a:pt x="8522970" y="114303"/>
                </a:cubicBezTo>
                <a:lnTo>
                  <a:pt x="8522970" y="912492"/>
                </a:lnTo>
                <a:cubicBezTo>
                  <a:pt x="8522970" y="975578"/>
                  <a:pt x="8471753" y="1026795"/>
                  <a:pt x="8408667" y="1026795"/>
                </a:cubicBezTo>
                <a:lnTo>
                  <a:pt x="114303" y="1026795"/>
                </a:lnTo>
                <a:cubicBezTo>
                  <a:pt x="51175" y="1026795"/>
                  <a:pt x="0" y="975620"/>
                  <a:pt x="0" y="91249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0160">
            <a:solidFill>
              <a:srgbClr val="6366F1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022158" y="5499264"/>
            <a:ext cx="81438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key is selecting the right service for each workload while leveraging AWS's global infrastructure, security, and scalability. </a:t>
            </a:r>
            <a:r>
              <a:rPr lang="en-US" sz="13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small, iterate fast, scale globally.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1900</Words>
  <Application>Microsoft Office PowerPoint</Application>
  <PresentationFormat>Widescreen</PresentationFormat>
  <Paragraphs>286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 Services Overview</dc:title>
  <dc:subject>AWS Services Overview</dc:subject>
  <dc:creator>Kimi</dc:creator>
  <cp:lastModifiedBy>Atom Code</cp:lastModifiedBy>
  <cp:revision>3</cp:revision>
  <dcterms:created xsi:type="dcterms:W3CDTF">2026-02-22T17:55:34Z</dcterms:created>
  <dcterms:modified xsi:type="dcterms:W3CDTF">2026-02-24T06:13:17Z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{"Label":"AWS Services Overview","ContentProducer":"001191110108MACG2KBH8F10000","ProduceID":"19c86739-99d2-8d8d-8000-0000fff8133d","ReservedCode1":"","ContentPropagator":"001191110108MACG2KBH8F20000","PropagateID":"19c86739-99d2-8d8d-8000-0000fff8133d","ReservedCode2":""}</vt:lpwstr>
  </property>
</Properties>
</file>